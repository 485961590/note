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5" r:id="rId3"/>
  </p:sldMasterIdLst>
  <p:notesMasterIdLst>
    <p:notesMasterId r:id="rId6"/>
  </p:notesMasterIdLst>
  <p:sldIdLst>
    <p:sldId id="475" r:id="rId4"/>
    <p:sldId id="476" r:id="rId5"/>
    <p:sldId id="486" r:id="rId7"/>
    <p:sldId id="477" r:id="rId8"/>
    <p:sldId id="809" r:id="rId9"/>
    <p:sldId id="957" r:id="rId10"/>
    <p:sldId id="967" r:id="rId11"/>
    <p:sldId id="966" r:id="rId12"/>
    <p:sldId id="958" r:id="rId13"/>
    <p:sldId id="959" r:id="rId14"/>
    <p:sldId id="1009" r:id="rId15"/>
    <p:sldId id="1010" r:id="rId16"/>
    <p:sldId id="1011" r:id="rId17"/>
    <p:sldId id="1019" r:id="rId18"/>
    <p:sldId id="1012" r:id="rId19"/>
    <p:sldId id="1013" r:id="rId20"/>
    <p:sldId id="1014" r:id="rId21"/>
    <p:sldId id="1015" r:id="rId22"/>
    <p:sldId id="1016" r:id="rId23"/>
    <p:sldId id="1017" r:id="rId24"/>
    <p:sldId id="1018" r:id="rId25"/>
    <p:sldId id="862" r:id="rId26"/>
    <p:sldId id="815" r:id="rId27"/>
    <p:sldId id="913" r:id="rId28"/>
    <p:sldId id="914" r:id="rId29"/>
    <p:sldId id="915" r:id="rId30"/>
    <p:sldId id="916" r:id="rId31"/>
    <p:sldId id="917" r:id="rId32"/>
    <p:sldId id="918" r:id="rId33"/>
    <p:sldId id="922" r:id="rId34"/>
    <p:sldId id="923" r:id="rId35"/>
    <p:sldId id="924" r:id="rId36"/>
    <p:sldId id="925" r:id="rId37"/>
    <p:sldId id="932" r:id="rId38"/>
    <p:sldId id="934" r:id="rId39"/>
    <p:sldId id="935" r:id="rId40"/>
    <p:sldId id="938" r:id="rId41"/>
    <p:sldId id="939" r:id="rId42"/>
    <p:sldId id="940" r:id="rId43"/>
    <p:sldId id="941" r:id="rId44"/>
    <p:sldId id="942" r:id="rId45"/>
    <p:sldId id="943" r:id="rId46"/>
    <p:sldId id="944" r:id="rId47"/>
    <p:sldId id="945" r:id="rId48"/>
    <p:sldId id="946" r:id="rId49"/>
    <p:sldId id="947" r:id="rId50"/>
    <p:sldId id="948" r:id="rId51"/>
    <p:sldId id="952" r:id="rId52"/>
    <p:sldId id="953" r:id="rId53"/>
    <p:sldId id="954" r:id="rId54"/>
    <p:sldId id="955" r:id="rId55"/>
    <p:sldId id="807" r:id="rId56"/>
  </p:sldIdLst>
  <p:sldSz cx="12192000" cy="6858000"/>
  <p:notesSz cx="6858000" cy="9144000"/>
  <p:custDataLst>
    <p:tags r:id="rId6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1" autoAdjust="0"/>
    <p:restoredTop sz="92645" autoAdjust="0"/>
  </p:normalViewPr>
  <p:slideViewPr>
    <p:cSldViewPr snapToGrid="0">
      <p:cViewPr varScale="1">
        <p:scale>
          <a:sx n="74" d="100"/>
          <a:sy n="74" d="100"/>
        </p:scale>
        <p:origin x="37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0" Type="http://schemas.openxmlformats.org/officeDocument/2006/relationships/tags" Target="tags/tag66.xml"/><Relationship Id="rId6" Type="http://schemas.openxmlformats.org/officeDocument/2006/relationships/notesMaster" Target="notesMasters/notesMaster1.xml"/><Relationship Id="rId59" Type="http://schemas.openxmlformats.org/officeDocument/2006/relationships/tableStyles" Target="tableStyles.xml"/><Relationship Id="rId58" Type="http://schemas.openxmlformats.org/officeDocument/2006/relationships/viewProps" Target="viewProps.xml"/><Relationship Id="rId57" Type="http://schemas.openxmlformats.org/officeDocument/2006/relationships/presProps" Target="presProps.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43C5D9-C181-44CE-BC97-D15360BB86C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EDAD04-BA75-4CB4-9E42-76A619283E0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修改</a:t>
            </a:r>
            <a:r>
              <a:rPr lang="zh-CN" altLang="en-US"/>
              <a:t>注册表：https://zhidao.baidu.com/question/1714902897082971860.html</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23 21/20  139</a:t>
            </a:r>
            <a:r>
              <a:rPr lang="zh-CN" altLang="en-US"/>
              <a:t>与</a:t>
            </a:r>
            <a:r>
              <a:rPr lang="en-US" altLang="zh-CN"/>
              <a:t>445 3389</a:t>
            </a:r>
            <a:endParaRPr lang="en-US" altLang="zh-CN"/>
          </a:p>
          <a:p>
            <a:r>
              <a:rPr lang="zh-CN" altLang="en-US">
                <a:sym typeface="+mn-ea"/>
              </a:rPr>
              <a:t>Telnet服务</a:t>
            </a:r>
            <a:r>
              <a:rPr lang="zh-CN" altLang="en-US">
                <a:sym typeface="+mn-ea"/>
              </a:rPr>
              <a:t>关闭：</a:t>
            </a:r>
            <a:r>
              <a:rPr lang="en-US" altLang="zh-CN"/>
              <a:t>https://jingyan.baidu.com/article/9f63fb9192d0f689400f0eff.html</a:t>
            </a:r>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系统信息和配置</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没有匹配目标IP地址的路由</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Kali Undercover Mode</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kali</a:t>
            </a:r>
            <a:r>
              <a:rPr lang="zh-CN" altLang="en-US"/>
              <a:t>用户名密码使用SHA-512哈希算法</a:t>
            </a:r>
            <a:r>
              <a:rPr lang="zh-CN" altLang="en-US"/>
              <a:t>加密</a:t>
            </a:r>
            <a:endParaRPr lang="zh-CN" altLang="en-US"/>
          </a:p>
          <a:p>
            <a:r>
              <a:rPr lang="zh-CN" altLang="en-US"/>
              <a:t>在Kali中，/etc/login.defs是一个系统登录文件，它包含了用户登录过程中的各种配置选项。该文件包含了用户密码的最小长度、密码过期时间、登录尝试次数等选项。它还定义了用户的默认shell、用户主目录的路径、UID和GID的最小值和最大值以及其他一些与用户登录相关的配置选项。修改此文件可以帮助管理员定制用户登录策略，从而增强系统安全性。</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adduser</a:t>
            </a:r>
            <a:r>
              <a:rPr lang="zh-CN" altLang="en-US"/>
              <a:t>设置用户</a:t>
            </a:r>
            <a:r>
              <a:rPr lang="zh-CN" altLang="en-US"/>
              <a:t>密码</a:t>
            </a:r>
            <a:endParaRPr lang="zh-CN" altLang="en-US"/>
          </a:p>
          <a:p>
            <a:r>
              <a:rPr lang="zh-CN" altLang="en-US"/>
              <a:t>-r 参数</a:t>
            </a:r>
            <a:r>
              <a:rPr lang="en-US" altLang="zh-CN"/>
              <a:t>--系统不仅会删除指定的用户账户，还会删除该用户的主目录</a:t>
            </a:r>
            <a:endParaRPr lang="en-US" altLang="zh-CN"/>
          </a:p>
          <a:p>
            <a:r>
              <a:rPr lang="en-US" altLang="zh-CN"/>
              <a:t>-f 参数--即强制删除用户账户。在某些情况下，如果用户的主目录已经被删除，或者用户当前已经登录，系统可能会阻止删除用户账户。使用 -f 参数可以忽略这些条件，强制删除用户账户。</a:t>
            </a:r>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无</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无</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history</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F55915B0-52B6-43CA-B44C-120EFC11084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3CA8476-7398-4CB4-A686-FDB941A79113}"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F55915B0-52B6-43CA-B44C-120EFC11084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3CA8476-7398-4CB4-A686-FDB941A79113}"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F55915B0-52B6-43CA-B44C-120EFC11084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3CA8476-7398-4CB4-A686-FDB941A79113}"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F55915B0-52B6-43CA-B44C-120EFC11084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3CA8476-7398-4CB4-A686-FDB941A79113}"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F55915B0-52B6-43CA-B44C-120EFC110844}"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3CA8476-7398-4CB4-A686-FDB941A79113}"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F55915B0-52B6-43CA-B44C-120EFC110844}"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3CA8476-7398-4CB4-A686-FDB941A79113}"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55915B0-52B6-43CA-B44C-120EFC110844}"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3CA8476-7398-4CB4-A686-FDB941A79113}"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F55915B0-52B6-43CA-B44C-120EFC11084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3CA8476-7398-4CB4-A686-FDB941A79113}"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F55915B0-52B6-43CA-B44C-120EFC11084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3CA8476-7398-4CB4-A686-FDB941A79113}"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F55915B0-52B6-43CA-B44C-120EFC11084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3CA8476-7398-4CB4-A686-FDB941A79113}"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F55915B0-52B6-43CA-B44C-120EFC11084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3CA8476-7398-4CB4-A686-FDB941A79113}"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pic>
        <p:nvPicPr>
          <p:cNvPr id="10" name="图片 9" descr="图层1"/>
          <p:cNvPicPr>
            <a:picLocks noChangeAspect="1"/>
          </p:cNvPicPr>
          <p:nvPr userDrawn="1"/>
        </p:nvPicPr>
        <p:blipFill>
          <a:blip r:embed="rId2">
            <a:grayscl/>
            <a:lum bright="70000" contrast="-70000"/>
          </a:blip>
          <a:stretch>
            <a:fillRect/>
          </a:stretch>
        </p:blipFill>
        <p:spPr>
          <a:xfrm>
            <a:off x="-22225" y="3890645"/>
            <a:ext cx="12232640" cy="2960370"/>
          </a:xfrm>
          <a:prstGeom prst="rect">
            <a:avLst/>
          </a:prstGeom>
        </p:spPr>
      </p:pic>
      <p:pic>
        <p:nvPicPr>
          <p:cNvPr id="4" name="图片 3" descr="WechatIMG103"/>
          <p:cNvPicPr>
            <a:picLocks noChangeAspect="1"/>
          </p:cNvPicPr>
          <p:nvPr userDrawn="1"/>
        </p:nvPicPr>
        <p:blipFill>
          <a:blip r:embed="rId3"/>
          <a:stretch>
            <a:fillRect/>
          </a:stretch>
        </p:blipFill>
        <p:spPr>
          <a:xfrm>
            <a:off x="231140" y="145415"/>
            <a:ext cx="1971040" cy="58801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1_仅标题">
    <p:spTree>
      <p:nvGrpSpPr>
        <p:cNvPr id="1" name=""/>
        <p:cNvGrpSpPr/>
        <p:nvPr/>
      </p:nvGrpSpPr>
      <p:grpSpPr>
        <a:xfrm>
          <a:off x="0" y="0"/>
          <a:ext cx="0" cy="0"/>
          <a:chOff x="0" y="0"/>
          <a:chExt cx="0" cy="0"/>
        </a:xfrm>
      </p:grpSpPr>
      <p:pic>
        <p:nvPicPr>
          <p:cNvPr id="3" name="图片 2" descr="图层0"/>
          <p:cNvPicPr>
            <a:picLocks noChangeAspect="1"/>
          </p:cNvPicPr>
          <p:nvPr userDrawn="1"/>
        </p:nvPicPr>
        <p:blipFill>
          <a:blip r:embed="rId2"/>
          <a:stretch>
            <a:fillRect/>
          </a:stretch>
        </p:blipFill>
        <p:spPr>
          <a:xfrm>
            <a:off x="-14605" y="-9525"/>
            <a:ext cx="6477000" cy="6877050"/>
          </a:xfrm>
          <a:prstGeom prst="rect">
            <a:avLst/>
          </a:prstGeom>
        </p:spPr>
      </p:pic>
      <p:pic>
        <p:nvPicPr>
          <p:cNvPr id="4" name="图片 3" descr="WechatIMG103"/>
          <p:cNvPicPr>
            <a:picLocks noChangeAspect="1"/>
          </p:cNvPicPr>
          <p:nvPr userDrawn="1"/>
        </p:nvPicPr>
        <p:blipFill>
          <a:blip r:embed="rId3"/>
          <a:stretch>
            <a:fillRect/>
          </a:stretch>
        </p:blipFill>
        <p:spPr>
          <a:xfrm>
            <a:off x="231140" y="145415"/>
            <a:ext cx="1971040" cy="58801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2" name="图片 1" descr="WechatIMG102"/>
          <p:cNvPicPr>
            <a:picLocks noChangeAspect="1"/>
          </p:cNvPicPr>
          <p:nvPr userDrawn="1"/>
        </p:nvPicPr>
        <p:blipFill>
          <a:blip r:embed="rId2"/>
          <a:stretch>
            <a:fillRect/>
          </a:stretch>
        </p:blipFill>
        <p:spPr>
          <a:xfrm>
            <a:off x="10420985" y="114300"/>
            <a:ext cx="1619885" cy="56515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pic>
        <p:nvPicPr>
          <p:cNvPr id="8" name="图片 7" descr="图层2"/>
          <p:cNvPicPr>
            <a:picLocks noChangeAspect="1"/>
          </p:cNvPicPr>
          <p:nvPr userDrawn="1"/>
        </p:nvPicPr>
        <p:blipFill>
          <a:blip r:embed="rId2">
            <a:grayscl/>
            <a:lum bright="70000" contrast="-70000"/>
          </a:blip>
          <a:stretch>
            <a:fillRect/>
          </a:stretch>
        </p:blipFill>
        <p:spPr>
          <a:xfrm>
            <a:off x="-22225" y="4938395"/>
            <a:ext cx="12231370" cy="1957070"/>
          </a:xfrm>
          <a:prstGeom prst="rect">
            <a:avLst/>
          </a:prstGeom>
        </p:spPr>
      </p:pic>
      <p:pic>
        <p:nvPicPr>
          <p:cNvPr id="4" name="图片 3" descr="WechatIMG103"/>
          <p:cNvPicPr>
            <a:picLocks noChangeAspect="1"/>
          </p:cNvPicPr>
          <p:nvPr userDrawn="1"/>
        </p:nvPicPr>
        <p:blipFill>
          <a:blip r:embed="rId3"/>
          <a:stretch>
            <a:fillRect/>
          </a:stretch>
        </p:blipFill>
        <p:spPr>
          <a:xfrm>
            <a:off x="231140" y="145415"/>
            <a:ext cx="1971040" cy="58801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正文">
    <p:spTree>
      <p:nvGrpSpPr>
        <p:cNvPr id="1" name=""/>
        <p:cNvGrpSpPr/>
        <p:nvPr/>
      </p:nvGrpSpPr>
      <p:grpSpPr>
        <a:xfrm>
          <a:off x="0" y="0"/>
          <a:ext cx="0" cy="0"/>
          <a:chOff x="0" y="0"/>
          <a:chExt cx="0" cy="0"/>
        </a:xfrm>
      </p:grpSpPr>
      <p:sp>
        <p:nvSpPr>
          <p:cNvPr id="3" name="矩形 2"/>
          <p:cNvSpPr>
            <a:spLocks noChangeArrowheads="1"/>
          </p:cNvSpPr>
          <p:nvPr userDrawn="1"/>
        </p:nvSpPr>
        <p:spPr bwMode="auto">
          <a:xfrm>
            <a:off x="920751" y="220663"/>
            <a:ext cx="785793" cy="646331"/>
          </a:xfrm>
          <a:prstGeom prst="rect">
            <a:avLst/>
          </a:prstGeom>
          <a:noFill/>
          <a:ln>
            <a:noFill/>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
        <p:nvSpPr>
          <p:cNvPr id="6" name="Title 1"/>
          <p:cNvSpPr>
            <a:spLocks noGrp="1"/>
          </p:cNvSpPr>
          <p:nvPr>
            <p:ph type="title"/>
          </p:nvPr>
        </p:nvSpPr>
        <p:spPr>
          <a:xfrm>
            <a:off x="2209800" y="154547"/>
            <a:ext cx="6288109" cy="776289"/>
          </a:xfrm>
          <a:prstGeom prst="rect">
            <a:avLst/>
          </a:prstGeom>
        </p:spPr>
        <p:txBody>
          <a:bodyPr anchor="ctr">
            <a:normAutofit/>
          </a:bodyPr>
          <a:lstStyle>
            <a:lvl1pPr>
              <a:defRPr sz="2800">
                <a:solidFill>
                  <a:srgbClr val="1369B2"/>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F55915B0-52B6-43CA-B44C-120EFC11084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3CA8476-7398-4CB4-A686-FDB941A79113}"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F55915B0-52B6-43CA-B44C-120EFC11084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3CA8476-7398-4CB4-A686-FDB941A79113}"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F55915B0-52B6-43CA-B44C-120EFC11084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3CA8476-7398-4CB4-A686-FDB941A79113}"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F55915B0-52B6-43CA-B44C-120EFC11084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3CA8476-7398-4CB4-A686-FDB941A79113}"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F55915B0-52B6-43CA-B44C-120EFC110844}"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3CA8476-7398-4CB4-A686-FDB941A79113}"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F55915B0-52B6-43CA-B44C-120EFC110844}"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3CA8476-7398-4CB4-A686-FDB941A79113}"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55915B0-52B6-43CA-B44C-120EFC110844}"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3CA8476-7398-4CB4-A686-FDB941A79113}"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F55915B0-52B6-43CA-B44C-120EFC11084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3CA8476-7398-4CB4-A686-FDB941A79113}"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F55915B0-52B6-43CA-B44C-120EFC11084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3CA8476-7398-4CB4-A686-FDB941A79113}"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F55915B0-52B6-43CA-B44C-120EFC11084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3CA8476-7398-4CB4-A686-FDB941A79113}"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F55915B0-52B6-43CA-B44C-120EFC11084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3CA8476-7398-4CB4-A686-FDB941A79113}"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pic>
        <p:nvPicPr>
          <p:cNvPr id="10" name="图片 9" descr="图层1"/>
          <p:cNvPicPr>
            <a:picLocks noChangeAspect="1"/>
          </p:cNvPicPr>
          <p:nvPr userDrawn="1"/>
        </p:nvPicPr>
        <p:blipFill>
          <a:blip r:embed="rId2">
            <a:grayscl/>
            <a:lum bright="70000" contrast="-70000"/>
          </a:blip>
          <a:stretch>
            <a:fillRect/>
          </a:stretch>
        </p:blipFill>
        <p:spPr>
          <a:xfrm>
            <a:off x="-22225" y="3890645"/>
            <a:ext cx="12232640" cy="2960370"/>
          </a:xfrm>
          <a:prstGeom prst="rect">
            <a:avLst/>
          </a:prstGeom>
        </p:spPr>
      </p:pic>
      <p:pic>
        <p:nvPicPr>
          <p:cNvPr id="4" name="图片 3" descr="WechatIMG103"/>
          <p:cNvPicPr>
            <a:picLocks noChangeAspect="1"/>
          </p:cNvPicPr>
          <p:nvPr userDrawn="1"/>
        </p:nvPicPr>
        <p:blipFill>
          <a:blip r:embed="rId3"/>
          <a:stretch>
            <a:fillRect/>
          </a:stretch>
        </p:blipFill>
        <p:spPr>
          <a:xfrm>
            <a:off x="231140" y="145415"/>
            <a:ext cx="1971040" cy="588010"/>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cSld name="1_仅标题">
    <p:spTree>
      <p:nvGrpSpPr>
        <p:cNvPr id="1" name=""/>
        <p:cNvGrpSpPr/>
        <p:nvPr/>
      </p:nvGrpSpPr>
      <p:grpSpPr>
        <a:xfrm>
          <a:off x="0" y="0"/>
          <a:ext cx="0" cy="0"/>
          <a:chOff x="0" y="0"/>
          <a:chExt cx="0" cy="0"/>
        </a:xfrm>
      </p:grpSpPr>
      <p:pic>
        <p:nvPicPr>
          <p:cNvPr id="3" name="图片 2" descr="图层0"/>
          <p:cNvPicPr>
            <a:picLocks noChangeAspect="1"/>
          </p:cNvPicPr>
          <p:nvPr userDrawn="1"/>
        </p:nvPicPr>
        <p:blipFill>
          <a:blip r:embed="rId2"/>
          <a:stretch>
            <a:fillRect/>
          </a:stretch>
        </p:blipFill>
        <p:spPr>
          <a:xfrm>
            <a:off x="-14605" y="-9525"/>
            <a:ext cx="6477000" cy="6877050"/>
          </a:xfrm>
          <a:prstGeom prst="rect">
            <a:avLst/>
          </a:prstGeom>
        </p:spPr>
      </p:pic>
      <p:pic>
        <p:nvPicPr>
          <p:cNvPr id="4" name="图片 3" descr="WechatIMG103"/>
          <p:cNvPicPr>
            <a:picLocks noChangeAspect="1"/>
          </p:cNvPicPr>
          <p:nvPr userDrawn="1"/>
        </p:nvPicPr>
        <p:blipFill>
          <a:blip r:embed="rId3"/>
          <a:stretch>
            <a:fillRect/>
          </a:stretch>
        </p:blipFill>
        <p:spPr>
          <a:xfrm>
            <a:off x="231140" y="145415"/>
            <a:ext cx="1971040" cy="588010"/>
          </a:xfrm>
          <a:prstGeom prst="rect">
            <a:avLst/>
          </a:prstGeom>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2" name="图片 1" descr="WechatIMG102"/>
          <p:cNvPicPr>
            <a:picLocks noChangeAspect="1"/>
          </p:cNvPicPr>
          <p:nvPr userDrawn="1"/>
        </p:nvPicPr>
        <p:blipFill>
          <a:blip r:embed="rId2"/>
          <a:stretch>
            <a:fillRect/>
          </a:stretch>
        </p:blipFill>
        <p:spPr>
          <a:xfrm>
            <a:off x="10420985" y="114300"/>
            <a:ext cx="1619885" cy="565150"/>
          </a:xfrm>
          <a:prstGeom prst="rect">
            <a:avLst/>
          </a:prstGeom>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pic>
        <p:nvPicPr>
          <p:cNvPr id="8" name="图片 7" descr="图层2"/>
          <p:cNvPicPr>
            <a:picLocks noChangeAspect="1"/>
          </p:cNvPicPr>
          <p:nvPr userDrawn="1"/>
        </p:nvPicPr>
        <p:blipFill>
          <a:blip r:embed="rId2">
            <a:grayscl/>
            <a:lum bright="70000" contrast="-70000"/>
          </a:blip>
          <a:stretch>
            <a:fillRect/>
          </a:stretch>
        </p:blipFill>
        <p:spPr>
          <a:xfrm>
            <a:off x="-22225" y="4938395"/>
            <a:ext cx="12231370" cy="1957070"/>
          </a:xfrm>
          <a:prstGeom prst="rect">
            <a:avLst/>
          </a:prstGeom>
        </p:spPr>
      </p:pic>
      <p:pic>
        <p:nvPicPr>
          <p:cNvPr id="4" name="图片 3" descr="WechatIMG103"/>
          <p:cNvPicPr>
            <a:picLocks noChangeAspect="1"/>
          </p:cNvPicPr>
          <p:nvPr userDrawn="1"/>
        </p:nvPicPr>
        <p:blipFill>
          <a:blip r:embed="rId3"/>
          <a:stretch>
            <a:fillRect/>
          </a:stretch>
        </p:blipFill>
        <p:spPr>
          <a:xfrm>
            <a:off x="231140" y="145415"/>
            <a:ext cx="1971040" cy="588010"/>
          </a:xfrm>
          <a:prstGeom prst="rect">
            <a:avLst/>
          </a:prstGeom>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正文">
    <p:spTree>
      <p:nvGrpSpPr>
        <p:cNvPr id="1" name=""/>
        <p:cNvGrpSpPr/>
        <p:nvPr/>
      </p:nvGrpSpPr>
      <p:grpSpPr>
        <a:xfrm>
          <a:off x="0" y="0"/>
          <a:ext cx="0" cy="0"/>
          <a:chOff x="0" y="0"/>
          <a:chExt cx="0" cy="0"/>
        </a:xfrm>
      </p:grpSpPr>
      <p:sp>
        <p:nvSpPr>
          <p:cNvPr id="3" name="矩形 2"/>
          <p:cNvSpPr>
            <a:spLocks noChangeArrowheads="1"/>
          </p:cNvSpPr>
          <p:nvPr userDrawn="1"/>
        </p:nvSpPr>
        <p:spPr bwMode="auto">
          <a:xfrm>
            <a:off x="920751" y="220663"/>
            <a:ext cx="785793" cy="646331"/>
          </a:xfrm>
          <a:prstGeom prst="rect">
            <a:avLst/>
          </a:prstGeom>
          <a:noFill/>
          <a:ln>
            <a:noFill/>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
        <p:nvSpPr>
          <p:cNvPr id="6" name="Title 1"/>
          <p:cNvSpPr>
            <a:spLocks noGrp="1"/>
          </p:cNvSpPr>
          <p:nvPr>
            <p:ph type="title"/>
          </p:nvPr>
        </p:nvSpPr>
        <p:spPr>
          <a:xfrm>
            <a:off x="2209800" y="154547"/>
            <a:ext cx="6288109" cy="776289"/>
          </a:xfrm>
          <a:prstGeom prst="rect">
            <a:avLst/>
          </a:prstGeom>
        </p:spPr>
        <p:txBody>
          <a:bodyPr anchor="ctr">
            <a:normAutofit/>
          </a:bodyPr>
          <a:lstStyle>
            <a:lvl1pPr>
              <a:defRPr sz="2800">
                <a:solidFill>
                  <a:srgbClr val="1369B2"/>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5.xml"/><Relationship Id="rId8" Type="http://schemas.openxmlformats.org/officeDocument/2006/relationships/slideLayout" Target="../slideLayouts/slideLayout24.xml"/><Relationship Id="rId7" Type="http://schemas.openxmlformats.org/officeDocument/2006/relationships/slideLayout" Target="../slideLayouts/slideLayout23.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 Id="rId3" Type="http://schemas.openxmlformats.org/officeDocument/2006/relationships/slideLayout" Target="../slideLayouts/slideLayout19.xml"/><Relationship Id="rId2" Type="http://schemas.openxmlformats.org/officeDocument/2006/relationships/slideLayout" Target="../slideLayouts/slideLayout18.xml"/><Relationship Id="rId17" Type="http://schemas.openxmlformats.org/officeDocument/2006/relationships/theme" Target="../theme/theme2.xml"/><Relationship Id="rId16" Type="http://schemas.openxmlformats.org/officeDocument/2006/relationships/slideLayout" Target="../slideLayouts/slideLayout32.xml"/><Relationship Id="rId15" Type="http://schemas.openxmlformats.org/officeDocument/2006/relationships/slideLayout" Target="../slideLayouts/slideLayout31.xml"/><Relationship Id="rId14" Type="http://schemas.openxmlformats.org/officeDocument/2006/relationships/slideLayout" Target="../slideLayouts/slideLayout30.xml"/><Relationship Id="rId13" Type="http://schemas.openxmlformats.org/officeDocument/2006/relationships/slideLayout" Target="../slideLayouts/slideLayout29.xml"/><Relationship Id="rId12" Type="http://schemas.openxmlformats.org/officeDocument/2006/relationships/slideLayout" Target="../slideLayouts/slideLayout28.xml"/><Relationship Id="rId11" Type="http://schemas.openxmlformats.org/officeDocument/2006/relationships/slideLayout" Target="../slideLayouts/slideLayout27.xml"/><Relationship Id="rId10" Type="http://schemas.openxmlformats.org/officeDocument/2006/relationships/slideLayout" Target="../slideLayouts/slideLayout26.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5915B0-52B6-43CA-B44C-120EFC110844}"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CA8476-7398-4CB4-A686-FDB941A7911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5915B0-52B6-43CA-B44C-120EFC110844}"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CA8476-7398-4CB4-A686-FDB941A7911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4" Type="http://schemas.openxmlformats.org/officeDocument/2006/relationships/notesSlide" Target="../notesSlides/notesSlide1.xml"/><Relationship Id="rId13" Type="http://schemas.openxmlformats.org/officeDocument/2006/relationships/slideLayout" Target="../slideLayouts/slideLayout13.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1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1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16.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tags" Target="../tags/tag1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tags" Target="../tags/tag18.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tags" Target="../tags/tag19.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tags" Target="../tags/tag20.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tags" Target="../tags/tag21.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4.xml"/><Relationship Id="rId3" Type="http://schemas.openxmlformats.org/officeDocument/2006/relationships/tags" Target="../tags/tag23.xml"/><Relationship Id="rId2" Type="http://schemas.openxmlformats.org/officeDocument/2006/relationships/image" Target="../media/image6.png"/><Relationship Id="rId1" Type="http://schemas.openxmlformats.org/officeDocument/2006/relationships/tags" Target="../tags/tag2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4.xml"/><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4.xml"/><Relationship Id="rId1" Type="http://schemas.openxmlformats.org/officeDocument/2006/relationships/tags" Target="../tags/tag25.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26.xml"/><Relationship Id="rId2" Type="http://schemas.openxmlformats.org/officeDocument/2006/relationships/image" Target="../media/image9.png"/><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7.xml"/><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8.xml"/><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9.xml"/><Relationship Id="rId1"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30.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31.xml"/><Relationship Id="rId1" Type="http://schemas.openxmlformats.org/officeDocument/2006/relationships/image" Target="../media/image13.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4.xml"/><Relationship Id="rId3" Type="http://schemas.openxmlformats.org/officeDocument/2006/relationships/tags" Target="../tags/tag32.xml"/><Relationship Id="rId2" Type="http://schemas.openxmlformats.org/officeDocument/2006/relationships/image" Target="../media/image15.png"/><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4.xml"/><Relationship Id="rId2" Type="http://schemas.openxmlformats.org/officeDocument/2006/relationships/tags" Target="../tags/tag33.xml"/><Relationship Id="rId1"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34.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35.xml"/><Relationship Id="rId1" Type="http://schemas.openxmlformats.org/officeDocument/2006/relationships/image" Target="../media/image17.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30.xml"/><Relationship Id="rId3" Type="http://schemas.openxmlformats.org/officeDocument/2006/relationships/tags" Target="../tags/tag37.xml"/><Relationship Id="rId2" Type="http://schemas.openxmlformats.org/officeDocument/2006/relationships/image" Target="../media/image18.png"/><Relationship Id="rId1" Type="http://schemas.openxmlformats.org/officeDocument/2006/relationships/tags" Target="../tags/tag36.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tags" Target="../tags/tag38.xml"/><Relationship Id="rId1" Type="http://schemas.openxmlformats.org/officeDocument/2006/relationships/image" Target="../media/image19.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30.xml"/><Relationship Id="rId2" Type="http://schemas.openxmlformats.org/officeDocument/2006/relationships/tags" Target="../tags/tag39.xml"/><Relationship Id="rId1" Type="http://schemas.openxmlformats.org/officeDocument/2006/relationships/image" Target="../media/image20.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30.xml"/><Relationship Id="rId2" Type="http://schemas.openxmlformats.org/officeDocument/2006/relationships/tags" Target="../tags/tag40.xml"/><Relationship Id="rId1"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tags" Target="../tags/tag41.xml"/><Relationship Id="rId1"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tags" Target="../tags/tag42.xml"/><Relationship Id="rId1"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tags" Target="../tags/tag43.xml"/><Relationship Id="rId1"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0.xml"/><Relationship Id="rId1" Type="http://schemas.openxmlformats.org/officeDocument/2006/relationships/tags" Target="../tags/tag44.xml"/></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30.xml"/><Relationship Id="rId3" Type="http://schemas.openxmlformats.org/officeDocument/2006/relationships/tags" Target="../tags/tag45.xml"/><Relationship Id="rId2" Type="http://schemas.openxmlformats.org/officeDocument/2006/relationships/image" Target="../media/image26.png"/><Relationship Id="rId1" Type="http://schemas.openxmlformats.org/officeDocument/2006/relationships/image" Target="../media/image25.png"/></Relationships>
</file>

<file path=ppt/slides/_rels/slide33.xml.rels><?xml version="1.0" encoding="UTF-8" standalone="yes"?>
<Relationships xmlns="http://schemas.openxmlformats.org/package/2006/relationships"><Relationship Id="rId6" Type="http://schemas.openxmlformats.org/officeDocument/2006/relationships/slideLayout" Target="../slideLayouts/slideLayout30.xml"/><Relationship Id="rId5" Type="http://schemas.openxmlformats.org/officeDocument/2006/relationships/tags" Target="../tags/tag46.xml"/><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30.xml"/><Relationship Id="rId3" Type="http://schemas.openxmlformats.org/officeDocument/2006/relationships/tags" Target="../tags/tag47.xml"/><Relationship Id="rId2" Type="http://schemas.openxmlformats.org/officeDocument/2006/relationships/image" Target="../media/image32.png"/><Relationship Id="rId1" Type="http://schemas.openxmlformats.org/officeDocument/2006/relationships/image" Target="../media/image31.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tags" Target="../tags/tag48.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tags" Target="../tags/tag49.xml"/><Relationship Id="rId1" Type="http://schemas.openxmlformats.org/officeDocument/2006/relationships/image" Target="../media/image33.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tags" Target="../tags/tag50.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tags" Target="../tags/tag51.xml"/><Relationship Id="rId1" Type="http://schemas.openxmlformats.org/officeDocument/2006/relationships/image" Target="../media/image34.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tags" Target="../tags/tag52.xml"/><Relationship Id="rId1" Type="http://schemas.openxmlformats.org/officeDocument/2006/relationships/image" Target="../media/image35.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tags" Target="../tags/tag53.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tags" Target="../tags/tag54.xml"/><Relationship Id="rId1" Type="http://schemas.openxmlformats.org/officeDocument/2006/relationships/image" Target="../media/image36.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tags" Target="../tags/tag55.xml"/><Relationship Id="rId1" Type="http://schemas.openxmlformats.org/officeDocument/2006/relationships/image" Target="../media/image37.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tags" Target="../tags/tag56.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tags" Target="../tags/tag57.xml"/><Relationship Id="rId1" Type="http://schemas.openxmlformats.org/officeDocument/2006/relationships/image" Target="../media/image38.png"/></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30.xml"/><Relationship Id="rId2" Type="http://schemas.openxmlformats.org/officeDocument/2006/relationships/tags" Target="../tags/tag58.xml"/><Relationship Id="rId1" Type="http://schemas.openxmlformats.org/officeDocument/2006/relationships/image" Target="../media/image39.pn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30.xml"/><Relationship Id="rId2" Type="http://schemas.openxmlformats.org/officeDocument/2006/relationships/tags" Target="../tags/tag59.xml"/><Relationship Id="rId1" Type="http://schemas.openxmlformats.org/officeDocument/2006/relationships/image" Target="../media/image40.pn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30.xml"/><Relationship Id="rId2" Type="http://schemas.openxmlformats.org/officeDocument/2006/relationships/tags" Target="../tags/tag60.xml"/><Relationship Id="rId1" Type="http://schemas.openxmlformats.org/officeDocument/2006/relationships/image" Target="../media/image41.png"/></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30.xml"/><Relationship Id="rId2" Type="http://schemas.openxmlformats.org/officeDocument/2006/relationships/tags" Target="../tags/tag61.xml"/><Relationship Id="rId1" Type="http://schemas.openxmlformats.org/officeDocument/2006/relationships/image" Target="../media/image42.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tags" Target="../tags/tag62.xml"/><Relationship Id="rId1" Type="http://schemas.openxmlformats.org/officeDocument/2006/relationships/image" Target="../media/image43.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tags" Target="../tags/tag63.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tags" Target="../tags/tag64.xml"/><Relationship Id="rId1" Type="http://schemas.openxmlformats.org/officeDocument/2006/relationships/image" Target="../media/image44.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2225" y="2009775"/>
            <a:ext cx="12236450" cy="2145030"/>
          </a:xfrm>
          <a:prstGeom prst="rect">
            <a:avLst/>
          </a:prstGeom>
          <a:solidFill>
            <a:srgbClr val="C51A16"/>
          </a:solidFill>
          <a:ln>
            <a:noFill/>
          </a:ln>
          <a:effectLst>
            <a:outerShdw blurRad="1778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600">
              <a:cs typeface="+mn-ea"/>
              <a:sym typeface="+mn-lt"/>
            </a:endParaRPr>
          </a:p>
        </p:txBody>
      </p:sp>
      <p:sp>
        <p:nvSpPr>
          <p:cNvPr id="8" name="文本框 7"/>
          <p:cNvSpPr txBox="1"/>
          <p:nvPr/>
        </p:nvSpPr>
        <p:spPr>
          <a:xfrm>
            <a:off x="1069181" y="2528292"/>
            <a:ext cx="10053637" cy="1106805"/>
          </a:xfrm>
          <a:prstGeom prst="rect">
            <a:avLst/>
          </a:prstGeom>
          <a:noFill/>
        </p:spPr>
        <p:txBody>
          <a:bodyPr wrap="square" rtlCol="0">
            <a:spAutoFit/>
          </a:bodyPr>
          <a:lstStyle/>
          <a:p>
            <a:pPr algn="ctr"/>
            <a:r>
              <a:rPr lang="zh-CN" altLang="en-US" sz="6600" b="1" dirty="0">
                <a:solidFill>
                  <a:schemeClr val="bg1"/>
                </a:solidFill>
                <a:effectLst>
                  <a:reflection blurRad="50800" stA="30000" endPos="40000" dist="101600" dir="5400000" sy="-100000" algn="bl" rotWithShape="0"/>
                </a:effectLst>
                <a:cs typeface="+mn-ea"/>
                <a:sym typeface="+mn-lt"/>
              </a:rPr>
              <a:t>加固技术基础</a:t>
            </a:r>
            <a:r>
              <a:rPr lang="en-US" altLang="zh-CN" sz="6600" b="1" dirty="0">
                <a:solidFill>
                  <a:schemeClr val="bg1"/>
                </a:solidFill>
                <a:effectLst>
                  <a:reflection blurRad="50800" stA="30000" endPos="40000" dist="101600" dir="5400000" sy="-100000" algn="bl" rotWithShape="0"/>
                </a:effectLst>
                <a:cs typeface="+mn-ea"/>
                <a:sym typeface="+mn-lt"/>
              </a:rPr>
              <a:t>-</a:t>
            </a:r>
            <a:r>
              <a:rPr lang="zh-CN" altLang="en-US" sz="6600" b="1" dirty="0">
                <a:solidFill>
                  <a:schemeClr val="bg1"/>
                </a:solidFill>
                <a:effectLst>
                  <a:reflection blurRad="50800" stA="30000" endPos="40000" dist="101600" dir="5400000" sy="-100000" algn="bl" rotWithShape="0"/>
                </a:effectLst>
                <a:cs typeface="+mn-ea"/>
                <a:sym typeface="+mn-lt"/>
              </a:rPr>
              <a:t>系统</a:t>
            </a:r>
            <a:r>
              <a:rPr lang="zh-CN" altLang="en-US" sz="6600" b="1" dirty="0">
                <a:solidFill>
                  <a:schemeClr val="bg1"/>
                </a:solidFill>
                <a:effectLst>
                  <a:reflection blurRad="50800" stA="30000" endPos="40000" dist="101600" dir="5400000" sy="-100000" algn="bl" rotWithShape="0"/>
                </a:effectLst>
                <a:cs typeface="+mn-ea"/>
                <a:sym typeface="+mn-lt"/>
              </a:rPr>
              <a:t>加固</a:t>
            </a:r>
            <a:endParaRPr lang="zh-CN" altLang="en-US" sz="6600" b="1" dirty="0">
              <a:solidFill>
                <a:schemeClr val="bg1"/>
              </a:solidFill>
              <a:effectLst>
                <a:reflection blurRad="50800" stA="30000" endPos="40000" dist="101600" dir="5400000" sy="-100000" algn="bl" rotWithShape="0"/>
              </a:effectLst>
              <a:cs typeface="+mn-ea"/>
              <a:sym typeface="+mn-lt"/>
            </a:endParaRPr>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000" fill="hold">
                                          <p:stCondLst>
                                            <p:cond delay="0"/>
                                          </p:stCondLst>
                                        </p:cTn>
                                        <p:tgtEl>
                                          <p:spTgt spid="8"/>
                                        </p:tgtEl>
                                        <p:attrNameLst>
                                          <p:attrName>style.visibility</p:attrName>
                                        </p:attrNameLst>
                                      </p:cBhvr>
                                      <p:to>
                                        <p:strVal val="visible"/>
                                      </p:to>
                                    </p:set>
                                    <p:animEffect transition="in" filter="wipe(left)">
                                      <p:cBhvr>
                                        <p:cTn id="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custDataLst>
              <p:tags r:id="rId1"/>
            </p:custDataLst>
          </p:nvPr>
        </p:nvSpPr>
        <p:spPr>
          <a:xfrm>
            <a:off x="-20320" y="2143125"/>
            <a:ext cx="6490970" cy="2614930"/>
          </a:xfrm>
          <a:prstGeom prst="rect">
            <a:avLst/>
          </a:prstGeom>
          <a:solidFill>
            <a:srgbClr val="C51A1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9" name="组合 8"/>
          <p:cNvGrpSpPr/>
          <p:nvPr/>
        </p:nvGrpSpPr>
        <p:grpSpPr>
          <a:xfrm>
            <a:off x="1623695" y="2872105"/>
            <a:ext cx="3214370" cy="1113790"/>
            <a:chOff x="2220" y="4415"/>
            <a:chExt cx="5062" cy="1754"/>
          </a:xfrm>
        </p:grpSpPr>
        <p:sp>
          <p:nvSpPr>
            <p:cNvPr id="5141" name="Line 29"/>
            <p:cNvSpPr>
              <a:spLocks noChangeShapeType="1"/>
            </p:cNvSpPr>
            <p:nvPr>
              <p:custDataLst>
                <p:tags r:id="rId2"/>
              </p:custDataLst>
            </p:nvPr>
          </p:nvSpPr>
          <p:spPr bwMode="auto">
            <a:xfrm>
              <a:off x="2220" y="4415"/>
              <a:ext cx="5063" cy="0"/>
            </a:xfrm>
            <a:prstGeom prst="line">
              <a:avLst/>
            </a:prstGeom>
            <a:noFill/>
            <a:ln w="254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70">
                <a:solidFill>
                  <a:schemeClr val="bg1"/>
                </a:solidFill>
                <a:cs typeface="+mn-ea"/>
                <a:sym typeface="+mn-lt"/>
              </a:endParaRPr>
            </a:p>
          </p:txBody>
        </p:sp>
        <p:sp>
          <p:nvSpPr>
            <p:cNvPr id="5142" name="Text Box 30"/>
            <p:cNvSpPr txBox="1">
              <a:spLocks noChangeArrowheads="1"/>
            </p:cNvSpPr>
            <p:nvPr>
              <p:custDataLst>
                <p:tags r:id="rId3"/>
              </p:custDataLst>
            </p:nvPr>
          </p:nvSpPr>
          <p:spPr bwMode="auto">
            <a:xfrm>
              <a:off x="2372" y="4815"/>
              <a:ext cx="1440" cy="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600" dirty="0">
                  <a:solidFill>
                    <a:schemeClr val="bg1"/>
                  </a:solidFill>
                  <a:latin typeface="+mn-lt"/>
                  <a:ea typeface="+mn-ea"/>
                  <a:cs typeface="+mn-ea"/>
                  <a:sym typeface="+mn-lt"/>
                </a:rPr>
                <a:t>目录</a:t>
              </a:r>
              <a:endParaRPr lang="zh-CN" altLang="zh-CN" sz="3600" dirty="0">
                <a:solidFill>
                  <a:schemeClr val="bg1"/>
                </a:solidFill>
                <a:latin typeface="+mn-lt"/>
                <a:ea typeface="+mn-ea"/>
                <a:cs typeface="+mn-ea"/>
                <a:sym typeface="+mn-lt"/>
              </a:endParaRPr>
            </a:p>
          </p:txBody>
        </p:sp>
        <p:sp>
          <p:nvSpPr>
            <p:cNvPr id="5143" name="Text Box 31"/>
            <p:cNvSpPr txBox="1">
              <a:spLocks noChangeArrowheads="1"/>
            </p:cNvSpPr>
            <p:nvPr>
              <p:custDataLst>
                <p:tags r:id="rId4"/>
              </p:custDataLst>
            </p:nvPr>
          </p:nvSpPr>
          <p:spPr bwMode="auto">
            <a:xfrm>
              <a:off x="4057" y="5009"/>
              <a:ext cx="3080" cy="6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dirty="0">
                  <a:solidFill>
                    <a:schemeClr val="bg1"/>
                  </a:solidFill>
                  <a:latin typeface="+mn-lt"/>
                  <a:ea typeface="+mn-ea"/>
                  <a:cs typeface="+mn-ea"/>
                  <a:sym typeface="+mn-lt"/>
                </a:rPr>
                <a:t>CONTENTS</a:t>
              </a:r>
              <a:endParaRPr lang="zh-CN" altLang="zh-CN" sz="2800" dirty="0">
                <a:solidFill>
                  <a:schemeClr val="bg1"/>
                </a:solidFill>
                <a:latin typeface="+mn-lt"/>
                <a:ea typeface="+mn-ea"/>
                <a:cs typeface="+mn-ea"/>
                <a:sym typeface="+mn-lt"/>
              </a:endParaRPr>
            </a:p>
          </p:txBody>
        </p:sp>
        <p:sp>
          <p:nvSpPr>
            <p:cNvPr id="5144" name="Line 32"/>
            <p:cNvSpPr>
              <a:spLocks noChangeShapeType="1"/>
            </p:cNvSpPr>
            <p:nvPr>
              <p:custDataLst>
                <p:tags r:id="rId5"/>
              </p:custDataLst>
            </p:nvPr>
          </p:nvSpPr>
          <p:spPr bwMode="auto">
            <a:xfrm>
              <a:off x="2220" y="6169"/>
              <a:ext cx="5063" cy="0"/>
            </a:xfrm>
            <a:prstGeom prst="line">
              <a:avLst/>
            </a:prstGeom>
            <a:noFill/>
            <a:ln w="25400">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670">
                <a:cs typeface="+mn-ea"/>
                <a:sym typeface="+mn-lt"/>
              </a:endParaRPr>
            </a:p>
          </p:txBody>
        </p:sp>
      </p:grpSp>
      <p:grpSp>
        <p:nvGrpSpPr>
          <p:cNvPr id="13" name="组合 12"/>
          <p:cNvGrpSpPr/>
          <p:nvPr/>
        </p:nvGrpSpPr>
        <p:grpSpPr>
          <a:xfrm>
            <a:off x="7227780" y="3917950"/>
            <a:ext cx="3972560" cy="840105"/>
            <a:chOff x="7831" y="2257"/>
            <a:chExt cx="6256" cy="1323"/>
          </a:xfrm>
        </p:grpSpPr>
        <p:sp>
          <p:nvSpPr>
            <p:cNvPr id="14" name="矩形 13"/>
            <p:cNvSpPr/>
            <p:nvPr>
              <p:custDataLst>
                <p:tags r:id="rId6"/>
              </p:custDataLst>
            </p:nvPr>
          </p:nvSpPr>
          <p:spPr>
            <a:xfrm>
              <a:off x="7831" y="2299"/>
              <a:ext cx="1234" cy="128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smtClean="0">
                  <a:solidFill>
                    <a:schemeClr val="bg1"/>
                  </a:solidFill>
                  <a:cs typeface="+mn-ea"/>
                  <a:sym typeface="+mn-lt"/>
                </a:rPr>
                <a:t>02</a:t>
              </a:r>
              <a:endParaRPr lang="en-US" altLang="zh-CN" sz="3600" dirty="0">
                <a:solidFill>
                  <a:schemeClr val="bg1"/>
                </a:solidFill>
                <a:cs typeface="+mn-ea"/>
                <a:sym typeface="+mn-lt"/>
              </a:endParaRPr>
            </a:p>
          </p:txBody>
        </p:sp>
        <p:sp>
          <p:nvSpPr>
            <p:cNvPr id="15" name="文本框 14"/>
            <p:cNvSpPr txBox="1"/>
            <p:nvPr>
              <p:custDataLst>
                <p:tags r:id="rId7"/>
              </p:custDataLst>
            </p:nvPr>
          </p:nvSpPr>
          <p:spPr>
            <a:xfrm>
              <a:off x="9212" y="2257"/>
              <a:ext cx="2298" cy="531"/>
            </a:xfrm>
            <a:prstGeom prst="rect">
              <a:avLst/>
            </a:prstGeom>
            <a:noFill/>
          </p:spPr>
          <p:txBody>
            <a:bodyPr wrap="square" rtlCol="0">
              <a:spAutoFit/>
            </a:bodyPr>
            <a:lstStyle/>
            <a:p>
              <a:endParaRPr lang="en-US" altLang="zh-CN" sz="1600" b="1" dirty="0">
                <a:solidFill>
                  <a:schemeClr val="tx1">
                    <a:lumMod val="65000"/>
                    <a:lumOff val="35000"/>
                  </a:schemeClr>
                </a:solidFill>
                <a:cs typeface="+mn-ea"/>
                <a:sym typeface="+mn-lt"/>
              </a:endParaRPr>
            </a:p>
          </p:txBody>
        </p:sp>
        <p:sp>
          <p:nvSpPr>
            <p:cNvPr id="16" name="文本框 15" descr="e7d195523061f1c0deeec63e560781cfd59afb0ea006f2a87ABB68BF51EA6619813959095094C18C62A12F549504892A4AAA8C1554C6663626E05CA27F281A14E6983772AFC3FB97135759321DEA3D709AACD122C08E6ED11152287138C3ABBD9FE3097DBFFF43ED48AFD97A215A5FC38CCECA07F04C5F44216147602EB0EB762C85458D56ABB1BF27D2E1C1867E529D"/>
            <p:cNvSpPr txBox="1"/>
            <p:nvPr>
              <p:custDataLst>
                <p:tags r:id="rId8"/>
              </p:custDataLst>
            </p:nvPr>
          </p:nvSpPr>
          <p:spPr>
            <a:xfrm>
              <a:off x="9084" y="2551"/>
              <a:ext cx="5003" cy="822"/>
            </a:xfrm>
            <a:prstGeom prst="rect">
              <a:avLst/>
            </a:prstGeom>
            <a:noFill/>
          </p:spPr>
          <p:txBody>
            <a:bodyPr wrap="none" rtlCol="0">
              <a:spAutoFit/>
            </a:bodyPr>
            <a:lstStyle/>
            <a:p>
              <a:r>
                <a:rPr lang="en-US" altLang="zh-CN" sz="2800" b="1" dirty="0" smtClean="0">
                  <a:solidFill>
                    <a:schemeClr val="tx1">
                      <a:lumMod val="65000"/>
                      <a:lumOff val="35000"/>
                    </a:schemeClr>
                  </a:solidFill>
                  <a:cs typeface="+mn-ea"/>
                  <a:sym typeface="+mn-lt"/>
                </a:rPr>
                <a:t>Linux</a:t>
              </a:r>
              <a:r>
                <a:rPr lang="zh-CN" altLang="en-US" sz="2800" b="1" dirty="0" smtClean="0">
                  <a:solidFill>
                    <a:schemeClr val="tx1">
                      <a:lumMod val="65000"/>
                      <a:lumOff val="35000"/>
                    </a:schemeClr>
                  </a:solidFill>
                  <a:cs typeface="+mn-ea"/>
                  <a:sym typeface="+mn-lt"/>
                </a:rPr>
                <a:t>操作系统</a:t>
              </a:r>
              <a:r>
                <a:rPr lang="zh-CN" altLang="en-US" sz="2800" b="1" dirty="0" smtClean="0">
                  <a:solidFill>
                    <a:schemeClr val="tx1">
                      <a:lumMod val="65000"/>
                      <a:lumOff val="35000"/>
                    </a:schemeClr>
                  </a:solidFill>
                  <a:cs typeface="+mn-ea"/>
                  <a:sym typeface="+mn-lt"/>
                </a:rPr>
                <a:t>加固</a:t>
              </a:r>
              <a:endParaRPr lang="zh-CN" altLang="en-US" sz="2800" b="1" dirty="0" smtClean="0">
                <a:solidFill>
                  <a:schemeClr val="tx1">
                    <a:lumMod val="65000"/>
                    <a:lumOff val="35000"/>
                  </a:schemeClr>
                </a:solidFill>
                <a:cs typeface="+mn-ea"/>
                <a:sym typeface="+mn-lt"/>
              </a:endParaRPr>
            </a:p>
          </p:txBody>
        </p:sp>
      </p:grpSp>
      <p:grpSp>
        <p:nvGrpSpPr>
          <p:cNvPr id="23" name="组合 22"/>
          <p:cNvGrpSpPr/>
          <p:nvPr/>
        </p:nvGrpSpPr>
        <p:grpSpPr>
          <a:xfrm>
            <a:off x="7227780" y="2143417"/>
            <a:ext cx="4604385" cy="840105"/>
            <a:chOff x="7831" y="2257"/>
            <a:chExt cx="7251" cy="1323"/>
          </a:xfrm>
        </p:grpSpPr>
        <p:sp>
          <p:nvSpPr>
            <p:cNvPr id="24" name="矩形 23"/>
            <p:cNvSpPr/>
            <p:nvPr>
              <p:custDataLst>
                <p:tags r:id="rId9"/>
              </p:custDataLst>
            </p:nvPr>
          </p:nvSpPr>
          <p:spPr>
            <a:xfrm>
              <a:off x="7831" y="2299"/>
              <a:ext cx="1234" cy="128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bg1"/>
                  </a:solidFill>
                  <a:cs typeface="+mn-ea"/>
                  <a:sym typeface="+mn-lt"/>
                </a:rPr>
                <a:t>01</a:t>
              </a:r>
              <a:endParaRPr lang="en-US" altLang="zh-CN" sz="3600" dirty="0">
                <a:solidFill>
                  <a:schemeClr val="bg1"/>
                </a:solidFill>
                <a:cs typeface="+mn-ea"/>
                <a:sym typeface="+mn-lt"/>
              </a:endParaRPr>
            </a:p>
          </p:txBody>
        </p:sp>
        <p:sp>
          <p:nvSpPr>
            <p:cNvPr id="25" name="文本框 24"/>
            <p:cNvSpPr txBox="1"/>
            <p:nvPr>
              <p:custDataLst>
                <p:tags r:id="rId10"/>
              </p:custDataLst>
            </p:nvPr>
          </p:nvSpPr>
          <p:spPr>
            <a:xfrm>
              <a:off x="9212" y="2257"/>
              <a:ext cx="2298" cy="531"/>
            </a:xfrm>
            <a:prstGeom prst="rect">
              <a:avLst/>
            </a:prstGeom>
            <a:noFill/>
          </p:spPr>
          <p:txBody>
            <a:bodyPr wrap="square" rtlCol="0">
              <a:spAutoFit/>
            </a:bodyPr>
            <a:lstStyle/>
            <a:p>
              <a:endParaRPr lang="en-US" altLang="zh-CN" sz="1600" b="1" dirty="0">
                <a:solidFill>
                  <a:schemeClr val="tx1">
                    <a:lumMod val="65000"/>
                    <a:lumOff val="35000"/>
                  </a:schemeClr>
                </a:solidFill>
                <a:cs typeface="+mn-ea"/>
                <a:sym typeface="+mn-lt"/>
              </a:endParaRPr>
            </a:p>
          </p:txBody>
        </p:sp>
        <p:sp>
          <p:nvSpPr>
            <p:cNvPr id="26" name="文本框 25" descr="e7d195523061f1c0deeec63e560781cfd59afb0ea006f2a87ABB68BF51EA6619813959095094C18C62A12F549504892A4AAA8C1554C6663626E05CA27F281A14E6983772AFC3FB97135759321DEA3D709AACD122C08E6ED11152287138C3ABBD9FE3097DBFFF43ED48AFD97A215A5FC38CCECA07F04C5F44216147602EB0EB762C85458D56ABB1BF27D2E1C1867E529D"/>
            <p:cNvSpPr txBox="1"/>
            <p:nvPr>
              <p:custDataLst>
                <p:tags r:id="rId11"/>
              </p:custDataLst>
            </p:nvPr>
          </p:nvSpPr>
          <p:spPr>
            <a:xfrm>
              <a:off x="9084" y="2551"/>
              <a:ext cx="5998" cy="822"/>
            </a:xfrm>
            <a:prstGeom prst="rect">
              <a:avLst/>
            </a:prstGeom>
            <a:noFill/>
          </p:spPr>
          <p:txBody>
            <a:bodyPr wrap="none" rtlCol="0">
              <a:spAutoFit/>
            </a:bodyPr>
            <a:lstStyle/>
            <a:p>
              <a:r>
                <a:rPr lang="en-US" altLang="zh-CN" sz="2800" b="1" dirty="0">
                  <a:solidFill>
                    <a:schemeClr val="tx1">
                      <a:lumMod val="65000"/>
                      <a:lumOff val="35000"/>
                    </a:schemeClr>
                  </a:solidFill>
                  <a:cs typeface="+mn-ea"/>
                  <a:sym typeface="+mn-lt"/>
                </a:rPr>
                <a:t>Windows</a:t>
              </a:r>
              <a:r>
                <a:rPr lang="zh-CN" altLang="en-US" sz="2800" b="1" dirty="0">
                  <a:solidFill>
                    <a:schemeClr val="tx1">
                      <a:lumMod val="65000"/>
                      <a:lumOff val="35000"/>
                    </a:schemeClr>
                  </a:solidFill>
                  <a:cs typeface="+mn-ea"/>
                  <a:sym typeface="+mn-lt"/>
                </a:rPr>
                <a:t>操作系统</a:t>
              </a:r>
              <a:r>
                <a:rPr lang="zh-CN" altLang="en-US" sz="2800" b="1" dirty="0">
                  <a:solidFill>
                    <a:schemeClr val="tx1">
                      <a:lumMod val="65000"/>
                      <a:lumOff val="35000"/>
                    </a:schemeClr>
                  </a:solidFill>
                  <a:cs typeface="+mn-ea"/>
                  <a:sym typeface="+mn-lt"/>
                </a:rPr>
                <a:t>加固</a:t>
              </a:r>
              <a:endParaRPr lang="zh-CN" altLang="en-US" sz="2800" b="1" dirty="0">
                <a:solidFill>
                  <a:schemeClr val="tx1">
                    <a:lumMod val="65000"/>
                    <a:lumOff val="35000"/>
                  </a:schemeClr>
                </a:solidFill>
                <a:cs typeface="+mn-ea"/>
                <a:sym typeface="+mn-lt"/>
              </a:endParaRPr>
            </a:p>
          </p:txBody>
        </p:sp>
      </p:grpSp>
    </p:spTree>
    <p:custDataLst>
      <p:tags r:id="rId12"/>
    </p:custDataLst>
  </p:cSld>
  <p:clrMapOvr>
    <a:masterClrMapping/>
  </p:clrMapOvr>
  <p:transition spd="slow">
    <p:cover dir="l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trips(downLeft)">
                                      <p:cBhvr>
                                        <p:cTn id="7" dur="500"/>
                                        <p:tgtEl>
                                          <p:spTgt spid="13"/>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strips(downLeft)">
                                      <p:cBhvr>
                                        <p:cTn id="1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1"/>
          <p:cNvSpPr/>
          <p:nvPr/>
        </p:nvSpPr>
        <p:spPr bwMode="auto">
          <a:xfrm rot="10800000">
            <a:off x="4899025" y="2492375"/>
            <a:ext cx="1638300" cy="535305"/>
          </a:xfrm>
          <a:custGeom>
            <a:avLst/>
            <a:gdLst>
              <a:gd name="connsiteX0" fmla="*/ 1161826 w 1638286"/>
              <a:gd name="connsiteY0" fmla="*/ 535324 h 535324"/>
              <a:gd name="connsiteX1" fmla="*/ 309069 w 1638286"/>
              <a:gd name="connsiteY1" fmla="*/ 535324 h 535324"/>
              <a:gd name="connsiteX2" fmla="*/ 0 w 1638286"/>
              <a:gd name="connsiteY2" fmla="*/ 0 h 535324"/>
              <a:gd name="connsiteX3" fmla="*/ 105173 w 1638286"/>
              <a:gd name="connsiteY3" fmla="*/ 0 h 535324"/>
              <a:gd name="connsiteX4" fmla="*/ 108430 w 1638286"/>
              <a:gd name="connsiteY4" fmla="*/ 524 h 535324"/>
              <a:gd name="connsiteX5" fmla="*/ 916509 w 1638286"/>
              <a:gd name="connsiteY5" fmla="*/ 524 h 535324"/>
              <a:gd name="connsiteX6" fmla="*/ 919811 w 1638286"/>
              <a:gd name="connsiteY6" fmla="*/ 0 h 535324"/>
              <a:gd name="connsiteX7" fmla="*/ 1638286 w 1638286"/>
              <a:gd name="connsiteY7" fmla="*/ 0 h 535324"/>
              <a:gd name="connsiteX8" fmla="*/ 1623613 w 1638286"/>
              <a:gd name="connsiteY8" fmla="*/ 25429 h 535324"/>
              <a:gd name="connsiteX9" fmla="*/ 1412461 w 1638286"/>
              <a:gd name="connsiteY9" fmla="*/ 391366 h 535324"/>
              <a:gd name="connsiteX10" fmla="*/ 1161826 w 1638286"/>
              <a:gd name="connsiteY10" fmla="*/ 535324 h 535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38286" h="535324">
                <a:moveTo>
                  <a:pt x="1161826" y="535324"/>
                </a:moveTo>
                <a:lnTo>
                  <a:pt x="309069" y="535324"/>
                </a:lnTo>
                <a:lnTo>
                  <a:pt x="0" y="0"/>
                </a:lnTo>
                <a:lnTo>
                  <a:pt x="105173" y="0"/>
                </a:lnTo>
                <a:lnTo>
                  <a:pt x="108430" y="524"/>
                </a:lnTo>
                <a:lnTo>
                  <a:pt x="916509" y="524"/>
                </a:lnTo>
                <a:lnTo>
                  <a:pt x="919811" y="0"/>
                </a:lnTo>
                <a:lnTo>
                  <a:pt x="1638286" y="0"/>
                </a:lnTo>
                <a:lnTo>
                  <a:pt x="1623613" y="25429"/>
                </a:lnTo>
                <a:cubicBezTo>
                  <a:pt x="1412461" y="391366"/>
                  <a:pt x="1412461" y="391366"/>
                  <a:pt x="1412461" y="391366"/>
                </a:cubicBezTo>
                <a:cubicBezTo>
                  <a:pt x="1366047" y="470311"/>
                  <a:pt x="1254654" y="535324"/>
                  <a:pt x="1161826" y="535324"/>
                </a:cubicBezTo>
                <a:close/>
              </a:path>
            </a:pathLst>
          </a:custGeom>
          <a:solidFill>
            <a:srgbClr val="C51A16"/>
          </a:solidFill>
          <a:ln w="19050">
            <a:noFill/>
          </a:ln>
          <a:effectLst/>
        </p:spPr>
        <p:txBody>
          <a:bodyPr vert="horz" wrap="square" lIns="91440" tIns="45720" rIns="91440" bIns="45720" numCol="1" anchor="t" anchorCtr="0" compatLnSpc="1">
            <a:noAutofit/>
          </a:bodyPr>
          <a:lstStyle/>
          <a:p>
            <a:pPr defTabSz="1218565"/>
            <a:endParaRPr lang="zh-CN" altLang="en-US" sz="2400">
              <a:solidFill>
                <a:prstClr val="black"/>
              </a:solidFill>
              <a:cs typeface="+mn-ea"/>
              <a:sym typeface="+mn-lt"/>
            </a:endParaRPr>
          </a:p>
        </p:txBody>
      </p:sp>
      <p:sp>
        <p:nvSpPr>
          <p:cNvPr id="3" name="任意多边形 2"/>
          <p:cNvSpPr/>
          <p:nvPr/>
        </p:nvSpPr>
        <p:spPr bwMode="auto">
          <a:xfrm rot="14400000">
            <a:off x="6110605" y="2800985"/>
            <a:ext cx="1638300" cy="535305"/>
          </a:xfrm>
          <a:custGeom>
            <a:avLst/>
            <a:gdLst>
              <a:gd name="connsiteX0" fmla="*/ 1161826 w 1638286"/>
              <a:gd name="connsiteY0" fmla="*/ 535324 h 535324"/>
              <a:gd name="connsiteX1" fmla="*/ 309069 w 1638286"/>
              <a:gd name="connsiteY1" fmla="*/ 535324 h 535324"/>
              <a:gd name="connsiteX2" fmla="*/ 0 w 1638286"/>
              <a:gd name="connsiteY2" fmla="*/ 0 h 535324"/>
              <a:gd name="connsiteX3" fmla="*/ 105173 w 1638286"/>
              <a:gd name="connsiteY3" fmla="*/ 0 h 535324"/>
              <a:gd name="connsiteX4" fmla="*/ 108430 w 1638286"/>
              <a:gd name="connsiteY4" fmla="*/ 524 h 535324"/>
              <a:gd name="connsiteX5" fmla="*/ 916509 w 1638286"/>
              <a:gd name="connsiteY5" fmla="*/ 524 h 535324"/>
              <a:gd name="connsiteX6" fmla="*/ 919811 w 1638286"/>
              <a:gd name="connsiteY6" fmla="*/ 0 h 535324"/>
              <a:gd name="connsiteX7" fmla="*/ 1638286 w 1638286"/>
              <a:gd name="connsiteY7" fmla="*/ 0 h 535324"/>
              <a:gd name="connsiteX8" fmla="*/ 1623613 w 1638286"/>
              <a:gd name="connsiteY8" fmla="*/ 25429 h 535324"/>
              <a:gd name="connsiteX9" fmla="*/ 1412461 w 1638286"/>
              <a:gd name="connsiteY9" fmla="*/ 391366 h 535324"/>
              <a:gd name="connsiteX10" fmla="*/ 1161826 w 1638286"/>
              <a:gd name="connsiteY10" fmla="*/ 535324 h 535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38286" h="535324">
                <a:moveTo>
                  <a:pt x="1161826" y="535324"/>
                </a:moveTo>
                <a:lnTo>
                  <a:pt x="309069" y="535324"/>
                </a:lnTo>
                <a:lnTo>
                  <a:pt x="0" y="0"/>
                </a:lnTo>
                <a:lnTo>
                  <a:pt x="105173" y="0"/>
                </a:lnTo>
                <a:lnTo>
                  <a:pt x="108430" y="524"/>
                </a:lnTo>
                <a:lnTo>
                  <a:pt x="916509" y="524"/>
                </a:lnTo>
                <a:lnTo>
                  <a:pt x="919811" y="0"/>
                </a:lnTo>
                <a:lnTo>
                  <a:pt x="1638286" y="0"/>
                </a:lnTo>
                <a:lnTo>
                  <a:pt x="1623613" y="25429"/>
                </a:lnTo>
                <a:cubicBezTo>
                  <a:pt x="1412461" y="391366"/>
                  <a:pt x="1412461" y="391366"/>
                  <a:pt x="1412461" y="391366"/>
                </a:cubicBezTo>
                <a:cubicBezTo>
                  <a:pt x="1366047" y="470311"/>
                  <a:pt x="1254654" y="535324"/>
                  <a:pt x="1161826" y="535324"/>
                </a:cubicBezTo>
                <a:close/>
              </a:path>
            </a:pathLst>
          </a:custGeom>
          <a:solidFill>
            <a:schemeClr val="bg1">
              <a:lumMod val="65000"/>
            </a:schemeClr>
          </a:solidFill>
          <a:ln w="19050">
            <a:noFill/>
          </a:ln>
          <a:effectLst/>
        </p:spPr>
        <p:txBody>
          <a:bodyPr vert="horz" wrap="square" lIns="91440" tIns="45720" rIns="91440" bIns="45720" numCol="1" anchor="t" anchorCtr="0" compatLnSpc="1">
            <a:noAutofit/>
          </a:bodyPr>
          <a:lstStyle/>
          <a:p>
            <a:pPr defTabSz="1218565"/>
            <a:endParaRPr lang="zh-CN" altLang="en-US" sz="2400">
              <a:solidFill>
                <a:prstClr val="black"/>
              </a:solidFill>
              <a:cs typeface="+mn-ea"/>
              <a:sym typeface="+mn-lt"/>
            </a:endParaRPr>
          </a:p>
        </p:txBody>
      </p:sp>
      <p:sp>
        <p:nvSpPr>
          <p:cNvPr id="4" name="任意多边形 3"/>
          <p:cNvSpPr/>
          <p:nvPr/>
        </p:nvSpPr>
        <p:spPr bwMode="auto">
          <a:xfrm rot="18000000">
            <a:off x="6475095" y="3999865"/>
            <a:ext cx="1638300" cy="535305"/>
          </a:xfrm>
          <a:custGeom>
            <a:avLst/>
            <a:gdLst>
              <a:gd name="connsiteX0" fmla="*/ 1161826 w 1638286"/>
              <a:gd name="connsiteY0" fmla="*/ 535324 h 535324"/>
              <a:gd name="connsiteX1" fmla="*/ 309069 w 1638286"/>
              <a:gd name="connsiteY1" fmla="*/ 535324 h 535324"/>
              <a:gd name="connsiteX2" fmla="*/ 0 w 1638286"/>
              <a:gd name="connsiteY2" fmla="*/ 0 h 535324"/>
              <a:gd name="connsiteX3" fmla="*/ 105173 w 1638286"/>
              <a:gd name="connsiteY3" fmla="*/ 0 h 535324"/>
              <a:gd name="connsiteX4" fmla="*/ 108430 w 1638286"/>
              <a:gd name="connsiteY4" fmla="*/ 524 h 535324"/>
              <a:gd name="connsiteX5" fmla="*/ 916509 w 1638286"/>
              <a:gd name="connsiteY5" fmla="*/ 524 h 535324"/>
              <a:gd name="connsiteX6" fmla="*/ 919811 w 1638286"/>
              <a:gd name="connsiteY6" fmla="*/ 0 h 535324"/>
              <a:gd name="connsiteX7" fmla="*/ 1638286 w 1638286"/>
              <a:gd name="connsiteY7" fmla="*/ 0 h 535324"/>
              <a:gd name="connsiteX8" fmla="*/ 1623613 w 1638286"/>
              <a:gd name="connsiteY8" fmla="*/ 25429 h 535324"/>
              <a:gd name="connsiteX9" fmla="*/ 1412461 w 1638286"/>
              <a:gd name="connsiteY9" fmla="*/ 391366 h 535324"/>
              <a:gd name="connsiteX10" fmla="*/ 1161826 w 1638286"/>
              <a:gd name="connsiteY10" fmla="*/ 535324 h 535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38286" h="535324">
                <a:moveTo>
                  <a:pt x="1161826" y="535324"/>
                </a:moveTo>
                <a:lnTo>
                  <a:pt x="309069" y="535324"/>
                </a:lnTo>
                <a:lnTo>
                  <a:pt x="0" y="0"/>
                </a:lnTo>
                <a:lnTo>
                  <a:pt x="105173" y="0"/>
                </a:lnTo>
                <a:lnTo>
                  <a:pt x="108430" y="524"/>
                </a:lnTo>
                <a:lnTo>
                  <a:pt x="916509" y="524"/>
                </a:lnTo>
                <a:lnTo>
                  <a:pt x="919811" y="0"/>
                </a:lnTo>
                <a:lnTo>
                  <a:pt x="1638286" y="0"/>
                </a:lnTo>
                <a:lnTo>
                  <a:pt x="1623613" y="25429"/>
                </a:lnTo>
                <a:cubicBezTo>
                  <a:pt x="1412461" y="391366"/>
                  <a:pt x="1412461" y="391366"/>
                  <a:pt x="1412461" y="391366"/>
                </a:cubicBezTo>
                <a:cubicBezTo>
                  <a:pt x="1366047" y="470311"/>
                  <a:pt x="1254654" y="535324"/>
                  <a:pt x="1161826" y="535324"/>
                </a:cubicBezTo>
                <a:close/>
              </a:path>
            </a:pathLst>
          </a:custGeom>
          <a:solidFill>
            <a:srgbClr val="C51A16"/>
          </a:solidFill>
          <a:ln w="19050">
            <a:noFill/>
          </a:ln>
          <a:effectLst/>
        </p:spPr>
        <p:txBody>
          <a:bodyPr vert="horz" wrap="square" lIns="91440" tIns="45720" rIns="91440" bIns="45720" numCol="1" anchor="t" anchorCtr="0" compatLnSpc="1">
            <a:noAutofit/>
          </a:bodyPr>
          <a:lstStyle/>
          <a:p>
            <a:pPr defTabSz="1218565"/>
            <a:endParaRPr lang="zh-CN" altLang="en-US" sz="2400">
              <a:solidFill>
                <a:prstClr val="black"/>
              </a:solidFill>
              <a:cs typeface="+mn-ea"/>
              <a:sym typeface="+mn-lt"/>
            </a:endParaRPr>
          </a:p>
        </p:txBody>
      </p:sp>
      <p:sp>
        <p:nvSpPr>
          <p:cNvPr id="5" name="任意多边形 4"/>
          <p:cNvSpPr/>
          <p:nvPr/>
        </p:nvSpPr>
        <p:spPr bwMode="auto">
          <a:xfrm rot="10800000" flipH="1" flipV="1">
            <a:off x="5626100" y="4899660"/>
            <a:ext cx="1638300" cy="535305"/>
          </a:xfrm>
          <a:custGeom>
            <a:avLst/>
            <a:gdLst>
              <a:gd name="connsiteX0" fmla="*/ 1161826 w 1638286"/>
              <a:gd name="connsiteY0" fmla="*/ 535324 h 535324"/>
              <a:gd name="connsiteX1" fmla="*/ 309069 w 1638286"/>
              <a:gd name="connsiteY1" fmla="*/ 535324 h 535324"/>
              <a:gd name="connsiteX2" fmla="*/ 0 w 1638286"/>
              <a:gd name="connsiteY2" fmla="*/ 0 h 535324"/>
              <a:gd name="connsiteX3" fmla="*/ 105173 w 1638286"/>
              <a:gd name="connsiteY3" fmla="*/ 0 h 535324"/>
              <a:gd name="connsiteX4" fmla="*/ 108430 w 1638286"/>
              <a:gd name="connsiteY4" fmla="*/ 524 h 535324"/>
              <a:gd name="connsiteX5" fmla="*/ 916509 w 1638286"/>
              <a:gd name="connsiteY5" fmla="*/ 524 h 535324"/>
              <a:gd name="connsiteX6" fmla="*/ 919811 w 1638286"/>
              <a:gd name="connsiteY6" fmla="*/ 0 h 535324"/>
              <a:gd name="connsiteX7" fmla="*/ 1638286 w 1638286"/>
              <a:gd name="connsiteY7" fmla="*/ 0 h 535324"/>
              <a:gd name="connsiteX8" fmla="*/ 1623613 w 1638286"/>
              <a:gd name="connsiteY8" fmla="*/ 25429 h 535324"/>
              <a:gd name="connsiteX9" fmla="*/ 1412461 w 1638286"/>
              <a:gd name="connsiteY9" fmla="*/ 391366 h 535324"/>
              <a:gd name="connsiteX10" fmla="*/ 1161826 w 1638286"/>
              <a:gd name="connsiteY10" fmla="*/ 535324 h 535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38286" h="535324">
                <a:moveTo>
                  <a:pt x="1161826" y="535324"/>
                </a:moveTo>
                <a:lnTo>
                  <a:pt x="309069" y="535324"/>
                </a:lnTo>
                <a:lnTo>
                  <a:pt x="0" y="0"/>
                </a:lnTo>
                <a:lnTo>
                  <a:pt x="105173" y="0"/>
                </a:lnTo>
                <a:lnTo>
                  <a:pt x="108430" y="524"/>
                </a:lnTo>
                <a:lnTo>
                  <a:pt x="916509" y="524"/>
                </a:lnTo>
                <a:lnTo>
                  <a:pt x="919811" y="0"/>
                </a:lnTo>
                <a:lnTo>
                  <a:pt x="1638286" y="0"/>
                </a:lnTo>
                <a:lnTo>
                  <a:pt x="1623613" y="25429"/>
                </a:lnTo>
                <a:cubicBezTo>
                  <a:pt x="1412461" y="391366"/>
                  <a:pt x="1412461" y="391366"/>
                  <a:pt x="1412461" y="391366"/>
                </a:cubicBezTo>
                <a:cubicBezTo>
                  <a:pt x="1366047" y="470311"/>
                  <a:pt x="1254654" y="535324"/>
                  <a:pt x="1161826" y="535324"/>
                </a:cubicBezTo>
                <a:close/>
              </a:path>
            </a:pathLst>
          </a:custGeom>
          <a:solidFill>
            <a:srgbClr val="A6A6A6"/>
          </a:solidFill>
          <a:ln w="19050">
            <a:noFill/>
          </a:ln>
          <a:effectLst/>
        </p:spPr>
        <p:txBody>
          <a:bodyPr vert="horz" wrap="square" lIns="91440" tIns="45720" rIns="91440" bIns="45720" numCol="1" anchor="t" anchorCtr="0" compatLnSpc="1">
            <a:noAutofit/>
          </a:bodyPr>
          <a:lstStyle/>
          <a:p>
            <a:pPr defTabSz="1218565"/>
            <a:endParaRPr lang="zh-CN" altLang="en-US" sz="2400" dirty="0">
              <a:solidFill>
                <a:prstClr val="black"/>
              </a:solidFill>
              <a:cs typeface="+mn-ea"/>
              <a:sym typeface="+mn-lt"/>
            </a:endParaRPr>
          </a:p>
        </p:txBody>
      </p:sp>
      <p:sp>
        <p:nvSpPr>
          <p:cNvPr id="6" name="任意多边形 5"/>
          <p:cNvSpPr/>
          <p:nvPr/>
        </p:nvSpPr>
        <p:spPr bwMode="auto">
          <a:xfrm rot="14400000" flipH="1" flipV="1">
            <a:off x="4414520" y="4590415"/>
            <a:ext cx="1638300" cy="535305"/>
          </a:xfrm>
          <a:custGeom>
            <a:avLst/>
            <a:gdLst>
              <a:gd name="connsiteX0" fmla="*/ 1161826 w 1638286"/>
              <a:gd name="connsiteY0" fmla="*/ 535324 h 535324"/>
              <a:gd name="connsiteX1" fmla="*/ 309069 w 1638286"/>
              <a:gd name="connsiteY1" fmla="*/ 535324 h 535324"/>
              <a:gd name="connsiteX2" fmla="*/ 0 w 1638286"/>
              <a:gd name="connsiteY2" fmla="*/ 0 h 535324"/>
              <a:gd name="connsiteX3" fmla="*/ 105173 w 1638286"/>
              <a:gd name="connsiteY3" fmla="*/ 0 h 535324"/>
              <a:gd name="connsiteX4" fmla="*/ 108430 w 1638286"/>
              <a:gd name="connsiteY4" fmla="*/ 524 h 535324"/>
              <a:gd name="connsiteX5" fmla="*/ 916509 w 1638286"/>
              <a:gd name="connsiteY5" fmla="*/ 524 h 535324"/>
              <a:gd name="connsiteX6" fmla="*/ 919811 w 1638286"/>
              <a:gd name="connsiteY6" fmla="*/ 0 h 535324"/>
              <a:gd name="connsiteX7" fmla="*/ 1638286 w 1638286"/>
              <a:gd name="connsiteY7" fmla="*/ 0 h 535324"/>
              <a:gd name="connsiteX8" fmla="*/ 1623613 w 1638286"/>
              <a:gd name="connsiteY8" fmla="*/ 25429 h 535324"/>
              <a:gd name="connsiteX9" fmla="*/ 1412461 w 1638286"/>
              <a:gd name="connsiteY9" fmla="*/ 391366 h 535324"/>
              <a:gd name="connsiteX10" fmla="*/ 1161826 w 1638286"/>
              <a:gd name="connsiteY10" fmla="*/ 535324 h 535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38286" h="535324">
                <a:moveTo>
                  <a:pt x="1161826" y="535324"/>
                </a:moveTo>
                <a:lnTo>
                  <a:pt x="309069" y="535324"/>
                </a:lnTo>
                <a:lnTo>
                  <a:pt x="0" y="0"/>
                </a:lnTo>
                <a:lnTo>
                  <a:pt x="105173" y="0"/>
                </a:lnTo>
                <a:lnTo>
                  <a:pt x="108430" y="524"/>
                </a:lnTo>
                <a:lnTo>
                  <a:pt x="916509" y="524"/>
                </a:lnTo>
                <a:lnTo>
                  <a:pt x="919811" y="0"/>
                </a:lnTo>
                <a:lnTo>
                  <a:pt x="1638286" y="0"/>
                </a:lnTo>
                <a:lnTo>
                  <a:pt x="1623613" y="25429"/>
                </a:lnTo>
                <a:cubicBezTo>
                  <a:pt x="1412461" y="391366"/>
                  <a:pt x="1412461" y="391366"/>
                  <a:pt x="1412461" y="391366"/>
                </a:cubicBezTo>
                <a:cubicBezTo>
                  <a:pt x="1366047" y="470311"/>
                  <a:pt x="1254654" y="535324"/>
                  <a:pt x="1161826" y="535324"/>
                </a:cubicBezTo>
                <a:close/>
              </a:path>
            </a:pathLst>
          </a:custGeom>
          <a:solidFill>
            <a:srgbClr val="C51A16"/>
          </a:solidFill>
          <a:ln w="19050">
            <a:noFill/>
          </a:ln>
          <a:effectLst/>
        </p:spPr>
        <p:txBody>
          <a:bodyPr vert="horz" wrap="square" lIns="91440" tIns="45720" rIns="91440" bIns="45720" numCol="1" anchor="t" anchorCtr="0" compatLnSpc="1">
            <a:noAutofit/>
          </a:bodyPr>
          <a:lstStyle/>
          <a:p>
            <a:pPr defTabSz="1218565"/>
            <a:endParaRPr lang="zh-CN" altLang="en-US" sz="2400">
              <a:solidFill>
                <a:prstClr val="black"/>
              </a:solidFill>
              <a:cs typeface="+mn-ea"/>
              <a:sym typeface="+mn-lt"/>
            </a:endParaRPr>
          </a:p>
        </p:txBody>
      </p:sp>
      <p:sp>
        <p:nvSpPr>
          <p:cNvPr id="7" name="任意多边形 6"/>
          <p:cNvSpPr/>
          <p:nvPr/>
        </p:nvSpPr>
        <p:spPr bwMode="auto">
          <a:xfrm rot="18000000" flipH="1" flipV="1">
            <a:off x="4030980" y="3392170"/>
            <a:ext cx="1638300" cy="535305"/>
          </a:xfrm>
          <a:custGeom>
            <a:avLst/>
            <a:gdLst>
              <a:gd name="connsiteX0" fmla="*/ 1161826 w 1638286"/>
              <a:gd name="connsiteY0" fmla="*/ 535324 h 535324"/>
              <a:gd name="connsiteX1" fmla="*/ 309069 w 1638286"/>
              <a:gd name="connsiteY1" fmla="*/ 535324 h 535324"/>
              <a:gd name="connsiteX2" fmla="*/ 0 w 1638286"/>
              <a:gd name="connsiteY2" fmla="*/ 0 h 535324"/>
              <a:gd name="connsiteX3" fmla="*/ 105173 w 1638286"/>
              <a:gd name="connsiteY3" fmla="*/ 0 h 535324"/>
              <a:gd name="connsiteX4" fmla="*/ 108430 w 1638286"/>
              <a:gd name="connsiteY4" fmla="*/ 524 h 535324"/>
              <a:gd name="connsiteX5" fmla="*/ 916509 w 1638286"/>
              <a:gd name="connsiteY5" fmla="*/ 524 h 535324"/>
              <a:gd name="connsiteX6" fmla="*/ 919811 w 1638286"/>
              <a:gd name="connsiteY6" fmla="*/ 0 h 535324"/>
              <a:gd name="connsiteX7" fmla="*/ 1638286 w 1638286"/>
              <a:gd name="connsiteY7" fmla="*/ 0 h 535324"/>
              <a:gd name="connsiteX8" fmla="*/ 1623613 w 1638286"/>
              <a:gd name="connsiteY8" fmla="*/ 25429 h 535324"/>
              <a:gd name="connsiteX9" fmla="*/ 1412461 w 1638286"/>
              <a:gd name="connsiteY9" fmla="*/ 391366 h 535324"/>
              <a:gd name="connsiteX10" fmla="*/ 1161826 w 1638286"/>
              <a:gd name="connsiteY10" fmla="*/ 535324 h 535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38286" h="535324">
                <a:moveTo>
                  <a:pt x="1161826" y="535324"/>
                </a:moveTo>
                <a:lnTo>
                  <a:pt x="309069" y="535324"/>
                </a:lnTo>
                <a:lnTo>
                  <a:pt x="0" y="0"/>
                </a:lnTo>
                <a:lnTo>
                  <a:pt x="105173" y="0"/>
                </a:lnTo>
                <a:lnTo>
                  <a:pt x="108430" y="524"/>
                </a:lnTo>
                <a:lnTo>
                  <a:pt x="916509" y="524"/>
                </a:lnTo>
                <a:lnTo>
                  <a:pt x="919811" y="0"/>
                </a:lnTo>
                <a:lnTo>
                  <a:pt x="1638286" y="0"/>
                </a:lnTo>
                <a:lnTo>
                  <a:pt x="1623613" y="25429"/>
                </a:lnTo>
                <a:cubicBezTo>
                  <a:pt x="1412461" y="391366"/>
                  <a:pt x="1412461" y="391366"/>
                  <a:pt x="1412461" y="391366"/>
                </a:cubicBezTo>
                <a:cubicBezTo>
                  <a:pt x="1366047" y="470311"/>
                  <a:pt x="1254654" y="535324"/>
                  <a:pt x="1161826" y="535324"/>
                </a:cubicBezTo>
                <a:close/>
              </a:path>
            </a:pathLst>
          </a:custGeom>
          <a:solidFill>
            <a:srgbClr val="A6A6A6"/>
          </a:solidFill>
          <a:ln w="19050">
            <a:noFill/>
          </a:ln>
          <a:effectLst/>
        </p:spPr>
        <p:txBody>
          <a:bodyPr vert="horz" wrap="square" lIns="91440" tIns="45720" rIns="91440" bIns="45720" numCol="1" anchor="t" anchorCtr="0" compatLnSpc="1">
            <a:noAutofit/>
          </a:bodyPr>
          <a:lstStyle/>
          <a:p>
            <a:pPr defTabSz="1218565"/>
            <a:endParaRPr lang="zh-CN" altLang="en-US" sz="2400">
              <a:solidFill>
                <a:prstClr val="black"/>
              </a:solidFill>
              <a:cs typeface="+mn-ea"/>
              <a:sym typeface="+mn-lt"/>
            </a:endParaRPr>
          </a:p>
        </p:txBody>
      </p:sp>
      <p:sp>
        <p:nvSpPr>
          <p:cNvPr id="8" name="任意多边形 7"/>
          <p:cNvSpPr/>
          <p:nvPr/>
        </p:nvSpPr>
        <p:spPr>
          <a:xfrm flipH="1" flipV="1">
            <a:off x="1775460" y="2595880"/>
            <a:ext cx="2821305" cy="638810"/>
          </a:xfrm>
          <a:custGeom>
            <a:avLst/>
            <a:gdLst>
              <a:gd name="connsiteX0" fmla="*/ 0 w 2815771"/>
              <a:gd name="connsiteY0" fmla="*/ 0 h 638628"/>
              <a:gd name="connsiteX1" fmla="*/ 725714 w 2815771"/>
              <a:gd name="connsiteY1" fmla="*/ 638628 h 638628"/>
              <a:gd name="connsiteX2" fmla="*/ 2815771 w 2815771"/>
              <a:gd name="connsiteY2" fmla="*/ 638628 h 638628"/>
            </a:gdLst>
            <a:ahLst/>
            <a:cxnLst>
              <a:cxn ang="0">
                <a:pos x="connsiteX0" y="connsiteY0"/>
              </a:cxn>
              <a:cxn ang="0">
                <a:pos x="connsiteX1" y="connsiteY1"/>
              </a:cxn>
              <a:cxn ang="0">
                <a:pos x="connsiteX2" y="connsiteY2"/>
              </a:cxn>
            </a:cxnLst>
            <a:rect l="l" t="t" r="r" b="b"/>
            <a:pathLst>
              <a:path w="2815771" h="638628">
                <a:moveTo>
                  <a:pt x="0" y="0"/>
                </a:moveTo>
                <a:lnTo>
                  <a:pt x="725714" y="638628"/>
                </a:lnTo>
                <a:lnTo>
                  <a:pt x="2815771" y="638628"/>
                </a:lnTo>
              </a:path>
            </a:pathLst>
          </a:custGeom>
          <a:noFill/>
          <a:ln w="9525">
            <a:solidFill>
              <a:schemeClr val="accent6">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400">
              <a:solidFill>
                <a:prstClr val="white"/>
              </a:solidFill>
              <a:cs typeface="+mn-ea"/>
              <a:sym typeface="+mn-lt"/>
            </a:endParaRPr>
          </a:p>
        </p:txBody>
      </p:sp>
      <p:sp>
        <p:nvSpPr>
          <p:cNvPr id="9" name="任意多边形 8"/>
          <p:cNvSpPr/>
          <p:nvPr/>
        </p:nvSpPr>
        <p:spPr>
          <a:xfrm flipH="1">
            <a:off x="1767205" y="4750435"/>
            <a:ext cx="2900680" cy="638810"/>
          </a:xfrm>
          <a:custGeom>
            <a:avLst/>
            <a:gdLst>
              <a:gd name="connsiteX0" fmla="*/ 0 w 2815771"/>
              <a:gd name="connsiteY0" fmla="*/ 0 h 638628"/>
              <a:gd name="connsiteX1" fmla="*/ 725714 w 2815771"/>
              <a:gd name="connsiteY1" fmla="*/ 638628 h 638628"/>
              <a:gd name="connsiteX2" fmla="*/ 2815771 w 2815771"/>
              <a:gd name="connsiteY2" fmla="*/ 638628 h 638628"/>
            </a:gdLst>
            <a:ahLst/>
            <a:cxnLst>
              <a:cxn ang="0">
                <a:pos x="connsiteX0" y="connsiteY0"/>
              </a:cxn>
              <a:cxn ang="0">
                <a:pos x="connsiteX1" y="connsiteY1"/>
              </a:cxn>
              <a:cxn ang="0">
                <a:pos x="connsiteX2" y="connsiteY2"/>
              </a:cxn>
            </a:cxnLst>
            <a:rect l="l" t="t" r="r" b="b"/>
            <a:pathLst>
              <a:path w="2815771" h="638628">
                <a:moveTo>
                  <a:pt x="0" y="0"/>
                </a:moveTo>
                <a:lnTo>
                  <a:pt x="725714" y="638628"/>
                </a:lnTo>
                <a:lnTo>
                  <a:pt x="2815771" y="638628"/>
                </a:lnTo>
              </a:path>
            </a:pathLst>
          </a:custGeom>
          <a:noFill/>
          <a:ln w="9525">
            <a:solidFill>
              <a:schemeClr val="accent6">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400">
              <a:solidFill>
                <a:prstClr val="white"/>
              </a:solidFill>
              <a:cs typeface="+mn-ea"/>
              <a:sym typeface="+mn-lt"/>
            </a:endParaRPr>
          </a:p>
        </p:txBody>
      </p:sp>
      <p:sp>
        <p:nvSpPr>
          <p:cNvPr id="10" name="任意多边形 9"/>
          <p:cNvSpPr/>
          <p:nvPr/>
        </p:nvSpPr>
        <p:spPr>
          <a:xfrm flipV="1">
            <a:off x="7476490" y="2657475"/>
            <a:ext cx="2940050" cy="638810"/>
          </a:xfrm>
          <a:custGeom>
            <a:avLst/>
            <a:gdLst>
              <a:gd name="connsiteX0" fmla="*/ 0 w 2815771"/>
              <a:gd name="connsiteY0" fmla="*/ 0 h 638628"/>
              <a:gd name="connsiteX1" fmla="*/ 725714 w 2815771"/>
              <a:gd name="connsiteY1" fmla="*/ 638628 h 638628"/>
              <a:gd name="connsiteX2" fmla="*/ 2815771 w 2815771"/>
              <a:gd name="connsiteY2" fmla="*/ 638628 h 638628"/>
            </a:gdLst>
            <a:ahLst/>
            <a:cxnLst>
              <a:cxn ang="0">
                <a:pos x="connsiteX0" y="connsiteY0"/>
              </a:cxn>
              <a:cxn ang="0">
                <a:pos x="connsiteX1" y="connsiteY1"/>
              </a:cxn>
              <a:cxn ang="0">
                <a:pos x="connsiteX2" y="connsiteY2"/>
              </a:cxn>
            </a:cxnLst>
            <a:rect l="l" t="t" r="r" b="b"/>
            <a:pathLst>
              <a:path w="2815771" h="638628">
                <a:moveTo>
                  <a:pt x="0" y="0"/>
                </a:moveTo>
                <a:lnTo>
                  <a:pt x="725714" y="638628"/>
                </a:lnTo>
                <a:lnTo>
                  <a:pt x="2815771" y="638628"/>
                </a:lnTo>
              </a:path>
            </a:pathLst>
          </a:custGeom>
          <a:noFill/>
          <a:ln w="9525">
            <a:solidFill>
              <a:schemeClr val="accent6">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400">
              <a:solidFill>
                <a:srgbClr val="080808"/>
              </a:solidFill>
              <a:cs typeface="+mn-ea"/>
              <a:sym typeface="+mn-lt"/>
            </a:endParaRPr>
          </a:p>
        </p:txBody>
      </p:sp>
      <p:sp>
        <p:nvSpPr>
          <p:cNvPr id="13" name="椭圆 12"/>
          <p:cNvSpPr/>
          <p:nvPr/>
        </p:nvSpPr>
        <p:spPr>
          <a:xfrm>
            <a:off x="5410517" y="3296285"/>
            <a:ext cx="1370965" cy="1370965"/>
          </a:xfrm>
          <a:prstGeom prst="ellipse">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5"/>
            <a:endParaRPr lang="zh-CN" altLang="en-US" sz="2400" baseline="-25000" dirty="0">
              <a:solidFill>
                <a:srgbClr val="564B45"/>
              </a:solidFill>
              <a:cs typeface="+mn-ea"/>
              <a:sym typeface="+mn-lt"/>
            </a:endParaRPr>
          </a:p>
        </p:txBody>
      </p:sp>
      <p:sp>
        <p:nvSpPr>
          <p:cNvPr id="29" name="TextBox 19"/>
          <p:cNvSpPr txBox="1">
            <a:spLocks noChangeArrowheads="1"/>
          </p:cNvSpPr>
          <p:nvPr/>
        </p:nvSpPr>
        <p:spPr bwMode="auto">
          <a:xfrm>
            <a:off x="5460794" y="3694701"/>
            <a:ext cx="1235710" cy="454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4395" tIns="62197" rIns="124395" bIns="62197"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565" fontAlgn="base">
              <a:spcBef>
                <a:spcPct val="0"/>
              </a:spcBef>
              <a:spcAft>
                <a:spcPct val="0"/>
              </a:spcAft>
            </a:pPr>
            <a:r>
              <a:rPr lang="zh-CN" altLang="en-US" sz="2135" dirty="0">
                <a:solidFill>
                  <a:srgbClr val="FFFFFF"/>
                </a:solidFill>
                <a:cs typeface="+mn-ea"/>
                <a:sym typeface="+mn-lt"/>
              </a:rPr>
              <a:t>目标</a:t>
            </a:r>
            <a:endParaRPr lang="en-US" altLang="zh-CN" sz="2135" dirty="0">
              <a:solidFill>
                <a:srgbClr val="FFFFFF"/>
              </a:solidFill>
              <a:cs typeface="+mn-ea"/>
              <a:sym typeface="+mn-lt"/>
            </a:endParaRPr>
          </a:p>
        </p:txBody>
      </p:sp>
      <p:grpSp>
        <p:nvGrpSpPr>
          <p:cNvPr id="12" name="组合 11"/>
          <p:cNvGrpSpPr/>
          <p:nvPr/>
        </p:nvGrpSpPr>
        <p:grpSpPr>
          <a:xfrm>
            <a:off x="429260" y="212090"/>
            <a:ext cx="1555750" cy="659130"/>
            <a:chOff x="676" y="334"/>
            <a:chExt cx="2450" cy="1038"/>
          </a:xfrm>
        </p:grpSpPr>
        <p:grpSp>
          <p:nvGrpSpPr>
            <p:cNvPr id="14" name="组合 13"/>
            <p:cNvGrpSpPr/>
            <p:nvPr/>
          </p:nvGrpSpPr>
          <p:grpSpPr>
            <a:xfrm>
              <a:off x="676" y="334"/>
              <a:ext cx="1053" cy="1038"/>
              <a:chOff x="676" y="334"/>
              <a:chExt cx="1053" cy="1038"/>
            </a:xfrm>
          </p:grpSpPr>
          <p:sp>
            <p:nvSpPr>
              <p:cNvPr id="15" name="矩形 14"/>
              <p:cNvSpPr/>
              <p:nvPr/>
            </p:nvSpPr>
            <p:spPr>
              <a:xfrm>
                <a:off x="676" y="334"/>
                <a:ext cx="851" cy="851"/>
              </a:xfrm>
              <a:prstGeom prst="rect">
                <a:avLst/>
              </a:prstGeom>
              <a:noFill/>
              <a:ln w="28575" cmpd="sng">
                <a:solidFill>
                  <a:srgbClr val="ED5757"/>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矩形 15"/>
              <p:cNvSpPr/>
              <p:nvPr/>
            </p:nvSpPr>
            <p:spPr>
              <a:xfrm>
                <a:off x="842" y="485"/>
                <a:ext cx="887" cy="887"/>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cs typeface="+mn-ea"/>
                  <a:sym typeface="+mn-lt"/>
                </a:endParaRPr>
              </a:p>
            </p:txBody>
          </p:sp>
          <p:sp>
            <p:nvSpPr>
              <p:cNvPr id="30" name="文本框 29"/>
              <p:cNvSpPr txBox="1"/>
              <p:nvPr/>
            </p:nvSpPr>
            <p:spPr>
              <a:xfrm>
                <a:off x="876" y="566"/>
                <a:ext cx="831" cy="727"/>
              </a:xfrm>
              <a:prstGeom prst="rect">
                <a:avLst/>
              </a:prstGeom>
              <a:noFill/>
            </p:spPr>
            <p:txBody>
              <a:bodyPr wrap="none" rtlCol="0">
                <a:spAutoFit/>
              </a:bodyPr>
              <a:lstStyle/>
              <a:p>
                <a:r>
                  <a:rPr lang="en-US" altLang="zh-CN" sz="2400" dirty="0">
                    <a:solidFill>
                      <a:schemeClr val="bg1"/>
                    </a:solidFill>
                    <a:cs typeface="+mn-ea"/>
                    <a:sym typeface="+mn-lt"/>
                  </a:rPr>
                  <a:t>01</a:t>
                </a:r>
                <a:endParaRPr lang="en-US" altLang="zh-CN" sz="2400" dirty="0">
                  <a:solidFill>
                    <a:schemeClr val="bg1"/>
                  </a:solidFill>
                  <a:cs typeface="+mn-ea"/>
                  <a:sym typeface="+mn-lt"/>
                </a:endParaRPr>
              </a:p>
            </p:txBody>
          </p:sp>
        </p:grpSp>
        <p:sp>
          <p:nvSpPr>
            <p:cNvPr id="38" name="文本框 37"/>
            <p:cNvSpPr txBox="1"/>
            <p:nvPr/>
          </p:nvSpPr>
          <p:spPr>
            <a:xfrm>
              <a:off x="1866" y="636"/>
              <a:ext cx="1260" cy="727"/>
            </a:xfrm>
            <a:prstGeom prst="rect">
              <a:avLst/>
            </a:prstGeom>
            <a:noFill/>
          </p:spPr>
          <p:txBody>
            <a:bodyPr wrap="none" rtlCol="0">
              <a:spAutoFit/>
            </a:bodyPr>
            <a:lstStyle/>
            <a:p>
              <a:r>
                <a:rPr lang="zh-CN" altLang="en-US" sz="2400" dirty="0">
                  <a:solidFill>
                    <a:srgbClr val="C51A16"/>
                  </a:solidFill>
                  <a:cs typeface="+mn-ea"/>
                  <a:sym typeface="+mn-lt"/>
                </a:rPr>
                <a:t>目标</a:t>
              </a:r>
              <a:endParaRPr lang="zh-CN" altLang="en-US" sz="2400" dirty="0">
                <a:solidFill>
                  <a:srgbClr val="C51A16"/>
                </a:solidFill>
                <a:cs typeface="+mn-ea"/>
                <a:sym typeface="+mn-lt"/>
              </a:endParaRPr>
            </a:p>
          </p:txBody>
        </p:sp>
      </p:grpSp>
      <p:sp>
        <p:nvSpPr>
          <p:cNvPr id="22" name="文本框 21"/>
          <p:cNvSpPr txBox="1"/>
          <p:nvPr/>
        </p:nvSpPr>
        <p:spPr>
          <a:xfrm>
            <a:off x="1775460" y="2099160"/>
            <a:ext cx="3092450" cy="368300"/>
          </a:xfrm>
          <a:prstGeom prst="rect">
            <a:avLst/>
          </a:prstGeom>
          <a:noFill/>
        </p:spPr>
        <p:txBody>
          <a:bodyPr wrap="none" rtlCol="0">
            <a:spAutoFit/>
          </a:bodyPr>
          <a:lstStyle/>
          <a:p>
            <a:r>
              <a:rPr lang="zh-CN" altLang="en-US" dirty="0" smtClean="0"/>
              <a:t>掌握</a:t>
            </a:r>
            <a:r>
              <a:rPr lang="en-US" altLang="zh-CN" dirty="0" smtClean="0"/>
              <a:t>windows</a:t>
            </a:r>
            <a:r>
              <a:rPr lang="zh-CN" altLang="en-US" dirty="0" smtClean="0"/>
              <a:t>系统的加固</a:t>
            </a:r>
            <a:r>
              <a:rPr lang="zh-CN" altLang="en-US" dirty="0" smtClean="0"/>
              <a:t>方式</a:t>
            </a:r>
            <a:endParaRPr lang="zh-CN" altLang="en-US" dirty="0" smtClean="0"/>
          </a:p>
        </p:txBody>
      </p:sp>
      <p:sp>
        <p:nvSpPr>
          <p:cNvPr id="24" name="文本框 23"/>
          <p:cNvSpPr txBox="1"/>
          <p:nvPr/>
        </p:nvSpPr>
        <p:spPr>
          <a:xfrm>
            <a:off x="8330430" y="2072109"/>
            <a:ext cx="2750185" cy="368300"/>
          </a:xfrm>
          <a:prstGeom prst="rect">
            <a:avLst/>
          </a:prstGeom>
          <a:noFill/>
        </p:spPr>
        <p:txBody>
          <a:bodyPr wrap="none" rtlCol="0">
            <a:spAutoFit/>
          </a:bodyPr>
          <a:lstStyle/>
          <a:p>
            <a:r>
              <a:rPr lang="zh-CN" altLang="en-US" dirty="0" smtClean="0"/>
              <a:t>掌握</a:t>
            </a:r>
            <a:r>
              <a:rPr lang="en-US" altLang="zh-CN" dirty="0" smtClean="0"/>
              <a:t>Linux</a:t>
            </a:r>
            <a:r>
              <a:rPr lang="zh-CN" altLang="en-US" dirty="0" smtClean="0"/>
              <a:t>系统的加固</a:t>
            </a:r>
            <a:r>
              <a:rPr lang="zh-CN" altLang="en-US" dirty="0" smtClean="0"/>
              <a:t>方式</a:t>
            </a:r>
            <a:endParaRPr lang="zh-CN" altLang="en-US" dirty="0" smtClean="0"/>
          </a:p>
        </p:txBody>
      </p:sp>
      <p:sp>
        <p:nvSpPr>
          <p:cNvPr id="25" name="文本框 24"/>
          <p:cNvSpPr txBox="1"/>
          <p:nvPr/>
        </p:nvSpPr>
        <p:spPr>
          <a:xfrm>
            <a:off x="1098992" y="5019913"/>
            <a:ext cx="3879850" cy="368300"/>
          </a:xfrm>
          <a:prstGeom prst="rect">
            <a:avLst/>
          </a:prstGeom>
          <a:noFill/>
        </p:spPr>
        <p:txBody>
          <a:bodyPr wrap="none" rtlCol="0">
            <a:spAutoFit/>
          </a:bodyPr>
          <a:lstStyle/>
          <a:p>
            <a:r>
              <a:rPr lang="zh-CN" altLang="en-US" dirty="0" smtClean="0"/>
              <a:t>掌握</a:t>
            </a:r>
            <a:r>
              <a:rPr lang="en-US" altLang="zh-CN" dirty="0" smtClean="0"/>
              <a:t>Linux</a:t>
            </a:r>
            <a:r>
              <a:rPr lang="zh-CN" altLang="en-US" dirty="0" smtClean="0"/>
              <a:t>和</a:t>
            </a:r>
            <a:r>
              <a:rPr lang="en-US" altLang="zh-CN" dirty="0" smtClean="0"/>
              <a:t>Windows</a:t>
            </a:r>
            <a:r>
              <a:rPr lang="zh-CN" altLang="en-US" dirty="0" smtClean="0"/>
              <a:t>系统的基本</a:t>
            </a:r>
            <a:r>
              <a:rPr lang="zh-CN" altLang="en-US" dirty="0" smtClean="0"/>
              <a:t>操作</a:t>
            </a:r>
            <a:endParaRPr lang="zh-CN" altLang="en-US" dirty="0" smtClean="0"/>
          </a:p>
        </p:txBody>
      </p:sp>
    </p:spTree>
    <p:custDataLst>
      <p:tags r:id="rId1"/>
    </p:custDataLst>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1000" fill="hold"/>
                                        <p:tgtEl>
                                          <p:spTgt spid="3"/>
                                        </p:tgtEl>
                                        <p:attrNameLst>
                                          <p:attrName>ppt_w</p:attrName>
                                        </p:attrNameLst>
                                      </p:cBhvr>
                                      <p:tavLst>
                                        <p:tav tm="0">
                                          <p:val>
                                            <p:fltVal val="0"/>
                                          </p:val>
                                        </p:tav>
                                        <p:tav tm="100000">
                                          <p:val>
                                            <p:strVal val="#ppt_w"/>
                                          </p:val>
                                        </p:tav>
                                      </p:tavLst>
                                    </p:anim>
                                    <p:anim calcmode="lin" valueType="num">
                                      <p:cBhvr>
                                        <p:cTn id="14" dur="1000" fill="hold"/>
                                        <p:tgtEl>
                                          <p:spTgt spid="3"/>
                                        </p:tgtEl>
                                        <p:attrNameLst>
                                          <p:attrName>ppt_h</p:attrName>
                                        </p:attrNameLst>
                                      </p:cBhvr>
                                      <p:tavLst>
                                        <p:tav tm="0">
                                          <p:val>
                                            <p:fltVal val="0"/>
                                          </p:val>
                                        </p:tav>
                                        <p:tav tm="100000">
                                          <p:val>
                                            <p:strVal val="#ppt_h"/>
                                          </p:val>
                                        </p:tav>
                                      </p:tavLst>
                                    </p:anim>
                                    <p:anim calcmode="lin" valueType="num">
                                      <p:cBhvr>
                                        <p:cTn id="15" dur="1000" fill="hold"/>
                                        <p:tgtEl>
                                          <p:spTgt spid="3"/>
                                        </p:tgtEl>
                                        <p:attrNameLst>
                                          <p:attrName>style.rotation</p:attrName>
                                        </p:attrNameLst>
                                      </p:cBhvr>
                                      <p:tavLst>
                                        <p:tav tm="0">
                                          <p:val>
                                            <p:fltVal val="90"/>
                                          </p:val>
                                        </p:tav>
                                        <p:tav tm="100000">
                                          <p:val>
                                            <p:fltVal val="0"/>
                                          </p:val>
                                        </p:tav>
                                      </p:tavLst>
                                    </p:anim>
                                    <p:animEffect transition="in" filter="fade">
                                      <p:cBhvr>
                                        <p:cTn id="16" dur="1000"/>
                                        <p:tgtEl>
                                          <p:spTgt spid="3"/>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1000" fill="hold"/>
                                        <p:tgtEl>
                                          <p:spTgt spid="4"/>
                                        </p:tgtEl>
                                        <p:attrNameLst>
                                          <p:attrName>ppt_w</p:attrName>
                                        </p:attrNameLst>
                                      </p:cBhvr>
                                      <p:tavLst>
                                        <p:tav tm="0">
                                          <p:val>
                                            <p:fltVal val="0"/>
                                          </p:val>
                                        </p:tav>
                                        <p:tav tm="100000">
                                          <p:val>
                                            <p:strVal val="#ppt_w"/>
                                          </p:val>
                                        </p:tav>
                                      </p:tavLst>
                                    </p:anim>
                                    <p:anim calcmode="lin" valueType="num">
                                      <p:cBhvr>
                                        <p:cTn id="20" dur="1000" fill="hold"/>
                                        <p:tgtEl>
                                          <p:spTgt spid="4"/>
                                        </p:tgtEl>
                                        <p:attrNameLst>
                                          <p:attrName>ppt_h</p:attrName>
                                        </p:attrNameLst>
                                      </p:cBhvr>
                                      <p:tavLst>
                                        <p:tav tm="0">
                                          <p:val>
                                            <p:fltVal val="0"/>
                                          </p:val>
                                        </p:tav>
                                        <p:tav tm="100000">
                                          <p:val>
                                            <p:strVal val="#ppt_h"/>
                                          </p:val>
                                        </p:tav>
                                      </p:tavLst>
                                    </p:anim>
                                    <p:anim calcmode="lin" valueType="num">
                                      <p:cBhvr>
                                        <p:cTn id="21" dur="1000" fill="hold"/>
                                        <p:tgtEl>
                                          <p:spTgt spid="4"/>
                                        </p:tgtEl>
                                        <p:attrNameLst>
                                          <p:attrName>style.rotation</p:attrName>
                                        </p:attrNameLst>
                                      </p:cBhvr>
                                      <p:tavLst>
                                        <p:tav tm="0">
                                          <p:val>
                                            <p:fltVal val="90"/>
                                          </p:val>
                                        </p:tav>
                                        <p:tav tm="100000">
                                          <p:val>
                                            <p:fltVal val="0"/>
                                          </p:val>
                                        </p:tav>
                                      </p:tavLst>
                                    </p:anim>
                                    <p:animEffect transition="in" filter="fade">
                                      <p:cBhvr>
                                        <p:cTn id="22" dur="1000"/>
                                        <p:tgtEl>
                                          <p:spTgt spid="4"/>
                                        </p:tgtEl>
                                      </p:cBhvr>
                                    </p:animEffect>
                                  </p:childTnLst>
                                </p:cTn>
                              </p:par>
                              <p:par>
                                <p:cTn id="23" presetID="3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p:cTn id="25" dur="1000" fill="hold"/>
                                        <p:tgtEl>
                                          <p:spTgt spid="5"/>
                                        </p:tgtEl>
                                        <p:attrNameLst>
                                          <p:attrName>ppt_w</p:attrName>
                                        </p:attrNameLst>
                                      </p:cBhvr>
                                      <p:tavLst>
                                        <p:tav tm="0">
                                          <p:val>
                                            <p:fltVal val="0"/>
                                          </p:val>
                                        </p:tav>
                                        <p:tav tm="100000">
                                          <p:val>
                                            <p:strVal val="#ppt_w"/>
                                          </p:val>
                                        </p:tav>
                                      </p:tavLst>
                                    </p:anim>
                                    <p:anim calcmode="lin" valueType="num">
                                      <p:cBhvr>
                                        <p:cTn id="26" dur="1000" fill="hold"/>
                                        <p:tgtEl>
                                          <p:spTgt spid="5"/>
                                        </p:tgtEl>
                                        <p:attrNameLst>
                                          <p:attrName>ppt_h</p:attrName>
                                        </p:attrNameLst>
                                      </p:cBhvr>
                                      <p:tavLst>
                                        <p:tav tm="0">
                                          <p:val>
                                            <p:fltVal val="0"/>
                                          </p:val>
                                        </p:tav>
                                        <p:tav tm="100000">
                                          <p:val>
                                            <p:strVal val="#ppt_h"/>
                                          </p:val>
                                        </p:tav>
                                      </p:tavLst>
                                    </p:anim>
                                    <p:anim calcmode="lin" valueType="num">
                                      <p:cBhvr>
                                        <p:cTn id="27" dur="1000" fill="hold"/>
                                        <p:tgtEl>
                                          <p:spTgt spid="5"/>
                                        </p:tgtEl>
                                        <p:attrNameLst>
                                          <p:attrName>style.rotation</p:attrName>
                                        </p:attrNameLst>
                                      </p:cBhvr>
                                      <p:tavLst>
                                        <p:tav tm="0">
                                          <p:val>
                                            <p:fltVal val="90"/>
                                          </p:val>
                                        </p:tav>
                                        <p:tav tm="100000">
                                          <p:val>
                                            <p:fltVal val="0"/>
                                          </p:val>
                                        </p:tav>
                                      </p:tavLst>
                                    </p:anim>
                                    <p:animEffect transition="in" filter="fade">
                                      <p:cBhvr>
                                        <p:cTn id="28" dur="1000"/>
                                        <p:tgtEl>
                                          <p:spTgt spid="5"/>
                                        </p:tgtEl>
                                      </p:cBhvr>
                                    </p:animEffect>
                                  </p:childTnLst>
                                </p:cTn>
                              </p:par>
                              <p:par>
                                <p:cTn id="29" presetID="31"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p:cTn id="31" dur="1000" fill="hold"/>
                                        <p:tgtEl>
                                          <p:spTgt spid="6"/>
                                        </p:tgtEl>
                                        <p:attrNameLst>
                                          <p:attrName>ppt_w</p:attrName>
                                        </p:attrNameLst>
                                      </p:cBhvr>
                                      <p:tavLst>
                                        <p:tav tm="0">
                                          <p:val>
                                            <p:fltVal val="0"/>
                                          </p:val>
                                        </p:tav>
                                        <p:tav tm="100000">
                                          <p:val>
                                            <p:strVal val="#ppt_w"/>
                                          </p:val>
                                        </p:tav>
                                      </p:tavLst>
                                    </p:anim>
                                    <p:anim calcmode="lin" valueType="num">
                                      <p:cBhvr>
                                        <p:cTn id="32" dur="1000" fill="hold"/>
                                        <p:tgtEl>
                                          <p:spTgt spid="6"/>
                                        </p:tgtEl>
                                        <p:attrNameLst>
                                          <p:attrName>ppt_h</p:attrName>
                                        </p:attrNameLst>
                                      </p:cBhvr>
                                      <p:tavLst>
                                        <p:tav tm="0">
                                          <p:val>
                                            <p:fltVal val="0"/>
                                          </p:val>
                                        </p:tav>
                                        <p:tav tm="100000">
                                          <p:val>
                                            <p:strVal val="#ppt_h"/>
                                          </p:val>
                                        </p:tav>
                                      </p:tavLst>
                                    </p:anim>
                                    <p:anim calcmode="lin" valueType="num">
                                      <p:cBhvr>
                                        <p:cTn id="33" dur="1000" fill="hold"/>
                                        <p:tgtEl>
                                          <p:spTgt spid="6"/>
                                        </p:tgtEl>
                                        <p:attrNameLst>
                                          <p:attrName>style.rotation</p:attrName>
                                        </p:attrNameLst>
                                      </p:cBhvr>
                                      <p:tavLst>
                                        <p:tav tm="0">
                                          <p:val>
                                            <p:fltVal val="90"/>
                                          </p:val>
                                        </p:tav>
                                        <p:tav tm="100000">
                                          <p:val>
                                            <p:fltVal val="0"/>
                                          </p:val>
                                        </p:tav>
                                      </p:tavLst>
                                    </p:anim>
                                    <p:animEffect transition="in" filter="fade">
                                      <p:cBhvr>
                                        <p:cTn id="34" dur="1000"/>
                                        <p:tgtEl>
                                          <p:spTgt spid="6"/>
                                        </p:tgtEl>
                                      </p:cBhvr>
                                    </p:animEffect>
                                  </p:childTnLst>
                                </p:cTn>
                              </p:par>
                              <p:par>
                                <p:cTn id="35" presetID="31" presetClass="entr" presetSubtype="0"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p:cTn id="37" dur="1000" fill="hold"/>
                                        <p:tgtEl>
                                          <p:spTgt spid="7"/>
                                        </p:tgtEl>
                                        <p:attrNameLst>
                                          <p:attrName>ppt_w</p:attrName>
                                        </p:attrNameLst>
                                      </p:cBhvr>
                                      <p:tavLst>
                                        <p:tav tm="0">
                                          <p:val>
                                            <p:fltVal val="0"/>
                                          </p:val>
                                        </p:tav>
                                        <p:tav tm="100000">
                                          <p:val>
                                            <p:strVal val="#ppt_w"/>
                                          </p:val>
                                        </p:tav>
                                      </p:tavLst>
                                    </p:anim>
                                    <p:anim calcmode="lin" valueType="num">
                                      <p:cBhvr>
                                        <p:cTn id="38" dur="1000" fill="hold"/>
                                        <p:tgtEl>
                                          <p:spTgt spid="7"/>
                                        </p:tgtEl>
                                        <p:attrNameLst>
                                          <p:attrName>ppt_h</p:attrName>
                                        </p:attrNameLst>
                                      </p:cBhvr>
                                      <p:tavLst>
                                        <p:tav tm="0">
                                          <p:val>
                                            <p:fltVal val="0"/>
                                          </p:val>
                                        </p:tav>
                                        <p:tav tm="100000">
                                          <p:val>
                                            <p:strVal val="#ppt_h"/>
                                          </p:val>
                                        </p:tav>
                                      </p:tavLst>
                                    </p:anim>
                                    <p:anim calcmode="lin" valueType="num">
                                      <p:cBhvr>
                                        <p:cTn id="39" dur="1000" fill="hold"/>
                                        <p:tgtEl>
                                          <p:spTgt spid="7"/>
                                        </p:tgtEl>
                                        <p:attrNameLst>
                                          <p:attrName>style.rotation</p:attrName>
                                        </p:attrNameLst>
                                      </p:cBhvr>
                                      <p:tavLst>
                                        <p:tav tm="0">
                                          <p:val>
                                            <p:fltVal val="90"/>
                                          </p:val>
                                        </p:tav>
                                        <p:tav tm="100000">
                                          <p:val>
                                            <p:fltVal val="0"/>
                                          </p:val>
                                        </p:tav>
                                      </p:tavLst>
                                    </p:anim>
                                    <p:animEffect transition="in" filter="fade">
                                      <p:cBhvr>
                                        <p:cTn id="40" dur="1000"/>
                                        <p:tgtEl>
                                          <p:spTgt spid="7"/>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p:cTn id="43" dur="1000" fill="hold"/>
                                        <p:tgtEl>
                                          <p:spTgt spid="13"/>
                                        </p:tgtEl>
                                        <p:attrNameLst>
                                          <p:attrName>ppt_w</p:attrName>
                                        </p:attrNameLst>
                                      </p:cBhvr>
                                      <p:tavLst>
                                        <p:tav tm="0">
                                          <p:val>
                                            <p:fltVal val="0"/>
                                          </p:val>
                                        </p:tav>
                                        <p:tav tm="100000">
                                          <p:val>
                                            <p:strVal val="#ppt_w"/>
                                          </p:val>
                                        </p:tav>
                                      </p:tavLst>
                                    </p:anim>
                                    <p:anim calcmode="lin" valueType="num">
                                      <p:cBhvr>
                                        <p:cTn id="44" dur="1000" fill="hold"/>
                                        <p:tgtEl>
                                          <p:spTgt spid="13"/>
                                        </p:tgtEl>
                                        <p:attrNameLst>
                                          <p:attrName>ppt_h</p:attrName>
                                        </p:attrNameLst>
                                      </p:cBhvr>
                                      <p:tavLst>
                                        <p:tav tm="0">
                                          <p:val>
                                            <p:fltVal val="0"/>
                                          </p:val>
                                        </p:tav>
                                        <p:tav tm="100000">
                                          <p:val>
                                            <p:strVal val="#ppt_h"/>
                                          </p:val>
                                        </p:tav>
                                      </p:tavLst>
                                    </p:anim>
                                    <p:anim calcmode="lin" valueType="num">
                                      <p:cBhvr>
                                        <p:cTn id="45" dur="1000" fill="hold"/>
                                        <p:tgtEl>
                                          <p:spTgt spid="13"/>
                                        </p:tgtEl>
                                        <p:attrNameLst>
                                          <p:attrName>style.rotation</p:attrName>
                                        </p:attrNameLst>
                                      </p:cBhvr>
                                      <p:tavLst>
                                        <p:tav tm="0">
                                          <p:val>
                                            <p:fltVal val="90"/>
                                          </p:val>
                                        </p:tav>
                                        <p:tav tm="100000">
                                          <p:val>
                                            <p:fltVal val="0"/>
                                          </p:val>
                                        </p:tav>
                                      </p:tavLst>
                                    </p:anim>
                                    <p:animEffect transition="in" filter="fade">
                                      <p:cBhvr>
                                        <p:cTn id="46" dur="1000"/>
                                        <p:tgtEl>
                                          <p:spTgt spid="13"/>
                                        </p:tgtEl>
                                      </p:cBhvr>
                                    </p:animEffect>
                                  </p:childTnLst>
                                </p:cTn>
                              </p:par>
                              <p:par>
                                <p:cTn id="47" presetID="31"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 calcmode="lin" valueType="num">
                                      <p:cBhvr>
                                        <p:cTn id="49" dur="1000" fill="hold"/>
                                        <p:tgtEl>
                                          <p:spTgt spid="29"/>
                                        </p:tgtEl>
                                        <p:attrNameLst>
                                          <p:attrName>ppt_w</p:attrName>
                                        </p:attrNameLst>
                                      </p:cBhvr>
                                      <p:tavLst>
                                        <p:tav tm="0">
                                          <p:val>
                                            <p:fltVal val="0"/>
                                          </p:val>
                                        </p:tav>
                                        <p:tav tm="100000">
                                          <p:val>
                                            <p:strVal val="#ppt_w"/>
                                          </p:val>
                                        </p:tav>
                                      </p:tavLst>
                                    </p:anim>
                                    <p:anim calcmode="lin" valueType="num">
                                      <p:cBhvr>
                                        <p:cTn id="50" dur="1000" fill="hold"/>
                                        <p:tgtEl>
                                          <p:spTgt spid="29"/>
                                        </p:tgtEl>
                                        <p:attrNameLst>
                                          <p:attrName>ppt_h</p:attrName>
                                        </p:attrNameLst>
                                      </p:cBhvr>
                                      <p:tavLst>
                                        <p:tav tm="0">
                                          <p:val>
                                            <p:fltVal val="0"/>
                                          </p:val>
                                        </p:tav>
                                        <p:tav tm="100000">
                                          <p:val>
                                            <p:strVal val="#ppt_h"/>
                                          </p:val>
                                        </p:tav>
                                      </p:tavLst>
                                    </p:anim>
                                    <p:anim calcmode="lin" valueType="num">
                                      <p:cBhvr>
                                        <p:cTn id="51" dur="1000" fill="hold"/>
                                        <p:tgtEl>
                                          <p:spTgt spid="29"/>
                                        </p:tgtEl>
                                        <p:attrNameLst>
                                          <p:attrName>style.rotation</p:attrName>
                                        </p:attrNameLst>
                                      </p:cBhvr>
                                      <p:tavLst>
                                        <p:tav tm="0">
                                          <p:val>
                                            <p:fltVal val="90"/>
                                          </p:val>
                                        </p:tav>
                                        <p:tav tm="100000">
                                          <p:val>
                                            <p:fltVal val="0"/>
                                          </p:val>
                                        </p:tav>
                                      </p:tavLst>
                                    </p:anim>
                                    <p:animEffect transition="in" filter="fade">
                                      <p:cBhvr>
                                        <p:cTn id="52" dur="1000"/>
                                        <p:tgtEl>
                                          <p:spTgt spid="29"/>
                                        </p:tgtEl>
                                      </p:cBhvr>
                                    </p:animEffect>
                                  </p:childTnLst>
                                </p:cTn>
                              </p:par>
                            </p:childTnLst>
                          </p:cTn>
                        </p:par>
                        <p:par>
                          <p:cTn id="53" fill="hold">
                            <p:stCondLst>
                              <p:cond delay="1000"/>
                            </p:stCondLst>
                            <p:childTnLst>
                              <p:par>
                                <p:cTn id="54" presetID="22" presetClass="entr" presetSubtype="4" fill="hold" grpId="0" nodeType="afterEffect">
                                  <p:stCondLst>
                                    <p:cond delay="0"/>
                                  </p:stCondLst>
                                  <p:childTnLst>
                                    <p:set>
                                      <p:cBhvr>
                                        <p:cTn id="55" dur="500" fill="hold">
                                          <p:stCondLst>
                                            <p:cond delay="0"/>
                                          </p:stCondLst>
                                        </p:cTn>
                                        <p:tgtEl>
                                          <p:spTgt spid="8"/>
                                        </p:tgtEl>
                                        <p:attrNameLst>
                                          <p:attrName>style.visibility</p:attrName>
                                        </p:attrNameLst>
                                      </p:cBhvr>
                                      <p:to>
                                        <p:strVal val="visible"/>
                                      </p:to>
                                    </p:set>
                                    <p:animEffect transition="in" filter="wipe(down)">
                                      <p:cBhvr>
                                        <p:cTn id="56" dur="500"/>
                                        <p:tgtEl>
                                          <p:spTgt spid="8"/>
                                        </p:tgtEl>
                                      </p:cBhvr>
                                    </p:animEffect>
                                  </p:childTnLst>
                                </p:cTn>
                              </p:par>
                              <p:par>
                                <p:cTn id="57" presetID="22" presetClass="entr" presetSubtype="4" fill="hold" grpId="0" nodeType="withEffect">
                                  <p:stCondLst>
                                    <p:cond delay="0"/>
                                  </p:stCondLst>
                                  <p:childTnLst>
                                    <p:set>
                                      <p:cBhvr>
                                        <p:cTn id="58" dur="500" fill="hold">
                                          <p:stCondLst>
                                            <p:cond delay="0"/>
                                          </p:stCondLst>
                                        </p:cTn>
                                        <p:tgtEl>
                                          <p:spTgt spid="10"/>
                                        </p:tgtEl>
                                        <p:attrNameLst>
                                          <p:attrName>style.visibility</p:attrName>
                                        </p:attrNameLst>
                                      </p:cBhvr>
                                      <p:to>
                                        <p:strVal val="visible"/>
                                      </p:to>
                                    </p:set>
                                    <p:animEffect transition="in" filter="wipe(down)">
                                      <p:cBhvr>
                                        <p:cTn id="59" dur="500"/>
                                        <p:tgtEl>
                                          <p:spTgt spid="10"/>
                                        </p:tgtEl>
                                      </p:cBhvr>
                                    </p:animEffect>
                                  </p:childTnLst>
                                </p:cTn>
                              </p:par>
                              <p:par>
                                <p:cTn id="60" presetID="22" presetClass="entr" presetSubtype="1" fill="hold" grpId="0" nodeType="withEffect">
                                  <p:stCondLst>
                                    <p:cond delay="0"/>
                                  </p:stCondLst>
                                  <p:childTnLst>
                                    <p:set>
                                      <p:cBhvr>
                                        <p:cTn id="61" dur="500" fill="hold">
                                          <p:stCondLst>
                                            <p:cond delay="0"/>
                                          </p:stCondLst>
                                        </p:cTn>
                                        <p:tgtEl>
                                          <p:spTgt spid="9"/>
                                        </p:tgtEl>
                                        <p:attrNameLst>
                                          <p:attrName>style.visibility</p:attrName>
                                        </p:attrNameLst>
                                      </p:cBhvr>
                                      <p:to>
                                        <p:strVal val="visible"/>
                                      </p:to>
                                    </p:set>
                                    <p:animEffect transition="in" filter="wipe(up)">
                                      <p:cBhvr>
                                        <p:cTn id="6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4" grpId="0" bldLvl="0" animBg="1"/>
      <p:bldP spid="5" grpId="0" bldLvl="0" animBg="1"/>
      <p:bldP spid="6" grpId="0" bldLvl="0" animBg="1"/>
      <p:bldP spid="7" grpId="0" bldLvl="0" animBg="1"/>
      <p:bldP spid="8" grpId="0" bldLvl="0" animBg="1"/>
      <p:bldP spid="9" grpId="0" bldLvl="0" animBg="1"/>
      <p:bldP spid="10" grpId="0" bldLvl="0" animBg="1"/>
      <p:bldP spid="13" grpId="0" bldLvl="0" animBg="1"/>
      <p:bldP spid="2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543" y="1759123"/>
            <a:ext cx="12237085" cy="3310255"/>
          </a:xfrm>
          <a:prstGeom prst="rect">
            <a:avLst/>
          </a:prstGeom>
          <a:solidFill>
            <a:schemeClr val="bg1"/>
          </a:solidFill>
          <a:ln>
            <a:noFill/>
          </a:ln>
          <a:effectLst>
            <a:outerShdw blurRad="1778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600" dirty="0">
              <a:cs typeface="+mn-ea"/>
              <a:sym typeface="+mn-lt"/>
            </a:endParaRPr>
          </a:p>
        </p:txBody>
      </p:sp>
      <p:grpSp>
        <p:nvGrpSpPr>
          <p:cNvPr id="4" name="组合 3"/>
          <p:cNvGrpSpPr/>
          <p:nvPr/>
        </p:nvGrpSpPr>
        <p:grpSpPr>
          <a:xfrm>
            <a:off x="1725592" y="2472546"/>
            <a:ext cx="1712595" cy="1692275"/>
            <a:chOff x="1770244" y="775694"/>
            <a:chExt cx="1712595" cy="1692275"/>
          </a:xfrm>
        </p:grpSpPr>
        <p:sp>
          <p:nvSpPr>
            <p:cNvPr id="3" name="矩形 2"/>
            <p:cNvSpPr/>
            <p:nvPr/>
          </p:nvSpPr>
          <p:spPr>
            <a:xfrm>
              <a:off x="1770244" y="775694"/>
              <a:ext cx="1379855" cy="1379855"/>
            </a:xfrm>
            <a:prstGeom prst="rect">
              <a:avLst/>
            </a:prstGeom>
            <a:noFill/>
            <a:ln w="50800">
              <a:solidFill>
                <a:srgbClr val="ED57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矩形 8"/>
            <p:cNvSpPr/>
            <p:nvPr/>
          </p:nvSpPr>
          <p:spPr>
            <a:xfrm>
              <a:off x="1981699" y="966829"/>
              <a:ext cx="1501140" cy="1501140"/>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b="1" dirty="0">
                  <a:cs typeface="+mn-ea"/>
                  <a:sym typeface="+mn-lt"/>
                </a:rPr>
                <a:t>01</a:t>
              </a:r>
              <a:endParaRPr lang="en-US" altLang="zh-CN" sz="6000" b="1" dirty="0">
                <a:cs typeface="+mn-ea"/>
                <a:sym typeface="+mn-lt"/>
              </a:endParaRPr>
            </a:p>
          </p:txBody>
        </p:sp>
      </p:grpSp>
      <p:sp>
        <p:nvSpPr>
          <p:cNvPr id="6" name="文本框 5"/>
          <p:cNvSpPr txBox="1"/>
          <p:nvPr/>
        </p:nvSpPr>
        <p:spPr>
          <a:xfrm>
            <a:off x="3905393" y="2921658"/>
            <a:ext cx="7953375" cy="1014730"/>
          </a:xfrm>
          <a:prstGeom prst="rect">
            <a:avLst/>
          </a:prstGeom>
          <a:noFill/>
        </p:spPr>
        <p:txBody>
          <a:bodyPr wrap="none" rtlCol="0">
            <a:spAutoFit/>
          </a:bodyPr>
          <a:lstStyle/>
          <a:p>
            <a:r>
              <a:rPr lang="en-US" altLang="zh-CN" sz="6000" b="1" dirty="0" smtClean="0">
                <a:solidFill>
                  <a:srgbClr val="FF0000"/>
                </a:solidFill>
                <a:cs typeface="+mn-ea"/>
                <a:sym typeface="+mn-lt"/>
              </a:rPr>
              <a:t>Windows</a:t>
            </a:r>
            <a:r>
              <a:rPr lang="zh-CN" altLang="en-US" sz="6000" b="1" dirty="0" smtClean="0">
                <a:solidFill>
                  <a:srgbClr val="FF0000"/>
                </a:solidFill>
                <a:cs typeface="+mn-ea"/>
                <a:sym typeface="+mn-lt"/>
              </a:rPr>
              <a:t>操作系统</a:t>
            </a:r>
            <a:r>
              <a:rPr lang="zh-CN" altLang="en-US" sz="6000" b="1" dirty="0" smtClean="0">
                <a:solidFill>
                  <a:srgbClr val="FF0000"/>
                </a:solidFill>
                <a:cs typeface="+mn-ea"/>
                <a:sym typeface="+mn-lt"/>
              </a:rPr>
              <a:t>加固</a:t>
            </a:r>
            <a:endParaRPr lang="zh-CN" altLang="en-US" sz="6000" b="1" dirty="0" smtClean="0">
              <a:solidFill>
                <a:srgbClr val="FF0000"/>
              </a:solidFill>
              <a:cs typeface="+mn-ea"/>
              <a:sym typeface="+mn-lt"/>
            </a:endParaRPr>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strips(downRight)">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idx="4294967295"/>
          </p:nvPr>
        </p:nvSpPr>
        <p:spPr bwMode="auto">
          <a:xfrm>
            <a:off x="346710" y="527685"/>
            <a:ext cx="6232525" cy="77597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p>
            <a:pPr algn="l"/>
            <a:r>
              <a:rPr lang="en-US" altLang="zh-CN" sz="3200" dirty="0" smtClean="0"/>
              <a:t> </a:t>
            </a:r>
            <a:r>
              <a:rPr lang="en-US" sz="3200" b="1" dirty="0" smtClean="0">
                <a:solidFill>
                  <a:srgbClr val="FF0000"/>
                </a:solidFill>
              </a:rPr>
              <a:t>1.1Windows</a:t>
            </a:r>
            <a:r>
              <a:rPr lang="zh-CN" altLang="en-US" sz="3200" b="1" dirty="0" smtClean="0">
                <a:solidFill>
                  <a:srgbClr val="FF0000"/>
                </a:solidFill>
              </a:rPr>
              <a:t>系统</a:t>
            </a:r>
            <a:r>
              <a:rPr lang="zh-CN" altLang="en-US" sz="3200" b="1" dirty="0" smtClean="0">
                <a:solidFill>
                  <a:srgbClr val="FF0000"/>
                </a:solidFill>
              </a:rPr>
              <a:t>加固</a:t>
            </a:r>
            <a:endParaRPr lang="zh-CN" altLang="en-US" sz="3200" b="1" dirty="0" smtClean="0">
              <a:solidFill>
                <a:srgbClr val="FF0000"/>
              </a:solidFill>
            </a:endParaRPr>
          </a:p>
        </p:txBody>
      </p:sp>
      <p:sp>
        <p:nvSpPr>
          <p:cNvPr id="5" name="矩形 4"/>
          <p:cNvSpPr>
            <a:spLocks noChangeArrowheads="1"/>
          </p:cNvSpPr>
          <p:nvPr/>
        </p:nvSpPr>
        <p:spPr bwMode="auto">
          <a:xfrm>
            <a:off x="922020" y="1303339"/>
            <a:ext cx="8402638"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a:lnSpc>
                <a:spcPct val="200000"/>
              </a:lnSpc>
              <a:buFont typeface="Wingdings" panose="05000000000000000000" pitchFamily="2" charset="2"/>
              <a:buChar char="l"/>
              <a:defRPr/>
            </a:pPr>
            <a:r>
              <a:rPr lang="zh-CN" altLang="en-US" sz="2800" dirty="0"/>
              <a:t>操作系统安全概念</a:t>
            </a:r>
            <a:endParaRPr lang="zh-CN" altLang="en-US" sz="2800" dirty="0"/>
          </a:p>
          <a:p>
            <a:pPr marL="285750" indent="-285750">
              <a:lnSpc>
                <a:spcPct val="200000"/>
              </a:lnSpc>
              <a:buFont typeface="Wingdings" panose="05000000000000000000" pitchFamily="2" charset="2"/>
              <a:buChar char="l"/>
              <a:defRPr/>
            </a:pPr>
            <a:r>
              <a:rPr lang="zh-CN" altLang="en-US" sz="2800" dirty="0"/>
              <a:t>操作系统配置问题</a:t>
            </a:r>
            <a:endParaRPr lang="zh-CN" altLang="en-US" sz="2800" dirty="0"/>
          </a:p>
          <a:p>
            <a:pPr marL="285750" indent="-285750">
              <a:lnSpc>
                <a:spcPct val="200000"/>
              </a:lnSpc>
              <a:buFont typeface="Wingdings" panose="05000000000000000000" pitchFamily="2" charset="2"/>
              <a:buChar char="l"/>
              <a:defRPr/>
            </a:pPr>
            <a:r>
              <a:rPr lang="zh-CN" altLang="en-US" sz="2800" dirty="0"/>
              <a:t>操作系统安全漏洞问题</a:t>
            </a:r>
            <a:endParaRPr lang="zh-CN" altLang="en-US" sz="2800" dirty="0"/>
          </a:p>
        </p:txBody>
      </p:sp>
    </p:spTree>
    <p:custDataLst>
      <p:tags r:id="rId1"/>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idx="4294967295"/>
          </p:nvPr>
        </p:nvSpPr>
        <p:spPr bwMode="auto">
          <a:xfrm>
            <a:off x="346710" y="527685"/>
            <a:ext cx="6232525" cy="77597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p>
            <a:pPr algn="l"/>
            <a:r>
              <a:rPr lang="en-US" altLang="zh-CN" sz="3200" dirty="0" smtClean="0"/>
              <a:t> </a:t>
            </a:r>
            <a:r>
              <a:rPr lang="en-US" sz="3200" b="1" dirty="0" smtClean="0">
                <a:solidFill>
                  <a:srgbClr val="FF0000"/>
                </a:solidFill>
              </a:rPr>
              <a:t>1.1Windows</a:t>
            </a:r>
            <a:r>
              <a:rPr lang="zh-CN" altLang="en-US" sz="3200" b="1" dirty="0" smtClean="0">
                <a:solidFill>
                  <a:srgbClr val="FF0000"/>
                </a:solidFill>
              </a:rPr>
              <a:t>系统安全</a:t>
            </a:r>
            <a:r>
              <a:rPr lang="zh-CN" altLang="en-US" sz="3200" b="1" dirty="0" smtClean="0">
                <a:solidFill>
                  <a:srgbClr val="FF0000"/>
                </a:solidFill>
              </a:rPr>
              <a:t>概念</a:t>
            </a:r>
            <a:endParaRPr lang="zh-CN" altLang="en-US" sz="3200" b="1" dirty="0" smtClean="0">
              <a:solidFill>
                <a:srgbClr val="FF0000"/>
              </a:solidFill>
            </a:endParaRPr>
          </a:p>
        </p:txBody>
      </p:sp>
      <p:sp>
        <p:nvSpPr>
          <p:cNvPr id="5" name="矩形 4"/>
          <p:cNvSpPr>
            <a:spLocks noChangeArrowheads="1"/>
          </p:cNvSpPr>
          <p:nvPr/>
        </p:nvSpPr>
        <p:spPr bwMode="auto">
          <a:xfrm>
            <a:off x="922020" y="1303655"/>
            <a:ext cx="10471785" cy="4399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a:lnSpc>
                <a:spcPct val="200000"/>
              </a:lnSpc>
              <a:buFont typeface="Wingdings" panose="05000000000000000000" pitchFamily="2" charset="2"/>
              <a:buChar char="l"/>
              <a:defRPr/>
            </a:pPr>
            <a:r>
              <a:rPr lang="zh-CN" altLang="en-US" sz="2800" dirty="0"/>
              <a:t>操作系统安全概念</a:t>
            </a:r>
            <a:endParaRPr lang="zh-CN" altLang="en-US" sz="2800" dirty="0"/>
          </a:p>
          <a:p>
            <a:pPr indent="0" fontAlgn="auto">
              <a:lnSpc>
                <a:spcPct val="100000"/>
              </a:lnSpc>
              <a:buFont typeface="Wingdings" panose="05000000000000000000" pitchFamily="2" charset="2"/>
              <a:buNone/>
              <a:defRPr/>
            </a:pPr>
            <a:r>
              <a:rPr lang="en-US" altLang="zh-CN" sz="2800" dirty="0"/>
              <a:t>        </a:t>
            </a:r>
            <a:r>
              <a:rPr lang="zh-CN" altLang="en-US" sz="2800" dirty="0"/>
              <a:t>一般意义上说，一个操作系统是安全的，是指</a:t>
            </a:r>
            <a:r>
              <a:rPr lang="zh-CN" altLang="en-US" sz="2800" dirty="0">
                <a:solidFill>
                  <a:schemeClr val="accent1"/>
                </a:solidFill>
              </a:rPr>
              <a:t>该系统能够控制外部对系统信息的访问</a:t>
            </a:r>
            <a:r>
              <a:rPr lang="zh-CN" altLang="en-US" sz="2800" dirty="0"/>
              <a:t>，也就是说，只有经过授权的用户或代表该用户运行的进程才能读、写、创建和删除</a:t>
            </a:r>
            <a:r>
              <a:rPr lang="zh-CN" altLang="en-US" sz="2800" dirty="0"/>
              <a:t>信息。</a:t>
            </a:r>
            <a:endParaRPr lang="zh-CN" altLang="en-US" sz="2800" dirty="0"/>
          </a:p>
          <a:p>
            <a:pPr indent="0" fontAlgn="auto">
              <a:lnSpc>
                <a:spcPct val="100000"/>
              </a:lnSpc>
              <a:buFont typeface="Wingdings" panose="05000000000000000000" pitchFamily="2" charset="2"/>
              <a:buNone/>
              <a:defRPr/>
            </a:pPr>
            <a:r>
              <a:rPr lang="en-US" altLang="zh-CN" sz="2800" dirty="0"/>
              <a:t>       </a:t>
            </a:r>
            <a:endParaRPr lang="en-US" altLang="zh-CN" sz="2800" dirty="0"/>
          </a:p>
          <a:p>
            <a:pPr indent="0" fontAlgn="auto">
              <a:lnSpc>
                <a:spcPct val="100000"/>
              </a:lnSpc>
              <a:buFont typeface="Wingdings" panose="05000000000000000000" pitchFamily="2" charset="2"/>
              <a:buNone/>
              <a:defRPr/>
            </a:pPr>
            <a:r>
              <a:rPr lang="zh-CN" altLang="en-US" sz="2800" dirty="0"/>
              <a:t>通俗地</a:t>
            </a:r>
            <a:r>
              <a:rPr lang="zh-CN" altLang="en-US" sz="2800" dirty="0"/>
              <a:t>说</a:t>
            </a:r>
            <a:endParaRPr lang="zh-CN" altLang="en-US" sz="2800" dirty="0"/>
          </a:p>
          <a:p>
            <a:pPr indent="0" fontAlgn="auto">
              <a:lnSpc>
                <a:spcPct val="100000"/>
              </a:lnSpc>
              <a:buFont typeface="Wingdings" panose="05000000000000000000" pitchFamily="2" charset="2"/>
              <a:buNone/>
              <a:defRPr/>
            </a:pPr>
            <a:r>
              <a:rPr lang="zh-CN" altLang="en-US" sz="2800" dirty="0">
                <a:solidFill>
                  <a:srgbClr val="FF0000"/>
                </a:solidFill>
              </a:rPr>
              <a:t>身份认证</a:t>
            </a:r>
            <a:r>
              <a:rPr lang="zh-CN" altLang="en-US" sz="2800" dirty="0"/>
              <a:t>解决的是</a:t>
            </a:r>
            <a:r>
              <a:rPr lang="en-US" altLang="zh-CN" sz="2800" dirty="0"/>
              <a:t>“</a:t>
            </a:r>
            <a:r>
              <a:rPr lang="zh-CN" altLang="en-US" sz="2800" dirty="0">
                <a:solidFill>
                  <a:srgbClr val="FF0000"/>
                </a:solidFill>
              </a:rPr>
              <a:t>你是谁，你是否真的是你所声称的身份</a:t>
            </a:r>
            <a:r>
              <a:rPr lang="en-US" altLang="zh-CN" sz="2800" dirty="0"/>
              <a:t>”</a:t>
            </a:r>
            <a:r>
              <a:rPr lang="zh-CN" altLang="en-US" sz="2800" dirty="0"/>
              <a:t>。</a:t>
            </a:r>
            <a:endParaRPr lang="zh-CN" altLang="en-US" sz="2800" dirty="0"/>
          </a:p>
          <a:p>
            <a:pPr indent="0" fontAlgn="auto">
              <a:lnSpc>
                <a:spcPct val="100000"/>
              </a:lnSpc>
              <a:buFont typeface="Wingdings" panose="05000000000000000000" pitchFamily="2" charset="2"/>
              <a:buNone/>
              <a:defRPr/>
            </a:pPr>
            <a:endParaRPr lang="zh-CN" altLang="en-US" sz="2800" dirty="0"/>
          </a:p>
          <a:p>
            <a:pPr indent="0" fontAlgn="auto">
              <a:lnSpc>
                <a:spcPct val="100000"/>
              </a:lnSpc>
              <a:buFont typeface="Wingdings" panose="05000000000000000000" pitchFamily="2" charset="2"/>
              <a:buNone/>
              <a:defRPr/>
            </a:pPr>
            <a:r>
              <a:rPr lang="zh-CN" altLang="en-US" sz="2800" dirty="0">
                <a:solidFill>
                  <a:srgbClr val="FF0000"/>
                </a:solidFill>
              </a:rPr>
              <a:t>访问控制</a:t>
            </a:r>
            <a:r>
              <a:rPr lang="zh-CN" altLang="en-US" sz="2800" dirty="0"/>
              <a:t>解决的是</a:t>
            </a:r>
            <a:r>
              <a:rPr lang="en-US" altLang="zh-CN" sz="2800" dirty="0"/>
              <a:t>“</a:t>
            </a:r>
            <a:r>
              <a:rPr lang="zh-CN" altLang="en-US" sz="2800" dirty="0">
                <a:solidFill>
                  <a:srgbClr val="FF0000"/>
                </a:solidFill>
              </a:rPr>
              <a:t>你能够做什么，你有什么样的权限</a:t>
            </a:r>
            <a:r>
              <a:rPr lang="en-US" altLang="zh-CN" sz="2800" dirty="0">
                <a:solidFill>
                  <a:srgbClr val="FF0000"/>
                </a:solidFill>
              </a:rPr>
              <a:t>”</a:t>
            </a:r>
            <a:r>
              <a:rPr lang="zh-CN" altLang="en-US" sz="2800" dirty="0">
                <a:solidFill>
                  <a:srgbClr val="FF0000"/>
                </a:solidFill>
              </a:rPr>
              <a:t>。</a:t>
            </a:r>
            <a:endParaRPr lang="zh-CN" altLang="en-US" sz="2800" dirty="0">
              <a:solidFill>
                <a:srgbClr val="FF0000"/>
              </a:solidFill>
            </a:endParaRPr>
          </a:p>
        </p:txBody>
      </p:sp>
    </p:spTree>
    <p:custDataLst>
      <p:tags r:id="rId1"/>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idx="4294967295"/>
          </p:nvPr>
        </p:nvSpPr>
        <p:spPr bwMode="auto">
          <a:xfrm>
            <a:off x="346710" y="527685"/>
            <a:ext cx="6232525" cy="77597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p>
            <a:pPr algn="l"/>
            <a:r>
              <a:rPr lang="en-US" altLang="zh-CN" sz="3200" dirty="0" smtClean="0"/>
              <a:t> </a:t>
            </a:r>
            <a:r>
              <a:rPr lang="en-US" sz="3200" b="1" dirty="0" smtClean="0">
                <a:solidFill>
                  <a:srgbClr val="FF0000"/>
                </a:solidFill>
              </a:rPr>
              <a:t>1.1Windows</a:t>
            </a:r>
            <a:r>
              <a:rPr lang="zh-CN" altLang="en-US" sz="3200" b="1" dirty="0" smtClean="0">
                <a:solidFill>
                  <a:srgbClr val="FF0000"/>
                </a:solidFill>
              </a:rPr>
              <a:t>系统安全</a:t>
            </a:r>
            <a:r>
              <a:rPr lang="zh-CN" altLang="en-US" sz="3200" b="1" dirty="0" smtClean="0">
                <a:solidFill>
                  <a:srgbClr val="FF0000"/>
                </a:solidFill>
              </a:rPr>
              <a:t>概念</a:t>
            </a:r>
            <a:endParaRPr lang="zh-CN" altLang="en-US" sz="3200" b="1" dirty="0" smtClean="0">
              <a:solidFill>
                <a:srgbClr val="FF0000"/>
              </a:solidFill>
            </a:endParaRPr>
          </a:p>
        </p:txBody>
      </p:sp>
      <p:sp>
        <p:nvSpPr>
          <p:cNvPr id="5" name="矩形 4"/>
          <p:cNvSpPr>
            <a:spLocks noChangeArrowheads="1"/>
          </p:cNvSpPr>
          <p:nvPr/>
        </p:nvSpPr>
        <p:spPr bwMode="auto">
          <a:xfrm>
            <a:off x="859790" y="1303655"/>
            <a:ext cx="10471785" cy="3815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a:lnSpc>
                <a:spcPct val="200000"/>
              </a:lnSpc>
              <a:buFont typeface="Wingdings" panose="05000000000000000000" pitchFamily="2" charset="2"/>
              <a:buChar char="l"/>
              <a:defRPr/>
            </a:pPr>
            <a:r>
              <a:rPr lang="zh-CN" altLang="en-US" sz="2800" dirty="0"/>
              <a:t>操作系统安全概念</a:t>
            </a:r>
            <a:endParaRPr lang="en-US" altLang="zh-CN" sz="2800" dirty="0"/>
          </a:p>
          <a:p>
            <a:pPr indent="0" fontAlgn="auto">
              <a:lnSpc>
                <a:spcPct val="150000"/>
              </a:lnSpc>
              <a:buFont typeface="Wingdings" panose="05000000000000000000" pitchFamily="2" charset="2"/>
              <a:buNone/>
              <a:defRPr/>
            </a:pPr>
            <a:r>
              <a:rPr lang="en-US" altLang="zh-CN" sz="2800" dirty="0"/>
              <a:t>   </a:t>
            </a:r>
            <a:r>
              <a:rPr lang="zh-CN" altLang="en-US" sz="2400" dirty="0"/>
              <a:t>操作系统安全具有两层含义：</a:t>
            </a:r>
            <a:endParaRPr lang="zh-CN" altLang="en-US" sz="2400" dirty="0"/>
          </a:p>
          <a:p>
            <a:pPr indent="0" fontAlgn="auto">
              <a:lnSpc>
                <a:spcPct val="150000"/>
              </a:lnSpc>
              <a:buFont typeface="Wingdings" panose="05000000000000000000" pitchFamily="2" charset="2"/>
              <a:buNone/>
              <a:defRPr/>
            </a:pPr>
            <a:r>
              <a:rPr lang="zh-CN" altLang="en-US" sz="2400" dirty="0"/>
              <a:t> </a:t>
            </a:r>
            <a:r>
              <a:rPr lang="en-US" altLang="zh-CN" sz="2400" dirty="0"/>
              <a:t>  </a:t>
            </a:r>
            <a:r>
              <a:rPr lang="zh-CN" altLang="en-US" sz="2400" dirty="0"/>
              <a:t>一、是指操作系统</a:t>
            </a:r>
            <a:r>
              <a:rPr lang="zh-CN" altLang="en-US" sz="2400" dirty="0">
                <a:solidFill>
                  <a:schemeClr val="accent1"/>
                </a:solidFill>
              </a:rPr>
              <a:t>设计时</a:t>
            </a:r>
            <a:r>
              <a:rPr lang="zh-CN" altLang="en-US" sz="2400" dirty="0"/>
              <a:t>，通过权限访问控制、信息加密性保护、完整性鉴定等一些</a:t>
            </a:r>
            <a:r>
              <a:rPr lang="zh-CN" altLang="en-US" sz="2400" dirty="0">
                <a:solidFill>
                  <a:schemeClr val="tx1"/>
                </a:solidFill>
              </a:rPr>
              <a:t>安全机制</a:t>
            </a:r>
            <a:r>
              <a:rPr lang="zh-CN" altLang="en-US" sz="2400" dirty="0"/>
              <a:t>实现的安全。</a:t>
            </a:r>
            <a:endParaRPr lang="zh-CN" altLang="en-US" sz="2400" dirty="0"/>
          </a:p>
          <a:p>
            <a:pPr indent="0" fontAlgn="auto">
              <a:lnSpc>
                <a:spcPct val="150000"/>
              </a:lnSpc>
              <a:buFont typeface="Wingdings" panose="05000000000000000000" pitchFamily="2" charset="2"/>
              <a:buNone/>
              <a:defRPr/>
            </a:pPr>
            <a:r>
              <a:rPr lang="zh-CN" altLang="en-US" sz="2400" dirty="0"/>
              <a:t> </a:t>
            </a:r>
            <a:r>
              <a:rPr lang="en-US" altLang="zh-CN" sz="2400" dirty="0"/>
              <a:t>   </a:t>
            </a:r>
            <a:r>
              <a:rPr lang="zh-CN" altLang="en-US" sz="2400" dirty="0"/>
              <a:t>二、是指操作系统</a:t>
            </a:r>
            <a:r>
              <a:rPr lang="zh-CN" altLang="en-US" sz="2400" dirty="0">
                <a:solidFill>
                  <a:schemeClr val="accent1"/>
                </a:solidFill>
              </a:rPr>
              <a:t>使用过程中</a:t>
            </a:r>
            <a:r>
              <a:rPr lang="zh-CN" altLang="en-US" sz="2400" dirty="0">
                <a:solidFill>
                  <a:schemeClr val="tx1"/>
                </a:solidFill>
              </a:rPr>
              <a:t>，</a:t>
            </a:r>
            <a:r>
              <a:rPr lang="zh-CN" altLang="en-US" sz="2400" dirty="0"/>
              <a:t>考虑系统缺陷和应用环境的不安全因素而必须进行系统的安全配置。</a:t>
            </a:r>
            <a:r>
              <a:rPr lang="en-US" altLang="zh-CN" sz="2400" dirty="0"/>
              <a:t>      </a:t>
            </a:r>
            <a:endParaRPr lang="zh-CN" altLang="en-US" sz="2400" dirty="0">
              <a:solidFill>
                <a:srgbClr val="FF0000"/>
              </a:solidFill>
            </a:endParaRPr>
          </a:p>
        </p:txBody>
      </p:sp>
    </p:spTree>
    <p:custDataLst>
      <p:tags r:id="rId1"/>
    </p:custData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idx="4294967295"/>
          </p:nvPr>
        </p:nvSpPr>
        <p:spPr bwMode="auto">
          <a:xfrm>
            <a:off x="346710" y="527685"/>
            <a:ext cx="6232525" cy="77597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p>
            <a:pPr algn="l"/>
            <a:r>
              <a:rPr lang="en-US" altLang="zh-CN" sz="3200" dirty="0" smtClean="0"/>
              <a:t> </a:t>
            </a:r>
            <a:r>
              <a:rPr lang="en-US" sz="3200" b="1" dirty="0" smtClean="0">
                <a:solidFill>
                  <a:srgbClr val="FF0000"/>
                </a:solidFill>
              </a:rPr>
              <a:t>1.2Windows</a:t>
            </a:r>
            <a:r>
              <a:rPr lang="zh-CN" altLang="en-US" sz="3200" b="1" dirty="0" smtClean="0">
                <a:solidFill>
                  <a:srgbClr val="FF0000"/>
                </a:solidFill>
              </a:rPr>
              <a:t>系统安全问题</a:t>
            </a:r>
            <a:endParaRPr lang="zh-CN" altLang="en-US" sz="3200" b="1" dirty="0" smtClean="0">
              <a:solidFill>
                <a:srgbClr val="FF0000"/>
              </a:solidFill>
            </a:endParaRPr>
          </a:p>
        </p:txBody>
      </p:sp>
      <p:sp>
        <p:nvSpPr>
          <p:cNvPr id="5" name="矩形 4"/>
          <p:cNvSpPr>
            <a:spLocks noChangeArrowheads="1"/>
          </p:cNvSpPr>
          <p:nvPr/>
        </p:nvSpPr>
        <p:spPr bwMode="auto">
          <a:xfrm>
            <a:off x="922020" y="1303655"/>
            <a:ext cx="11270615" cy="427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0" fontAlgn="auto">
              <a:lnSpc>
                <a:spcPct val="100000"/>
              </a:lnSpc>
              <a:buFont typeface="Wingdings" panose="05000000000000000000" pitchFamily="2" charset="2"/>
              <a:buChar char="l"/>
              <a:defRPr/>
            </a:pPr>
            <a:r>
              <a:rPr lang="zh-CN" altLang="en-US" sz="2800" dirty="0"/>
              <a:t>操作系统配置问题</a:t>
            </a:r>
            <a:endParaRPr lang="zh-CN" altLang="en-US" sz="2800" dirty="0"/>
          </a:p>
          <a:p>
            <a:pPr marL="285750" indent="0" fontAlgn="auto">
              <a:lnSpc>
                <a:spcPct val="100000"/>
              </a:lnSpc>
              <a:buFont typeface="Wingdings" panose="05000000000000000000" pitchFamily="2" charset="2"/>
              <a:buNone/>
              <a:defRPr/>
            </a:pPr>
            <a:endParaRPr lang="zh-CN" altLang="en-US" sz="2800" dirty="0"/>
          </a:p>
          <a:p>
            <a:pPr indent="0" fontAlgn="auto">
              <a:lnSpc>
                <a:spcPct val="100000"/>
              </a:lnSpc>
              <a:buFont typeface="Wingdings" panose="05000000000000000000" pitchFamily="2" charset="2"/>
              <a:buNone/>
              <a:defRPr/>
            </a:pPr>
            <a:r>
              <a:rPr lang="en-US" altLang="zh-CN" sz="2400" dirty="0"/>
              <a:t>1.</a:t>
            </a:r>
            <a:r>
              <a:rPr lang="zh-CN" altLang="en-US" sz="2400" dirty="0">
                <a:solidFill>
                  <a:schemeClr val="accent1"/>
                </a:solidFill>
              </a:rPr>
              <a:t>访问权限</a:t>
            </a:r>
            <a:r>
              <a:rPr lang="zh-CN" altLang="en-US" sz="2400" dirty="0"/>
              <a:t>的恰当</a:t>
            </a:r>
            <a:r>
              <a:rPr lang="zh-CN" altLang="en-US" sz="2400" dirty="0"/>
              <a:t>设置</a:t>
            </a:r>
            <a:endParaRPr lang="zh-CN" altLang="en-US" sz="2400" dirty="0"/>
          </a:p>
          <a:p>
            <a:pPr indent="0" fontAlgn="auto">
              <a:lnSpc>
                <a:spcPct val="100000"/>
              </a:lnSpc>
              <a:buFont typeface="Wingdings" panose="05000000000000000000" pitchFamily="2" charset="2"/>
              <a:buNone/>
              <a:defRPr/>
            </a:pPr>
            <a:r>
              <a:rPr lang="en-US" altLang="zh-CN" sz="2400" dirty="0"/>
              <a:t>          </a:t>
            </a:r>
            <a:r>
              <a:rPr lang="zh-CN" altLang="en-US" sz="2400" dirty="0"/>
              <a:t>指利用操作系统提供的访问控制功能为用户和文件系统设置恰当的访问权限</a:t>
            </a:r>
            <a:endParaRPr lang="zh-CN" altLang="en-US" sz="2400" dirty="0"/>
          </a:p>
          <a:p>
            <a:pPr indent="0" fontAlgn="auto">
              <a:lnSpc>
                <a:spcPct val="100000"/>
              </a:lnSpc>
              <a:buFont typeface="Wingdings" panose="05000000000000000000" pitchFamily="2" charset="2"/>
              <a:buNone/>
              <a:defRPr/>
            </a:pPr>
            <a:endParaRPr lang="zh-CN" altLang="en-US" sz="2400" dirty="0"/>
          </a:p>
          <a:p>
            <a:pPr indent="0" fontAlgn="auto">
              <a:lnSpc>
                <a:spcPct val="100000"/>
              </a:lnSpc>
              <a:buFont typeface="Wingdings" panose="05000000000000000000" pitchFamily="2" charset="2"/>
              <a:buNone/>
              <a:defRPr/>
            </a:pPr>
            <a:r>
              <a:rPr lang="en-US" altLang="zh-CN" sz="2400" dirty="0"/>
              <a:t>2.</a:t>
            </a:r>
            <a:r>
              <a:rPr lang="zh-CN" altLang="en-US" sz="2400" dirty="0">
                <a:solidFill>
                  <a:schemeClr val="accent1"/>
                </a:solidFill>
              </a:rPr>
              <a:t>系统</a:t>
            </a:r>
            <a:r>
              <a:rPr lang="zh-CN" altLang="en-US" sz="2400" dirty="0"/>
              <a:t>的及时</a:t>
            </a:r>
            <a:r>
              <a:rPr lang="zh-CN" altLang="en-US" sz="2400" dirty="0">
                <a:solidFill>
                  <a:schemeClr val="accent1"/>
                </a:solidFill>
              </a:rPr>
              <a:t>更新</a:t>
            </a:r>
            <a:endParaRPr lang="zh-CN" altLang="en-US" sz="2400" dirty="0"/>
          </a:p>
          <a:p>
            <a:pPr indent="0" fontAlgn="auto">
              <a:lnSpc>
                <a:spcPct val="100000"/>
              </a:lnSpc>
              <a:buFont typeface="Wingdings" panose="05000000000000000000" pitchFamily="2" charset="2"/>
              <a:buNone/>
              <a:defRPr/>
            </a:pPr>
            <a:r>
              <a:rPr lang="en-US" altLang="zh-CN" sz="2400" dirty="0"/>
              <a:t>          </a:t>
            </a:r>
            <a:r>
              <a:rPr lang="zh-CN" altLang="en-US" sz="2400" dirty="0"/>
              <a:t>几乎所有操作系统都不同程度的存在设计和程序缺陷，在应用中会产生安全漏洞，容易被病毒利用来侵入并攻击用户</a:t>
            </a:r>
            <a:r>
              <a:rPr lang="zh-CN" altLang="en-US" sz="2400" dirty="0"/>
              <a:t>计算机。</a:t>
            </a:r>
            <a:endParaRPr lang="zh-CN" altLang="en-US" sz="2400" dirty="0"/>
          </a:p>
          <a:p>
            <a:pPr indent="0" fontAlgn="auto">
              <a:lnSpc>
                <a:spcPct val="100000"/>
              </a:lnSpc>
              <a:buFont typeface="Wingdings" panose="05000000000000000000" pitchFamily="2" charset="2"/>
              <a:buNone/>
              <a:defRPr/>
            </a:pPr>
            <a:endParaRPr lang="zh-CN" altLang="en-US" sz="2400" dirty="0"/>
          </a:p>
          <a:p>
            <a:pPr indent="0" fontAlgn="auto">
              <a:lnSpc>
                <a:spcPct val="100000"/>
              </a:lnSpc>
              <a:buFont typeface="Wingdings" panose="05000000000000000000" pitchFamily="2" charset="2"/>
              <a:buNone/>
              <a:defRPr/>
            </a:pPr>
            <a:r>
              <a:rPr lang="en-US" altLang="zh-CN" sz="2400" dirty="0"/>
              <a:t>3.</a:t>
            </a:r>
            <a:r>
              <a:rPr lang="zh-CN" altLang="en-US" sz="2400" dirty="0"/>
              <a:t>对于</a:t>
            </a:r>
            <a:r>
              <a:rPr lang="zh-CN" altLang="en-US" sz="2400" dirty="0">
                <a:solidFill>
                  <a:schemeClr val="accent1"/>
                </a:solidFill>
              </a:rPr>
              <a:t>攻击</a:t>
            </a:r>
            <a:r>
              <a:rPr lang="zh-CN" altLang="en-US" sz="2400" dirty="0"/>
              <a:t>的</a:t>
            </a:r>
            <a:r>
              <a:rPr lang="zh-CN" altLang="en-US" sz="2400" dirty="0">
                <a:solidFill>
                  <a:schemeClr val="accent1"/>
                </a:solidFill>
              </a:rPr>
              <a:t>防范</a:t>
            </a:r>
            <a:endParaRPr lang="zh-CN" altLang="en-US" sz="2400" dirty="0"/>
          </a:p>
          <a:p>
            <a:pPr indent="0" fontAlgn="auto">
              <a:lnSpc>
                <a:spcPct val="100000"/>
              </a:lnSpc>
              <a:buFont typeface="Wingdings" panose="05000000000000000000" pitchFamily="2" charset="2"/>
              <a:buNone/>
              <a:defRPr/>
            </a:pPr>
            <a:r>
              <a:rPr lang="en-US" altLang="zh-CN" sz="2400" dirty="0"/>
              <a:t>          </a:t>
            </a:r>
            <a:r>
              <a:rPr lang="zh-CN" altLang="en-US" sz="2400" dirty="0"/>
              <a:t>利用操作系统提供的各种功能及安装各种防范软件来提高系统的防护</a:t>
            </a:r>
            <a:r>
              <a:rPr lang="zh-CN" altLang="en-US" sz="2400" dirty="0"/>
              <a:t>能力</a:t>
            </a:r>
            <a:endParaRPr lang="zh-CN" altLang="en-US" sz="2400" dirty="0"/>
          </a:p>
        </p:txBody>
      </p:sp>
    </p:spTree>
    <p:custDataLst>
      <p:tags r:id="rId1"/>
    </p:custData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idx="4294967295"/>
          </p:nvPr>
        </p:nvSpPr>
        <p:spPr bwMode="auto">
          <a:xfrm>
            <a:off x="346710" y="527685"/>
            <a:ext cx="6232525" cy="77597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p>
            <a:pPr algn="l"/>
            <a:r>
              <a:rPr lang="en-US" altLang="zh-CN" sz="3200" dirty="0" smtClean="0"/>
              <a:t> </a:t>
            </a:r>
            <a:r>
              <a:rPr lang="en-US" sz="3200" b="1" dirty="0" smtClean="0">
                <a:solidFill>
                  <a:srgbClr val="FF0000"/>
                </a:solidFill>
              </a:rPr>
              <a:t>1.2Windows</a:t>
            </a:r>
            <a:r>
              <a:rPr lang="zh-CN" altLang="en-US" sz="3200" b="1" dirty="0" smtClean="0">
                <a:solidFill>
                  <a:srgbClr val="FF0000"/>
                </a:solidFill>
              </a:rPr>
              <a:t>系统安全问题</a:t>
            </a:r>
            <a:endParaRPr lang="zh-CN" altLang="en-US" sz="3200" b="1" dirty="0" smtClean="0">
              <a:solidFill>
                <a:srgbClr val="FF0000"/>
              </a:solidFill>
            </a:endParaRPr>
          </a:p>
        </p:txBody>
      </p:sp>
      <p:sp>
        <p:nvSpPr>
          <p:cNvPr id="5" name="矩形 4"/>
          <p:cNvSpPr>
            <a:spLocks noChangeArrowheads="1"/>
          </p:cNvSpPr>
          <p:nvPr/>
        </p:nvSpPr>
        <p:spPr bwMode="auto">
          <a:xfrm>
            <a:off x="887730" y="1095375"/>
            <a:ext cx="10775315" cy="4154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0" fontAlgn="auto">
              <a:lnSpc>
                <a:spcPct val="150000"/>
              </a:lnSpc>
              <a:buFont typeface="Wingdings" panose="05000000000000000000" pitchFamily="2" charset="2"/>
              <a:buChar char="l"/>
              <a:defRPr/>
            </a:pPr>
            <a:r>
              <a:rPr lang="zh-CN" altLang="en-US" sz="2800" dirty="0"/>
              <a:t>操作系统安全漏洞问题</a:t>
            </a:r>
            <a:endParaRPr lang="zh-CN" altLang="en-US" sz="2800" dirty="0"/>
          </a:p>
          <a:p>
            <a:pPr indent="0" fontAlgn="auto">
              <a:lnSpc>
                <a:spcPct val="150000"/>
              </a:lnSpc>
              <a:buFont typeface="Wingdings" panose="05000000000000000000" pitchFamily="2" charset="2"/>
              <a:buNone/>
              <a:defRPr/>
            </a:pPr>
            <a:r>
              <a:rPr lang="en-US" altLang="zh-CN" sz="2800" dirty="0"/>
              <a:t>        </a:t>
            </a:r>
            <a:r>
              <a:rPr lang="zh-CN" altLang="en-US" sz="2400" dirty="0"/>
              <a:t>几乎说有的操作系统都不是十全十美的，总存在一些安全漏洞一些常见及重大的操作系统</a:t>
            </a:r>
            <a:r>
              <a:rPr lang="zh-CN" altLang="en-US" sz="2400" dirty="0">
                <a:solidFill>
                  <a:schemeClr val="accent1"/>
                </a:solidFill>
              </a:rPr>
              <a:t>安全漏洞类型</a:t>
            </a:r>
            <a:r>
              <a:rPr lang="zh-CN" altLang="en-US" sz="2400" dirty="0"/>
              <a:t>：</a:t>
            </a:r>
            <a:endParaRPr lang="zh-CN" altLang="en-US" sz="2400" dirty="0"/>
          </a:p>
          <a:p>
            <a:pPr indent="0" fontAlgn="auto">
              <a:lnSpc>
                <a:spcPct val="150000"/>
              </a:lnSpc>
              <a:buFont typeface="Wingdings" panose="05000000000000000000" pitchFamily="2" charset="2"/>
              <a:buNone/>
              <a:defRPr/>
            </a:pPr>
            <a:r>
              <a:rPr lang="en-US" altLang="zh-CN" sz="2400" dirty="0"/>
              <a:t>        1</a:t>
            </a:r>
            <a:r>
              <a:rPr lang="zh-CN" altLang="en-US" sz="2400" dirty="0"/>
              <a:t>、缓冲区溢出</a:t>
            </a:r>
            <a:r>
              <a:rPr lang="zh-CN" altLang="en-US" sz="2400" dirty="0"/>
              <a:t>漏洞</a:t>
            </a:r>
            <a:endParaRPr lang="zh-CN" altLang="en-US" sz="2400" dirty="0"/>
          </a:p>
          <a:p>
            <a:pPr indent="0" fontAlgn="auto">
              <a:lnSpc>
                <a:spcPct val="150000"/>
              </a:lnSpc>
              <a:buFont typeface="Wingdings" panose="05000000000000000000" pitchFamily="2" charset="2"/>
              <a:buNone/>
              <a:defRPr/>
            </a:pPr>
            <a:r>
              <a:rPr lang="en-US" altLang="zh-CN" sz="2400" dirty="0"/>
              <a:t>        2</a:t>
            </a:r>
            <a:r>
              <a:rPr lang="zh-CN" altLang="en-US" sz="2400" dirty="0"/>
              <a:t>、</a:t>
            </a:r>
            <a:r>
              <a:rPr lang="en-US" altLang="zh-CN" sz="2400" dirty="0"/>
              <a:t>TCP/IP</a:t>
            </a:r>
            <a:r>
              <a:rPr lang="zh-CN" altLang="en-US" sz="2400" dirty="0"/>
              <a:t>协议</a:t>
            </a:r>
            <a:r>
              <a:rPr lang="zh-CN" altLang="en-US" sz="2400" dirty="0"/>
              <a:t>漏洞</a:t>
            </a:r>
            <a:endParaRPr lang="zh-CN" altLang="en-US" sz="2400" dirty="0"/>
          </a:p>
          <a:p>
            <a:pPr indent="0" fontAlgn="auto">
              <a:lnSpc>
                <a:spcPct val="150000"/>
              </a:lnSpc>
              <a:buFont typeface="Wingdings" panose="05000000000000000000" pitchFamily="2" charset="2"/>
              <a:buNone/>
              <a:defRPr/>
            </a:pPr>
            <a:r>
              <a:rPr lang="en-US" altLang="zh-CN" sz="2400" dirty="0"/>
              <a:t>        3</a:t>
            </a:r>
            <a:r>
              <a:rPr lang="zh-CN" altLang="en-US" sz="2400" dirty="0"/>
              <a:t>、</a:t>
            </a:r>
            <a:r>
              <a:rPr lang="en-US" altLang="zh-CN" sz="2400" dirty="0"/>
              <a:t>Web</a:t>
            </a:r>
            <a:r>
              <a:rPr lang="zh-CN" altLang="en-US" sz="2400" dirty="0"/>
              <a:t>应用安全</a:t>
            </a:r>
            <a:r>
              <a:rPr lang="zh-CN" altLang="en-US" sz="2400" dirty="0"/>
              <a:t>漏洞</a:t>
            </a:r>
            <a:endParaRPr lang="zh-CN" altLang="en-US" sz="2400" dirty="0"/>
          </a:p>
          <a:p>
            <a:pPr indent="0" fontAlgn="auto">
              <a:lnSpc>
                <a:spcPct val="150000"/>
              </a:lnSpc>
              <a:buFont typeface="Wingdings" panose="05000000000000000000" pitchFamily="2" charset="2"/>
              <a:buNone/>
              <a:defRPr/>
            </a:pPr>
            <a:r>
              <a:rPr lang="en-US" altLang="zh-CN" sz="2400" dirty="0"/>
              <a:t>        4</a:t>
            </a:r>
            <a:r>
              <a:rPr lang="zh-CN" altLang="en-US" sz="2400" dirty="0"/>
              <a:t>、开放端口的安全</a:t>
            </a:r>
            <a:r>
              <a:rPr lang="zh-CN" altLang="en-US" sz="2400" dirty="0"/>
              <a:t>漏洞</a:t>
            </a:r>
            <a:endParaRPr lang="zh-CN" altLang="en-US" sz="2400" dirty="0"/>
          </a:p>
        </p:txBody>
      </p:sp>
    </p:spTree>
    <p:custDataLst>
      <p:tags r:id="rId1"/>
    </p:custData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idx="4294967295"/>
          </p:nvPr>
        </p:nvSpPr>
        <p:spPr bwMode="auto">
          <a:xfrm>
            <a:off x="346710" y="527685"/>
            <a:ext cx="6232525" cy="77597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p>
            <a:pPr algn="l"/>
            <a:r>
              <a:rPr lang="en-US" altLang="zh-CN" sz="3200" dirty="0" smtClean="0"/>
              <a:t> </a:t>
            </a:r>
            <a:r>
              <a:rPr lang="en-US" sz="3200" b="1" dirty="0" smtClean="0">
                <a:solidFill>
                  <a:srgbClr val="FF0000"/>
                </a:solidFill>
              </a:rPr>
              <a:t>1.3Windows</a:t>
            </a:r>
            <a:r>
              <a:rPr lang="zh-CN" altLang="en-US" sz="3200" b="1" dirty="0" smtClean="0">
                <a:solidFill>
                  <a:srgbClr val="FF0000"/>
                </a:solidFill>
              </a:rPr>
              <a:t>系统安全</a:t>
            </a:r>
            <a:r>
              <a:rPr lang="zh-CN" altLang="en-US" sz="3200" b="1" dirty="0" smtClean="0">
                <a:solidFill>
                  <a:srgbClr val="FF0000"/>
                </a:solidFill>
              </a:rPr>
              <a:t>加固</a:t>
            </a:r>
            <a:endParaRPr lang="zh-CN" altLang="en-US" sz="3200" b="1" dirty="0" smtClean="0">
              <a:solidFill>
                <a:srgbClr val="FF0000"/>
              </a:solidFill>
            </a:endParaRPr>
          </a:p>
        </p:txBody>
      </p:sp>
      <p:sp>
        <p:nvSpPr>
          <p:cNvPr id="5" name="矩形 4"/>
          <p:cNvSpPr>
            <a:spLocks noChangeArrowheads="1"/>
          </p:cNvSpPr>
          <p:nvPr/>
        </p:nvSpPr>
        <p:spPr bwMode="auto">
          <a:xfrm>
            <a:off x="922020" y="1165225"/>
            <a:ext cx="10706100" cy="458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0" fontAlgn="auto">
              <a:lnSpc>
                <a:spcPct val="100000"/>
              </a:lnSpc>
              <a:buFont typeface="Wingdings" panose="05000000000000000000" pitchFamily="2" charset="2"/>
              <a:buNone/>
              <a:defRPr/>
            </a:pPr>
            <a:r>
              <a:rPr lang="en-US" altLang="zh-CN" sz="2800" dirty="0"/>
              <a:t>       </a:t>
            </a:r>
            <a:r>
              <a:rPr lang="en-US" altLang="zh-CN" sz="2400" dirty="0"/>
              <a:t>Windows</a:t>
            </a:r>
            <a:r>
              <a:rPr lang="zh-CN" altLang="en-US" sz="2400" dirty="0"/>
              <a:t>系统加固有很多种方法，这里只介绍一些风险等级高的加固项的加固</a:t>
            </a:r>
            <a:r>
              <a:rPr lang="zh-CN" altLang="en-US" sz="2400" dirty="0"/>
              <a:t>方法。</a:t>
            </a:r>
            <a:endParaRPr lang="zh-CN" altLang="en-US" sz="2400" dirty="0"/>
          </a:p>
          <a:p>
            <a:pPr indent="0" fontAlgn="auto">
              <a:lnSpc>
                <a:spcPct val="100000"/>
              </a:lnSpc>
              <a:buFont typeface="Wingdings" panose="05000000000000000000" pitchFamily="2" charset="2"/>
              <a:buNone/>
              <a:defRPr/>
            </a:pPr>
            <a:r>
              <a:rPr lang="en-US" altLang="zh-CN" sz="2400" dirty="0"/>
              <a:t>        1</a:t>
            </a:r>
            <a:r>
              <a:rPr lang="zh-CN" altLang="en-US" sz="2400" dirty="0"/>
              <a:t>、系统不显示上次登录</a:t>
            </a:r>
            <a:r>
              <a:rPr lang="zh-CN" altLang="en-US" sz="2400" dirty="0"/>
              <a:t>用户名</a:t>
            </a:r>
            <a:endParaRPr lang="zh-CN" altLang="en-US" sz="2400" dirty="0"/>
          </a:p>
          <a:p>
            <a:pPr indent="0" fontAlgn="auto">
              <a:lnSpc>
                <a:spcPct val="100000"/>
              </a:lnSpc>
              <a:buFont typeface="Wingdings" panose="05000000000000000000" pitchFamily="2" charset="2"/>
              <a:buNone/>
              <a:defRPr/>
            </a:pPr>
            <a:r>
              <a:rPr lang="en-US" altLang="zh-CN" sz="2400" dirty="0"/>
              <a:t>        2</a:t>
            </a:r>
            <a:r>
              <a:rPr lang="zh-CN" altLang="en-US" sz="2400" dirty="0"/>
              <a:t>、禁止用户名修改</a:t>
            </a:r>
            <a:r>
              <a:rPr lang="en-US" altLang="zh-CN" sz="2400" dirty="0"/>
              <a:t>ip</a:t>
            </a:r>
            <a:endParaRPr lang="en-US" altLang="zh-CN" sz="2400" dirty="0"/>
          </a:p>
          <a:p>
            <a:pPr indent="0" fontAlgn="auto">
              <a:lnSpc>
                <a:spcPct val="100000"/>
              </a:lnSpc>
              <a:buFont typeface="Wingdings" panose="05000000000000000000" pitchFamily="2" charset="2"/>
              <a:buNone/>
              <a:defRPr/>
            </a:pPr>
            <a:r>
              <a:rPr lang="en-US" altLang="zh-CN" sz="2400" dirty="0"/>
              <a:t>        3</a:t>
            </a:r>
            <a:r>
              <a:rPr lang="zh-CN" altLang="en-US" sz="2400" dirty="0"/>
              <a:t>、关闭不必要的</a:t>
            </a:r>
            <a:r>
              <a:rPr lang="zh-CN" altLang="en-US" sz="2400" dirty="0"/>
              <a:t>服务</a:t>
            </a:r>
            <a:endParaRPr lang="zh-CN" altLang="en-US" sz="2400" dirty="0"/>
          </a:p>
          <a:p>
            <a:pPr indent="0" fontAlgn="auto">
              <a:lnSpc>
                <a:spcPct val="100000"/>
              </a:lnSpc>
              <a:buFont typeface="Wingdings" panose="05000000000000000000" pitchFamily="2" charset="2"/>
              <a:buNone/>
              <a:defRPr/>
            </a:pPr>
            <a:r>
              <a:rPr lang="en-US" altLang="zh-CN" sz="2400" dirty="0"/>
              <a:t>        4</a:t>
            </a:r>
            <a:r>
              <a:rPr lang="zh-CN" altLang="en-US" sz="2400" dirty="0"/>
              <a:t>、禁止大容量存储介质（</a:t>
            </a:r>
            <a:r>
              <a:rPr lang="en-US" altLang="zh-CN" sz="2400" dirty="0"/>
              <a:t>USB</a:t>
            </a:r>
            <a:r>
              <a:rPr lang="zh-CN" altLang="en-US" sz="2400" dirty="0"/>
              <a:t>存储</a:t>
            </a:r>
            <a:r>
              <a:rPr lang="zh-CN" altLang="en-US" sz="2400" dirty="0"/>
              <a:t>设备）</a:t>
            </a:r>
            <a:endParaRPr lang="zh-CN" altLang="en-US" sz="2400" dirty="0"/>
          </a:p>
          <a:p>
            <a:pPr indent="0" fontAlgn="auto">
              <a:lnSpc>
                <a:spcPct val="100000"/>
              </a:lnSpc>
              <a:buFont typeface="Wingdings" panose="05000000000000000000" pitchFamily="2" charset="2"/>
              <a:buNone/>
              <a:defRPr/>
            </a:pPr>
            <a:r>
              <a:rPr lang="en-US" altLang="zh-CN" sz="2400" dirty="0"/>
              <a:t>        5</a:t>
            </a:r>
            <a:r>
              <a:rPr lang="zh-CN" altLang="en-US" sz="2400" dirty="0"/>
              <a:t>、开启防火墙</a:t>
            </a:r>
            <a:r>
              <a:rPr lang="zh-CN" altLang="en-US" sz="2400" dirty="0"/>
              <a:t>功能</a:t>
            </a:r>
            <a:endParaRPr lang="zh-CN" altLang="en-US" sz="2400" dirty="0"/>
          </a:p>
          <a:p>
            <a:pPr indent="0" fontAlgn="auto">
              <a:lnSpc>
                <a:spcPct val="100000"/>
              </a:lnSpc>
              <a:buFont typeface="Wingdings" panose="05000000000000000000" pitchFamily="2" charset="2"/>
              <a:buNone/>
              <a:defRPr/>
            </a:pPr>
            <a:r>
              <a:rPr lang="en-US" altLang="zh-CN" sz="2400" dirty="0"/>
              <a:t>        6</a:t>
            </a:r>
            <a:r>
              <a:rPr lang="zh-CN" altLang="en-US" sz="2400" dirty="0"/>
              <a:t>、配置访问控制</a:t>
            </a:r>
            <a:r>
              <a:rPr lang="zh-CN" altLang="en-US" sz="2400" dirty="0"/>
              <a:t>规则</a:t>
            </a:r>
            <a:endParaRPr lang="zh-CN" altLang="en-US" sz="2400" dirty="0"/>
          </a:p>
          <a:p>
            <a:pPr indent="0" fontAlgn="auto">
              <a:lnSpc>
                <a:spcPct val="100000"/>
              </a:lnSpc>
              <a:buFont typeface="Wingdings" panose="05000000000000000000" pitchFamily="2" charset="2"/>
              <a:buNone/>
              <a:defRPr/>
            </a:pPr>
            <a:r>
              <a:rPr lang="en-US" altLang="zh-CN" sz="2400" dirty="0"/>
              <a:t>        7</a:t>
            </a:r>
            <a:r>
              <a:rPr lang="zh-CN" altLang="en-US" sz="2400" dirty="0"/>
              <a:t>、关闭不必要的系统</a:t>
            </a:r>
            <a:r>
              <a:rPr lang="zh-CN" altLang="en-US" sz="2400" dirty="0"/>
              <a:t>端口</a:t>
            </a:r>
            <a:endParaRPr lang="zh-CN" altLang="en-US" sz="2400" dirty="0"/>
          </a:p>
          <a:p>
            <a:pPr indent="0" fontAlgn="auto">
              <a:lnSpc>
                <a:spcPct val="100000"/>
              </a:lnSpc>
              <a:buFont typeface="Wingdings" panose="05000000000000000000" pitchFamily="2" charset="2"/>
              <a:buNone/>
              <a:defRPr/>
            </a:pPr>
            <a:r>
              <a:rPr lang="en-US" altLang="zh-CN" sz="2400" dirty="0"/>
              <a:t>        8</a:t>
            </a:r>
            <a:r>
              <a:rPr lang="zh-CN" altLang="en-US" sz="2400" dirty="0"/>
              <a:t>、卸载无关</a:t>
            </a:r>
            <a:r>
              <a:rPr lang="zh-CN" altLang="en-US" sz="2400" dirty="0"/>
              <a:t>软件</a:t>
            </a:r>
            <a:endParaRPr lang="zh-CN" altLang="en-US" sz="2400" dirty="0"/>
          </a:p>
          <a:p>
            <a:pPr indent="0" fontAlgn="auto">
              <a:lnSpc>
                <a:spcPct val="100000"/>
              </a:lnSpc>
              <a:buFont typeface="Wingdings" panose="05000000000000000000" pitchFamily="2" charset="2"/>
              <a:buNone/>
              <a:defRPr/>
            </a:pPr>
            <a:r>
              <a:rPr lang="en-US" altLang="zh-CN" sz="2400" dirty="0"/>
              <a:t>        9</a:t>
            </a:r>
            <a:r>
              <a:rPr lang="zh-CN" altLang="en-US" sz="2400" dirty="0"/>
              <a:t>、补丁</a:t>
            </a:r>
            <a:r>
              <a:rPr lang="zh-CN" altLang="en-US" sz="2400" dirty="0"/>
              <a:t>更新</a:t>
            </a:r>
            <a:endParaRPr lang="zh-CN" altLang="en-US" sz="2400" dirty="0"/>
          </a:p>
          <a:p>
            <a:pPr indent="0" fontAlgn="auto">
              <a:lnSpc>
                <a:spcPct val="100000"/>
              </a:lnSpc>
              <a:buFont typeface="Wingdings" panose="05000000000000000000" pitchFamily="2" charset="2"/>
              <a:buNone/>
              <a:defRPr/>
            </a:pPr>
            <a:r>
              <a:rPr lang="en-US" altLang="zh-CN" sz="2400" dirty="0"/>
              <a:t>        10</a:t>
            </a:r>
            <a:r>
              <a:rPr lang="zh-CN" altLang="en-US" sz="2400" dirty="0"/>
              <a:t>、删除默认路由</a:t>
            </a:r>
            <a:r>
              <a:rPr lang="zh-CN" altLang="en-US" sz="2400" dirty="0"/>
              <a:t>配置</a:t>
            </a:r>
            <a:endParaRPr lang="zh-CN" altLang="en-US" sz="2400" dirty="0"/>
          </a:p>
        </p:txBody>
      </p:sp>
    </p:spTree>
    <p:custDataLst>
      <p:tags r:id="rId1"/>
    </p:custData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idx="4294967295"/>
          </p:nvPr>
        </p:nvSpPr>
        <p:spPr bwMode="auto">
          <a:xfrm>
            <a:off x="236855" y="104140"/>
            <a:ext cx="6232525" cy="77597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p>
            <a:pPr algn="l"/>
            <a:r>
              <a:rPr lang="en-US" altLang="zh-CN" sz="3200" dirty="0" smtClean="0"/>
              <a:t> </a:t>
            </a:r>
            <a:r>
              <a:rPr lang="en-US" sz="3200" b="1" dirty="0" smtClean="0">
                <a:solidFill>
                  <a:srgbClr val="FF0000"/>
                </a:solidFill>
              </a:rPr>
              <a:t>1.3Windows</a:t>
            </a:r>
            <a:r>
              <a:rPr lang="zh-CN" altLang="en-US" sz="3200" b="1" dirty="0" smtClean="0">
                <a:solidFill>
                  <a:srgbClr val="FF0000"/>
                </a:solidFill>
              </a:rPr>
              <a:t>系统安全</a:t>
            </a:r>
            <a:r>
              <a:rPr lang="zh-CN" altLang="en-US" sz="3200" b="1" dirty="0" smtClean="0">
                <a:solidFill>
                  <a:srgbClr val="FF0000"/>
                </a:solidFill>
              </a:rPr>
              <a:t>加固</a:t>
            </a:r>
            <a:endParaRPr lang="zh-CN" altLang="en-US" sz="3200" b="1" dirty="0" smtClean="0">
              <a:solidFill>
                <a:srgbClr val="FF0000"/>
              </a:solidFill>
            </a:endParaRPr>
          </a:p>
        </p:txBody>
      </p:sp>
      <p:sp>
        <p:nvSpPr>
          <p:cNvPr id="5" name="矩形 4"/>
          <p:cNvSpPr>
            <a:spLocks noChangeArrowheads="1"/>
          </p:cNvSpPr>
          <p:nvPr/>
        </p:nvSpPr>
        <p:spPr bwMode="auto">
          <a:xfrm>
            <a:off x="673735" y="673735"/>
            <a:ext cx="10844530" cy="2491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0" fontAlgn="auto">
              <a:lnSpc>
                <a:spcPct val="100000"/>
              </a:lnSpc>
              <a:buFont typeface="Wingdings" panose="05000000000000000000" pitchFamily="2" charset="2"/>
              <a:buNone/>
              <a:defRPr/>
            </a:pPr>
            <a:r>
              <a:rPr lang="en-US" altLang="zh-CN" sz="2800" dirty="0"/>
              <a:t>1</a:t>
            </a:r>
            <a:r>
              <a:rPr lang="zh-CN" altLang="en-US" sz="2800" dirty="0"/>
              <a:t>、</a:t>
            </a:r>
            <a:r>
              <a:rPr lang="zh-CN" altLang="en-US" sz="2400" dirty="0"/>
              <a:t>系统不显示上次登录</a:t>
            </a:r>
            <a:r>
              <a:rPr lang="zh-CN" altLang="en-US" sz="2400" dirty="0"/>
              <a:t>用户名</a:t>
            </a:r>
            <a:endParaRPr lang="zh-CN" altLang="en-US" sz="2400" dirty="0"/>
          </a:p>
          <a:p>
            <a:pPr indent="0" fontAlgn="auto">
              <a:lnSpc>
                <a:spcPct val="100000"/>
              </a:lnSpc>
              <a:buFont typeface="Wingdings" panose="05000000000000000000" pitchFamily="2" charset="2"/>
              <a:buNone/>
              <a:defRPr/>
            </a:pPr>
            <a:r>
              <a:rPr lang="zh-CN" altLang="en-US" sz="2400" dirty="0"/>
              <a:t> </a:t>
            </a:r>
            <a:r>
              <a:rPr lang="en-US" altLang="zh-CN" sz="2400" dirty="0"/>
              <a:t>     </a:t>
            </a:r>
            <a:r>
              <a:rPr lang="zh-CN" altLang="en-US" sz="2400" dirty="0"/>
              <a:t>操作系统不显示上次用户名，避免用户名</a:t>
            </a:r>
            <a:r>
              <a:rPr lang="zh-CN" altLang="en-US" sz="2400" dirty="0"/>
              <a:t>泄露</a:t>
            </a:r>
            <a:endParaRPr lang="zh-CN" altLang="en-US" sz="2400" dirty="0"/>
          </a:p>
          <a:p>
            <a:pPr indent="0" fontAlgn="auto">
              <a:lnSpc>
                <a:spcPct val="100000"/>
              </a:lnSpc>
              <a:buFont typeface="Wingdings" panose="05000000000000000000" pitchFamily="2" charset="2"/>
              <a:buNone/>
              <a:defRPr/>
            </a:pPr>
            <a:r>
              <a:rPr lang="zh-CN" altLang="en-US" sz="2400" dirty="0"/>
              <a:t> </a:t>
            </a:r>
            <a:r>
              <a:rPr lang="en-US" altLang="zh-CN" sz="2400" dirty="0"/>
              <a:t>     </a:t>
            </a:r>
            <a:r>
              <a:rPr lang="zh-CN" altLang="en-US" sz="2400" dirty="0"/>
              <a:t>加固方法：</a:t>
            </a:r>
            <a:r>
              <a:rPr lang="en-US" altLang="zh-CN" sz="2400" dirty="0"/>
              <a:t>                       </a:t>
            </a:r>
            <a:r>
              <a:rPr lang="zh-CN" altLang="en-US" sz="2400" dirty="0"/>
              <a:t>（</a:t>
            </a:r>
            <a:r>
              <a:rPr lang="en-US" altLang="zh-CN" sz="2400" dirty="0"/>
              <a:t>windows</a:t>
            </a:r>
            <a:r>
              <a:rPr lang="zh-CN" altLang="en-US" sz="2400" dirty="0"/>
              <a:t>家庭版没有本地安全策略）</a:t>
            </a:r>
            <a:endParaRPr lang="zh-CN" altLang="en-US" sz="2400" dirty="0"/>
          </a:p>
          <a:p>
            <a:pPr indent="0" fontAlgn="auto">
              <a:lnSpc>
                <a:spcPct val="100000"/>
              </a:lnSpc>
              <a:buFont typeface="Wingdings" panose="05000000000000000000" pitchFamily="2" charset="2"/>
              <a:buNone/>
              <a:defRPr/>
            </a:pPr>
            <a:r>
              <a:rPr lang="zh-CN" altLang="en-US" sz="2400" dirty="0"/>
              <a:t> </a:t>
            </a:r>
            <a:r>
              <a:rPr lang="en-US" altLang="zh-CN" sz="2400" dirty="0"/>
              <a:t>     进入控制面板-&gt;管理工具-&gt;本地安全策略-&gt;安全选项-&gt;双击"交互式登陆:不显示最后的用户名"，选择启用</a:t>
            </a:r>
            <a:r>
              <a:rPr lang="en-US" altLang="zh-CN" sz="2800" dirty="0"/>
              <a:t>。</a:t>
            </a:r>
            <a:endParaRPr lang="en-US" altLang="zh-CN" sz="2800" dirty="0"/>
          </a:p>
          <a:p>
            <a:pPr indent="0" fontAlgn="auto">
              <a:lnSpc>
                <a:spcPct val="100000"/>
              </a:lnSpc>
              <a:buFont typeface="Wingdings" panose="05000000000000000000" pitchFamily="2" charset="2"/>
              <a:buNone/>
              <a:defRPr/>
            </a:pPr>
            <a:r>
              <a:rPr lang="en-US" altLang="zh-CN" sz="2800" dirty="0"/>
              <a:t>        </a:t>
            </a:r>
            <a:endParaRPr lang="zh-CN" altLang="en-US" sz="2800" dirty="0"/>
          </a:p>
        </p:txBody>
      </p:sp>
      <p:pic>
        <p:nvPicPr>
          <p:cNvPr id="2" name="图片 1"/>
          <p:cNvPicPr>
            <a:picLocks noChangeAspect="1"/>
          </p:cNvPicPr>
          <p:nvPr>
            <p:custDataLst>
              <p:tags r:id="rId1"/>
            </p:custDataLst>
          </p:nvPr>
        </p:nvPicPr>
        <p:blipFill>
          <a:blip r:embed="rId2"/>
          <a:stretch>
            <a:fillRect/>
          </a:stretch>
        </p:blipFill>
        <p:spPr>
          <a:xfrm>
            <a:off x="472440" y="2909570"/>
            <a:ext cx="11247120" cy="3826510"/>
          </a:xfrm>
          <a:prstGeom prst="rect">
            <a:avLst/>
          </a:prstGeom>
        </p:spPr>
      </p:pic>
    </p:spTree>
    <p:custDataLst>
      <p:tags r:id="rId3"/>
    </p:custData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idx="4294967295"/>
          </p:nvPr>
        </p:nvSpPr>
        <p:spPr bwMode="auto">
          <a:xfrm>
            <a:off x="346710" y="527685"/>
            <a:ext cx="6232525" cy="77597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p>
            <a:pPr algn="l"/>
            <a:r>
              <a:rPr lang="en-US" altLang="zh-CN" sz="3200" dirty="0" smtClean="0"/>
              <a:t> </a:t>
            </a:r>
            <a:r>
              <a:rPr lang="en-US" sz="3200" b="1" dirty="0" smtClean="0">
                <a:solidFill>
                  <a:srgbClr val="FF0000"/>
                </a:solidFill>
              </a:rPr>
              <a:t>1.3Windows</a:t>
            </a:r>
            <a:r>
              <a:rPr lang="zh-CN" altLang="en-US" sz="3200" b="1" dirty="0" smtClean="0">
                <a:solidFill>
                  <a:srgbClr val="FF0000"/>
                </a:solidFill>
              </a:rPr>
              <a:t>系统安全</a:t>
            </a:r>
            <a:r>
              <a:rPr lang="zh-CN" altLang="en-US" sz="3200" b="1" dirty="0" smtClean="0">
                <a:solidFill>
                  <a:srgbClr val="FF0000"/>
                </a:solidFill>
              </a:rPr>
              <a:t>加固</a:t>
            </a:r>
            <a:endParaRPr lang="zh-CN" altLang="en-US" sz="3200" b="1" dirty="0" smtClean="0">
              <a:solidFill>
                <a:srgbClr val="FF0000"/>
              </a:solidFill>
            </a:endParaRPr>
          </a:p>
        </p:txBody>
      </p:sp>
      <p:sp>
        <p:nvSpPr>
          <p:cNvPr id="5" name="矩形 4"/>
          <p:cNvSpPr>
            <a:spLocks noChangeArrowheads="1"/>
          </p:cNvSpPr>
          <p:nvPr/>
        </p:nvSpPr>
        <p:spPr bwMode="auto">
          <a:xfrm>
            <a:off x="783590" y="1165225"/>
            <a:ext cx="10844530" cy="2061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0" fontAlgn="auto">
              <a:lnSpc>
                <a:spcPct val="100000"/>
              </a:lnSpc>
              <a:buFont typeface="Wingdings" panose="05000000000000000000" pitchFamily="2" charset="2"/>
              <a:buNone/>
              <a:defRPr/>
            </a:pPr>
            <a:r>
              <a:rPr lang="en-US" altLang="zh-CN" sz="2800" dirty="0">
                <a:sym typeface="+mn-ea"/>
              </a:rPr>
              <a:t>2</a:t>
            </a:r>
            <a:r>
              <a:rPr lang="zh-CN" altLang="en-US" sz="2800" dirty="0">
                <a:sym typeface="+mn-ea"/>
              </a:rPr>
              <a:t>、禁止用户名修改</a:t>
            </a:r>
            <a:r>
              <a:rPr lang="en-US" altLang="zh-CN" sz="2800" dirty="0">
                <a:sym typeface="+mn-ea"/>
              </a:rPr>
              <a:t>ip</a:t>
            </a:r>
            <a:r>
              <a:rPr lang="en-US" altLang="zh-CN" sz="2800" dirty="0"/>
              <a:t>    </a:t>
            </a:r>
            <a:endParaRPr lang="en-US" altLang="zh-CN" sz="2800" dirty="0"/>
          </a:p>
          <a:p>
            <a:pPr indent="0" fontAlgn="auto">
              <a:lnSpc>
                <a:spcPct val="100000"/>
              </a:lnSpc>
              <a:buFont typeface="Wingdings" panose="05000000000000000000" pitchFamily="2" charset="2"/>
              <a:buNone/>
              <a:defRPr/>
            </a:pPr>
            <a:r>
              <a:rPr lang="en-US" altLang="zh-CN" sz="2800" dirty="0"/>
              <a:t>      </a:t>
            </a:r>
            <a:r>
              <a:rPr lang="en-US" altLang="zh-CN" sz="2400" dirty="0"/>
              <a:t>1.按windows键+R，输入gpedit.msc—进入 本地组策略编辑器—用户配置—管理模板—网络—网络连接；</a:t>
            </a:r>
            <a:endParaRPr lang="en-US" altLang="zh-CN" sz="2400" dirty="0"/>
          </a:p>
          <a:p>
            <a:pPr indent="0" fontAlgn="auto">
              <a:lnSpc>
                <a:spcPct val="100000"/>
              </a:lnSpc>
              <a:buFont typeface="Wingdings" panose="05000000000000000000" pitchFamily="2" charset="2"/>
              <a:buNone/>
              <a:defRPr/>
            </a:pPr>
            <a:r>
              <a:rPr lang="en-US" altLang="zh-CN" sz="2400" dirty="0"/>
              <a:t>       </a:t>
            </a:r>
            <a:r>
              <a:rPr lang="zh-CN" altLang="en-US" sz="2400" dirty="0"/>
              <a:t>2.分别双击 禁止访问LAN连接组件的属性; 禁止访问LAN连接的属性；禁止TCP/IP高级配置；设置为已启用</a:t>
            </a:r>
            <a:endParaRPr lang="zh-CN" altLang="en-US" sz="2400" dirty="0"/>
          </a:p>
        </p:txBody>
      </p:sp>
      <p:pic>
        <p:nvPicPr>
          <p:cNvPr id="2" name="图片 1"/>
          <p:cNvPicPr>
            <a:picLocks noChangeAspect="1"/>
          </p:cNvPicPr>
          <p:nvPr/>
        </p:nvPicPr>
        <p:blipFill>
          <a:blip r:embed="rId1"/>
          <a:stretch>
            <a:fillRect/>
          </a:stretch>
        </p:blipFill>
        <p:spPr>
          <a:xfrm>
            <a:off x="2858770" y="3226435"/>
            <a:ext cx="6475095" cy="3453765"/>
          </a:xfrm>
          <a:prstGeom prst="rect">
            <a:avLst/>
          </a:prstGeom>
        </p:spPr>
      </p:pic>
    </p:spTree>
    <p:custDataLst>
      <p:tags r:id="rId2"/>
    </p:custData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idx="4294967295"/>
          </p:nvPr>
        </p:nvSpPr>
        <p:spPr bwMode="auto">
          <a:xfrm>
            <a:off x="346710" y="527685"/>
            <a:ext cx="6232525" cy="77597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p>
            <a:pPr algn="l"/>
            <a:r>
              <a:rPr lang="en-US" altLang="zh-CN" sz="3200" dirty="0" smtClean="0"/>
              <a:t> </a:t>
            </a:r>
            <a:r>
              <a:rPr lang="en-US" sz="3200" b="1" dirty="0" smtClean="0">
                <a:solidFill>
                  <a:srgbClr val="FF0000"/>
                </a:solidFill>
              </a:rPr>
              <a:t>1.3Windows</a:t>
            </a:r>
            <a:r>
              <a:rPr lang="zh-CN" altLang="en-US" sz="3200" b="1" dirty="0" smtClean="0">
                <a:solidFill>
                  <a:srgbClr val="FF0000"/>
                </a:solidFill>
              </a:rPr>
              <a:t>系统安全</a:t>
            </a:r>
            <a:r>
              <a:rPr lang="zh-CN" altLang="en-US" sz="3200" b="1" dirty="0" smtClean="0">
                <a:solidFill>
                  <a:srgbClr val="FF0000"/>
                </a:solidFill>
              </a:rPr>
              <a:t>加固</a:t>
            </a:r>
            <a:endParaRPr lang="zh-CN" altLang="en-US" sz="3200" b="1" dirty="0" smtClean="0">
              <a:solidFill>
                <a:srgbClr val="FF0000"/>
              </a:solidFill>
            </a:endParaRPr>
          </a:p>
        </p:txBody>
      </p:sp>
      <p:sp>
        <p:nvSpPr>
          <p:cNvPr id="5" name="矩形 4"/>
          <p:cNvSpPr>
            <a:spLocks noChangeArrowheads="1"/>
          </p:cNvSpPr>
          <p:nvPr/>
        </p:nvSpPr>
        <p:spPr bwMode="auto">
          <a:xfrm>
            <a:off x="753110" y="1022985"/>
            <a:ext cx="10844530" cy="2491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0" fontAlgn="auto">
              <a:lnSpc>
                <a:spcPct val="100000"/>
              </a:lnSpc>
              <a:buFont typeface="Wingdings" panose="05000000000000000000" pitchFamily="2" charset="2"/>
              <a:buNone/>
              <a:defRPr/>
            </a:pPr>
            <a:r>
              <a:rPr lang="en-US" altLang="zh-CN" sz="2400" dirty="0">
                <a:sym typeface="+mn-ea"/>
              </a:rPr>
              <a:t>3</a:t>
            </a:r>
            <a:r>
              <a:rPr lang="zh-CN" altLang="en-US" sz="2400" dirty="0">
                <a:sym typeface="+mn-ea"/>
              </a:rPr>
              <a:t>、关闭不必要的服务</a:t>
            </a:r>
            <a:r>
              <a:rPr lang="en-US" altLang="zh-CN" sz="2800" dirty="0"/>
              <a:t> </a:t>
            </a:r>
            <a:endParaRPr lang="en-US" altLang="zh-CN" sz="2800" dirty="0"/>
          </a:p>
          <a:p>
            <a:pPr indent="0" fontAlgn="auto">
              <a:lnSpc>
                <a:spcPct val="100000"/>
              </a:lnSpc>
              <a:buFont typeface="Wingdings" panose="05000000000000000000" pitchFamily="2" charset="2"/>
              <a:buNone/>
              <a:defRPr/>
            </a:pPr>
            <a:r>
              <a:rPr lang="en-US" altLang="zh-CN" sz="2800" dirty="0"/>
              <a:t>      </a:t>
            </a:r>
            <a:r>
              <a:rPr lang="zh-CN" altLang="en-US" sz="2400" dirty="0"/>
              <a:t>计算机里通常安装有一些不必要的服务，如果这些服务没有用的话，最好能将这些服务关闭。例如：为了能够在</a:t>
            </a:r>
            <a:r>
              <a:rPr lang="zh-CN" altLang="en-US" sz="2400" dirty="0">
                <a:solidFill>
                  <a:schemeClr val="accent1"/>
                </a:solidFill>
              </a:rPr>
              <a:t>远程</a:t>
            </a:r>
            <a:r>
              <a:rPr lang="zh-CN" altLang="en-US" sz="2400" dirty="0"/>
              <a:t>方便的管理服务器，很多机器的终端服务都是开着的。</a:t>
            </a:r>
            <a:endParaRPr lang="zh-CN" altLang="en-US" sz="2400" dirty="0"/>
          </a:p>
          <a:p>
            <a:pPr indent="0" fontAlgn="auto">
              <a:lnSpc>
                <a:spcPct val="100000"/>
              </a:lnSpc>
              <a:buFont typeface="Wingdings" panose="05000000000000000000" pitchFamily="2" charset="2"/>
              <a:buNone/>
              <a:defRPr/>
            </a:pPr>
            <a:r>
              <a:rPr lang="zh-CN" altLang="en-US" sz="2400" dirty="0"/>
              <a:t> </a:t>
            </a:r>
            <a:r>
              <a:rPr lang="en-US" altLang="zh-CN" sz="2400" dirty="0"/>
              <a:t>      </a:t>
            </a:r>
            <a:r>
              <a:rPr lang="zh-CN" altLang="en-US" sz="2400" dirty="0"/>
              <a:t>如果开了要确认已经正确的配置了终端服务。有些恶意的程序也能以服务方式悄悄运行服务器上的终端服务。</a:t>
            </a:r>
            <a:r>
              <a:rPr lang="en-US" altLang="zh-CN" sz="2800" dirty="0"/>
              <a:t>   </a:t>
            </a:r>
            <a:endParaRPr lang="zh-CN" altLang="en-US" sz="2800" dirty="0"/>
          </a:p>
        </p:txBody>
      </p:sp>
      <p:sp>
        <p:nvSpPr>
          <p:cNvPr id="3" name="文本框 2"/>
          <p:cNvSpPr txBox="1"/>
          <p:nvPr/>
        </p:nvSpPr>
        <p:spPr>
          <a:xfrm>
            <a:off x="572135" y="3514725"/>
            <a:ext cx="11206480" cy="3138170"/>
          </a:xfrm>
          <a:prstGeom prst="rect">
            <a:avLst/>
          </a:prstGeom>
          <a:noFill/>
        </p:spPr>
        <p:txBody>
          <a:bodyPr wrap="square" rtlCol="0" anchor="t">
            <a:spAutoFit/>
          </a:bodyPr>
          <a:p>
            <a:r>
              <a:rPr lang="zh-CN" altLang="en-US"/>
              <a:t>Telnet服务：Telnet是一种远程登录协议，允许用户通过网络远程登录到主机上进行操作。由于Telnet协议不加密，因此容易受到中间人攻击和密码被窃取。如果您不需要使用Telnet服务，请关闭它。</a:t>
            </a:r>
            <a:endParaRPr lang="zh-CN" altLang="en-US"/>
          </a:p>
          <a:p>
            <a:endParaRPr lang="zh-CN" altLang="en-US"/>
          </a:p>
          <a:p>
            <a:r>
              <a:rPr lang="zh-CN" altLang="en-US"/>
              <a:t>FTP服务：FTP是一种文件传输协议，允许用户通过网络传输文件。由于FTP协议也不加密，因此容易受到中间人攻击和文件被窃取。如果您不需要使用FTP服务，请关闭它。</a:t>
            </a:r>
            <a:endParaRPr lang="zh-CN" altLang="en-US"/>
          </a:p>
          <a:p>
            <a:endParaRPr lang="zh-CN" altLang="en-US"/>
          </a:p>
          <a:p>
            <a:r>
              <a:rPr lang="zh-CN" altLang="en-US"/>
              <a:t>远程注册表服务：远程注册表服务允许用户通过网络访问和修改注册表。由于注册表包含系统的重要配置信息，因此允许远程访问和修改可能会导致系统被攻击。如果您不需要使用远程注册表服务，请关闭它。</a:t>
            </a:r>
            <a:endParaRPr lang="zh-CN" altLang="en-US"/>
          </a:p>
          <a:p>
            <a:endParaRPr lang="zh-CN" altLang="en-US"/>
          </a:p>
          <a:p>
            <a:r>
              <a:rPr lang="zh-CN" altLang="en-US"/>
              <a:t>远程桌面服务：远程桌面服务允许用户通过网络远程访问和操作计算机。由于远程桌面服务也不加密，因此容易受到中间人攻击和密码被窃取。如果您不需要使用远程桌面服务，请关闭它。</a:t>
            </a:r>
            <a:endParaRPr lang="zh-CN" altLang="en-US"/>
          </a:p>
        </p:txBody>
      </p:sp>
    </p:spTree>
    <p:custDataLst>
      <p:tags r:id="rId1"/>
    </p:custData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idx="4294967295"/>
          </p:nvPr>
        </p:nvSpPr>
        <p:spPr bwMode="auto">
          <a:xfrm>
            <a:off x="346710" y="527685"/>
            <a:ext cx="6232525" cy="77597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p>
            <a:pPr algn="l"/>
            <a:r>
              <a:rPr lang="en-US" altLang="zh-CN" sz="3200" dirty="0" smtClean="0"/>
              <a:t> </a:t>
            </a:r>
            <a:r>
              <a:rPr lang="en-US" sz="3200" b="1" dirty="0" smtClean="0">
                <a:solidFill>
                  <a:srgbClr val="FF0000"/>
                </a:solidFill>
              </a:rPr>
              <a:t>1.3Windows</a:t>
            </a:r>
            <a:r>
              <a:rPr lang="zh-CN" altLang="en-US" sz="3200" b="1" dirty="0" smtClean="0">
                <a:solidFill>
                  <a:srgbClr val="FF0000"/>
                </a:solidFill>
              </a:rPr>
              <a:t>系统安全</a:t>
            </a:r>
            <a:r>
              <a:rPr lang="zh-CN" altLang="en-US" sz="3200" b="1" dirty="0" smtClean="0">
                <a:solidFill>
                  <a:srgbClr val="FF0000"/>
                </a:solidFill>
              </a:rPr>
              <a:t>加固</a:t>
            </a:r>
            <a:endParaRPr lang="zh-CN" altLang="en-US" sz="3200" b="1" dirty="0" smtClean="0">
              <a:solidFill>
                <a:srgbClr val="FF0000"/>
              </a:solidFill>
            </a:endParaRPr>
          </a:p>
        </p:txBody>
      </p:sp>
      <p:sp>
        <p:nvSpPr>
          <p:cNvPr id="5" name="矩形 4"/>
          <p:cNvSpPr>
            <a:spLocks noChangeArrowheads="1"/>
          </p:cNvSpPr>
          <p:nvPr/>
        </p:nvSpPr>
        <p:spPr bwMode="auto">
          <a:xfrm>
            <a:off x="783590" y="1165225"/>
            <a:ext cx="10844530" cy="1630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0" fontAlgn="auto">
              <a:lnSpc>
                <a:spcPct val="100000"/>
              </a:lnSpc>
              <a:buFont typeface="Wingdings" panose="05000000000000000000" pitchFamily="2" charset="2"/>
              <a:buNone/>
              <a:defRPr/>
            </a:pPr>
            <a:r>
              <a:rPr lang="en-US" altLang="zh-CN" sz="2800" dirty="0">
                <a:sym typeface="+mn-ea"/>
              </a:rPr>
              <a:t>3</a:t>
            </a:r>
            <a:r>
              <a:rPr lang="zh-CN" altLang="en-US" sz="2800" dirty="0">
                <a:sym typeface="+mn-ea"/>
              </a:rPr>
              <a:t>、</a:t>
            </a:r>
            <a:r>
              <a:rPr lang="zh-CN" altLang="en-US" sz="2400" dirty="0">
                <a:sym typeface="+mn-ea"/>
              </a:rPr>
              <a:t>关闭不必要的服务</a:t>
            </a:r>
            <a:r>
              <a:rPr lang="en-US" altLang="zh-CN" sz="2400" dirty="0"/>
              <a:t> </a:t>
            </a:r>
            <a:endParaRPr lang="en-US" altLang="zh-CN" sz="2400" dirty="0"/>
          </a:p>
          <a:p>
            <a:pPr indent="0" fontAlgn="auto">
              <a:lnSpc>
                <a:spcPct val="100000"/>
              </a:lnSpc>
              <a:buFont typeface="Wingdings" panose="05000000000000000000" pitchFamily="2" charset="2"/>
              <a:buNone/>
              <a:defRPr/>
            </a:pPr>
            <a:r>
              <a:rPr lang="en-US" altLang="zh-CN" sz="2400" dirty="0"/>
              <a:t>      </a:t>
            </a:r>
            <a:r>
              <a:rPr lang="zh-CN" altLang="en-US" sz="2400" dirty="0"/>
              <a:t>关闭服务的命令</a:t>
            </a:r>
            <a:endParaRPr lang="zh-CN" altLang="en-US" sz="2400" dirty="0"/>
          </a:p>
          <a:p>
            <a:pPr indent="0" fontAlgn="auto">
              <a:lnSpc>
                <a:spcPct val="100000"/>
              </a:lnSpc>
              <a:buFont typeface="Wingdings" panose="05000000000000000000" pitchFamily="2" charset="2"/>
              <a:buNone/>
              <a:defRPr/>
            </a:pPr>
            <a:r>
              <a:rPr lang="zh-CN" altLang="en-US" sz="2400" dirty="0"/>
              <a:t> </a:t>
            </a:r>
            <a:r>
              <a:rPr lang="en-US" altLang="zh-CN" sz="2400" dirty="0"/>
              <a:t>     win+r   </a:t>
            </a:r>
            <a:r>
              <a:rPr lang="zh-CN" altLang="en-US" sz="2400" dirty="0"/>
              <a:t>打开全局搜索</a:t>
            </a:r>
            <a:endParaRPr lang="zh-CN" altLang="en-US" sz="2400" dirty="0"/>
          </a:p>
          <a:p>
            <a:pPr indent="0" fontAlgn="auto">
              <a:lnSpc>
                <a:spcPct val="100000"/>
              </a:lnSpc>
              <a:buFont typeface="Wingdings" panose="05000000000000000000" pitchFamily="2" charset="2"/>
              <a:buNone/>
              <a:defRPr/>
            </a:pPr>
            <a:r>
              <a:rPr lang="zh-CN" altLang="en-US" sz="2400" dirty="0"/>
              <a:t> </a:t>
            </a:r>
            <a:r>
              <a:rPr lang="en-US" altLang="zh-CN" sz="2400" dirty="0"/>
              <a:t>     </a:t>
            </a:r>
            <a:r>
              <a:rPr lang="zh-CN" altLang="en-US" sz="2400" dirty="0"/>
              <a:t>输入</a:t>
            </a:r>
            <a:r>
              <a:rPr lang="en-US" altLang="zh-CN" sz="2400" dirty="0"/>
              <a:t>  services.msc   </a:t>
            </a:r>
            <a:endParaRPr lang="zh-CN" altLang="en-US" sz="2400" dirty="0"/>
          </a:p>
        </p:txBody>
      </p:sp>
      <p:pic>
        <p:nvPicPr>
          <p:cNvPr id="2" name="图片 1"/>
          <p:cNvPicPr>
            <a:picLocks noChangeAspect="1"/>
          </p:cNvPicPr>
          <p:nvPr/>
        </p:nvPicPr>
        <p:blipFill>
          <a:blip r:embed="rId1"/>
          <a:stretch>
            <a:fillRect/>
          </a:stretch>
        </p:blipFill>
        <p:spPr>
          <a:xfrm>
            <a:off x="5291455" y="1764030"/>
            <a:ext cx="6127115" cy="4633595"/>
          </a:xfrm>
          <a:prstGeom prst="rect">
            <a:avLst/>
          </a:prstGeom>
        </p:spPr>
      </p:pic>
      <p:pic>
        <p:nvPicPr>
          <p:cNvPr id="3" name="图片 2"/>
          <p:cNvPicPr>
            <a:picLocks noChangeAspect="1"/>
          </p:cNvPicPr>
          <p:nvPr/>
        </p:nvPicPr>
        <p:blipFill>
          <a:blip r:embed="rId2"/>
          <a:stretch>
            <a:fillRect/>
          </a:stretch>
        </p:blipFill>
        <p:spPr>
          <a:xfrm>
            <a:off x="251460" y="2977515"/>
            <a:ext cx="4980305" cy="3420110"/>
          </a:xfrm>
          <a:prstGeom prst="rect">
            <a:avLst/>
          </a:prstGeom>
        </p:spPr>
      </p:pic>
    </p:spTree>
    <p:custDataLst>
      <p:tags r:id="rId3"/>
    </p:custData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idx="4294967295"/>
          </p:nvPr>
        </p:nvSpPr>
        <p:spPr bwMode="auto">
          <a:xfrm>
            <a:off x="346710" y="527685"/>
            <a:ext cx="6232525" cy="77597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p>
            <a:pPr algn="l"/>
            <a:r>
              <a:rPr lang="en-US" altLang="zh-CN" sz="3200" dirty="0" smtClean="0"/>
              <a:t> </a:t>
            </a:r>
            <a:r>
              <a:rPr lang="en-US" sz="3200" b="1" dirty="0" smtClean="0">
                <a:solidFill>
                  <a:srgbClr val="FF0000"/>
                </a:solidFill>
              </a:rPr>
              <a:t>1.3Windows</a:t>
            </a:r>
            <a:r>
              <a:rPr lang="zh-CN" altLang="en-US" sz="3200" b="1" dirty="0" smtClean="0">
                <a:solidFill>
                  <a:srgbClr val="FF0000"/>
                </a:solidFill>
              </a:rPr>
              <a:t>系统安全</a:t>
            </a:r>
            <a:r>
              <a:rPr lang="zh-CN" altLang="en-US" sz="3200" b="1" dirty="0" smtClean="0">
                <a:solidFill>
                  <a:srgbClr val="FF0000"/>
                </a:solidFill>
              </a:rPr>
              <a:t>加固</a:t>
            </a:r>
            <a:endParaRPr lang="zh-CN" altLang="en-US" sz="3200" b="1" dirty="0" smtClean="0">
              <a:solidFill>
                <a:srgbClr val="FF0000"/>
              </a:solidFill>
            </a:endParaRPr>
          </a:p>
        </p:txBody>
      </p:sp>
      <p:sp>
        <p:nvSpPr>
          <p:cNvPr id="5" name="矩形 4"/>
          <p:cNvSpPr>
            <a:spLocks noChangeArrowheads="1"/>
          </p:cNvSpPr>
          <p:nvPr/>
        </p:nvSpPr>
        <p:spPr bwMode="auto">
          <a:xfrm>
            <a:off x="783590" y="1165225"/>
            <a:ext cx="10844530" cy="1999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0" fontAlgn="auto">
              <a:lnSpc>
                <a:spcPct val="100000"/>
              </a:lnSpc>
              <a:buFont typeface="Wingdings" panose="05000000000000000000" pitchFamily="2" charset="2"/>
              <a:buNone/>
              <a:defRPr/>
            </a:pPr>
            <a:r>
              <a:rPr lang="en-US" altLang="zh-CN" sz="2400" dirty="0">
                <a:sym typeface="+mn-ea"/>
              </a:rPr>
              <a:t>4</a:t>
            </a:r>
            <a:r>
              <a:rPr lang="zh-CN" altLang="en-US" sz="2400" dirty="0">
                <a:sym typeface="+mn-ea"/>
              </a:rPr>
              <a:t>、禁止大容量存储介质（</a:t>
            </a:r>
            <a:r>
              <a:rPr lang="en-US" altLang="zh-CN" sz="2400" dirty="0">
                <a:sym typeface="+mn-ea"/>
              </a:rPr>
              <a:t>USB</a:t>
            </a:r>
            <a:r>
              <a:rPr lang="zh-CN" altLang="en-US" sz="2400" dirty="0">
                <a:sym typeface="+mn-ea"/>
              </a:rPr>
              <a:t>存储设备）</a:t>
            </a:r>
            <a:endParaRPr lang="zh-CN" altLang="en-US" sz="2800" dirty="0"/>
          </a:p>
          <a:p>
            <a:pPr indent="0" fontAlgn="auto">
              <a:lnSpc>
                <a:spcPct val="100000"/>
              </a:lnSpc>
              <a:buFont typeface="Wingdings" panose="05000000000000000000" pitchFamily="2" charset="2"/>
              <a:buNone/>
              <a:defRPr/>
            </a:pPr>
            <a:r>
              <a:rPr lang="en-US" altLang="zh-CN" sz="2800" dirty="0"/>
              <a:t>   </a:t>
            </a:r>
            <a:r>
              <a:rPr lang="en-US" altLang="zh-CN" sz="2400" dirty="0"/>
              <a:t> 1.按windows键+R，输入regedit，打开注册表编辑器；</a:t>
            </a:r>
            <a:endParaRPr lang="en-US" altLang="zh-CN" sz="2400" dirty="0"/>
          </a:p>
          <a:p>
            <a:pPr indent="0" fontAlgn="auto">
              <a:lnSpc>
                <a:spcPct val="100000"/>
              </a:lnSpc>
              <a:buFont typeface="Wingdings" panose="05000000000000000000" pitchFamily="2" charset="2"/>
              <a:buNone/>
              <a:defRPr/>
            </a:pPr>
            <a:r>
              <a:rPr lang="en-US" altLang="zh-CN" sz="2400" dirty="0"/>
              <a:t>     </a:t>
            </a:r>
            <a:r>
              <a:rPr lang="zh-CN" altLang="en-US" sz="2400" dirty="0"/>
              <a:t>2.进入</a:t>
            </a:r>
            <a:r>
              <a:rPr lang="en-US" altLang="zh-CN" sz="2400" dirty="0"/>
              <a:t>    </a:t>
            </a:r>
            <a:r>
              <a:rPr lang="zh-CN" altLang="en-US" sz="2400" dirty="0"/>
              <a:t>HKEY_LOCAL_MACHINE\SYSTEM\CurrentControlSet\Service\USBSTOR</a:t>
            </a:r>
            <a:endParaRPr lang="zh-CN" altLang="en-US" sz="2400" dirty="0"/>
          </a:p>
          <a:p>
            <a:pPr indent="0" fontAlgn="auto">
              <a:lnSpc>
                <a:spcPct val="100000"/>
              </a:lnSpc>
              <a:buFont typeface="Wingdings" panose="05000000000000000000" pitchFamily="2" charset="2"/>
              <a:buNone/>
              <a:defRPr/>
            </a:pPr>
            <a:r>
              <a:rPr lang="en-US" altLang="zh-CN" sz="2400" dirty="0"/>
              <a:t>     </a:t>
            </a:r>
            <a:r>
              <a:rPr lang="zh-CN" altLang="en-US" sz="2400" dirty="0"/>
              <a:t>3.双击右侧注册表中的“Start”项，修改值为4。</a:t>
            </a:r>
            <a:endParaRPr lang="zh-CN" altLang="en-US" sz="2400" dirty="0"/>
          </a:p>
        </p:txBody>
      </p:sp>
      <p:pic>
        <p:nvPicPr>
          <p:cNvPr id="2" name="图片 1"/>
          <p:cNvPicPr>
            <a:picLocks noChangeAspect="1"/>
          </p:cNvPicPr>
          <p:nvPr/>
        </p:nvPicPr>
        <p:blipFill>
          <a:blip r:embed="rId1"/>
          <a:stretch>
            <a:fillRect/>
          </a:stretch>
        </p:blipFill>
        <p:spPr>
          <a:xfrm>
            <a:off x="8275320" y="2733675"/>
            <a:ext cx="3352800" cy="3945255"/>
          </a:xfrm>
          <a:prstGeom prst="rect">
            <a:avLst/>
          </a:prstGeom>
        </p:spPr>
      </p:pic>
    </p:spTree>
    <p:custDataLst>
      <p:tags r:id="rId2"/>
    </p:custData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idx="4294967295"/>
          </p:nvPr>
        </p:nvSpPr>
        <p:spPr bwMode="auto">
          <a:xfrm>
            <a:off x="346710" y="527685"/>
            <a:ext cx="6232525" cy="77597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p>
            <a:pPr algn="l"/>
            <a:r>
              <a:rPr lang="en-US" altLang="zh-CN" sz="3200" dirty="0" smtClean="0"/>
              <a:t> </a:t>
            </a:r>
            <a:r>
              <a:rPr lang="en-US" sz="3200" b="1" dirty="0" smtClean="0">
                <a:solidFill>
                  <a:srgbClr val="FF0000"/>
                </a:solidFill>
              </a:rPr>
              <a:t>1.3Windows</a:t>
            </a:r>
            <a:r>
              <a:rPr lang="zh-CN" altLang="en-US" sz="3200" b="1" dirty="0" smtClean="0">
                <a:solidFill>
                  <a:srgbClr val="FF0000"/>
                </a:solidFill>
              </a:rPr>
              <a:t>系统安全</a:t>
            </a:r>
            <a:r>
              <a:rPr lang="zh-CN" altLang="en-US" sz="3200" b="1" dirty="0" smtClean="0">
                <a:solidFill>
                  <a:srgbClr val="FF0000"/>
                </a:solidFill>
              </a:rPr>
              <a:t>加固</a:t>
            </a:r>
            <a:endParaRPr lang="zh-CN" altLang="en-US" sz="3200" b="1" dirty="0" smtClean="0">
              <a:solidFill>
                <a:srgbClr val="FF0000"/>
              </a:solidFill>
            </a:endParaRPr>
          </a:p>
        </p:txBody>
      </p:sp>
      <p:sp>
        <p:nvSpPr>
          <p:cNvPr id="5" name="矩形 4"/>
          <p:cNvSpPr>
            <a:spLocks noChangeArrowheads="1"/>
          </p:cNvSpPr>
          <p:nvPr/>
        </p:nvSpPr>
        <p:spPr bwMode="auto">
          <a:xfrm>
            <a:off x="783590" y="1165225"/>
            <a:ext cx="10844530" cy="1630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0" fontAlgn="auto">
              <a:lnSpc>
                <a:spcPct val="100000"/>
              </a:lnSpc>
              <a:buFont typeface="Wingdings" panose="05000000000000000000" pitchFamily="2" charset="2"/>
              <a:buNone/>
              <a:defRPr/>
            </a:pPr>
            <a:r>
              <a:rPr lang="en-US" altLang="zh-CN" sz="2400" dirty="0">
                <a:sym typeface="+mn-ea"/>
              </a:rPr>
              <a:t>5</a:t>
            </a:r>
            <a:r>
              <a:rPr lang="zh-CN" altLang="en-US" sz="2400" dirty="0">
                <a:sym typeface="+mn-ea"/>
              </a:rPr>
              <a:t>、开启防火墙功能</a:t>
            </a:r>
            <a:endParaRPr lang="zh-CN" altLang="en-US" sz="2400" dirty="0"/>
          </a:p>
          <a:p>
            <a:pPr indent="0" fontAlgn="auto">
              <a:lnSpc>
                <a:spcPct val="100000"/>
              </a:lnSpc>
              <a:buFont typeface="Wingdings" panose="05000000000000000000" pitchFamily="2" charset="2"/>
              <a:buNone/>
              <a:defRPr/>
            </a:pPr>
            <a:r>
              <a:rPr lang="en-US" altLang="zh-CN" sz="2800" dirty="0"/>
              <a:t>    </a:t>
            </a:r>
            <a:r>
              <a:rPr lang="en-US" altLang="zh-CN" sz="2400" dirty="0"/>
              <a:t>1.按windows键+R，输入firewall.cpl;</a:t>
            </a:r>
            <a:endParaRPr lang="en-US" altLang="zh-CN" sz="2400" dirty="0"/>
          </a:p>
          <a:p>
            <a:pPr indent="0" fontAlgn="auto">
              <a:lnSpc>
                <a:spcPct val="100000"/>
              </a:lnSpc>
              <a:buFont typeface="Wingdings" panose="05000000000000000000" pitchFamily="2" charset="2"/>
              <a:buNone/>
              <a:defRPr/>
            </a:pPr>
            <a:r>
              <a:rPr lang="en-US" altLang="zh-CN" sz="2400" dirty="0"/>
              <a:t>     </a:t>
            </a:r>
            <a:r>
              <a:rPr lang="zh-CN" altLang="en-US" sz="2400" dirty="0"/>
              <a:t>2.选择“打开或关闭Windows防火墙”，点击启用Windows防火墙。</a:t>
            </a:r>
            <a:endParaRPr lang="zh-CN" altLang="en-US" sz="2400" dirty="0"/>
          </a:p>
          <a:p>
            <a:pPr indent="0" fontAlgn="auto">
              <a:lnSpc>
                <a:spcPct val="100000"/>
              </a:lnSpc>
              <a:buFont typeface="Wingdings" panose="05000000000000000000" pitchFamily="2" charset="2"/>
              <a:buNone/>
              <a:defRPr/>
            </a:pPr>
            <a:endParaRPr lang="zh-CN" altLang="en-US" sz="2400" dirty="0"/>
          </a:p>
        </p:txBody>
      </p:sp>
      <p:pic>
        <p:nvPicPr>
          <p:cNvPr id="2" name="图片 1"/>
          <p:cNvPicPr>
            <a:picLocks noChangeAspect="1"/>
          </p:cNvPicPr>
          <p:nvPr/>
        </p:nvPicPr>
        <p:blipFill>
          <a:blip r:embed="rId1"/>
          <a:stretch>
            <a:fillRect/>
          </a:stretch>
        </p:blipFill>
        <p:spPr>
          <a:xfrm>
            <a:off x="1577340" y="2513965"/>
            <a:ext cx="7985760" cy="4051935"/>
          </a:xfrm>
          <a:prstGeom prst="rect">
            <a:avLst/>
          </a:prstGeom>
        </p:spPr>
      </p:pic>
    </p:spTree>
    <p:custDataLst>
      <p:tags r:id="rId2"/>
    </p:custData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idx="4294967295"/>
          </p:nvPr>
        </p:nvSpPr>
        <p:spPr bwMode="auto">
          <a:xfrm>
            <a:off x="346710" y="527685"/>
            <a:ext cx="6232525" cy="77597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p>
            <a:pPr algn="l"/>
            <a:r>
              <a:rPr lang="en-US" altLang="zh-CN" sz="3200" dirty="0" smtClean="0"/>
              <a:t> </a:t>
            </a:r>
            <a:r>
              <a:rPr lang="en-US" sz="3200" b="1" dirty="0" smtClean="0">
                <a:solidFill>
                  <a:srgbClr val="FF0000"/>
                </a:solidFill>
              </a:rPr>
              <a:t>1.3Windows</a:t>
            </a:r>
            <a:r>
              <a:rPr lang="zh-CN" altLang="en-US" sz="3200" b="1" dirty="0" smtClean="0">
                <a:solidFill>
                  <a:srgbClr val="FF0000"/>
                </a:solidFill>
              </a:rPr>
              <a:t>系统安全</a:t>
            </a:r>
            <a:r>
              <a:rPr lang="zh-CN" altLang="en-US" sz="3200" b="1" dirty="0" smtClean="0">
                <a:solidFill>
                  <a:srgbClr val="FF0000"/>
                </a:solidFill>
              </a:rPr>
              <a:t>加固</a:t>
            </a:r>
            <a:endParaRPr lang="zh-CN" altLang="en-US" sz="3200" b="1" dirty="0" smtClean="0">
              <a:solidFill>
                <a:srgbClr val="FF0000"/>
              </a:solidFill>
            </a:endParaRPr>
          </a:p>
        </p:txBody>
      </p:sp>
      <p:sp>
        <p:nvSpPr>
          <p:cNvPr id="5" name="矩形 4"/>
          <p:cNvSpPr>
            <a:spLocks noChangeArrowheads="1"/>
          </p:cNvSpPr>
          <p:nvPr/>
        </p:nvSpPr>
        <p:spPr bwMode="auto">
          <a:xfrm>
            <a:off x="783590" y="1165225"/>
            <a:ext cx="1084453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fontAlgn="auto">
              <a:lnSpc>
                <a:spcPct val="100000"/>
              </a:lnSpc>
              <a:buClrTx/>
              <a:buSzTx/>
              <a:buFont typeface="Wingdings" panose="05000000000000000000" pitchFamily="2" charset="2"/>
              <a:buNone/>
              <a:defRPr/>
            </a:pPr>
            <a:r>
              <a:rPr lang="en-US" altLang="zh-CN" sz="2400" dirty="0">
                <a:sym typeface="+mn-ea"/>
              </a:rPr>
              <a:t>6、配置访问控制规则</a:t>
            </a:r>
            <a:endParaRPr lang="en-US" altLang="zh-CN" sz="2400" dirty="0">
              <a:sym typeface="+mn-ea"/>
            </a:endParaRPr>
          </a:p>
          <a:p>
            <a:pPr indent="457200" algn="l" fontAlgn="auto">
              <a:lnSpc>
                <a:spcPct val="100000"/>
              </a:lnSpc>
              <a:buClrTx/>
              <a:buSzTx/>
              <a:buFont typeface="Wingdings" panose="05000000000000000000" pitchFamily="2" charset="2"/>
              <a:buNone/>
              <a:defRPr/>
            </a:pPr>
            <a:r>
              <a:rPr lang="en-US" altLang="zh-CN" sz="2400" dirty="0"/>
              <a:t>使用防火墙实现访问控制，增加系统抵御网络攻击的能力。</a:t>
            </a:r>
            <a:endParaRPr lang="en-US" altLang="zh-CN" sz="2400" dirty="0"/>
          </a:p>
        </p:txBody>
      </p:sp>
      <p:pic>
        <p:nvPicPr>
          <p:cNvPr id="2" name="图片 1"/>
          <p:cNvPicPr>
            <a:picLocks noChangeAspect="1"/>
          </p:cNvPicPr>
          <p:nvPr/>
        </p:nvPicPr>
        <p:blipFill>
          <a:blip r:embed="rId1"/>
          <a:stretch>
            <a:fillRect/>
          </a:stretch>
        </p:blipFill>
        <p:spPr>
          <a:xfrm>
            <a:off x="1868170" y="1945005"/>
            <a:ext cx="7818755" cy="4658995"/>
          </a:xfrm>
          <a:prstGeom prst="rect">
            <a:avLst/>
          </a:prstGeom>
        </p:spPr>
      </p:pic>
    </p:spTree>
    <p:custDataLst>
      <p:tags r:id="rId2"/>
    </p:custData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idx="4294967295"/>
          </p:nvPr>
        </p:nvSpPr>
        <p:spPr bwMode="auto">
          <a:xfrm>
            <a:off x="346710" y="527685"/>
            <a:ext cx="6232525" cy="77597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p>
            <a:pPr algn="l"/>
            <a:r>
              <a:rPr lang="en-US" altLang="zh-CN" sz="3200" dirty="0" smtClean="0"/>
              <a:t> </a:t>
            </a:r>
            <a:r>
              <a:rPr lang="en-US" sz="3200" b="1" dirty="0" smtClean="0">
                <a:solidFill>
                  <a:srgbClr val="FF0000"/>
                </a:solidFill>
              </a:rPr>
              <a:t>1.3Windows</a:t>
            </a:r>
            <a:r>
              <a:rPr lang="zh-CN" altLang="en-US" sz="3200" b="1" dirty="0" smtClean="0">
                <a:solidFill>
                  <a:srgbClr val="FF0000"/>
                </a:solidFill>
              </a:rPr>
              <a:t>系统安全</a:t>
            </a:r>
            <a:r>
              <a:rPr lang="zh-CN" altLang="en-US" sz="3200" b="1" dirty="0" smtClean="0">
                <a:solidFill>
                  <a:srgbClr val="FF0000"/>
                </a:solidFill>
              </a:rPr>
              <a:t>加固</a:t>
            </a:r>
            <a:endParaRPr lang="zh-CN" altLang="en-US" sz="3200" b="1" dirty="0" smtClean="0">
              <a:solidFill>
                <a:srgbClr val="FF0000"/>
              </a:solidFill>
            </a:endParaRPr>
          </a:p>
        </p:txBody>
      </p:sp>
      <p:sp>
        <p:nvSpPr>
          <p:cNvPr id="5" name="矩形 4"/>
          <p:cNvSpPr>
            <a:spLocks noChangeArrowheads="1"/>
          </p:cNvSpPr>
          <p:nvPr/>
        </p:nvSpPr>
        <p:spPr bwMode="auto">
          <a:xfrm>
            <a:off x="783590" y="1165225"/>
            <a:ext cx="11183620"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0" fontAlgn="auto">
              <a:lnSpc>
                <a:spcPct val="100000"/>
              </a:lnSpc>
              <a:buFont typeface="Wingdings" panose="05000000000000000000" pitchFamily="2" charset="2"/>
              <a:buNone/>
              <a:defRPr/>
            </a:pPr>
            <a:r>
              <a:rPr lang="en-US" altLang="zh-CN" sz="2400" dirty="0">
                <a:sym typeface="+mn-ea"/>
              </a:rPr>
              <a:t>7</a:t>
            </a:r>
            <a:r>
              <a:rPr lang="zh-CN" altLang="en-US" sz="2400" dirty="0">
                <a:sym typeface="+mn-ea"/>
              </a:rPr>
              <a:t>、关闭不必要的系统端口</a:t>
            </a:r>
            <a:endParaRPr lang="zh-CN" altLang="en-US" sz="2400" dirty="0">
              <a:sym typeface="+mn-ea"/>
            </a:endParaRPr>
          </a:p>
          <a:p>
            <a:pPr indent="0" fontAlgn="auto">
              <a:lnSpc>
                <a:spcPct val="100000"/>
              </a:lnSpc>
              <a:buFont typeface="Wingdings" panose="05000000000000000000" pitchFamily="2" charset="2"/>
              <a:buNone/>
              <a:defRPr/>
            </a:pPr>
            <a:r>
              <a:rPr lang="zh-CN" altLang="en-US" sz="2400" dirty="0">
                <a:sym typeface="+mn-ea"/>
              </a:rPr>
              <a:t> </a:t>
            </a:r>
            <a:r>
              <a:rPr lang="en-US" altLang="zh-CN" sz="2400" dirty="0">
                <a:sym typeface="+mn-ea"/>
              </a:rPr>
              <a:t>     1.使用防火墙实现白名单制度。</a:t>
            </a:r>
            <a:endParaRPr lang="en-US" altLang="zh-CN" sz="2400" dirty="0">
              <a:sym typeface="+mn-ea"/>
            </a:endParaRPr>
          </a:p>
          <a:p>
            <a:pPr indent="0" fontAlgn="auto">
              <a:lnSpc>
                <a:spcPct val="100000"/>
              </a:lnSpc>
              <a:buFont typeface="Wingdings" panose="05000000000000000000" pitchFamily="2" charset="2"/>
              <a:buNone/>
              <a:defRPr/>
            </a:pPr>
            <a:r>
              <a:rPr lang="en-US" altLang="zh-CN" sz="2400" dirty="0"/>
              <a:t>        </a:t>
            </a:r>
            <a:r>
              <a:rPr lang="zh-CN" altLang="en-US" sz="2400" dirty="0"/>
              <a:t>(1)以下端口禁止开放：TCP21，TCP23，TCTCP/UDP139，TCP/UDP445。</a:t>
            </a:r>
            <a:endParaRPr lang="zh-CN" altLang="en-US" sz="2400" dirty="0"/>
          </a:p>
          <a:p>
            <a:pPr indent="0" fontAlgn="auto">
              <a:lnSpc>
                <a:spcPct val="100000"/>
              </a:lnSpc>
              <a:buFont typeface="Wingdings" panose="05000000000000000000" pitchFamily="2" charset="2"/>
              <a:buNone/>
              <a:defRPr/>
            </a:pPr>
            <a:r>
              <a:rPr lang="en-US" altLang="zh-CN" sz="2400" dirty="0"/>
              <a:t>      </a:t>
            </a:r>
            <a:r>
              <a:rPr lang="zh-CN" altLang="en-US" sz="2400" dirty="0"/>
              <a:t>2.以下端口应限制访问IP：TCP3389。</a:t>
            </a:r>
            <a:endParaRPr lang="zh-CN" altLang="en-US" sz="2400" dirty="0"/>
          </a:p>
          <a:p>
            <a:pPr indent="0" fontAlgn="auto">
              <a:lnSpc>
                <a:spcPct val="100000"/>
              </a:lnSpc>
              <a:buFont typeface="Wingdings" panose="05000000000000000000" pitchFamily="2" charset="2"/>
              <a:buNone/>
              <a:defRPr/>
            </a:pPr>
            <a:r>
              <a:rPr lang="zh-CN" altLang="en-US" sz="2400" dirty="0"/>
              <a:t> </a:t>
            </a:r>
            <a:r>
              <a:rPr lang="en-US" altLang="zh-CN" sz="2400" dirty="0"/>
              <a:t>     </a:t>
            </a:r>
            <a:endParaRPr lang="en-US" altLang="zh-CN" sz="2400" dirty="0"/>
          </a:p>
          <a:p>
            <a:pPr indent="0" fontAlgn="auto">
              <a:lnSpc>
                <a:spcPct val="100000"/>
              </a:lnSpc>
              <a:buFont typeface="Wingdings" panose="05000000000000000000" pitchFamily="2" charset="2"/>
              <a:buNone/>
              <a:defRPr/>
            </a:pPr>
            <a:r>
              <a:rPr lang="en-US" altLang="zh-CN" sz="2400" dirty="0"/>
              <a:t>      </a:t>
            </a:r>
            <a:r>
              <a:rPr lang="zh-CN" altLang="en-US" sz="2400" dirty="0"/>
              <a:t>遵循白名单的原则，仅开放系统应用所需的专用端口，避免系统中存在不必要的端口。</a:t>
            </a:r>
            <a:r>
              <a:rPr lang="en-US" altLang="zh-CN" sz="2400" dirty="0"/>
              <a:t>        </a:t>
            </a:r>
            <a:endParaRPr lang="zh-CN" altLang="en-US" sz="2400" dirty="0"/>
          </a:p>
        </p:txBody>
      </p:sp>
    </p:spTree>
    <p:custDataLst>
      <p:tags r:id="rId1"/>
    </p:custData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idx="4294967295"/>
          </p:nvPr>
        </p:nvSpPr>
        <p:spPr bwMode="auto">
          <a:xfrm>
            <a:off x="346710" y="527685"/>
            <a:ext cx="6232525" cy="77597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p>
            <a:pPr algn="l"/>
            <a:r>
              <a:rPr lang="en-US" altLang="zh-CN" sz="3200" dirty="0" smtClean="0"/>
              <a:t> </a:t>
            </a:r>
            <a:r>
              <a:rPr lang="en-US" sz="3200" b="1" dirty="0" smtClean="0">
                <a:solidFill>
                  <a:srgbClr val="FF0000"/>
                </a:solidFill>
              </a:rPr>
              <a:t>1.3Windows</a:t>
            </a:r>
            <a:r>
              <a:rPr lang="zh-CN" altLang="en-US" sz="3200" b="1" dirty="0" smtClean="0">
                <a:solidFill>
                  <a:srgbClr val="FF0000"/>
                </a:solidFill>
              </a:rPr>
              <a:t>系统安全</a:t>
            </a:r>
            <a:r>
              <a:rPr lang="zh-CN" altLang="en-US" sz="3200" b="1" dirty="0" smtClean="0">
                <a:solidFill>
                  <a:srgbClr val="FF0000"/>
                </a:solidFill>
              </a:rPr>
              <a:t>加固</a:t>
            </a:r>
            <a:endParaRPr lang="zh-CN" altLang="en-US" sz="3200" b="1" dirty="0" smtClean="0">
              <a:solidFill>
                <a:srgbClr val="FF0000"/>
              </a:solidFill>
            </a:endParaRPr>
          </a:p>
        </p:txBody>
      </p:sp>
      <p:sp>
        <p:nvSpPr>
          <p:cNvPr id="5" name="矩形 4"/>
          <p:cNvSpPr>
            <a:spLocks noChangeArrowheads="1"/>
          </p:cNvSpPr>
          <p:nvPr/>
        </p:nvSpPr>
        <p:spPr bwMode="auto">
          <a:xfrm>
            <a:off x="783590" y="1165225"/>
            <a:ext cx="10844530" cy="1630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0" fontAlgn="auto">
              <a:lnSpc>
                <a:spcPct val="100000"/>
              </a:lnSpc>
              <a:buFont typeface="Wingdings" panose="05000000000000000000" pitchFamily="2" charset="2"/>
              <a:buNone/>
              <a:defRPr/>
            </a:pPr>
            <a:r>
              <a:rPr lang="en-US" altLang="zh-CN" sz="2400" dirty="0">
                <a:sym typeface="+mn-ea"/>
              </a:rPr>
              <a:t>8</a:t>
            </a:r>
            <a:r>
              <a:rPr lang="zh-CN" altLang="en-US" sz="2400" dirty="0">
                <a:sym typeface="+mn-ea"/>
              </a:rPr>
              <a:t>、卸载无关软件</a:t>
            </a:r>
            <a:endParaRPr lang="zh-CN" altLang="en-US" sz="2400" dirty="0">
              <a:sym typeface="+mn-ea"/>
            </a:endParaRPr>
          </a:p>
          <a:p>
            <a:pPr indent="0" fontAlgn="auto">
              <a:lnSpc>
                <a:spcPct val="100000"/>
              </a:lnSpc>
              <a:buFont typeface="Wingdings" panose="05000000000000000000" pitchFamily="2" charset="2"/>
              <a:buNone/>
              <a:defRPr/>
            </a:pPr>
            <a:r>
              <a:rPr lang="zh-CN" altLang="en-US" sz="2400" dirty="0">
                <a:sym typeface="+mn-ea"/>
              </a:rPr>
              <a:t> </a:t>
            </a:r>
            <a:r>
              <a:rPr lang="en-US" altLang="zh-CN" sz="2400" dirty="0">
                <a:sym typeface="+mn-ea"/>
              </a:rPr>
              <a:t>    开始-&gt;控制面板-&gt;程序与功能；选择需要卸载的软件，右键选择 “卸载/更改”按钮，卸载完成。</a:t>
            </a:r>
            <a:endParaRPr lang="en-US" altLang="zh-CN" sz="2400" dirty="0">
              <a:sym typeface="+mn-ea"/>
            </a:endParaRPr>
          </a:p>
          <a:p>
            <a:pPr indent="0" fontAlgn="auto">
              <a:lnSpc>
                <a:spcPct val="100000"/>
              </a:lnSpc>
              <a:buFont typeface="Wingdings" panose="05000000000000000000" pitchFamily="2" charset="2"/>
              <a:buNone/>
              <a:defRPr/>
            </a:pPr>
            <a:r>
              <a:rPr lang="en-US" altLang="zh-CN" sz="2800" dirty="0">
                <a:sym typeface="+mn-ea"/>
              </a:rPr>
              <a:t>        </a:t>
            </a:r>
            <a:r>
              <a:rPr lang="en-US" altLang="zh-CN" sz="2800" dirty="0"/>
              <a:t>        </a:t>
            </a:r>
            <a:endParaRPr lang="zh-CN" altLang="en-US" sz="2800" dirty="0"/>
          </a:p>
        </p:txBody>
      </p:sp>
      <p:pic>
        <p:nvPicPr>
          <p:cNvPr id="2" name="图片 1"/>
          <p:cNvPicPr>
            <a:picLocks noChangeAspect="1"/>
          </p:cNvPicPr>
          <p:nvPr/>
        </p:nvPicPr>
        <p:blipFill>
          <a:blip r:embed="rId1"/>
          <a:stretch>
            <a:fillRect/>
          </a:stretch>
        </p:blipFill>
        <p:spPr>
          <a:xfrm>
            <a:off x="1262380" y="2327275"/>
            <a:ext cx="9378315" cy="3999230"/>
          </a:xfrm>
          <a:prstGeom prst="rect">
            <a:avLst/>
          </a:prstGeom>
        </p:spPr>
      </p:pic>
    </p:spTree>
    <p:custDataLst>
      <p:tags r:id="rId2"/>
    </p:custData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idx="4294967295"/>
          </p:nvPr>
        </p:nvSpPr>
        <p:spPr bwMode="auto">
          <a:xfrm>
            <a:off x="346710" y="527685"/>
            <a:ext cx="6232525" cy="77597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p>
            <a:pPr algn="l"/>
            <a:r>
              <a:rPr lang="en-US" altLang="zh-CN" sz="3200" dirty="0" smtClean="0"/>
              <a:t> </a:t>
            </a:r>
            <a:r>
              <a:rPr lang="en-US" sz="3200" b="1" dirty="0" smtClean="0">
                <a:solidFill>
                  <a:srgbClr val="FF0000"/>
                </a:solidFill>
              </a:rPr>
              <a:t>1.3Windows</a:t>
            </a:r>
            <a:r>
              <a:rPr lang="zh-CN" altLang="en-US" sz="3200" b="1" dirty="0" smtClean="0">
                <a:solidFill>
                  <a:srgbClr val="FF0000"/>
                </a:solidFill>
              </a:rPr>
              <a:t>系统安全</a:t>
            </a:r>
            <a:r>
              <a:rPr lang="zh-CN" altLang="en-US" sz="3200" b="1" dirty="0" smtClean="0">
                <a:solidFill>
                  <a:srgbClr val="FF0000"/>
                </a:solidFill>
              </a:rPr>
              <a:t>加固</a:t>
            </a:r>
            <a:endParaRPr lang="zh-CN" altLang="en-US" sz="3200" b="1" dirty="0" smtClean="0">
              <a:solidFill>
                <a:srgbClr val="FF0000"/>
              </a:solidFill>
            </a:endParaRPr>
          </a:p>
        </p:txBody>
      </p:sp>
      <p:sp>
        <p:nvSpPr>
          <p:cNvPr id="5" name="矩形 4"/>
          <p:cNvSpPr>
            <a:spLocks noChangeArrowheads="1"/>
          </p:cNvSpPr>
          <p:nvPr/>
        </p:nvSpPr>
        <p:spPr bwMode="auto">
          <a:xfrm>
            <a:off x="783590" y="1165225"/>
            <a:ext cx="10844530" cy="236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0" fontAlgn="auto">
              <a:lnSpc>
                <a:spcPct val="100000"/>
              </a:lnSpc>
              <a:buFont typeface="Wingdings" panose="05000000000000000000" pitchFamily="2" charset="2"/>
              <a:buNone/>
              <a:defRPr/>
            </a:pPr>
            <a:r>
              <a:rPr lang="en-US" altLang="zh-CN" sz="2400" dirty="0">
                <a:sym typeface="+mn-ea"/>
              </a:rPr>
              <a:t>9</a:t>
            </a:r>
            <a:r>
              <a:rPr lang="zh-CN" altLang="en-US" sz="2400" dirty="0">
                <a:sym typeface="+mn-ea"/>
              </a:rPr>
              <a:t>、补丁更新：</a:t>
            </a:r>
            <a:endParaRPr lang="zh-CN" altLang="en-US" sz="2400" dirty="0">
              <a:sym typeface="+mn-ea"/>
            </a:endParaRPr>
          </a:p>
          <a:p>
            <a:pPr indent="0" fontAlgn="auto">
              <a:lnSpc>
                <a:spcPct val="100000"/>
              </a:lnSpc>
              <a:buFont typeface="Wingdings" panose="05000000000000000000" pitchFamily="2" charset="2"/>
              <a:buNone/>
              <a:defRPr/>
            </a:pPr>
            <a:r>
              <a:rPr lang="zh-CN" altLang="en-US" sz="2400" dirty="0">
                <a:sym typeface="+mn-ea"/>
              </a:rPr>
              <a:t> </a:t>
            </a:r>
            <a:r>
              <a:rPr lang="en-US" altLang="zh-CN" sz="2400" dirty="0">
                <a:sym typeface="+mn-ea"/>
              </a:rPr>
              <a:t>    查看当前系统漏洞是否已安装补丁包，到官网下载补丁包（https://support.microsoft.com/zh-cn）</a:t>
            </a:r>
            <a:endParaRPr lang="en-US" altLang="zh-CN" sz="2400" dirty="0">
              <a:sym typeface="+mn-ea"/>
            </a:endParaRPr>
          </a:p>
          <a:p>
            <a:pPr indent="0" fontAlgn="auto">
              <a:lnSpc>
                <a:spcPct val="100000"/>
              </a:lnSpc>
              <a:buFont typeface="Wingdings" panose="05000000000000000000" pitchFamily="2" charset="2"/>
              <a:buNone/>
              <a:defRPr/>
            </a:pPr>
            <a:r>
              <a:rPr lang="en-US" altLang="zh-CN" sz="2400" dirty="0">
                <a:sym typeface="+mn-ea"/>
              </a:rPr>
              <a:t>     安装官方补丁，严禁安装第三方补丁，避免被黑客或恶意代码利用已知的安全漏洞进行攻击。</a:t>
            </a:r>
            <a:endParaRPr lang="en-US" altLang="zh-CN" sz="2400" dirty="0">
              <a:sym typeface="+mn-ea"/>
            </a:endParaRPr>
          </a:p>
          <a:p>
            <a:pPr indent="0" fontAlgn="auto">
              <a:lnSpc>
                <a:spcPct val="100000"/>
              </a:lnSpc>
              <a:buFont typeface="Wingdings" panose="05000000000000000000" pitchFamily="2" charset="2"/>
              <a:buNone/>
              <a:defRPr/>
            </a:pPr>
            <a:r>
              <a:rPr lang="en-US" altLang="zh-CN" sz="2800" dirty="0"/>
              <a:t>        </a:t>
            </a:r>
            <a:endParaRPr lang="zh-CN" altLang="en-US" sz="2800" dirty="0"/>
          </a:p>
        </p:txBody>
      </p:sp>
      <p:pic>
        <p:nvPicPr>
          <p:cNvPr id="2" name="图片 1"/>
          <p:cNvPicPr>
            <a:picLocks noChangeAspect="1"/>
          </p:cNvPicPr>
          <p:nvPr/>
        </p:nvPicPr>
        <p:blipFill>
          <a:blip r:embed="rId1"/>
          <a:srcRect r="45432"/>
          <a:stretch>
            <a:fillRect/>
          </a:stretch>
        </p:blipFill>
        <p:spPr>
          <a:xfrm>
            <a:off x="7292340" y="2820035"/>
            <a:ext cx="3702050" cy="3529965"/>
          </a:xfrm>
          <a:prstGeom prst="rect">
            <a:avLst/>
          </a:prstGeom>
        </p:spPr>
      </p:pic>
      <p:sp>
        <p:nvSpPr>
          <p:cNvPr id="3" name="文本框 2"/>
          <p:cNvSpPr txBox="1"/>
          <p:nvPr/>
        </p:nvSpPr>
        <p:spPr>
          <a:xfrm>
            <a:off x="211455" y="3658870"/>
            <a:ext cx="5893435" cy="1198880"/>
          </a:xfrm>
          <a:prstGeom prst="rect">
            <a:avLst/>
          </a:prstGeom>
          <a:noFill/>
        </p:spPr>
        <p:txBody>
          <a:bodyPr wrap="square" rtlCol="0" anchor="t">
            <a:spAutoFit/>
          </a:bodyPr>
          <a:p>
            <a:r>
              <a:rPr lang="zh-CN" altLang="en-US" sz="2400" dirty="0">
                <a:sym typeface="+mn-ea"/>
              </a:rPr>
              <a:t>查看系统信息和配置：</a:t>
            </a:r>
            <a:r>
              <a:rPr lang="en-US" altLang="zh-CN" sz="2400" dirty="0">
                <a:sym typeface="+mn-ea"/>
              </a:rPr>
              <a:t>systeminfo</a:t>
            </a:r>
            <a:endParaRPr lang="en-US" altLang="zh-CN" sz="2400" dirty="0">
              <a:sym typeface="+mn-ea"/>
            </a:endParaRPr>
          </a:p>
          <a:p>
            <a:r>
              <a:rPr lang="en-US" altLang="zh-CN" sz="2400" dirty="0">
                <a:sym typeface="+mn-ea"/>
              </a:rPr>
              <a:t>查看针对单一漏洞的补丁</a:t>
            </a:r>
            <a:r>
              <a:rPr lang="zh-CN" altLang="en-US" sz="2400" dirty="0">
                <a:sym typeface="+mn-ea"/>
              </a:rPr>
              <a:t>：</a:t>
            </a:r>
            <a:endParaRPr lang="zh-CN" altLang="en-US" sz="2400" dirty="0">
              <a:sym typeface="+mn-ea"/>
            </a:endParaRPr>
          </a:p>
          <a:p>
            <a:pPr indent="457200"/>
            <a:r>
              <a:rPr lang="zh-CN" altLang="en-US" sz="2400" dirty="0">
                <a:sym typeface="+mn-ea"/>
              </a:rPr>
              <a:t>wmic qfe get hotfixid,installedon</a:t>
            </a:r>
            <a:endParaRPr lang="zh-CN" altLang="en-US" sz="2400" dirty="0">
              <a:sym typeface="+mn-ea"/>
            </a:endParaRPr>
          </a:p>
        </p:txBody>
      </p:sp>
      <p:pic>
        <p:nvPicPr>
          <p:cNvPr id="4" name="图片 3"/>
          <p:cNvPicPr>
            <a:picLocks noChangeAspect="1"/>
          </p:cNvPicPr>
          <p:nvPr/>
        </p:nvPicPr>
        <p:blipFill>
          <a:blip r:embed="rId2"/>
          <a:stretch>
            <a:fillRect/>
          </a:stretch>
        </p:blipFill>
        <p:spPr>
          <a:xfrm>
            <a:off x="1595755" y="5100320"/>
            <a:ext cx="3733800" cy="1249680"/>
          </a:xfrm>
          <a:prstGeom prst="rect">
            <a:avLst/>
          </a:prstGeom>
        </p:spPr>
      </p:pic>
    </p:spTree>
    <p:custDataLst>
      <p:tags r:id="rId3"/>
    </p:custData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idx="4294967295"/>
          </p:nvPr>
        </p:nvSpPr>
        <p:spPr bwMode="auto">
          <a:xfrm>
            <a:off x="346710" y="527685"/>
            <a:ext cx="6232525" cy="77597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p>
            <a:pPr algn="l"/>
            <a:r>
              <a:rPr lang="en-US" altLang="zh-CN" sz="3200" dirty="0" smtClean="0"/>
              <a:t> </a:t>
            </a:r>
            <a:r>
              <a:rPr lang="en-US" sz="3200" b="1" dirty="0" smtClean="0">
                <a:solidFill>
                  <a:srgbClr val="FF0000"/>
                </a:solidFill>
              </a:rPr>
              <a:t>1.3Windows</a:t>
            </a:r>
            <a:r>
              <a:rPr lang="zh-CN" altLang="en-US" sz="3200" b="1" dirty="0" smtClean="0">
                <a:solidFill>
                  <a:srgbClr val="FF0000"/>
                </a:solidFill>
              </a:rPr>
              <a:t>系统安全</a:t>
            </a:r>
            <a:r>
              <a:rPr lang="zh-CN" altLang="en-US" sz="3200" b="1" dirty="0" smtClean="0">
                <a:solidFill>
                  <a:srgbClr val="FF0000"/>
                </a:solidFill>
              </a:rPr>
              <a:t>加固</a:t>
            </a:r>
            <a:endParaRPr lang="zh-CN" altLang="en-US" sz="3200" b="1" dirty="0" smtClean="0">
              <a:solidFill>
                <a:srgbClr val="FF0000"/>
              </a:solidFill>
            </a:endParaRPr>
          </a:p>
        </p:txBody>
      </p:sp>
      <p:sp>
        <p:nvSpPr>
          <p:cNvPr id="5" name="矩形 4"/>
          <p:cNvSpPr>
            <a:spLocks noChangeArrowheads="1"/>
          </p:cNvSpPr>
          <p:nvPr/>
        </p:nvSpPr>
        <p:spPr bwMode="auto">
          <a:xfrm>
            <a:off x="783590" y="1165225"/>
            <a:ext cx="10844530" cy="1630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0" fontAlgn="auto">
              <a:lnSpc>
                <a:spcPct val="100000"/>
              </a:lnSpc>
              <a:buFont typeface="Wingdings" panose="05000000000000000000" pitchFamily="2" charset="2"/>
              <a:buNone/>
              <a:defRPr/>
            </a:pPr>
            <a:r>
              <a:rPr lang="en-US" altLang="zh-CN" sz="2400" dirty="0">
                <a:sym typeface="+mn-ea"/>
              </a:rPr>
              <a:t>10</a:t>
            </a:r>
            <a:r>
              <a:rPr lang="zh-CN" altLang="en-US" sz="2400" dirty="0">
                <a:sym typeface="+mn-ea"/>
              </a:rPr>
              <a:t>、删除默认路由配置</a:t>
            </a:r>
            <a:endParaRPr lang="zh-CN" altLang="en-US" sz="2400" dirty="0">
              <a:sym typeface="+mn-ea"/>
            </a:endParaRPr>
          </a:p>
          <a:p>
            <a:pPr indent="0" fontAlgn="auto">
              <a:lnSpc>
                <a:spcPct val="100000"/>
              </a:lnSpc>
              <a:buFont typeface="Wingdings" panose="05000000000000000000" pitchFamily="2" charset="2"/>
              <a:buNone/>
              <a:defRPr/>
            </a:pPr>
            <a:r>
              <a:rPr lang="zh-CN" altLang="en-US" sz="2400" dirty="0">
                <a:sym typeface="+mn-ea"/>
              </a:rPr>
              <a:t> </a:t>
            </a:r>
            <a:r>
              <a:rPr lang="en-US" altLang="zh-CN" sz="2400" dirty="0">
                <a:sym typeface="+mn-ea"/>
              </a:rPr>
              <a:t>      1.cmd下输入route print，检查是否有默认路由；</a:t>
            </a:r>
            <a:endParaRPr lang="en-US" altLang="zh-CN" sz="2400" dirty="0">
              <a:sym typeface="+mn-ea"/>
            </a:endParaRPr>
          </a:p>
          <a:p>
            <a:pPr indent="0" fontAlgn="auto">
              <a:lnSpc>
                <a:spcPct val="100000"/>
              </a:lnSpc>
              <a:buFont typeface="Wingdings" panose="05000000000000000000" pitchFamily="2" charset="2"/>
              <a:buNone/>
              <a:defRPr/>
            </a:pPr>
            <a:r>
              <a:rPr lang="en-US" altLang="zh-CN" sz="2400" dirty="0"/>
              <a:t>       </a:t>
            </a:r>
            <a:r>
              <a:rPr lang="zh-CN" altLang="en-US" sz="2400" dirty="0"/>
              <a:t>2.</a:t>
            </a:r>
            <a:r>
              <a:rPr lang="zh-CN" altLang="en-US" sz="2400" dirty="0">
                <a:latin typeface="宋体" panose="02010600030101010101" pitchFamily="2" charset="-122"/>
                <a:cs typeface="宋体" panose="02010600030101010101" pitchFamily="2" charset="-122"/>
              </a:rPr>
              <a:t>已管理员身份打开命令提示符,输入route del 0.0.0.0 删除默认路由。</a:t>
            </a:r>
            <a:endParaRPr lang="zh-CN" altLang="en-US" sz="2400" dirty="0">
              <a:latin typeface="宋体" panose="02010600030101010101" pitchFamily="2" charset="-122"/>
              <a:cs typeface="宋体" panose="02010600030101010101" pitchFamily="2" charset="-122"/>
            </a:endParaRPr>
          </a:p>
          <a:p>
            <a:pPr indent="0" fontAlgn="auto">
              <a:lnSpc>
                <a:spcPct val="100000"/>
              </a:lnSpc>
              <a:buFont typeface="Wingdings" panose="05000000000000000000" pitchFamily="2" charset="2"/>
              <a:buNone/>
              <a:defRPr/>
            </a:pPr>
            <a:r>
              <a:rPr lang="en-US" altLang="zh-CN" sz="2400" dirty="0">
                <a:latin typeface="宋体" panose="02010600030101010101" pitchFamily="2" charset="-122"/>
                <a:cs typeface="宋体" panose="02010600030101010101" pitchFamily="2" charset="-122"/>
              </a:rPr>
              <a:t>     主机禁止使用默认路由，避免利用默认路由探测网络</a:t>
            </a:r>
            <a:r>
              <a:rPr lang="en-US" altLang="zh-CN" sz="2800" dirty="0"/>
              <a:t>。</a:t>
            </a:r>
            <a:endParaRPr lang="en-US" altLang="zh-CN" sz="2800" dirty="0"/>
          </a:p>
        </p:txBody>
      </p:sp>
      <p:pic>
        <p:nvPicPr>
          <p:cNvPr id="2" name="图片 1"/>
          <p:cNvPicPr>
            <a:picLocks noChangeAspect="1"/>
          </p:cNvPicPr>
          <p:nvPr/>
        </p:nvPicPr>
        <p:blipFill>
          <a:blip r:embed="rId1"/>
          <a:srcRect t="11207" r="33407"/>
          <a:stretch>
            <a:fillRect/>
          </a:stretch>
        </p:blipFill>
        <p:spPr>
          <a:xfrm>
            <a:off x="1529715" y="2795270"/>
            <a:ext cx="6287135" cy="3736975"/>
          </a:xfrm>
          <a:prstGeom prst="rect">
            <a:avLst/>
          </a:prstGeom>
        </p:spPr>
      </p:pic>
    </p:spTree>
    <p:custDataLst>
      <p:tags r:id="rId2"/>
    </p:custData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543" y="1759123"/>
            <a:ext cx="12237085" cy="3310255"/>
          </a:xfrm>
          <a:prstGeom prst="rect">
            <a:avLst/>
          </a:prstGeom>
          <a:solidFill>
            <a:schemeClr val="bg1"/>
          </a:solidFill>
          <a:ln>
            <a:noFill/>
          </a:ln>
          <a:effectLst>
            <a:outerShdw blurRad="1778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600" dirty="0">
              <a:cs typeface="+mn-ea"/>
              <a:sym typeface="+mn-lt"/>
            </a:endParaRPr>
          </a:p>
        </p:txBody>
      </p:sp>
      <p:grpSp>
        <p:nvGrpSpPr>
          <p:cNvPr id="4" name="组合 3"/>
          <p:cNvGrpSpPr/>
          <p:nvPr/>
        </p:nvGrpSpPr>
        <p:grpSpPr>
          <a:xfrm>
            <a:off x="1725592" y="2472546"/>
            <a:ext cx="1712595" cy="1692275"/>
            <a:chOff x="1770244" y="775694"/>
            <a:chExt cx="1712595" cy="1692275"/>
          </a:xfrm>
        </p:grpSpPr>
        <p:sp>
          <p:nvSpPr>
            <p:cNvPr id="3" name="矩形 2"/>
            <p:cNvSpPr/>
            <p:nvPr/>
          </p:nvSpPr>
          <p:spPr>
            <a:xfrm>
              <a:off x="1770244" y="775694"/>
              <a:ext cx="1379855" cy="1379855"/>
            </a:xfrm>
            <a:prstGeom prst="rect">
              <a:avLst/>
            </a:prstGeom>
            <a:noFill/>
            <a:ln w="50800">
              <a:solidFill>
                <a:srgbClr val="ED57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矩形 8"/>
            <p:cNvSpPr/>
            <p:nvPr/>
          </p:nvSpPr>
          <p:spPr>
            <a:xfrm>
              <a:off x="1981699" y="966829"/>
              <a:ext cx="1501140" cy="1501140"/>
            </a:xfrm>
            <a:prstGeom prst="rect">
              <a:avLst/>
            </a:prstGeom>
            <a:solidFill>
              <a:srgbClr val="C51A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b="1" dirty="0" smtClean="0">
                  <a:cs typeface="+mn-ea"/>
                  <a:sym typeface="+mn-lt"/>
                </a:rPr>
                <a:t>02</a:t>
              </a:r>
              <a:endParaRPr lang="en-US" altLang="zh-CN" sz="6000" b="1" dirty="0">
                <a:cs typeface="+mn-ea"/>
                <a:sym typeface="+mn-lt"/>
              </a:endParaRPr>
            </a:p>
          </p:txBody>
        </p:sp>
      </p:grpSp>
      <p:sp>
        <p:nvSpPr>
          <p:cNvPr id="6" name="文本框 5"/>
          <p:cNvSpPr txBox="1"/>
          <p:nvPr/>
        </p:nvSpPr>
        <p:spPr>
          <a:xfrm>
            <a:off x="4643148" y="2838008"/>
            <a:ext cx="6597015" cy="1014730"/>
          </a:xfrm>
          <a:prstGeom prst="rect">
            <a:avLst/>
          </a:prstGeom>
          <a:noFill/>
        </p:spPr>
        <p:txBody>
          <a:bodyPr wrap="none" rtlCol="0">
            <a:spAutoFit/>
          </a:bodyPr>
          <a:lstStyle/>
          <a:p>
            <a:r>
              <a:rPr lang="en-US" altLang="zh-CN" sz="6000" b="1" dirty="0">
                <a:solidFill>
                  <a:srgbClr val="FF0000"/>
                </a:solidFill>
                <a:cs typeface="+mn-ea"/>
                <a:sym typeface="+mn-lt"/>
              </a:rPr>
              <a:t>Linux</a:t>
            </a:r>
            <a:r>
              <a:rPr lang="zh-CN" altLang="en-US" sz="6000" b="1" dirty="0">
                <a:solidFill>
                  <a:srgbClr val="FF0000"/>
                </a:solidFill>
                <a:cs typeface="+mn-ea"/>
                <a:sym typeface="+mn-lt"/>
              </a:rPr>
              <a:t>操作系统</a:t>
            </a:r>
            <a:r>
              <a:rPr lang="zh-CN" altLang="en-US" sz="6000" b="1" dirty="0">
                <a:solidFill>
                  <a:srgbClr val="FF0000"/>
                </a:solidFill>
                <a:cs typeface="+mn-ea"/>
                <a:sym typeface="+mn-lt"/>
              </a:rPr>
              <a:t>加固</a:t>
            </a:r>
            <a:endParaRPr lang="zh-CN" altLang="en-US" sz="6000" b="1" dirty="0">
              <a:solidFill>
                <a:srgbClr val="FF0000"/>
              </a:solidFill>
              <a:cs typeface="+mn-ea"/>
              <a:sym typeface="+mn-lt"/>
            </a:endParaRPr>
          </a:p>
        </p:txBody>
      </p:sp>
    </p:spTree>
    <p:custDataLst>
      <p:tags r:id="rId1"/>
    </p:custData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strips(downRight)">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38"/>
          <p:cNvSpPr>
            <a:spLocks noChangeArrowheads="1"/>
          </p:cNvSpPr>
          <p:nvPr/>
        </p:nvSpPr>
        <p:spPr bwMode="auto">
          <a:xfrm>
            <a:off x="530861" y="609600"/>
            <a:ext cx="84296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0" eaLnBrk="1" hangingPunct="1">
              <a:buFont typeface="+mj-lt"/>
              <a:buNone/>
              <a:defRPr/>
            </a:pPr>
            <a:r>
              <a:rPr lang="en-US" altLang="zh-CN" sz="2400" b="1">
                <a:solidFill>
                  <a:srgbClr val="FF0000"/>
                </a:solidFill>
                <a:sym typeface="+mn-ea"/>
              </a:rPr>
              <a:t>2.1 Linux</a:t>
            </a:r>
            <a:r>
              <a:rPr lang="zh-CN" altLang="en-US" sz="2400" b="1">
                <a:solidFill>
                  <a:srgbClr val="FF0000"/>
                </a:solidFill>
                <a:sym typeface="+mn-ea"/>
              </a:rPr>
              <a:t>系统的基本操作</a:t>
            </a:r>
            <a:endParaRPr lang="zh-CN" altLang="en-US" sz="2400" b="1" dirty="0">
              <a:solidFill>
                <a:srgbClr val="FF0000"/>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1001395" y="1069975"/>
            <a:ext cx="6614160" cy="368300"/>
          </a:xfrm>
          <a:prstGeom prst="rect">
            <a:avLst/>
          </a:prstGeom>
          <a:noFill/>
        </p:spPr>
        <p:txBody>
          <a:bodyPr wrap="square" rtlCol="0">
            <a:spAutoFit/>
          </a:bodyPr>
          <a:p>
            <a:r>
              <a:rPr lang="zh-CN" altLang="en-US" b="1"/>
              <a:t>文件结构图及关键文件功能介绍</a:t>
            </a:r>
            <a:endParaRPr lang="zh-CN" altLang="en-US" b="1"/>
          </a:p>
        </p:txBody>
      </p:sp>
      <p:sp>
        <p:nvSpPr>
          <p:cNvPr id="8" name="文本框 7"/>
          <p:cNvSpPr txBox="1"/>
          <p:nvPr/>
        </p:nvSpPr>
        <p:spPr>
          <a:xfrm>
            <a:off x="1001395" y="1518285"/>
            <a:ext cx="10929620" cy="645160"/>
          </a:xfrm>
          <a:prstGeom prst="rect">
            <a:avLst/>
          </a:prstGeom>
          <a:noFill/>
        </p:spPr>
        <p:txBody>
          <a:bodyPr wrap="square" rtlCol="0">
            <a:spAutoFit/>
          </a:bodyPr>
          <a:p>
            <a:r>
              <a:rPr lang="en-US" altLang="zh-CN"/>
              <a:t>Linux</a:t>
            </a:r>
            <a:r>
              <a:rPr lang="zh-CN" altLang="en-US"/>
              <a:t>文件</a:t>
            </a:r>
            <a:r>
              <a:rPr lang="zh-CN" altLang="en-US"/>
              <a:t>结构</a:t>
            </a:r>
            <a:endParaRPr lang="zh-CN" altLang="en-US"/>
          </a:p>
          <a:p>
            <a:endParaRPr lang="zh-CN" altLang="en-US"/>
          </a:p>
        </p:txBody>
      </p:sp>
      <p:pic>
        <p:nvPicPr>
          <p:cNvPr id="9" name="图片 8"/>
          <p:cNvPicPr>
            <a:picLocks noChangeAspect="1"/>
          </p:cNvPicPr>
          <p:nvPr/>
        </p:nvPicPr>
        <p:blipFill>
          <a:blip r:embed="rId1"/>
          <a:stretch>
            <a:fillRect/>
          </a:stretch>
        </p:blipFill>
        <p:spPr>
          <a:xfrm>
            <a:off x="1001395" y="1939925"/>
            <a:ext cx="9166860" cy="4328160"/>
          </a:xfrm>
          <a:prstGeom prst="rect">
            <a:avLst/>
          </a:prstGeom>
        </p:spPr>
      </p:pic>
    </p:spTree>
    <p:custDataLst>
      <p:tags r:id="rId2"/>
    </p:custData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38"/>
          <p:cNvSpPr>
            <a:spLocks noChangeArrowheads="1"/>
          </p:cNvSpPr>
          <p:nvPr/>
        </p:nvSpPr>
        <p:spPr bwMode="auto">
          <a:xfrm>
            <a:off x="530861" y="609600"/>
            <a:ext cx="84296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0" eaLnBrk="1" hangingPunct="1">
              <a:buFont typeface="+mj-lt"/>
              <a:buNone/>
              <a:defRPr/>
            </a:pPr>
            <a:r>
              <a:rPr lang="en-US" altLang="zh-CN" sz="2400" b="1">
                <a:solidFill>
                  <a:srgbClr val="FF0000"/>
                </a:solidFill>
                <a:sym typeface="+mn-ea"/>
              </a:rPr>
              <a:t>2.1 Linux</a:t>
            </a:r>
            <a:r>
              <a:rPr lang="zh-CN" altLang="en-US" sz="2400" b="1">
                <a:solidFill>
                  <a:srgbClr val="FF0000"/>
                </a:solidFill>
                <a:sym typeface="+mn-ea"/>
              </a:rPr>
              <a:t>系统的基本操作</a:t>
            </a:r>
            <a:endParaRPr lang="zh-CN" altLang="en-US" sz="2400" b="1" dirty="0">
              <a:solidFill>
                <a:srgbClr val="FF0000"/>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1001395" y="1069975"/>
            <a:ext cx="6614160" cy="368300"/>
          </a:xfrm>
          <a:prstGeom prst="rect">
            <a:avLst/>
          </a:prstGeom>
          <a:noFill/>
        </p:spPr>
        <p:txBody>
          <a:bodyPr wrap="square" rtlCol="0">
            <a:spAutoFit/>
          </a:bodyPr>
          <a:p>
            <a:r>
              <a:rPr lang="zh-CN" altLang="en-US" b="1"/>
              <a:t>文件结构图及关键文件功能介绍</a:t>
            </a:r>
            <a:endParaRPr lang="zh-CN" altLang="en-US" b="1"/>
          </a:p>
        </p:txBody>
      </p:sp>
      <p:sp>
        <p:nvSpPr>
          <p:cNvPr id="2" name="文本框 1"/>
          <p:cNvSpPr txBox="1"/>
          <p:nvPr/>
        </p:nvSpPr>
        <p:spPr>
          <a:xfrm>
            <a:off x="1007110" y="1452245"/>
            <a:ext cx="11031855" cy="645160"/>
          </a:xfrm>
          <a:prstGeom prst="rect">
            <a:avLst/>
          </a:prstGeom>
          <a:noFill/>
        </p:spPr>
        <p:txBody>
          <a:bodyPr wrap="square" rtlCol="0">
            <a:spAutoFit/>
          </a:bodyPr>
          <a:p>
            <a:r>
              <a:rPr lang="en-US" altLang="zh-CN"/>
              <a:t>Linux</a:t>
            </a:r>
            <a:r>
              <a:rPr lang="zh-CN" altLang="en-US"/>
              <a:t>根目录结构</a:t>
            </a:r>
            <a:r>
              <a:rPr lang="zh-CN" altLang="en-US"/>
              <a:t>图</a:t>
            </a:r>
            <a:endParaRPr lang="zh-CN" altLang="en-US"/>
          </a:p>
          <a:p>
            <a:endParaRPr lang="zh-CN" altLang="en-US"/>
          </a:p>
        </p:txBody>
      </p:sp>
      <p:pic>
        <p:nvPicPr>
          <p:cNvPr id="4" name="图片 3"/>
          <p:cNvPicPr>
            <a:picLocks noChangeAspect="1"/>
          </p:cNvPicPr>
          <p:nvPr>
            <p:custDataLst>
              <p:tags r:id="rId1"/>
            </p:custDataLst>
          </p:nvPr>
        </p:nvPicPr>
        <p:blipFill>
          <a:blip r:embed="rId2"/>
          <a:stretch>
            <a:fillRect/>
          </a:stretch>
        </p:blipFill>
        <p:spPr>
          <a:xfrm>
            <a:off x="2137410" y="1864360"/>
            <a:ext cx="8345170" cy="4895850"/>
          </a:xfrm>
          <a:prstGeom prst="rect">
            <a:avLst/>
          </a:prstGeom>
        </p:spPr>
      </p:pic>
    </p:spTree>
    <p:custDataLst>
      <p:tags r:id="rId3"/>
    </p:custData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38"/>
          <p:cNvSpPr>
            <a:spLocks noChangeArrowheads="1"/>
          </p:cNvSpPr>
          <p:nvPr/>
        </p:nvSpPr>
        <p:spPr bwMode="auto">
          <a:xfrm>
            <a:off x="530861" y="609600"/>
            <a:ext cx="84296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0" eaLnBrk="1" hangingPunct="1">
              <a:buFont typeface="+mj-lt"/>
              <a:buNone/>
              <a:defRPr/>
            </a:pPr>
            <a:r>
              <a:rPr lang="en-US" altLang="zh-CN" sz="2400" b="1">
                <a:solidFill>
                  <a:srgbClr val="FF0000"/>
                </a:solidFill>
                <a:sym typeface="+mn-ea"/>
              </a:rPr>
              <a:t>2.1 Linux</a:t>
            </a:r>
            <a:r>
              <a:rPr lang="zh-CN" altLang="en-US" sz="2400" b="1">
                <a:solidFill>
                  <a:srgbClr val="FF0000"/>
                </a:solidFill>
                <a:sym typeface="+mn-ea"/>
              </a:rPr>
              <a:t>系统的基本操作</a:t>
            </a:r>
            <a:endParaRPr lang="zh-CN" altLang="en-US" sz="2400" b="1" dirty="0">
              <a:solidFill>
                <a:srgbClr val="FF0000"/>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1001395" y="1069975"/>
            <a:ext cx="6614160" cy="368300"/>
          </a:xfrm>
          <a:prstGeom prst="rect">
            <a:avLst/>
          </a:prstGeom>
          <a:noFill/>
        </p:spPr>
        <p:txBody>
          <a:bodyPr wrap="square" rtlCol="0">
            <a:spAutoFit/>
          </a:bodyPr>
          <a:p>
            <a:r>
              <a:rPr lang="zh-CN" altLang="en-US" b="1"/>
              <a:t>文件结构图及关键文件功能介绍</a:t>
            </a:r>
            <a:endParaRPr lang="zh-CN" altLang="en-US" b="1"/>
          </a:p>
        </p:txBody>
      </p:sp>
      <p:sp>
        <p:nvSpPr>
          <p:cNvPr id="8" name="文本框 7"/>
          <p:cNvSpPr txBox="1"/>
          <p:nvPr/>
        </p:nvSpPr>
        <p:spPr>
          <a:xfrm>
            <a:off x="1001395" y="1518285"/>
            <a:ext cx="10929620" cy="645160"/>
          </a:xfrm>
          <a:prstGeom prst="rect">
            <a:avLst/>
          </a:prstGeom>
          <a:noFill/>
        </p:spPr>
        <p:txBody>
          <a:bodyPr wrap="square" rtlCol="0">
            <a:spAutoFit/>
          </a:bodyPr>
          <a:p>
            <a:r>
              <a:rPr lang="zh-CN" altLang="en-US"/>
              <a:t>二级</a:t>
            </a:r>
            <a:r>
              <a:rPr lang="zh-CN" altLang="en-US"/>
              <a:t>目录</a:t>
            </a:r>
            <a:endParaRPr lang="zh-CN" altLang="en-US"/>
          </a:p>
          <a:p>
            <a:endParaRPr lang="zh-CN" altLang="en-US"/>
          </a:p>
        </p:txBody>
      </p:sp>
      <p:pic>
        <p:nvPicPr>
          <p:cNvPr id="2" name="图片 1"/>
          <p:cNvPicPr>
            <a:picLocks noChangeAspect="1"/>
          </p:cNvPicPr>
          <p:nvPr/>
        </p:nvPicPr>
        <p:blipFill>
          <a:blip r:embed="rId1"/>
          <a:stretch>
            <a:fillRect/>
          </a:stretch>
        </p:blipFill>
        <p:spPr>
          <a:xfrm>
            <a:off x="1097280" y="1972945"/>
            <a:ext cx="9845040" cy="4328160"/>
          </a:xfrm>
          <a:prstGeom prst="rect">
            <a:avLst/>
          </a:prstGeom>
        </p:spPr>
      </p:pic>
    </p:spTree>
    <p:custDataLst>
      <p:tags r:id="rId2"/>
    </p:custData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38"/>
          <p:cNvSpPr>
            <a:spLocks noChangeArrowheads="1"/>
          </p:cNvSpPr>
          <p:nvPr/>
        </p:nvSpPr>
        <p:spPr bwMode="auto">
          <a:xfrm>
            <a:off x="530861" y="609600"/>
            <a:ext cx="84296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0" eaLnBrk="1" hangingPunct="1">
              <a:buFont typeface="+mj-lt"/>
              <a:buNone/>
              <a:defRPr/>
            </a:pPr>
            <a:r>
              <a:rPr lang="en-US" altLang="zh-CN" sz="2400" b="1">
                <a:solidFill>
                  <a:srgbClr val="FF0000"/>
                </a:solidFill>
                <a:sym typeface="+mn-ea"/>
              </a:rPr>
              <a:t>2.1 Linux</a:t>
            </a:r>
            <a:r>
              <a:rPr lang="zh-CN" altLang="en-US" sz="2400" b="1">
                <a:solidFill>
                  <a:srgbClr val="FF0000"/>
                </a:solidFill>
                <a:sym typeface="+mn-ea"/>
              </a:rPr>
              <a:t>系统的基本操作</a:t>
            </a:r>
            <a:endParaRPr lang="zh-CN" altLang="en-US" sz="2400" b="1" dirty="0">
              <a:solidFill>
                <a:srgbClr val="FF0000"/>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1001395" y="1069975"/>
            <a:ext cx="6614160" cy="368300"/>
          </a:xfrm>
          <a:prstGeom prst="rect">
            <a:avLst/>
          </a:prstGeom>
          <a:noFill/>
        </p:spPr>
        <p:txBody>
          <a:bodyPr wrap="square" rtlCol="0">
            <a:spAutoFit/>
          </a:bodyPr>
          <a:p>
            <a:r>
              <a:rPr lang="zh-CN" altLang="en-US" b="1"/>
              <a:t>文件结构图及关键文件功能介绍</a:t>
            </a:r>
            <a:endParaRPr lang="zh-CN" altLang="en-US" b="1"/>
          </a:p>
        </p:txBody>
      </p:sp>
      <p:sp>
        <p:nvSpPr>
          <p:cNvPr id="8" name="文本框 7"/>
          <p:cNvSpPr txBox="1"/>
          <p:nvPr/>
        </p:nvSpPr>
        <p:spPr>
          <a:xfrm>
            <a:off x="1001395" y="1518285"/>
            <a:ext cx="10929620" cy="645160"/>
          </a:xfrm>
          <a:prstGeom prst="rect">
            <a:avLst/>
          </a:prstGeom>
          <a:noFill/>
        </p:spPr>
        <p:txBody>
          <a:bodyPr wrap="square" rtlCol="0">
            <a:spAutoFit/>
          </a:bodyPr>
          <a:p>
            <a:r>
              <a:rPr lang="zh-CN" altLang="en-US"/>
              <a:t>二级</a:t>
            </a:r>
            <a:r>
              <a:rPr lang="zh-CN" altLang="en-US"/>
              <a:t>目录</a:t>
            </a:r>
            <a:endParaRPr lang="zh-CN" altLang="en-US"/>
          </a:p>
          <a:p>
            <a:endParaRPr lang="zh-CN" altLang="en-US"/>
          </a:p>
        </p:txBody>
      </p:sp>
      <p:pic>
        <p:nvPicPr>
          <p:cNvPr id="2" name="图片 1"/>
          <p:cNvPicPr>
            <a:picLocks noChangeAspect="1"/>
          </p:cNvPicPr>
          <p:nvPr/>
        </p:nvPicPr>
        <p:blipFill>
          <a:blip r:embed="rId1"/>
          <a:stretch>
            <a:fillRect/>
          </a:stretch>
        </p:blipFill>
        <p:spPr>
          <a:xfrm>
            <a:off x="1001395" y="2038350"/>
            <a:ext cx="9829800" cy="4305300"/>
          </a:xfrm>
          <a:prstGeom prst="rect">
            <a:avLst/>
          </a:prstGeom>
        </p:spPr>
      </p:pic>
    </p:spTree>
    <p:custDataLst>
      <p:tags r:id="rId2"/>
    </p:custData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38"/>
          <p:cNvSpPr>
            <a:spLocks noChangeArrowheads="1"/>
          </p:cNvSpPr>
          <p:nvPr/>
        </p:nvSpPr>
        <p:spPr bwMode="auto">
          <a:xfrm>
            <a:off x="505461" y="609600"/>
            <a:ext cx="84296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0" eaLnBrk="1" hangingPunct="1">
              <a:buFont typeface="+mj-lt"/>
              <a:buNone/>
              <a:defRPr/>
            </a:pPr>
            <a:r>
              <a:rPr lang="en-US" altLang="zh-CN" sz="2400" b="1">
                <a:solidFill>
                  <a:srgbClr val="FF0000"/>
                </a:solidFill>
                <a:sym typeface="+mn-ea"/>
              </a:rPr>
              <a:t>2.1 Linux</a:t>
            </a:r>
            <a:r>
              <a:rPr lang="zh-CN" altLang="en-US" sz="2400" b="1">
                <a:solidFill>
                  <a:srgbClr val="FF0000"/>
                </a:solidFill>
                <a:sym typeface="+mn-ea"/>
              </a:rPr>
              <a:t>系统的基本操作</a:t>
            </a:r>
            <a:endParaRPr lang="zh-CN" altLang="en-US" sz="2400" b="1" dirty="0">
              <a:solidFill>
                <a:srgbClr val="FF0000"/>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1001395" y="1069975"/>
            <a:ext cx="6614160" cy="368300"/>
          </a:xfrm>
          <a:prstGeom prst="rect">
            <a:avLst/>
          </a:prstGeom>
          <a:noFill/>
        </p:spPr>
        <p:txBody>
          <a:bodyPr wrap="square" rtlCol="0">
            <a:spAutoFit/>
          </a:bodyPr>
          <a:p>
            <a:r>
              <a:rPr lang="zh-CN" altLang="en-US" b="1"/>
              <a:t>文件结构图及关键文件功能介绍</a:t>
            </a:r>
            <a:endParaRPr lang="zh-CN" altLang="en-US" b="1"/>
          </a:p>
        </p:txBody>
      </p:sp>
      <p:sp>
        <p:nvSpPr>
          <p:cNvPr id="8" name="文本框 7"/>
          <p:cNvSpPr txBox="1"/>
          <p:nvPr/>
        </p:nvSpPr>
        <p:spPr>
          <a:xfrm>
            <a:off x="1001395" y="1518285"/>
            <a:ext cx="10929620" cy="645160"/>
          </a:xfrm>
          <a:prstGeom prst="rect">
            <a:avLst/>
          </a:prstGeom>
          <a:noFill/>
        </p:spPr>
        <p:txBody>
          <a:bodyPr wrap="square" rtlCol="0">
            <a:spAutoFit/>
          </a:bodyPr>
          <a:p>
            <a:r>
              <a:rPr lang="zh-CN" altLang="en-US"/>
              <a:t>文件</a:t>
            </a:r>
            <a:endParaRPr lang="zh-CN" altLang="en-US"/>
          </a:p>
          <a:p>
            <a:endParaRPr lang="zh-CN" altLang="en-US"/>
          </a:p>
        </p:txBody>
      </p:sp>
      <p:pic>
        <p:nvPicPr>
          <p:cNvPr id="2" name="图片 1"/>
          <p:cNvPicPr>
            <a:picLocks noChangeAspect="1"/>
          </p:cNvPicPr>
          <p:nvPr/>
        </p:nvPicPr>
        <p:blipFill>
          <a:blip r:embed="rId1"/>
          <a:stretch>
            <a:fillRect/>
          </a:stretch>
        </p:blipFill>
        <p:spPr>
          <a:xfrm>
            <a:off x="1098550" y="1807845"/>
            <a:ext cx="9494520" cy="4983480"/>
          </a:xfrm>
          <a:prstGeom prst="rect">
            <a:avLst/>
          </a:prstGeom>
        </p:spPr>
      </p:pic>
    </p:spTree>
    <p:custDataLst>
      <p:tags r:id="rId2"/>
    </p:custData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idx="4294967295"/>
          </p:nvPr>
        </p:nvSpPr>
        <p:spPr bwMode="auto">
          <a:xfrm>
            <a:off x="0" y="153988"/>
            <a:ext cx="4716463" cy="7762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p>
            <a:pPr algn="l"/>
            <a:r>
              <a:rPr lang="en-US" altLang="zh-CN" dirty="0" smtClean="0"/>
              <a:t>  </a:t>
            </a:r>
            <a:r>
              <a:rPr lang="en-US" altLang="zh-CN" sz="2660" b="1">
                <a:solidFill>
                  <a:srgbClr val="FF0000"/>
                </a:solidFill>
                <a:sym typeface="+mn-ea"/>
              </a:rPr>
              <a:t>2.1 Linux</a:t>
            </a:r>
            <a:r>
              <a:rPr lang="zh-CN" altLang="en-US" sz="2660" b="1">
                <a:solidFill>
                  <a:srgbClr val="FF0000"/>
                </a:solidFill>
                <a:sym typeface="+mn-ea"/>
              </a:rPr>
              <a:t>系统的基本操作</a:t>
            </a:r>
            <a:endPar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9219"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 name="矩形 5"/>
          <p:cNvSpPr>
            <a:spLocks noChangeArrowheads="1"/>
          </p:cNvSpPr>
          <p:nvPr/>
        </p:nvSpPr>
        <p:spPr bwMode="auto">
          <a:xfrm>
            <a:off x="592456" y="929959"/>
            <a:ext cx="8520113" cy="3415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a:lnSpc>
                <a:spcPct val="200000"/>
              </a:lnSpc>
              <a:buFont typeface="Wingdings" panose="05000000000000000000" pitchFamily="2" charset="2"/>
              <a:buChar char="l"/>
              <a:defRPr/>
            </a:pPr>
            <a:r>
              <a:rPr lang="zh-CN" altLang="en-US" dirty="0"/>
              <a:t>账号</a:t>
            </a:r>
            <a:r>
              <a:rPr lang="zh-CN" altLang="en-US" dirty="0"/>
              <a:t>管理</a:t>
            </a:r>
            <a:endParaRPr lang="zh-CN" altLang="en-US" dirty="0"/>
          </a:p>
          <a:p>
            <a:pPr indent="0">
              <a:lnSpc>
                <a:spcPct val="200000"/>
              </a:lnSpc>
              <a:buFont typeface="Wingdings" panose="05000000000000000000" pitchFamily="2" charset="2"/>
              <a:buNone/>
              <a:defRPr/>
            </a:pPr>
            <a:r>
              <a:rPr lang="en-US" altLang="zh-CN" dirty="0"/>
              <a:t>1</a:t>
            </a:r>
            <a:r>
              <a:rPr lang="zh-CN" altLang="en-US" dirty="0"/>
              <a:t>、系统</a:t>
            </a:r>
            <a:r>
              <a:rPr lang="zh-CN" altLang="en-US" dirty="0"/>
              <a:t>用户</a:t>
            </a:r>
            <a:endParaRPr lang="zh-CN" altLang="en-US" dirty="0"/>
          </a:p>
          <a:p>
            <a:pPr indent="0">
              <a:lnSpc>
                <a:spcPct val="200000"/>
              </a:lnSpc>
              <a:buFont typeface="Wingdings" panose="05000000000000000000" pitchFamily="2" charset="2"/>
              <a:buNone/>
              <a:defRPr/>
            </a:pPr>
            <a:r>
              <a:rPr lang="en-US" altLang="zh-CN" dirty="0"/>
              <a:t>      </a:t>
            </a:r>
            <a:r>
              <a:rPr lang="zh-CN" altLang="en-US" dirty="0"/>
              <a:t>账号</a:t>
            </a:r>
            <a:r>
              <a:rPr lang="zh-CN" altLang="en-US" dirty="0"/>
              <a:t>分类：</a:t>
            </a:r>
            <a:endParaRPr lang="zh-CN" altLang="en-US" dirty="0"/>
          </a:p>
          <a:p>
            <a:pPr indent="0">
              <a:lnSpc>
                <a:spcPct val="200000"/>
              </a:lnSpc>
              <a:buFont typeface="Wingdings" panose="05000000000000000000" pitchFamily="2" charset="2"/>
              <a:buNone/>
              <a:defRPr/>
            </a:pPr>
            <a:r>
              <a:rPr lang="en-US" altLang="zh-CN" dirty="0"/>
              <a:t>              </a:t>
            </a:r>
            <a:r>
              <a:rPr lang="zh-CN" altLang="en-US" dirty="0"/>
              <a:t>超级管理员</a:t>
            </a:r>
            <a:r>
              <a:rPr lang="en-US" altLang="zh-CN" dirty="0"/>
              <a:t>         uid=0,</a:t>
            </a:r>
            <a:endParaRPr lang="en-US" altLang="zh-CN" dirty="0"/>
          </a:p>
          <a:p>
            <a:pPr indent="0">
              <a:lnSpc>
                <a:spcPct val="200000"/>
              </a:lnSpc>
              <a:buFont typeface="Wingdings" panose="05000000000000000000" pitchFamily="2" charset="2"/>
              <a:buNone/>
              <a:defRPr/>
            </a:pPr>
            <a:r>
              <a:rPr lang="en-US" altLang="zh-CN" dirty="0"/>
              <a:t>              </a:t>
            </a:r>
            <a:r>
              <a:rPr lang="zh-CN" altLang="en-US" dirty="0"/>
              <a:t>系统默认用户</a:t>
            </a:r>
            <a:r>
              <a:rPr lang="en-US" altLang="zh-CN" dirty="0"/>
              <a:t>     </a:t>
            </a:r>
            <a:r>
              <a:rPr lang="zh-CN" altLang="en-US" dirty="0"/>
              <a:t>系统程序使用，从不登录</a:t>
            </a:r>
            <a:endParaRPr lang="zh-CN" altLang="en-US" dirty="0"/>
          </a:p>
          <a:p>
            <a:pPr indent="0">
              <a:lnSpc>
                <a:spcPct val="200000"/>
              </a:lnSpc>
              <a:buFont typeface="Wingdings" panose="05000000000000000000" pitchFamily="2" charset="2"/>
              <a:buNone/>
              <a:defRPr/>
            </a:pPr>
            <a:r>
              <a:rPr lang="zh-CN" altLang="en-US" dirty="0"/>
              <a:t> </a:t>
            </a:r>
            <a:r>
              <a:rPr lang="en-US" altLang="zh-CN" dirty="0"/>
              <a:t>             </a:t>
            </a:r>
            <a:r>
              <a:rPr lang="zh-CN" altLang="en-US" dirty="0"/>
              <a:t>新建普通用户</a:t>
            </a:r>
            <a:r>
              <a:rPr lang="en-US" altLang="zh-CN" dirty="0"/>
              <a:t>      uid</a:t>
            </a:r>
            <a:r>
              <a:rPr lang="zh-CN" altLang="en-US" dirty="0"/>
              <a:t>大于</a:t>
            </a:r>
            <a:r>
              <a:rPr lang="en-US" altLang="zh-CN" dirty="0"/>
              <a:t>1000    </a:t>
            </a:r>
            <a:endParaRPr lang="en-US" altLang="zh-CN" dirty="0"/>
          </a:p>
        </p:txBody>
      </p:sp>
      <p:pic>
        <p:nvPicPr>
          <p:cNvPr id="2" name="图片 1"/>
          <p:cNvPicPr>
            <a:picLocks noChangeAspect="1"/>
          </p:cNvPicPr>
          <p:nvPr/>
        </p:nvPicPr>
        <p:blipFill>
          <a:blip r:embed="rId1"/>
          <a:stretch>
            <a:fillRect/>
          </a:stretch>
        </p:blipFill>
        <p:spPr>
          <a:xfrm>
            <a:off x="6009640" y="1424940"/>
            <a:ext cx="6000750" cy="4845050"/>
          </a:xfrm>
          <a:prstGeom prst="rect">
            <a:avLst/>
          </a:prstGeom>
        </p:spPr>
      </p:pic>
    </p:spTree>
    <p:custDataLst>
      <p:tags r:id="rId2"/>
    </p:custData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 name="矩形 5"/>
          <p:cNvSpPr>
            <a:spLocks noChangeArrowheads="1"/>
          </p:cNvSpPr>
          <p:nvPr/>
        </p:nvSpPr>
        <p:spPr bwMode="auto">
          <a:xfrm>
            <a:off x="724536" y="1056959"/>
            <a:ext cx="8520113"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0">
              <a:lnSpc>
                <a:spcPct val="200000"/>
              </a:lnSpc>
              <a:buFont typeface="Wingdings" panose="05000000000000000000" pitchFamily="2" charset="2"/>
              <a:buNone/>
              <a:defRPr/>
            </a:pPr>
            <a:r>
              <a:rPr lang="en-US" altLang="zh-CN" sz="2400" dirty="0"/>
              <a:t>2</a:t>
            </a:r>
            <a:r>
              <a:rPr lang="zh-CN" altLang="en-US" sz="2400" dirty="0"/>
              <a:t>、</a:t>
            </a:r>
            <a:r>
              <a:rPr lang="en-US" altLang="zh-CN" sz="2400" dirty="0"/>
              <a:t>etc/passwd</a:t>
            </a:r>
            <a:endParaRPr lang="zh-CN" altLang="en-US" sz="2400" dirty="0"/>
          </a:p>
          <a:p>
            <a:pPr indent="0">
              <a:lnSpc>
                <a:spcPct val="200000"/>
              </a:lnSpc>
              <a:buFont typeface="Wingdings" panose="05000000000000000000" pitchFamily="2" charset="2"/>
              <a:buNone/>
              <a:defRPr/>
            </a:pPr>
            <a:endParaRPr lang="en-US" altLang="zh-CN" sz="2400" dirty="0"/>
          </a:p>
        </p:txBody>
      </p:sp>
      <p:sp>
        <p:nvSpPr>
          <p:cNvPr id="2" name="标题 1"/>
          <p:cNvSpPr>
            <a:spLocks noGrp="1"/>
          </p:cNvSpPr>
          <p:nvPr/>
        </p:nvSpPr>
        <p:spPr bwMode="auto">
          <a:xfrm>
            <a:off x="127000" y="280988"/>
            <a:ext cx="4716463" cy="7762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en-US" altLang="zh-CN" dirty="0" smtClean="0"/>
              <a:t>  </a:t>
            </a:r>
            <a:r>
              <a:rPr lang="en-US" altLang="zh-CN" sz="2660" b="1">
                <a:solidFill>
                  <a:srgbClr val="FF0000"/>
                </a:solidFill>
                <a:sym typeface="+mn-ea"/>
              </a:rPr>
              <a:t>2.1 Linux</a:t>
            </a:r>
            <a:r>
              <a:rPr lang="zh-CN" altLang="en-US" sz="2660" b="1">
                <a:solidFill>
                  <a:srgbClr val="FF0000"/>
                </a:solidFill>
                <a:sym typeface="+mn-ea"/>
              </a:rPr>
              <a:t>系统的基本操作</a:t>
            </a:r>
            <a:endParaRPr lang="zh-CN" altLang="en-US" sz="2660" b="1" dirty="0">
              <a:solidFill>
                <a:srgbClr val="FF0000"/>
              </a:solidFill>
              <a:latin typeface="微软雅黑" panose="020B0503020204020204" pitchFamily="34" charset="-122"/>
              <a:ea typeface="微软雅黑" panose="020B0503020204020204" pitchFamily="34" charset="-122"/>
              <a:sym typeface="+mn-ea"/>
            </a:endParaRPr>
          </a:p>
          <a:p>
            <a:pPr algn="l"/>
            <a:endPar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3" name="图片 2"/>
          <p:cNvPicPr>
            <a:picLocks noChangeAspect="1"/>
          </p:cNvPicPr>
          <p:nvPr/>
        </p:nvPicPr>
        <p:blipFill>
          <a:blip r:embed="rId1"/>
          <a:stretch>
            <a:fillRect/>
          </a:stretch>
        </p:blipFill>
        <p:spPr>
          <a:xfrm>
            <a:off x="724535" y="1977390"/>
            <a:ext cx="7269480" cy="2903220"/>
          </a:xfrm>
          <a:prstGeom prst="rect">
            <a:avLst/>
          </a:prstGeom>
        </p:spPr>
      </p:pic>
    </p:spTree>
    <p:custDataLst>
      <p:tags r:id="rId2"/>
    </p:custData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 name="矩形 5"/>
          <p:cNvSpPr>
            <a:spLocks noChangeArrowheads="1"/>
          </p:cNvSpPr>
          <p:nvPr/>
        </p:nvSpPr>
        <p:spPr bwMode="auto">
          <a:xfrm>
            <a:off x="605791" y="960439"/>
            <a:ext cx="8520113" cy="1938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0">
              <a:lnSpc>
                <a:spcPct val="200000"/>
              </a:lnSpc>
              <a:buFont typeface="Wingdings" panose="05000000000000000000" pitchFamily="2" charset="2"/>
              <a:buNone/>
              <a:defRPr/>
            </a:pPr>
            <a:r>
              <a:rPr lang="en-US" altLang="zh-CN" sz="2400" dirty="0"/>
              <a:t>3</a:t>
            </a:r>
            <a:r>
              <a:rPr lang="zh-CN" altLang="en-US" sz="2400" dirty="0"/>
              <a:t>、</a:t>
            </a:r>
            <a:r>
              <a:rPr lang="en-US" altLang="zh-CN" sz="2400" dirty="0"/>
              <a:t>etc/shadow</a:t>
            </a:r>
            <a:endParaRPr lang="en-US" altLang="zh-CN" sz="2400" dirty="0"/>
          </a:p>
          <a:p>
            <a:pPr indent="0">
              <a:lnSpc>
                <a:spcPct val="200000"/>
              </a:lnSpc>
              <a:buFont typeface="Wingdings" panose="05000000000000000000" pitchFamily="2" charset="2"/>
              <a:buNone/>
              <a:defRPr/>
            </a:pPr>
            <a:endParaRPr lang="zh-CN" altLang="en-US" dirty="0"/>
          </a:p>
          <a:p>
            <a:pPr indent="0">
              <a:lnSpc>
                <a:spcPct val="200000"/>
              </a:lnSpc>
              <a:buFont typeface="Wingdings" panose="05000000000000000000" pitchFamily="2" charset="2"/>
              <a:buNone/>
              <a:defRPr/>
            </a:pPr>
            <a:endParaRPr lang="en-US" altLang="zh-CN" dirty="0"/>
          </a:p>
        </p:txBody>
      </p:sp>
      <p:sp>
        <p:nvSpPr>
          <p:cNvPr id="2" name="标题 1"/>
          <p:cNvSpPr>
            <a:spLocks noGrp="1"/>
          </p:cNvSpPr>
          <p:nvPr/>
        </p:nvSpPr>
        <p:spPr bwMode="auto">
          <a:xfrm>
            <a:off x="127000" y="280988"/>
            <a:ext cx="4716463" cy="7762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fontScale="7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0" eaLnBrk="1" hangingPunct="1">
              <a:buFont typeface="+mj-lt"/>
              <a:buNone/>
              <a:defRPr/>
            </a:pPr>
            <a:r>
              <a:rPr lang="en-US" altLang="zh-CN" dirty="0" smtClean="0"/>
              <a:t> </a:t>
            </a:r>
            <a:r>
              <a:rPr lang="en-US" altLang="zh-CN" b="1">
                <a:solidFill>
                  <a:srgbClr val="FF0000"/>
                </a:solidFill>
                <a:sym typeface="+mn-ea"/>
              </a:rPr>
              <a:t>2.1 Linux</a:t>
            </a:r>
            <a:r>
              <a:rPr lang="zh-CN" altLang="en-US" b="1">
                <a:solidFill>
                  <a:srgbClr val="FF0000"/>
                </a:solidFill>
                <a:sym typeface="+mn-ea"/>
              </a:rPr>
              <a:t>系统的基本操作</a:t>
            </a:r>
            <a:endPar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3" name="图片 2"/>
          <p:cNvPicPr>
            <a:picLocks noChangeAspect="1"/>
          </p:cNvPicPr>
          <p:nvPr/>
        </p:nvPicPr>
        <p:blipFill>
          <a:blip r:embed="rId1"/>
          <a:stretch>
            <a:fillRect/>
          </a:stretch>
        </p:blipFill>
        <p:spPr>
          <a:xfrm>
            <a:off x="676910" y="1804670"/>
            <a:ext cx="7208520" cy="3451860"/>
          </a:xfrm>
          <a:prstGeom prst="rect">
            <a:avLst/>
          </a:prstGeom>
        </p:spPr>
      </p:pic>
    </p:spTree>
    <p:custDataLst>
      <p:tags r:id="rId2"/>
    </p:custData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 name="矩形 5"/>
          <p:cNvSpPr>
            <a:spLocks noChangeArrowheads="1"/>
          </p:cNvSpPr>
          <p:nvPr/>
        </p:nvSpPr>
        <p:spPr bwMode="auto">
          <a:xfrm>
            <a:off x="707391" y="1056959"/>
            <a:ext cx="8520113" cy="4799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200000"/>
              </a:lnSpc>
              <a:defRPr/>
            </a:pPr>
            <a:r>
              <a:rPr lang="en-US" altLang="zh-CN" dirty="0"/>
              <a:t>4</a:t>
            </a:r>
            <a:r>
              <a:rPr lang="zh-CN" altLang="en-US" dirty="0"/>
              <a:t>、用户</a:t>
            </a:r>
            <a:r>
              <a:rPr lang="zh-CN" altLang="en-US" dirty="0"/>
              <a:t>管理</a:t>
            </a:r>
            <a:endParaRPr lang="zh-CN" altLang="en-US" dirty="0"/>
          </a:p>
          <a:p>
            <a:pPr fontAlgn="auto">
              <a:lnSpc>
                <a:spcPct val="100000"/>
              </a:lnSpc>
              <a:defRPr/>
            </a:pPr>
            <a:r>
              <a:rPr lang="en-US" altLang="zh-CN" dirty="0"/>
              <a:t>     </a:t>
            </a:r>
            <a:r>
              <a:rPr lang="zh-CN" altLang="en-US" dirty="0"/>
              <a:t>添加</a:t>
            </a:r>
            <a:r>
              <a:rPr lang="zh-CN" altLang="en-US" dirty="0"/>
              <a:t>用户：</a:t>
            </a:r>
            <a:endParaRPr lang="zh-CN" altLang="en-US" dirty="0"/>
          </a:p>
          <a:p>
            <a:pPr fontAlgn="auto">
              <a:lnSpc>
                <a:spcPct val="100000"/>
              </a:lnSpc>
              <a:defRPr/>
            </a:pPr>
            <a:r>
              <a:rPr lang="en-US" altLang="zh-CN" dirty="0"/>
              <a:t>                    useradd&lt;</a:t>
            </a:r>
            <a:r>
              <a:rPr lang="zh-CN" altLang="en-US" dirty="0"/>
              <a:t>用户名</a:t>
            </a:r>
            <a:r>
              <a:rPr lang="en-US" altLang="zh-CN" dirty="0"/>
              <a:t>&gt;</a:t>
            </a:r>
            <a:endParaRPr lang="en-US" altLang="zh-CN" dirty="0"/>
          </a:p>
          <a:p>
            <a:pPr fontAlgn="auto">
              <a:lnSpc>
                <a:spcPct val="100000"/>
              </a:lnSpc>
              <a:defRPr/>
            </a:pPr>
            <a:r>
              <a:rPr lang="en-US" altLang="zh-CN" dirty="0"/>
              <a:t>     </a:t>
            </a:r>
            <a:r>
              <a:rPr lang="zh-CN" altLang="en-US" dirty="0"/>
              <a:t>删除</a:t>
            </a:r>
            <a:r>
              <a:rPr lang="zh-CN" altLang="en-US" dirty="0"/>
              <a:t>用户：</a:t>
            </a:r>
            <a:endParaRPr lang="zh-CN" altLang="en-US" dirty="0"/>
          </a:p>
          <a:p>
            <a:pPr fontAlgn="auto">
              <a:lnSpc>
                <a:spcPct val="100000"/>
              </a:lnSpc>
              <a:defRPr/>
            </a:pPr>
            <a:r>
              <a:rPr lang="en-US" altLang="zh-CN" dirty="0"/>
              <a:t>                    userdel[-r][-f]&lt;</a:t>
            </a:r>
            <a:r>
              <a:rPr lang="zh-CN" altLang="en-US" dirty="0"/>
              <a:t>用户名</a:t>
            </a:r>
            <a:r>
              <a:rPr lang="en-US" altLang="zh-CN" dirty="0"/>
              <a:t>&gt;</a:t>
            </a:r>
            <a:endParaRPr lang="en-US" altLang="zh-CN" dirty="0"/>
          </a:p>
          <a:p>
            <a:pPr fontAlgn="auto">
              <a:lnSpc>
                <a:spcPct val="100000"/>
              </a:lnSpc>
              <a:defRPr/>
            </a:pPr>
            <a:endParaRPr lang="en-US" altLang="zh-CN" dirty="0"/>
          </a:p>
          <a:p>
            <a:pPr fontAlgn="auto">
              <a:lnSpc>
                <a:spcPct val="100000"/>
              </a:lnSpc>
              <a:defRPr/>
            </a:pPr>
            <a:r>
              <a:rPr lang="en-US" altLang="zh-CN" dirty="0"/>
              <a:t>     </a:t>
            </a:r>
            <a:r>
              <a:rPr lang="zh-CN" altLang="en-US" dirty="0"/>
              <a:t>锁定</a:t>
            </a:r>
            <a:r>
              <a:rPr lang="en-US" altLang="zh-CN" dirty="0"/>
              <a:t>/</a:t>
            </a:r>
            <a:r>
              <a:rPr lang="zh-CN" altLang="en-US" dirty="0"/>
              <a:t>解锁</a:t>
            </a:r>
            <a:r>
              <a:rPr lang="zh-CN" altLang="en-US" dirty="0"/>
              <a:t>用户：</a:t>
            </a:r>
            <a:endParaRPr lang="zh-CN" altLang="en-US" dirty="0"/>
          </a:p>
          <a:p>
            <a:pPr fontAlgn="auto">
              <a:lnSpc>
                <a:spcPct val="100000"/>
              </a:lnSpc>
              <a:defRPr/>
            </a:pPr>
            <a:r>
              <a:rPr lang="en-US" altLang="zh-CN" dirty="0"/>
              <a:t>     passwd -l &lt;</a:t>
            </a:r>
            <a:r>
              <a:rPr lang="zh-CN" altLang="en-US" dirty="0"/>
              <a:t>用户名</a:t>
            </a:r>
            <a:r>
              <a:rPr lang="en-US" altLang="zh-CN" dirty="0"/>
              <a:t>&gt;</a:t>
            </a:r>
            <a:endParaRPr lang="en-US" altLang="zh-CN" dirty="0"/>
          </a:p>
          <a:p>
            <a:pPr fontAlgn="auto">
              <a:lnSpc>
                <a:spcPct val="100000"/>
              </a:lnSpc>
              <a:defRPr/>
            </a:pPr>
            <a:r>
              <a:rPr lang="en-US" altLang="zh-CN" dirty="0"/>
              <a:t>     passwd -u &lt;</a:t>
            </a:r>
            <a:r>
              <a:rPr lang="zh-CN" altLang="en-US" dirty="0"/>
              <a:t>用户名</a:t>
            </a:r>
            <a:r>
              <a:rPr lang="en-US" altLang="zh-CN" dirty="0"/>
              <a:t>&gt;</a:t>
            </a:r>
            <a:endParaRPr lang="en-US" altLang="zh-CN" dirty="0"/>
          </a:p>
          <a:p>
            <a:pPr fontAlgn="auto">
              <a:lnSpc>
                <a:spcPct val="100000"/>
              </a:lnSpc>
              <a:defRPr/>
            </a:pPr>
            <a:endParaRPr lang="en-US" altLang="zh-CN" dirty="0"/>
          </a:p>
          <a:p>
            <a:pPr fontAlgn="auto">
              <a:lnSpc>
                <a:spcPct val="100000"/>
              </a:lnSpc>
              <a:defRPr/>
            </a:pPr>
            <a:r>
              <a:rPr lang="en-US" altLang="zh-CN" dirty="0"/>
              <a:t>     </a:t>
            </a:r>
            <a:r>
              <a:rPr lang="zh-CN" altLang="en-US" dirty="0"/>
              <a:t>用户</a:t>
            </a:r>
            <a:r>
              <a:rPr lang="zh-CN" altLang="en-US" dirty="0"/>
              <a:t>属性：</a:t>
            </a:r>
            <a:endParaRPr lang="zh-CN" altLang="en-US" dirty="0"/>
          </a:p>
          <a:p>
            <a:pPr fontAlgn="auto">
              <a:lnSpc>
                <a:spcPct val="100000"/>
              </a:lnSpc>
              <a:defRPr/>
            </a:pPr>
            <a:r>
              <a:rPr lang="en-US" altLang="zh-CN" dirty="0"/>
              <a:t>     usermod -L  &lt;</a:t>
            </a:r>
            <a:r>
              <a:rPr lang="zh-CN" altLang="en-US" dirty="0"/>
              <a:t>用户名</a:t>
            </a:r>
            <a:r>
              <a:rPr lang="en-US" altLang="zh-CN" dirty="0"/>
              <a:t>&gt;</a:t>
            </a:r>
            <a:r>
              <a:rPr lang="zh-CN" altLang="en-US" dirty="0"/>
              <a:t>锁定用户</a:t>
            </a:r>
            <a:endParaRPr lang="zh-CN" altLang="en-US" dirty="0"/>
          </a:p>
          <a:p>
            <a:pPr fontAlgn="auto">
              <a:lnSpc>
                <a:spcPct val="100000"/>
              </a:lnSpc>
              <a:defRPr/>
            </a:pPr>
            <a:r>
              <a:rPr lang="en-US" altLang="zh-CN" dirty="0"/>
              <a:t>     usermod -U &lt;</a:t>
            </a:r>
            <a:r>
              <a:rPr lang="zh-CN" altLang="en-US" dirty="0"/>
              <a:t>用户名</a:t>
            </a:r>
            <a:r>
              <a:rPr lang="en-US" altLang="zh-CN" dirty="0"/>
              <a:t>&gt;</a:t>
            </a:r>
            <a:r>
              <a:rPr lang="zh-CN" altLang="en-US" dirty="0"/>
              <a:t>解锁</a:t>
            </a:r>
            <a:r>
              <a:rPr lang="zh-CN" altLang="en-US" dirty="0"/>
              <a:t>用户</a:t>
            </a:r>
            <a:endParaRPr lang="zh-CN" altLang="en-US" dirty="0"/>
          </a:p>
          <a:p>
            <a:pPr fontAlgn="auto">
              <a:lnSpc>
                <a:spcPct val="100000"/>
              </a:lnSpc>
              <a:defRPr/>
            </a:pPr>
            <a:endParaRPr lang="zh-CN" altLang="en-US" dirty="0"/>
          </a:p>
          <a:p>
            <a:pPr fontAlgn="auto">
              <a:lnSpc>
                <a:spcPct val="100000"/>
              </a:lnSpc>
              <a:defRPr/>
            </a:pPr>
            <a:r>
              <a:rPr lang="en-US" altLang="zh-CN" dirty="0"/>
              <a:t>    </a:t>
            </a:r>
            <a:r>
              <a:rPr lang="zh-CN" altLang="en-US" dirty="0"/>
              <a:t>查看当前</a:t>
            </a:r>
            <a:r>
              <a:rPr lang="zh-CN" altLang="en-US" dirty="0"/>
              <a:t>用户</a:t>
            </a:r>
            <a:endParaRPr lang="zh-CN" altLang="en-US" dirty="0"/>
          </a:p>
          <a:p>
            <a:pPr fontAlgn="auto">
              <a:lnSpc>
                <a:spcPct val="100000"/>
              </a:lnSpc>
              <a:defRPr/>
            </a:pPr>
            <a:r>
              <a:rPr lang="en-US" altLang="zh-CN" dirty="0"/>
              <a:t>    id</a:t>
            </a:r>
            <a:endParaRPr lang="en-US" altLang="zh-CN" dirty="0"/>
          </a:p>
        </p:txBody>
      </p:sp>
      <p:sp>
        <p:nvSpPr>
          <p:cNvPr id="2" name="标题 1"/>
          <p:cNvSpPr>
            <a:spLocks noGrp="1"/>
          </p:cNvSpPr>
          <p:nvPr/>
        </p:nvSpPr>
        <p:spPr bwMode="auto">
          <a:xfrm>
            <a:off x="127000" y="280988"/>
            <a:ext cx="4716463" cy="7762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en-US" altLang="zh-CN" dirty="0" smtClean="0"/>
              <a:t>  </a:t>
            </a:r>
            <a:r>
              <a:rPr lang="en-US" altLang="zh-CN" sz="2660" b="1">
                <a:solidFill>
                  <a:srgbClr val="FF0000"/>
                </a:solidFill>
                <a:sym typeface="+mn-ea"/>
              </a:rPr>
              <a:t>2.1 Linux</a:t>
            </a:r>
            <a:r>
              <a:rPr lang="zh-CN" altLang="en-US" sz="2660" b="1">
                <a:solidFill>
                  <a:srgbClr val="FF0000"/>
                </a:solidFill>
                <a:sym typeface="+mn-ea"/>
              </a:rPr>
              <a:t>系统的基本操作</a:t>
            </a:r>
            <a:endParaRPr lang="zh-CN" altLang="en-US" sz="2660" b="1" dirty="0">
              <a:solidFill>
                <a:srgbClr val="FF0000"/>
              </a:solidFill>
              <a:latin typeface="微软雅黑" panose="020B0503020204020204" pitchFamily="34" charset="-122"/>
              <a:ea typeface="微软雅黑" panose="020B0503020204020204" pitchFamily="34" charset="-122"/>
              <a:sym typeface="+mn-ea"/>
            </a:endParaRPr>
          </a:p>
          <a:p>
            <a:pPr algn="l"/>
            <a:endPar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endParaRPr>
          </a:p>
        </p:txBody>
      </p:sp>
    </p:spTree>
    <p:custDataLst>
      <p:tags r:id="rId1"/>
    </p:custData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 name="矩形 5"/>
          <p:cNvSpPr>
            <a:spLocks noChangeArrowheads="1"/>
          </p:cNvSpPr>
          <p:nvPr/>
        </p:nvSpPr>
        <p:spPr bwMode="auto">
          <a:xfrm>
            <a:off x="676911" y="1153479"/>
            <a:ext cx="8520113" cy="175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a:lnSpc>
                <a:spcPct val="200000"/>
              </a:lnSpc>
              <a:buFont typeface="Wingdings" panose="05000000000000000000" pitchFamily="2" charset="2"/>
              <a:buChar char="l"/>
              <a:defRPr/>
            </a:pPr>
            <a:r>
              <a:rPr lang="zh-CN" altLang="en-US" dirty="0"/>
              <a:t>权限</a:t>
            </a:r>
            <a:r>
              <a:rPr lang="zh-CN" altLang="en-US" dirty="0"/>
              <a:t>管理</a:t>
            </a:r>
            <a:endParaRPr lang="zh-CN" altLang="en-US" dirty="0"/>
          </a:p>
          <a:p>
            <a:pPr indent="0">
              <a:lnSpc>
                <a:spcPct val="200000"/>
              </a:lnSpc>
              <a:buFont typeface="Wingdings" panose="05000000000000000000" pitchFamily="2" charset="2"/>
              <a:buNone/>
              <a:defRPr/>
            </a:pPr>
            <a:r>
              <a:rPr lang="en-US" altLang="zh-CN" dirty="0"/>
              <a:t>1</a:t>
            </a:r>
            <a:r>
              <a:rPr lang="zh-CN" altLang="en-US" dirty="0"/>
              <a:t>、解析文件</a:t>
            </a:r>
            <a:r>
              <a:rPr lang="zh-CN" altLang="en-US" dirty="0"/>
              <a:t>权限</a:t>
            </a:r>
            <a:endParaRPr lang="zh-CN" altLang="en-US" dirty="0"/>
          </a:p>
          <a:p>
            <a:pPr indent="0">
              <a:lnSpc>
                <a:spcPct val="200000"/>
              </a:lnSpc>
              <a:buFont typeface="Wingdings" panose="05000000000000000000" pitchFamily="2" charset="2"/>
              <a:buNone/>
              <a:defRPr/>
            </a:pPr>
            <a:endParaRPr lang="zh-CN" altLang="en-US" dirty="0"/>
          </a:p>
        </p:txBody>
      </p:sp>
      <p:sp>
        <p:nvSpPr>
          <p:cNvPr id="2" name="标题 1"/>
          <p:cNvSpPr>
            <a:spLocks noGrp="1"/>
          </p:cNvSpPr>
          <p:nvPr/>
        </p:nvSpPr>
        <p:spPr bwMode="auto">
          <a:xfrm>
            <a:off x="127000" y="280988"/>
            <a:ext cx="4716463" cy="7762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0" eaLnBrk="1" hangingPunct="1">
              <a:buFont typeface="+mj-lt"/>
              <a:buNone/>
              <a:defRPr/>
            </a:pPr>
            <a:r>
              <a:rPr lang="en-US" altLang="zh-CN" dirty="0" smtClean="0"/>
              <a:t>  </a:t>
            </a:r>
            <a:r>
              <a:rPr lang="en-US" altLang="zh-CN" sz="2660" b="1">
                <a:solidFill>
                  <a:srgbClr val="FF0000"/>
                </a:solidFill>
                <a:sym typeface="+mn-ea"/>
              </a:rPr>
              <a:t>2.1 Linux</a:t>
            </a:r>
            <a:r>
              <a:rPr lang="zh-CN" altLang="en-US" sz="2660" b="1">
                <a:solidFill>
                  <a:srgbClr val="FF0000"/>
                </a:solidFill>
                <a:sym typeface="+mn-ea"/>
              </a:rPr>
              <a:t>系统的基本操作</a:t>
            </a:r>
            <a:endPar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3" name="图片 2"/>
          <p:cNvPicPr>
            <a:picLocks noChangeAspect="1"/>
          </p:cNvPicPr>
          <p:nvPr/>
        </p:nvPicPr>
        <p:blipFill>
          <a:blip r:embed="rId1"/>
          <a:stretch>
            <a:fillRect/>
          </a:stretch>
        </p:blipFill>
        <p:spPr>
          <a:xfrm>
            <a:off x="676910" y="2396490"/>
            <a:ext cx="5638800" cy="2065020"/>
          </a:xfrm>
          <a:prstGeom prst="rect">
            <a:avLst/>
          </a:prstGeom>
        </p:spPr>
      </p:pic>
      <p:pic>
        <p:nvPicPr>
          <p:cNvPr id="4" name="图片 3"/>
          <p:cNvPicPr>
            <a:picLocks noChangeAspect="1"/>
          </p:cNvPicPr>
          <p:nvPr/>
        </p:nvPicPr>
        <p:blipFill>
          <a:blip r:embed="rId2"/>
          <a:stretch>
            <a:fillRect/>
          </a:stretch>
        </p:blipFill>
        <p:spPr>
          <a:xfrm>
            <a:off x="6534150" y="2396490"/>
            <a:ext cx="5097780" cy="3383280"/>
          </a:xfrm>
          <a:prstGeom prst="rect">
            <a:avLst/>
          </a:prstGeom>
        </p:spPr>
      </p:pic>
    </p:spTree>
    <p:custDataLst>
      <p:tags r:id="rId3"/>
    </p:custData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 name="矩形 5"/>
          <p:cNvSpPr>
            <a:spLocks noChangeArrowheads="1"/>
          </p:cNvSpPr>
          <p:nvPr/>
        </p:nvSpPr>
        <p:spPr bwMode="auto">
          <a:xfrm>
            <a:off x="676911" y="1153479"/>
            <a:ext cx="8520113" cy="4246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auto">
              <a:lnSpc>
                <a:spcPct val="100000"/>
              </a:lnSpc>
              <a:defRPr/>
            </a:pPr>
            <a:r>
              <a:rPr lang="en-US" altLang="zh-CN" dirty="0"/>
              <a:t>2</a:t>
            </a:r>
            <a:r>
              <a:rPr lang="zh-CN" altLang="en-US" dirty="0"/>
              <a:t>、文件系统</a:t>
            </a:r>
            <a:r>
              <a:rPr lang="zh-CN" altLang="en-US" dirty="0"/>
              <a:t>安全</a:t>
            </a:r>
            <a:endParaRPr lang="zh-CN" altLang="en-US" dirty="0"/>
          </a:p>
          <a:p>
            <a:pPr fontAlgn="auto">
              <a:lnSpc>
                <a:spcPct val="100000"/>
              </a:lnSpc>
              <a:defRPr/>
            </a:pPr>
            <a:r>
              <a:rPr lang="en-US" altLang="zh-CN" dirty="0"/>
              <a:t>      </a:t>
            </a:r>
            <a:endParaRPr lang="en-US" altLang="zh-CN" dirty="0"/>
          </a:p>
          <a:p>
            <a:pPr fontAlgn="auto">
              <a:lnSpc>
                <a:spcPct val="100000"/>
              </a:lnSpc>
              <a:defRPr/>
            </a:pPr>
            <a:r>
              <a:rPr lang="en-US" altLang="zh-CN" dirty="0"/>
              <a:t>      </a:t>
            </a:r>
            <a:r>
              <a:rPr lang="zh-CN" altLang="en-US" dirty="0"/>
              <a:t>查看</a:t>
            </a:r>
            <a:r>
              <a:rPr lang="zh-CN" altLang="en-US" dirty="0"/>
              <a:t>权限：</a:t>
            </a:r>
            <a:endParaRPr lang="zh-CN" altLang="en-US" dirty="0"/>
          </a:p>
          <a:p>
            <a:pPr fontAlgn="auto">
              <a:lnSpc>
                <a:spcPct val="100000"/>
              </a:lnSpc>
              <a:defRPr/>
            </a:pPr>
            <a:r>
              <a:rPr lang="en-US" altLang="zh-CN" dirty="0"/>
              <a:t>                 </a:t>
            </a:r>
            <a:r>
              <a:rPr lang="en-US" altLang="zh-CN" dirty="0"/>
              <a:t>ls -l         </a:t>
            </a:r>
            <a:endParaRPr lang="en-US" altLang="zh-CN" dirty="0"/>
          </a:p>
          <a:p>
            <a:pPr fontAlgn="auto">
              <a:lnSpc>
                <a:spcPct val="100000"/>
              </a:lnSpc>
              <a:defRPr/>
            </a:pPr>
            <a:endParaRPr lang="en-US" altLang="zh-CN" dirty="0"/>
          </a:p>
          <a:p>
            <a:pPr fontAlgn="auto">
              <a:lnSpc>
                <a:spcPct val="100000"/>
              </a:lnSpc>
              <a:defRPr/>
            </a:pPr>
            <a:r>
              <a:rPr lang="en-US" altLang="zh-CN" dirty="0"/>
              <a:t>      </a:t>
            </a:r>
            <a:r>
              <a:rPr lang="zh-CN" altLang="en-US" dirty="0"/>
              <a:t>修改</a:t>
            </a:r>
            <a:r>
              <a:rPr lang="zh-CN" altLang="en-US" dirty="0"/>
              <a:t>权限：</a:t>
            </a:r>
            <a:endParaRPr lang="zh-CN" altLang="en-US" dirty="0"/>
          </a:p>
          <a:p>
            <a:pPr fontAlgn="auto">
              <a:lnSpc>
                <a:spcPct val="100000"/>
              </a:lnSpc>
              <a:defRPr/>
            </a:pPr>
            <a:r>
              <a:rPr lang="en-US" altLang="zh-CN" dirty="0"/>
              <a:t>                 chmod</a:t>
            </a:r>
            <a:r>
              <a:rPr lang="zh-CN" altLang="en-US" dirty="0"/>
              <a:t>：</a:t>
            </a:r>
            <a:r>
              <a:rPr lang="en-US" altLang="zh-CN" dirty="0"/>
              <a:t>改变文件的模式（mode），即它的读取、写入和执行权限</a:t>
            </a:r>
            <a:endParaRPr lang="en-US" altLang="zh-CN" dirty="0"/>
          </a:p>
          <a:p>
            <a:pPr fontAlgn="auto">
              <a:lnSpc>
                <a:spcPct val="100000"/>
              </a:lnSpc>
              <a:defRPr/>
            </a:pPr>
            <a:endParaRPr lang="en-US" altLang="zh-CN" dirty="0"/>
          </a:p>
          <a:p>
            <a:pPr fontAlgn="auto">
              <a:lnSpc>
                <a:spcPct val="100000"/>
              </a:lnSpc>
              <a:defRPr/>
            </a:pPr>
            <a:endParaRPr lang="en-US" altLang="zh-CN" dirty="0"/>
          </a:p>
          <a:p>
            <a:pPr fontAlgn="auto">
              <a:lnSpc>
                <a:spcPct val="100000"/>
              </a:lnSpc>
              <a:defRPr/>
            </a:pPr>
            <a:r>
              <a:rPr lang="en-US" altLang="zh-CN" dirty="0"/>
              <a:t>                 </a:t>
            </a:r>
            <a:endParaRPr lang="en-US" altLang="zh-CN" dirty="0"/>
          </a:p>
          <a:p>
            <a:pPr fontAlgn="auto">
              <a:lnSpc>
                <a:spcPct val="100000"/>
              </a:lnSpc>
              <a:defRPr/>
            </a:pPr>
            <a:r>
              <a:rPr lang="en-US" altLang="zh-CN" dirty="0"/>
              <a:t>                 chown</a:t>
            </a:r>
            <a:r>
              <a:rPr lang="zh-CN" altLang="en-US" dirty="0"/>
              <a:t>： 改变文件的所有者（owner）</a:t>
            </a:r>
            <a:r>
              <a:rPr lang="en-US" altLang="zh-CN" dirty="0"/>
              <a:t>--chown 用户名:组名 文件名</a:t>
            </a:r>
            <a:endParaRPr lang="en-US" altLang="zh-CN" dirty="0"/>
          </a:p>
          <a:p>
            <a:pPr fontAlgn="auto">
              <a:lnSpc>
                <a:spcPct val="100000"/>
              </a:lnSpc>
              <a:defRPr/>
            </a:pPr>
            <a:r>
              <a:rPr lang="en-US" altLang="zh-CN" dirty="0"/>
              <a:t> </a:t>
            </a:r>
            <a:endParaRPr lang="en-US" altLang="zh-CN" dirty="0"/>
          </a:p>
          <a:p>
            <a:pPr fontAlgn="auto">
              <a:lnSpc>
                <a:spcPct val="100000"/>
              </a:lnSpc>
              <a:defRPr/>
            </a:pPr>
            <a:endParaRPr lang="en-US" altLang="zh-CN" dirty="0"/>
          </a:p>
          <a:p>
            <a:pPr fontAlgn="auto">
              <a:lnSpc>
                <a:spcPct val="100000"/>
              </a:lnSpc>
              <a:defRPr/>
            </a:pPr>
            <a:endParaRPr lang="en-US" altLang="zh-CN" dirty="0"/>
          </a:p>
          <a:p>
            <a:pPr fontAlgn="auto">
              <a:lnSpc>
                <a:spcPct val="100000"/>
              </a:lnSpc>
              <a:defRPr/>
            </a:pPr>
            <a:r>
              <a:rPr lang="en-US" altLang="zh-CN" dirty="0"/>
              <a:t>                 chgrp</a:t>
            </a:r>
            <a:r>
              <a:rPr lang="zh-CN" altLang="en-US" dirty="0"/>
              <a:t>： 改变文件的组所有者（group）</a:t>
            </a:r>
            <a:r>
              <a:rPr lang="en-US" altLang="zh-CN" dirty="0"/>
              <a:t>--chgrp 组名 文件名</a:t>
            </a:r>
            <a:endParaRPr lang="en-US" altLang="zh-CN" dirty="0"/>
          </a:p>
        </p:txBody>
      </p:sp>
      <p:sp>
        <p:nvSpPr>
          <p:cNvPr id="2" name="标题 1"/>
          <p:cNvSpPr>
            <a:spLocks noGrp="1"/>
          </p:cNvSpPr>
          <p:nvPr/>
        </p:nvSpPr>
        <p:spPr bwMode="auto">
          <a:xfrm>
            <a:off x="127000" y="280988"/>
            <a:ext cx="4716463" cy="7762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0" eaLnBrk="1" hangingPunct="1">
              <a:buFont typeface="+mj-lt"/>
              <a:buNone/>
              <a:defRPr/>
            </a:pPr>
            <a:r>
              <a:rPr lang="en-US" altLang="zh-CN" dirty="0" smtClean="0"/>
              <a:t>  </a:t>
            </a:r>
            <a:r>
              <a:rPr lang="en-US" altLang="zh-CN" sz="2660" b="1">
                <a:solidFill>
                  <a:srgbClr val="FF0000"/>
                </a:solidFill>
                <a:sym typeface="+mn-ea"/>
              </a:rPr>
              <a:t>2.1 Linux</a:t>
            </a:r>
            <a:r>
              <a:rPr lang="zh-CN" altLang="en-US" sz="2660" b="1">
                <a:solidFill>
                  <a:srgbClr val="FF0000"/>
                </a:solidFill>
                <a:sym typeface="+mn-ea"/>
              </a:rPr>
              <a:t>系统的基本操作</a:t>
            </a:r>
            <a:endPar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3" name="图片 2"/>
          <p:cNvPicPr>
            <a:picLocks noChangeAspect="1"/>
          </p:cNvPicPr>
          <p:nvPr/>
        </p:nvPicPr>
        <p:blipFill>
          <a:blip r:embed="rId1"/>
          <a:stretch>
            <a:fillRect/>
          </a:stretch>
        </p:blipFill>
        <p:spPr>
          <a:xfrm>
            <a:off x="2733040" y="1936750"/>
            <a:ext cx="3657600" cy="586740"/>
          </a:xfrm>
          <a:prstGeom prst="rect">
            <a:avLst/>
          </a:prstGeom>
        </p:spPr>
      </p:pic>
      <p:pic>
        <p:nvPicPr>
          <p:cNvPr id="4" name="图片 3"/>
          <p:cNvPicPr>
            <a:picLocks noChangeAspect="1"/>
          </p:cNvPicPr>
          <p:nvPr/>
        </p:nvPicPr>
        <p:blipFill>
          <a:blip r:embed="rId2"/>
          <a:stretch>
            <a:fillRect/>
          </a:stretch>
        </p:blipFill>
        <p:spPr>
          <a:xfrm>
            <a:off x="7379335" y="3102610"/>
            <a:ext cx="3360420" cy="792480"/>
          </a:xfrm>
          <a:prstGeom prst="rect">
            <a:avLst/>
          </a:prstGeom>
        </p:spPr>
      </p:pic>
      <p:pic>
        <p:nvPicPr>
          <p:cNvPr id="5" name="图片 4"/>
          <p:cNvPicPr>
            <a:picLocks noChangeAspect="1"/>
          </p:cNvPicPr>
          <p:nvPr/>
        </p:nvPicPr>
        <p:blipFill>
          <a:blip r:embed="rId3"/>
          <a:stretch>
            <a:fillRect/>
          </a:stretch>
        </p:blipFill>
        <p:spPr>
          <a:xfrm>
            <a:off x="8056880" y="4213225"/>
            <a:ext cx="3200400" cy="830580"/>
          </a:xfrm>
          <a:prstGeom prst="rect">
            <a:avLst/>
          </a:prstGeom>
        </p:spPr>
      </p:pic>
      <p:pic>
        <p:nvPicPr>
          <p:cNvPr id="7" name="图片 6"/>
          <p:cNvPicPr>
            <a:picLocks noChangeAspect="1"/>
          </p:cNvPicPr>
          <p:nvPr/>
        </p:nvPicPr>
        <p:blipFill>
          <a:blip r:embed="rId4"/>
          <a:stretch>
            <a:fillRect/>
          </a:stretch>
        </p:blipFill>
        <p:spPr>
          <a:xfrm>
            <a:off x="6390640" y="5546725"/>
            <a:ext cx="3337560" cy="769620"/>
          </a:xfrm>
          <a:prstGeom prst="rect">
            <a:avLst/>
          </a:prstGeom>
        </p:spPr>
      </p:pic>
    </p:spTree>
    <p:custDataLst>
      <p:tags r:id="rId5"/>
    </p:custData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 name="矩形 5"/>
          <p:cNvSpPr>
            <a:spLocks noChangeArrowheads="1"/>
          </p:cNvSpPr>
          <p:nvPr/>
        </p:nvSpPr>
        <p:spPr bwMode="auto">
          <a:xfrm>
            <a:off x="676911" y="1153479"/>
            <a:ext cx="8520113" cy="3969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auto">
              <a:lnSpc>
                <a:spcPct val="100000"/>
              </a:lnSpc>
              <a:defRPr/>
            </a:pPr>
            <a:r>
              <a:rPr lang="en-US" altLang="zh-CN" dirty="0"/>
              <a:t>3</a:t>
            </a:r>
            <a:r>
              <a:rPr lang="zh-CN" altLang="en-US" dirty="0"/>
              <a:t>、设置合理的初始文件</a:t>
            </a:r>
            <a:r>
              <a:rPr lang="zh-CN" altLang="en-US" dirty="0"/>
              <a:t>权限</a:t>
            </a:r>
            <a:endParaRPr lang="zh-CN" altLang="en-US" dirty="0"/>
          </a:p>
          <a:p>
            <a:pPr fontAlgn="auto">
              <a:lnSpc>
                <a:spcPct val="100000"/>
              </a:lnSpc>
              <a:defRPr/>
            </a:pPr>
            <a:endParaRPr lang="zh-CN" altLang="en-US" dirty="0"/>
          </a:p>
          <a:p>
            <a:pPr fontAlgn="auto">
              <a:lnSpc>
                <a:spcPct val="100000"/>
              </a:lnSpc>
              <a:defRPr/>
            </a:pPr>
            <a:r>
              <a:rPr lang="en-US" altLang="zh-CN" dirty="0"/>
              <a:t>      </a:t>
            </a:r>
            <a:r>
              <a:rPr lang="zh-CN" altLang="en-US" dirty="0"/>
              <a:t>很奇妙的</a:t>
            </a:r>
            <a:r>
              <a:rPr lang="en-US" altLang="zh-CN" dirty="0"/>
              <a:t>UMASK</a:t>
            </a:r>
            <a:r>
              <a:rPr lang="zh-CN" altLang="en-US" dirty="0"/>
              <a:t>：</a:t>
            </a:r>
            <a:endParaRPr lang="zh-CN" altLang="en-US" dirty="0"/>
          </a:p>
          <a:p>
            <a:pPr fontAlgn="auto">
              <a:lnSpc>
                <a:spcPct val="100000"/>
              </a:lnSpc>
              <a:defRPr/>
            </a:pPr>
            <a:endParaRPr lang="zh-CN" altLang="en-US" dirty="0"/>
          </a:p>
          <a:p>
            <a:pPr fontAlgn="auto">
              <a:lnSpc>
                <a:spcPct val="100000"/>
              </a:lnSpc>
              <a:defRPr/>
            </a:pPr>
            <a:endParaRPr lang="zh-CN" altLang="en-US" dirty="0"/>
          </a:p>
          <a:p>
            <a:pPr fontAlgn="auto">
              <a:lnSpc>
                <a:spcPct val="100000"/>
              </a:lnSpc>
              <a:defRPr/>
            </a:pPr>
            <a:r>
              <a:rPr lang="en-US" altLang="zh-CN" dirty="0"/>
              <a:t>      </a:t>
            </a:r>
            <a:r>
              <a:rPr lang="en-US" altLang="zh-CN" dirty="0">
                <a:latin typeface="宋体" panose="02010600030101010101" pitchFamily="2" charset="-122"/>
                <a:cs typeface="宋体" panose="02010600030101010101" pitchFamily="2" charset="-122"/>
              </a:rPr>
              <a:t>umask值为0022所对应的默认文件和文件夹创建的缺省权限分别为644和755</a:t>
            </a:r>
            <a:endParaRPr lang="en-US" altLang="zh-CN" dirty="0">
              <a:latin typeface="宋体" panose="02010600030101010101" pitchFamily="2" charset="-122"/>
              <a:cs typeface="宋体" panose="02010600030101010101" pitchFamily="2" charset="-122"/>
            </a:endParaRPr>
          </a:p>
          <a:p>
            <a:pPr fontAlgn="auto">
              <a:lnSpc>
                <a:spcPct val="100000"/>
              </a:lnSpc>
              <a:defRPr/>
            </a:pPr>
            <a:r>
              <a:rPr lang="en-US" altLang="zh-CN" dirty="0">
                <a:latin typeface="宋体" panose="02010600030101010101" pitchFamily="2" charset="-122"/>
                <a:cs typeface="宋体" panose="02010600030101010101" pitchFamily="2" charset="-122"/>
              </a:rPr>
              <a:t>   </a:t>
            </a:r>
            <a:r>
              <a:rPr lang="zh-CN" altLang="en-US" dirty="0">
                <a:latin typeface="宋体" panose="02010600030101010101" pitchFamily="2" charset="-122"/>
                <a:cs typeface="宋体" panose="02010600030101010101" pitchFamily="2" charset="-122"/>
              </a:rPr>
              <a:t>文件夹其权限规则为：777-022=755</a:t>
            </a:r>
            <a:endParaRPr lang="zh-CN" altLang="en-US" dirty="0">
              <a:latin typeface="宋体" panose="02010600030101010101" pitchFamily="2" charset="-122"/>
              <a:cs typeface="宋体" panose="02010600030101010101" pitchFamily="2" charset="-122"/>
            </a:endParaRPr>
          </a:p>
          <a:p>
            <a:pPr fontAlgn="auto">
              <a:lnSpc>
                <a:spcPct val="100000"/>
              </a:lnSpc>
              <a:defRPr/>
            </a:pPr>
            <a:r>
              <a:rPr lang="en-US" altLang="zh-CN" dirty="0">
                <a:latin typeface="宋体" panose="02010600030101010101" pitchFamily="2" charset="-122"/>
                <a:cs typeface="宋体" panose="02010600030101010101" pitchFamily="2" charset="-122"/>
              </a:rPr>
              <a:t>   </a:t>
            </a:r>
            <a:r>
              <a:rPr lang="zh-CN" altLang="en-US" dirty="0">
                <a:latin typeface="宋体" panose="02010600030101010101" pitchFamily="2" charset="-122"/>
                <a:cs typeface="宋体" panose="02010600030101010101" pitchFamily="2" charset="-122"/>
              </a:rPr>
              <a:t>文件其权限规则为： 777-111-022=644（因为文件默认没有执行权限）</a:t>
            </a:r>
            <a:endParaRPr lang="zh-CN" altLang="en-US" dirty="0">
              <a:latin typeface="宋体" panose="02010600030101010101" pitchFamily="2" charset="-122"/>
              <a:cs typeface="宋体" panose="02010600030101010101" pitchFamily="2" charset="-122"/>
            </a:endParaRPr>
          </a:p>
          <a:p>
            <a:pPr fontAlgn="auto">
              <a:lnSpc>
                <a:spcPct val="100000"/>
              </a:lnSpc>
              <a:defRPr/>
            </a:pPr>
            <a:r>
              <a:rPr lang="en-US" altLang="zh-CN" dirty="0">
                <a:latin typeface="宋体" panose="02010600030101010101" pitchFamily="2" charset="-122"/>
                <a:cs typeface="宋体" panose="02010600030101010101" pitchFamily="2" charset="-122"/>
              </a:rPr>
              <a:t>   </a:t>
            </a:r>
            <a:r>
              <a:rPr lang="zh-CN" altLang="en-US" dirty="0">
                <a:latin typeface="宋体" panose="02010600030101010101" pitchFamily="2" charset="-122"/>
                <a:cs typeface="宋体" panose="02010600030101010101" pitchFamily="2" charset="-122"/>
              </a:rPr>
              <a:t>修改UMASK值：</a:t>
            </a:r>
            <a:endParaRPr lang="zh-CN" altLang="en-US" dirty="0">
              <a:latin typeface="宋体" panose="02010600030101010101" pitchFamily="2" charset="-122"/>
              <a:cs typeface="宋体" panose="02010600030101010101" pitchFamily="2" charset="-122"/>
            </a:endParaRPr>
          </a:p>
          <a:p>
            <a:pPr fontAlgn="auto">
              <a:lnSpc>
                <a:spcPct val="100000"/>
              </a:lnSpc>
              <a:defRPr/>
            </a:pPr>
            <a:r>
              <a:rPr lang="en-US" altLang="zh-CN" dirty="0">
                <a:latin typeface="宋体" panose="02010600030101010101" pitchFamily="2" charset="-122"/>
                <a:cs typeface="宋体" panose="02010600030101010101" pitchFamily="2" charset="-122"/>
              </a:rPr>
              <a:t>   </a:t>
            </a:r>
            <a:r>
              <a:rPr lang="zh-CN" altLang="en-US" dirty="0">
                <a:latin typeface="宋体" panose="02010600030101010101" pitchFamily="2" charset="-122"/>
                <a:cs typeface="宋体" panose="02010600030101010101" pitchFamily="2" charset="-122"/>
              </a:rPr>
              <a:t>1、直接在命令行下umask xxx （重启后消失）</a:t>
            </a:r>
            <a:endParaRPr lang="zh-CN" altLang="en-US" dirty="0">
              <a:latin typeface="宋体" panose="02010600030101010101" pitchFamily="2" charset="-122"/>
              <a:cs typeface="宋体" panose="02010600030101010101" pitchFamily="2" charset="-122"/>
            </a:endParaRPr>
          </a:p>
          <a:p>
            <a:pPr fontAlgn="auto">
              <a:lnSpc>
                <a:spcPct val="100000"/>
              </a:lnSpc>
              <a:defRPr/>
            </a:pPr>
            <a:r>
              <a:rPr lang="en-US" altLang="zh-CN" dirty="0">
                <a:latin typeface="宋体" panose="02010600030101010101" pitchFamily="2" charset="-122"/>
                <a:cs typeface="宋体" panose="02010600030101010101" pitchFamily="2" charset="-122"/>
              </a:rPr>
              <a:t>   </a:t>
            </a:r>
            <a:r>
              <a:rPr lang="zh-CN" altLang="en-US" dirty="0">
                <a:latin typeface="宋体" panose="02010600030101010101" pitchFamily="2" charset="-122"/>
                <a:cs typeface="宋体" panose="02010600030101010101" pitchFamily="2" charset="-122"/>
              </a:rPr>
              <a:t>2、修改/etc/profile中设定的umask值</a:t>
            </a:r>
            <a:endParaRPr lang="zh-CN" altLang="en-US" dirty="0">
              <a:latin typeface="宋体" panose="02010600030101010101" pitchFamily="2" charset="-122"/>
              <a:cs typeface="宋体" panose="02010600030101010101" pitchFamily="2" charset="-122"/>
            </a:endParaRPr>
          </a:p>
          <a:p>
            <a:pPr fontAlgn="auto">
              <a:lnSpc>
                <a:spcPct val="100000"/>
              </a:lnSpc>
              <a:defRPr/>
            </a:pPr>
            <a:endParaRPr lang="zh-CN" altLang="en-US" dirty="0"/>
          </a:p>
          <a:p>
            <a:pPr fontAlgn="auto">
              <a:lnSpc>
                <a:spcPct val="100000"/>
              </a:lnSpc>
              <a:defRPr/>
            </a:pPr>
            <a:r>
              <a:rPr lang="zh-CN" altLang="en-US" dirty="0"/>
              <a:t> </a:t>
            </a:r>
            <a:r>
              <a:rPr lang="en-US" altLang="zh-CN" dirty="0"/>
              <a:t>    </a:t>
            </a:r>
            <a:endParaRPr lang="zh-CN" altLang="en-US" dirty="0"/>
          </a:p>
          <a:p>
            <a:pPr fontAlgn="auto">
              <a:lnSpc>
                <a:spcPct val="100000"/>
              </a:lnSpc>
              <a:defRPr/>
            </a:pPr>
            <a:r>
              <a:rPr lang="en-US" altLang="zh-CN" dirty="0"/>
              <a:t>      </a:t>
            </a:r>
            <a:endParaRPr lang="en-US" altLang="zh-CN" dirty="0"/>
          </a:p>
        </p:txBody>
      </p:sp>
      <p:sp>
        <p:nvSpPr>
          <p:cNvPr id="2" name="标题 1"/>
          <p:cNvSpPr>
            <a:spLocks noGrp="1"/>
          </p:cNvSpPr>
          <p:nvPr/>
        </p:nvSpPr>
        <p:spPr bwMode="auto">
          <a:xfrm>
            <a:off x="127000" y="280988"/>
            <a:ext cx="4716463" cy="7762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0" eaLnBrk="1" hangingPunct="1">
              <a:buFont typeface="+mj-lt"/>
              <a:buNone/>
              <a:defRPr/>
            </a:pPr>
            <a:r>
              <a:rPr lang="en-US" altLang="zh-CN" dirty="0" smtClean="0"/>
              <a:t>  </a:t>
            </a:r>
            <a:r>
              <a:rPr lang="en-US" altLang="zh-CN" sz="2660" b="1">
                <a:solidFill>
                  <a:srgbClr val="FF0000"/>
                </a:solidFill>
                <a:sym typeface="+mn-ea"/>
              </a:rPr>
              <a:t>2.1 Linux</a:t>
            </a:r>
            <a:r>
              <a:rPr lang="zh-CN" altLang="en-US" sz="2660" b="1">
                <a:solidFill>
                  <a:srgbClr val="FF0000"/>
                </a:solidFill>
                <a:sym typeface="+mn-ea"/>
              </a:rPr>
              <a:t>系统的基本操作</a:t>
            </a:r>
            <a:endPar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3" name="图片 2"/>
          <p:cNvPicPr>
            <a:picLocks noChangeAspect="1"/>
          </p:cNvPicPr>
          <p:nvPr/>
        </p:nvPicPr>
        <p:blipFill>
          <a:blip r:embed="rId1"/>
          <a:stretch>
            <a:fillRect/>
          </a:stretch>
        </p:blipFill>
        <p:spPr>
          <a:xfrm>
            <a:off x="1151890" y="2029460"/>
            <a:ext cx="2491740" cy="502920"/>
          </a:xfrm>
          <a:prstGeom prst="rect">
            <a:avLst/>
          </a:prstGeom>
        </p:spPr>
      </p:pic>
      <p:pic>
        <p:nvPicPr>
          <p:cNvPr id="4" name="图片 3"/>
          <p:cNvPicPr>
            <a:picLocks noChangeAspect="1"/>
          </p:cNvPicPr>
          <p:nvPr/>
        </p:nvPicPr>
        <p:blipFill>
          <a:blip r:embed="rId2"/>
          <a:stretch>
            <a:fillRect/>
          </a:stretch>
        </p:blipFill>
        <p:spPr>
          <a:xfrm>
            <a:off x="1151890" y="4587240"/>
            <a:ext cx="4892040" cy="1280160"/>
          </a:xfrm>
          <a:prstGeom prst="rect">
            <a:avLst/>
          </a:prstGeom>
        </p:spPr>
      </p:pic>
    </p:spTree>
    <p:custDataLst>
      <p:tags r:id="rId3"/>
    </p:custData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 name="矩形 5"/>
          <p:cNvSpPr>
            <a:spLocks noChangeArrowheads="1"/>
          </p:cNvSpPr>
          <p:nvPr/>
        </p:nvSpPr>
        <p:spPr bwMode="auto">
          <a:xfrm>
            <a:off x="676911" y="1153479"/>
            <a:ext cx="8520113" cy="3969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auto">
              <a:lnSpc>
                <a:spcPct val="100000"/>
              </a:lnSpc>
              <a:defRPr/>
            </a:pPr>
            <a:r>
              <a:rPr lang="en-US" altLang="zh-CN" dirty="0"/>
              <a:t>1</a:t>
            </a:r>
            <a:r>
              <a:rPr lang="zh-CN" altLang="en-US" dirty="0"/>
              <a:t>、锁定系统中多余的自建</a:t>
            </a:r>
            <a:r>
              <a:rPr lang="zh-CN" altLang="en-US" dirty="0"/>
              <a:t>账号</a:t>
            </a:r>
            <a:endParaRPr lang="zh-CN" altLang="en-US" dirty="0"/>
          </a:p>
          <a:p>
            <a:pPr fontAlgn="auto">
              <a:lnSpc>
                <a:spcPct val="100000"/>
              </a:lnSpc>
              <a:defRPr/>
            </a:pPr>
            <a:r>
              <a:rPr lang="en-US" altLang="zh-CN" dirty="0"/>
              <a:t>      </a:t>
            </a:r>
            <a:endParaRPr lang="en-US" altLang="zh-CN" dirty="0"/>
          </a:p>
          <a:p>
            <a:pPr fontAlgn="auto">
              <a:lnSpc>
                <a:spcPct val="100000"/>
              </a:lnSpc>
              <a:defRPr/>
            </a:pPr>
            <a:r>
              <a:rPr lang="en-US" altLang="zh-CN" dirty="0"/>
              <a:t>      </a:t>
            </a:r>
            <a:r>
              <a:rPr lang="zh-CN" altLang="en-US" dirty="0"/>
              <a:t>执行命令</a:t>
            </a:r>
            <a:endParaRPr lang="zh-CN" altLang="en-US" dirty="0"/>
          </a:p>
          <a:p>
            <a:pPr fontAlgn="auto">
              <a:lnSpc>
                <a:spcPct val="100000"/>
              </a:lnSpc>
              <a:defRPr/>
            </a:pPr>
            <a:r>
              <a:rPr lang="en-US" altLang="zh-CN" dirty="0"/>
              <a:t>             </a:t>
            </a:r>
            <a:r>
              <a:rPr lang="zh-CN" altLang="en-US" dirty="0"/>
              <a:t>#cat /etc/passwd</a:t>
            </a:r>
            <a:endParaRPr lang="zh-CN" altLang="en-US" dirty="0"/>
          </a:p>
          <a:p>
            <a:pPr fontAlgn="auto">
              <a:lnSpc>
                <a:spcPct val="100000"/>
              </a:lnSpc>
              <a:defRPr/>
            </a:pPr>
            <a:r>
              <a:rPr lang="en-US" altLang="zh-CN" dirty="0"/>
              <a:t>             </a:t>
            </a:r>
            <a:r>
              <a:rPr lang="zh-CN" altLang="en-US" dirty="0"/>
              <a:t>#cat /etc/shadow</a:t>
            </a:r>
            <a:endParaRPr lang="zh-CN" altLang="en-US" dirty="0"/>
          </a:p>
          <a:p>
            <a:pPr fontAlgn="auto">
              <a:lnSpc>
                <a:spcPct val="100000"/>
              </a:lnSpc>
              <a:defRPr/>
            </a:pPr>
            <a:endParaRPr lang="zh-CN" altLang="en-US" dirty="0"/>
          </a:p>
          <a:p>
            <a:pPr fontAlgn="auto">
              <a:lnSpc>
                <a:spcPct val="100000"/>
              </a:lnSpc>
              <a:defRPr/>
            </a:pPr>
            <a:r>
              <a:rPr lang="en-US" altLang="zh-CN" dirty="0"/>
              <a:t>            </a:t>
            </a:r>
            <a:r>
              <a:rPr lang="zh-CN" altLang="en-US" dirty="0"/>
              <a:t>查看账户、口令文件，与系统管理员确认不必要的账号。对于一些保留的系统伪帐户如：bin, sys，adm，uucp，lp, nuucp，hpdb, www, daemon等可根据需要锁定登陆。</a:t>
            </a:r>
            <a:endParaRPr lang="zh-CN" altLang="en-US" dirty="0"/>
          </a:p>
          <a:p>
            <a:pPr fontAlgn="auto">
              <a:lnSpc>
                <a:spcPct val="100000"/>
              </a:lnSpc>
              <a:defRPr/>
            </a:pPr>
            <a:endParaRPr lang="zh-CN" altLang="en-US" dirty="0"/>
          </a:p>
          <a:p>
            <a:pPr fontAlgn="auto">
              <a:lnSpc>
                <a:spcPct val="100000"/>
              </a:lnSpc>
              <a:defRPr/>
            </a:pPr>
            <a:r>
              <a:rPr lang="zh-CN" altLang="en-US" dirty="0"/>
              <a:t>加固方法:</a:t>
            </a:r>
            <a:endParaRPr lang="zh-CN" altLang="en-US" dirty="0"/>
          </a:p>
          <a:p>
            <a:pPr fontAlgn="auto">
              <a:lnSpc>
                <a:spcPct val="100000"/>
              </a:lnSpc>
              <a:defRPr/>
            </a:pPr>
            <a:r>
              <a:rPr lang="en-US" altLang="zh-CN" dirty="0"/>
              <a:t>       </a:t>
            </a:r>
            <a:r>
              <a:rPr lang="zh-CN" altLang="en-US" dirty="0"/>
              <a:t>使用命令passwd -l &lt;用户名&gt;锁定不必要的账号。</a:t>
            </a:r>
            <a:endParaRPr lang="zh-CN" altLang="en-US" dirty="0"/>
          </a:p>
          <a:p>
            <a:pPr fontAlgn="auto">
              <a:lnSpc>
                <a:spcPct val="100000"/>
              </a:lnSpc>
              <a:defRPr/>
            </a:pPr>
            <a:endParaRPr lang="zh-CN" altLang="en-US" dirty="0"/>
          </a:p>
          <a:p>
            <a:pPr fontAlgn="auto">
              <a:lnSpc>
                <a:spcPct val="100000"/>
              </a:lnSpc>
              <a:defRPr/>
            </a:pPr>
            <a:r>
              <a:rPr lang="en-US" altLang="zh-CN" dirty="0"/>
              <a:t>       </a:t>
            </a:r>
            <a:r>
              <a:rPr lang="zh-CN" altLang="en-US" dirty="0"/>
              <a:t>使用命令passwd -u &lt;用户名&gt;解锁需要恢复的账号。</a:t>
            </a:r>
            <a:r>
              <a:rPr lang="en-US" altLang="zh-CN" dirty="0"/>
              <a:t>             </a:t>
            </a:r>
            <a:endParaRPr lang="en-US" altLang="zh-CN" dirty="0"/>
          </a:p>
        </p:txBody>
      </p:sp>
      <p:sp>
        <p:nvSpPr>
          <p:cNvPr id="2" name="标题 1"/>
          <p:cNvSpPr>
            <a:spLocks noGrp="1"/>
          </p:cNvSpPr>
          <p:nvPr/>
        </p:nvSpPr>
        <p:spPr bwMode="auto">
          <a:xfrm>
            <a:off x="127000" y="280988"/>
            <a:ext cx="4716463" cy="7762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en-US" altLang="zh-CN" dirty="0" smtClean="0"/>
              <a:t>  </a:t>
            </a:r>
            <a:r>
              <a:rPr lang="en-US" altLang="zh-CN" sz="2665" b="1">
                <a:solidFill>
                  <a:srgbClr val="FF0000"/>
                </a:solidFill>
                <a:sym typeface="+mn-ea"/>
              </a:rPr>
              <a:t>2.2 </a:t>
            </a:r>
            <a:r>
              <a:rPr lang="en-US" altLang="zh-CN"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Linux</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操作系统</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加固</a:t>
            </a:r>
            <a:endPar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endParaRPr>
          </a:p>
        </p:txBody>
      </p:sp>
    </p:spTree>
    <p:custDataLst>
      <p:tags r:id="rId1"/>
    </p:custData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 name="矩形 5"/>
          <p:cNvSpPr>
            <a:spLocks noChangeArrowheads="1"/>
          </p:cNvSpPr>
          <p:nvPr/>
        </p:nvSpPr>
        <p:spPr bwMode="auto">
          <a:xfrm>
            <a:off x="676911" y="1153479"/>
            <a:ext cx="8520113" cy="4799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auto">
              <a:lnSpc>
                <a:spcPct val="100000"/>
              </a:lnSpc>
              <a:defRPr/>
            </a:pPr>
            <a:r>
              <a:rPr lang="en-US" altLang="zh-CN" dirty="0"/>
              <a:t>2</a:t>
            </a:r>
            <a:r>
              <a:rPr lang="zh-CN" altLang="en-US" dirty="0"/>
              <a:t>、检查</a:t>
            </a:r>
            <a:r>
              <a:rPr lang="en-US" altLang="zh-CN" dirty="0"/>
              <a:t>shadow</a:t>
            </a:r>
            <a:r>
              <a:rPr lang="zh-CN" altLang="en-US" dirty="0"/>
              <a:t>中空口令账号</a:t>
            </a:r>
            <a:endParaRPr lang="zh-CN" altLang="en-US" dirty="0"/>
          </a:p>
          <a:p>
            <a:pPr fontAlgn="auto">
              <a:lnSpc>
                <a:spcPct val="100000"/>
              </a:lnSpc>
              <a:defRPr/>
            </a:pPr>
            <a:r>
              <a:rPr lang="zh-CN" altLang="en-US" dirty="0"/>
              <a:t> </a:t>
            </a:r>
            <a:r>
              <a:rPr lang="en-US" altLang="zh-CN" dirty="0"/>
              <a:t> </a:t>
            </a:r>
            <a:endParaRPr lang="en-US" altLang="zh-CN" dirty="0"/>
          </a:p>
          <a:p>
            <a:pPr fontAlgn="auto">
              <a:lnSpc>
                <a:spcPct val="100000"/>
              </a:lnSpc>
              <a:defRPr/>
            </a:pPr>
            <a:r>
              <a:rPr lang="en-US" altLang="zh-CN" dirty="0"/>
              <a:t>      </a:t>
            </a:r>
            <a:r>
              <a:rPr lang="zh-CN" altLang="en-US" dirty="0"/>
              <a:t>检查方法：</a:t>
            </a:r>
            <a:endParaRPr lang="zh-CN" altLang="en-US" dirty="0"/>
          </a:p>
          <a:p>
            <a:pPr fontAlgn="auto">
              <a:lnSpc>
                <a:spcPct val="100000"/>
              </a:lnSpc>
              <a:defRPr/>
            </a:pPr>
            <a:r>
              <a:rPr lang="zh-CN" altLang="en-US" dirty="0"/>
              <a:t> </a:t>
            </a:r>
            <a:r>
              <a:rPr lang="en-US" altLang="zh-CN" dirty="0"/>
              <a:t>             awk -F ":" '($2=="!"){print $1}' /etc/shadow</a:t>
            </a:r>
            <a:endParaRPr lang="en-US" altLang="zh-CN" dirty="0"/>
          </a:p>
          <a:p>
            <a:pPr fontAlgn="auto">
              <a:lnSpc>
                <a:spcPct val="100000"/>
              </a:lnSpc>
              <a:defRPr/>
            </a:pPr>
            <a:endParaRPr lang="en-US" altLang="zh-CN" dirty="0"/>
          </a:p>
          <a:p>
            <a:pPr fontAlgn="auto">
              <a:lnSpc>
                <a:spcPct val="100000"/>
              </a:lnSpc>
              <a:defRPr/>
            </a:pPr>
            <a:endParaRPr lang="en-US" altLang="zh-CN" dirty="0"/>
          </a:p>
          <a:p>
            <a:pPr fontAlgn="auto">
              <a:lnSpc>
                <a:spcPct val="100000"/>
              </a:lnSpc>
              <a:defRPr/>
            </a:pPr>
            <a:endParaRPr lang="en-US" altLang="zh-CN" dirty="0"/>
          </a:p>
          <a:p>
            <a:pPr fontAlgn="auto">
              <a:lnSpc>
                <a:spcPct val="100000"/>
              </a:lnSpc>
              <a:defRPr/>
            </a:pPr>
            <a:endParaRPr lang="en-US" altLang="zh-CN" dirty="0"/>
          </a:p>
          <a:p>
            <a:pPr fontAlgn="auto">
              <a:lnSpc>
                <a:spcPct val="100000"/>
              </a:lnSpc>
              <a:defRPr/>
            </a:pPr>
            <a:endParaRPr lang="en-US" altLang="zh-CN" dirty="0"/>
          </a:p>
          <a:p>
            <a:pPr fontAlgn="auto">
              <a:lnSpc>
                <a:spcPct val="100000"/>
              </a:lnSpc>
              <a:defRPr/>
            </a:pPr>
            <a:endParaRPr lang="en-US" altLang="zh-CN" dirty="0"/>
          </a:p>
          <a:p>
            <a:pPr fontAlgn="auto">
              <a:lnSpc>
                <a:spcPct val="100000"/>
              </a:lnSpc>
              <a:defRPr/>
            </a:pPr>
            <a:endParaRPr lang="en-US" altLang="zh-CN" dirty="0"/>
          </a:p>
          <a:p>
            <a:pPr fontAlgn="auto">
              <a:lnSpc>
                <a:spcPct val="100000"/>
              </a:lnSpc>
              <a:defRPr/>
            </a:pPr>
            <a:r>
              <a:rPr lang="en-US" altLang="zh-CN" dirty="0"/>
              <a:t>       加固方法：</a:t>
            </a:r>
            <a:endParaRPr lang="en-US" altLang="zh-CN" dirty="0"/>
          </a:p>
          <a:p>
            <a:pPr fontAlgn="auto">
              <a:lnSpc>
                <a:spcPct val="100000"/>
              </a:lnSpc>
              <a:defRPr/>
            </a:pPr>
            <a:r>
              <a:rPr lang="en-US" altLang="zh-CN" dirty="0"/>
              <a:t>       使用命令passwd -l &lt;用户名&gt;锁定不必要的账户。</a:t>
            </a:r>
            <a:endParaRPr lang="en-US" altLang="zh-CN" dirty="0"/>
          </a:p>
          <a:p>
            <a:pPr fontAlgn="auto">
              <a:lnSpc>
                <a:spcPct val="100000"/>
              </a:lnSpc>
              <a:defRPr/>
            </a:pPr>
            <a:r>
              <a:rPr lang="en-US" altLang="zh-CN" dirty="0"/>
              <a:t>       使用命令passwd -u &lt;用户名&gt;解锁需要恢复的账户。</a:t>
            </a:r>
            <a:endParaRPr lang="en-US" altLang="zh-CN" dirty="0"/>
          </a:p>
          <a:p>
            <a:pPr fontAlgn="auto">
              <a:lnSpc>
                <a:spcPct val="100000"/>
              </a:lnSpc>
              <a:defRPr/>
            </a:pPr>
            <a:r>
              <a:rPr lang="en-US" altLang="zh-CN" dirty="0"/>
              <a:t>       使用命令passwd &lt;用户名&gt;为用户设置密码</a:t>
            </a:r>
            <a:endParaRPr lang="en-US" altLang="zh-CN" dirty="0"/>
          </a:p>
          <a:p>
            <a:pPr fontAlgn="auto">
              <a:lnSpc>
                <a:spcPct val="100000"/>
              </a:lnSpc>
              <a:defRPr/>
            </a:pPr>
            <a:r>
              <a:rPr lang="en-US" altLang="zh-CN" dirty="0"/>
              <a:t>  </a:t>
            </a:r>
            <a:endParaRPr lang="en-US" altLang="zh-CN" dirty="0"/>
          </a:p>
          <a:p>
            <a:pPr fontAlgn="auto">
              <a:lnSpc>
                <a:spcPct val="100000"/>
              </a:lnSpc>
              <a:defRPr/>
            </a:pPr>
            <a:r>
              <a:rPr lang="en-US" altLang="zh-CN" dirty="0"/>
              <a:t>               </a:t>
            </a:r>
            <a:endParaRPr lang="en-US" altLang="zh-CN" dirty="0"/>
          </a:p>
        </p:txBody>
      </p:sp>
      <p:sp>
        <p:nvSpPr>
          <p:cNvPr id="2" name="标题 1"/>
          <p:cNvSpPr>
            <a:spLocks noGrp="1"/>
          </p:cNvSpPr>
          <p:nvPr/>
        </p:nvSpPr>
        <p:spPr bwMode="auto">
          <a:xfrm>
            <a:off x="127000" y="280988"/>
            <a:ext cx="4716463" cy="7762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en-US" altLang="zh-CN" dirty="0" smtClean="0"/>
              <a:t>  </a:t>
            </a:r>
            <a:r>
              <a:rPr lang="en-US" altLang="zh-CN" sz="2665" b="1">
                <a:solidFill>
                  <a:srgbClr val="FF0000"/>
                </a:solidFill>
                <a:sym typeface="+mn-ea"/>
              </a:rPr>
              <a:t>2.2 </a:t>
            </a:r>
            <a:r>
              <a:rPr lang="en-US" altLang="zh-CN"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Linux</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操作系统</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加固</a:t>
            </a:r>
            <a:endPar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3" name="图片 2"/>
          <p:cNvPicPr>
            <a:picLocks noChangeAspect="1"/>
          </p:cNvPicPr>
          <p:nvPr/>
        </p:nvPicPr>
        <p:blipFill>
          <a:blip r:embed="rId1"/>
          <a:stretch>
            <a:fillRect/>
          </a:stretch>
        </p:blipFill>
        <p:spPr>
          <a:xfrm>
            <a:off x="996950" y="2465070"/>
            <a:ext cx="6407785" cy="1602105"/>
          </a:xfrm>
          <a:prstGeom prst="rect">
            <a:avLst/>
          </a:prstGeom>
        </p:spPr>
      </p:pic>
    </p:spTree>
    <p:custDataLst>
      <p:tags r:id="rId2"/>
    </p:custData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 name="矩形 5"/>
          <p:cNvSpPr>
            <a:spLocks noChangeArrowheads="1"/>
          </p:cNvSpPr>
          <p:nvPr/>
        </p:nvSpPr>
        <p:spPr bwMode="auto">
          <a:xfrm>
            <a:off x="676911" y="1153479"/>
            <a:ext cx="8520113" cy="4246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auto">
              <a:lnSpc>
                <a:spcPct val="100000"/>
              </a:lnSpc>
              <a:defRPr/>
            </a:pPr>
            <a:r>
              <a:rPr lang="en-US" altLang="zh-CN" dirty="0"/>
              <a:t>3</a:t>
            </a:r>
            <a:r>
              <a:rPr lang="zh-CN" altLang="en-US" dirty="0"/>
              <a:t>、设置系统密码策略</a:t>
            </a:r>
            <a:endParaRPr lang="zh-CN" altLang="en-US" dirty="0"/>
          </a:p>
          <a:p>
            <a:pPr fontAlgn="auto">
              <a:lnSpc>
                <a:spcPct val="100000"/>
              </a:lnSpc>
              <a:defRPr/>
            </a:pPr>
            <a:endParaRPr lang="zh-CN" altLang="en-US" dirty="0"/>
          </a:p>
          <a:p>
            <a:pPr fontAlgn="auto">
              <a:lnSpc>
                <a:spcPct val="100000"/>
              </a:lnSpc>
              <a:defRPr/>
            </a:pPr>
            <a:r>
              <a:rPr lang="zh-CN" altLang="en-US" dirty="0"/>
              <a:t> </a:t>
            </a:r>
            <a:r>
              <a:rPr lang="en-US" altLang="zh-CN" dirty="0"/>
              <a:t>     </a:t>
            </a:r>
            <a:r>
              <a:rPr lang="zh-CN" altLang="en-US" dirty="0"/>
              <a:t>执行命令</a:t>
            </a:r>
            <a:endParaRPr lang="zh-CN" altLang="en-US" dirty="0"/>
          </a:p>
          <a:p>
            <a:pPr fontAlgn="auto">
              <a:lnSpc>
                <a:spcPct val="100000"/>
              </a:lnSpc>
              <a:defRPr/>
            </a:pPr>
            <a:r>
              <a:rPr lang="en-US" altLang="zh-CN" dirty="0"/>
              <a:t>             </a:t>
            </a:r>
            <a:r>
              <a:rPr lang="zh-CN" altLang="en-US" dirty="0"/>
              <a:t>cat /etc/login.defs|grep PASS查看密码策略设置</a:t>
            </a:r>
            <a:endParaRPr lang="zh-CN" altLang="en-US" dirty="0"/>
          </a:p>
          <a:p>
            <a:pPr fontAlgn="auto">
              <a:lnSpc>
                <a:spcPct val="100000"/>
              </a:lnSpc>
              <a:defRPr/>
            </a:pPr>
            <a:endParaRPr lang="zh-CN" altLang="en-US" dirty="0"/>
          </a:p>
          <a:p>
            <a:pPr fontAlgn="auto">
              <a:lnSpc>
                <a:spcPct val="100000"/>
              </a:lnSpc>
              <a:defRPr/>
            </a:pPr>
            <a:r>
              <a:rPr lang="en-US" altLang="zh-CN" dirty="0"/>
              <a:t>     </a:t>
            </a:r>
            <a:r>
              <a:rPr lang="zh-CN" altLang="en-US" dirty="0"/>
              <a:t>加固方法：</a:t>
            </a:r>
            <a:endParaRPr lang="zh-CN" altLang="en-US" dirty="0"/>
          </a:p>
          <a:p>
            <a:pPr fontAlgn="auto">
              <a:lnSpc>
                <a:spcPct val="100000"/>
              </a:lnSpc>
              <a:defRPr/>
            </a:pPr>
            <a:r>
              <a:rPr lang="en-US" altLang="zh-CN" dirty="0"/>
              <a:t>            </a:t>
            </a:r>
            <a:r>
              <a:rPr lang="zh-CN" altLang="en-US" dirty="0"/>
              <a:t>vi /etc/login.defs修改配置文件</a:t>
            </a:r>
            <a:endParaRPr lang="zh-CN" altLang="en-US" dirty="0"/>
          </a:p>
          <a:p>
            <a:pPr fontAlgn="auto">
              <a:lnSpc>
                <a:spcPct val="100000"/>
              </a:lnSpc>
              <a:defRPr/>
            </a:pPr>
            <a:endParaRPr lang="zh-CN" altLang="en-US" dirty="0"/>
          </a:p>
          <a:p>
            <a:pPr fontAlgn="auto">
              <a:lnSpc>
                <a:spcPct val="100000"/>
              </a:lnSpc>
              <a:defRPr/>
            </a:pPr>
            <a:r>
              <a:rPr lang="en-US" altLang="zh-CN" dirty="0"/>
              <a:t>                  </a:t>
            </a:r>
            <a:r>
              <a:rPr lang="zh-CN" altLang="en-US" dirty="0"/>
              <a:t>PASS_MAX_DAYS </a:t>
            </a:r>
            <a:r>
              <a:rPr lang="en-US" altLang="zh-CN" dirty="0"/>
              <a:t>   </a:t>
            </a:r>
            <a:r>
              <a:rPr lang="zh-CN" altLang="en-US" dirty="0"/>
              <a:t>90 </a:t>
            </a:r>
            <a:r>
              <a:rPr lang="en-US" altLang="zh-CN" dirty="0"/>
              <a:t>        </a:t>
            </a:r>
            <a:r>
              <a:rPr lang="zh-CN" altLang="en-US" dirty="0"/>
              <a:t>#用户的密码最长使用天数</a:t>
            </a:r>
            <a:endParaRPr lang="zh-CN" altLang="en-US" dirty="0"/>
          </a:p>
          <a:p>
            <a:pPr fontAlgn="auto">
              <a:lnSpc>
                <a:spcPct val="100000"/>
              </a:lnSpc>
              <a:defRPr/>
            </a:pPr>
            <a:endParaRPr lang="zh-CN" altLang="en-US" dirty="0"/>
          </a:p>
          <a:p>
            <a:pPr fontAlgn="auto">
              <a:lnSpc>
                <a:spcPct val="100000"/>
              </a:lnSpc>
              <a:defRPr/>
            </a:pPr>
            <a:r>
              <a:rPr lang="en-US" altLang="zh-CN" dirty="0"/>
              <a:t>                  </a:t>
            </a:r>
            <a:r>
              <a:rPr lang="zh-CN" altLang="en-US" dirty="0"/>
              <a:t>PASS_MIN_DAYS </a:t>
            </a:r>
            <a:r>
              <a:rPr lang="en-US" altLang="zh-CN" dirty="0"/>
              <a:t>    </a:t>
            </a:r>
            <a:r>
              <a:rPr lang="zh-CN" altLang="en-US" dirty="0"/>
              <a:t>0 </a:t>
            </a:r>
            <a:r>
              <a:rPr lang="en-US" altLang="zh-CN" dirty="0"/>
              <a:t>          </a:t>
            </a:r>
            <a:r>
              <a:rPr lang="zh-CN" altLang="en-US" dirty="0"/>
              <a:t>#两次修改密码的最小时间间隔</a:t>
            </a:r>
            <a:endParaRPr lang="zh-CN" altLang="en-US" dirty="0"/>
          </a:p>
          <a:p>
            <a:pPr fontAlgn="auto">
              <a:lnSpc>
                <a:spcPct val="100000"/>
              </a:lnSpc>
              <a:defRPr/>
            </a:pPr>
            <a:endParaRPr lang="zh-CN" altLang="en-US" dirty="0"/>
          </a:p>
          <a:p>
            <a:pPr fontAlgn="auto">
              <a:lnSpc>
                <a:spcPct val="100000"/>
              </a:lnSpc>
              <a:defRPr/>
            </a:pPr>
            <a:r>
              <a:rPr lang="en-US" altLang="zh-CN" dirty="0"/>
              <a:t>                  </a:t>
            </a:r>
            <a:r>
              <a:rPr lang="zh-CN" altLang="en-US" dirty="0"/>
              <a:t>PASS_MIN_LEN </a:t>
            </a:r>
            <a:r>
              <a:rPr lang="en-US" altLang="zh-CN" dirty="0"/>
              <a:t>       </a:t>
            </a:r>
            <a:r>
              <a:rPr lang="zh-CN" altLang="en-US" dirty="0"/>
              <a:t>7 </a:t>
            </a:r>
            <a:r>
              <a:rPr lang="en-US" altLang="zh-CN" dirty="0"/>
              <a:t>         </a:t>
            </a:r>
            <a:r>
              <a:rPr lang="zh-CN" altLang="en-US" dirty="0"/>
              <a:t>#密码的最小长度</a:t>
            </a:r>
            <a:endParaRPr lang="zh-CN" altLang="en-US" dirty="0"/>
          </a:p>
          <a:p>
            <a:pPr fontAlgn="auto">
              <a:lnSpc>
                <a:spcPct val="100000"/>
              </a:lnSpc>
              <a:defRPr/>
            </a:pPr>
            <a:endParaRPr lang="zh-CN" altLang="en-US" dirty="0"/>
          </a:p>
          <a:p>
            <a:pPr fontAlgn="auto">
              <a:lnSpc>
                <a:spcPct val="100000"/>
              </a:lnSpc>
              <a:defRPr/>
            </a:pPr>
            <a:r>
              <a:rPr lang="en-US" altLang="zh-CN" dirty="0"/>
              <a:t>                  </a:t>
            </a:r>
            <a:r>
              <a:rPr lang="zh-CN" altLang="en-US" dirty="0"/>
              <a:t>PASS_WARN_AGE </a:t>
            </a:r>
            <a:r>
              <a:rPr lang="en-US" altLang="zh-CN" dirty="0"/>
              <a:t>  </a:t>
            </a:r>
            <a:r>
              <a:rPr lang="zh-CN" altLang="en-US" dirty="0"/>
              <a:t>9 </a:t>
            </a:r>
            <a:r>
              <a:rPr lang="en-US" altLang="zh-CN" dirty="0"/>
              <a:t>         </a:t>
            </a:r>
            <a:r>
              <a:rPr lang="zh-CN" altLang="en-US" dirty="0"/>
              <a:t>#密码过期前多少天开始提示</a:t>
            </a:r>
            <a:r>
              <a:rPr lang="en-US" altLang="zh-CN" dirty="0"/>
              <a:t>  </a:t>
            </a:r>
            <a:endParaRPr lang="en-US" altLang="zh-CN" dirty="0"/>
          </a:p>
        </p:txBody>
      </p:sp>
      <p:sp>
        <p:nvSpPr>
          <p:cNvPr id="2" name="标题 1"/>
          <p:cNvSpPr>
            <a:spLocks noGrp="1"/>
          </p:cNvSpPr>
          <p:nvPr/>
        </p:nvSpPr>
        <p:spPr bwMode="auto">
          <a:xfrm>
            <a:off x="127000" y="280988"/>
            <a:ext cx="4716463" cy="7762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en-US" altLang="zh-CN" dirty="0" smtClean="0"/>
              <a:t>  </a:t>
            </a:r>
            <a:r>
              <a:rPr lang="en-US" altLang="zh-CN" sz="2665" b="1">
                <a:solidFill>
                  <a:srgbClr val="FF0000"/>
                </a:solidFill>
                <a:sym typeface="+mn-ea"/>
              </a:rPr>
              <a:t>2.2 </a:t>
            </a:r>
            <a:r>
              <a:rPr lang="en-US" altLang="zh-CN"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Linux</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操作系统</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加固</a:t>
            </a:r>
            <a:endPar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endParaRPr>
          </a:p>
        </p:txBody>
      </p:sp>
    </p:spTree>
    <p:custDataLst>
      <p:tags r:id="rId1"/>
    </p:custData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 name="矩形 5"/>
          <p:cNvSpPr>
            <a:spLocks noChangeArrowheads="1"/>
          </p:cNvSpPr>
          <p:nvPr/>
        </p:nvSpPr>
        <p:spPr bwMode="auto">
          <a:xfrm>
            <a:off x="676911" y="1153479"/>
            <a:ext cx="8520113"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auto">
              <a:lnSpc>
                <a:spcPct val="100000"/>
              </a:lnSpc>
              <a:defRPr/>
            </a:pPr>
            <a:r>
              <a:rPr lang="en-US" altLang="zh-CN" dirty="0"/>
              <a:t>4</a:t>
            </a:r>
            <a:r>
              <a:rPr lang="zh-CN" altLang="en-US" dirty="0"/>
              <a:t>、禁用</a:t>
            </a:r>
            <a:r>
              <a:rPr lang="en-US" altLang="zh-CN" dirty="0"/>
              <a:t>root</a:t>
            </a:r>
            <a:r>
              <a:rPr lang="zh-CN" altLang="en-US" dirty="0"/>
              <a:t>之外的超级用户</a:t>
            </a:r>
            <a:endParaRPr lang="zh-CN" altLang="en-US" dirty="0"/>
          </a:p>
          <a:p>
            <a:pPr fontAlgn="auto">
              <a:lnSpc>
                <a:spcPct val="100000"/>
              </a:lnSpc>
              <a:defRPr/>
            </a:pPr>
            <a:endParaRPr lang="zh-CN" altLang="en-US" dirty="0"/>
          </a:p>
          <a:p>
            <a:pPr fontAlgn="auto">
              <a:lnSpc>
                <a:spcPct val="100000"/>
              </a:lnSpc>
              <a:defRPr/>
            </a:pPr>
            <a:r>
              <a:rPr lang="zh-CN" altLang="en-US" dirty="0"/>
              <a:t> </a:t>
            </a:r>
            <a:r>
              <a:rPr lang="en-US" altLang="zh-CN" dirty="0"/>
              <a:t>     检测方法：</a:t>
            </a:r>
            <a:endParaRPr lang="en-US" altLang="zh-CN" dirty="0"/>
          </a:p>
          <a:p>
            <a:pPr fontAlgn="auto">
              <a:lnSpc>
                <a:spcPct val="100000"/>
              </a:lnSpc>
              <a:defRPr/>
            </a:pPr>
            <a:r>
              <a:rPr lang="en-US" altLang="zh-CN" dirty="0"/>
              <a:t>       awk -F ":" '($3=="0"){print $1}' /etc/passwd 检查用户ID为0的用户</a:t>
            </a:r>
            <a:endParaRPr lang="en-US" altLang="zh-CN" dirty="0"/>
          </a:p>
          <a:p>
            <a:pPr fontAlgn="auto">
              <a:lnSpc>
                <a:spcPct val="100000"/>
              </a:lnSpc>
              <a:defRPr/>
            </a:pPr>
            <a:endParaRPr lang="en-US" altLang="zh-CN" dirty="0"/>
          </a:p>
          <a:p>
            <a:pPr fontAlgn="auto">
              <a:lnSpc>
                <a:spcPct val="100000"/>
              </a:lnSpc>
              <a:defRPr/>
            </a:pPr>
            <a:r>
              <a:rPr lang="en-US" altLang="zh-CN" dirty="0"/>
              <a:t>      加固方法：</a:t>
            </a:r>
            <a:endParaRPr lang="en-US" altLang="zh-CN" dirty="0"/>
          </a:p>
          <a:p>
            <a:pPr fontAlgn="auto">
              <a:lnSpc>
                <a:spcPct val="100000"/>
              </a:lnSpc>
              <a:defRPr/>
            </a:pPr>
            <a:r>
              <a:rPr lang="en-US" altLang="zh-CN" dirty="0"/>
              <a:t>      passwd -l &lt;用户名&gt;     锁定用户     </a:t>
            </a:r>
            <a:endParaRPr lang="en-US" altLang="zh-CN" dirty="0"/>
          </a:p>
          <a:p>
            <a:pPr fontAlgn="auto">
              <a:lnSpc>
                <a:spcPct val="100000"/>
              </a:lnSpc>
              <a:defRPr/>
            </a:pPr>
            <a:r>
              <a:rPr lang="en-US" altLang="zh-CN" dirty="0"/>
              <a:t>        </a:t>
            </a:r>
            <a:endParaRPr lang="en-US" altLang="zh-CN" dirty="0"/>
          </a:p>
        </p:txBody>
      </p:sp>
      <p:sp>
        <p:nvSpPr>
          <p:cNvPr id="2" name="标题 1"/>
          <p:cNvSpPr>
            <a:spLocks noGrp="1"/>
          </p:cNvSpPr>
          <p:nvPr/>
        </p:nvSpPr>
        <p:spPr bwMode="auto">
          <a:xfrm>
            <a:off x="127000" y="280988"/>
            <a:ext cx="4716463" cy="7762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en-US" altLang="zh-CN" dirty="0" smtClean="0"/>
              <a:t>  </a:t>
            </a:r>
            <a:r>
              <a:rPr lang="en-US" altLang="zh-CN" sz="2665" b="1">
                <a:solidFill>
                  <a:srgbClr val="FF0000"/>
                </a:solidFill>
                <a:sym typeface="+mn-ea"/>
              </a:rPr>
              <a:t>2.2 </a:t>
            </a:r>
            <a:r>
              <a:rPr lang="en-US" altLang="zh-CN"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Linux</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操作系统</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加固</a:t>
            </a:r>
            <a:endPar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4" name="图片 3"/>
          <p:cNvPicPr>
            <a:picLocks noChangeAspect="1"/>
          </p:cNvPicPr>
          <p:nvPr/>
        </p:nvPicPr>
        <p:blipFill>
          <a:blip r:embed="rId1"/>
          <a:stretch>
            <a:fillRect/>
          </a:stretch>
        </p:blipFill>
        <p:spPr>
          <a:xfrm>
            <a:off x="985520" y="3460750"/>
            <a:ext cx="6583680" cy="1158240"/>
          </a:xfrm>
          <a:prstGeom prst="rect">
            <a:avLst/>
          </a:prstGeom>
        </p:spPr>
      </p:pic>
    </p:spTree>
    <p:custDataLst>
      <p:tags r:id="rId2"/>
    </p:custData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 name="矩形 5"/>
          <p:cNvSpPr>
            <a:spLocks noChangeArrowheads="1"/>
          </p:cNvSpPr>
          <p:nvPr/>
        </p:nvSpPr>
        <p:spPr bwMode="auto">
          <a:xfrm>
            <a:off x="676910" y="1153795"/>
            <a:ext cx="10196195" cy="4246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auto">
              <a:lnSpc>
                <a:spcPct val="100000"/>
              </a:lnSpc>
              <a:defRPr/>
            </a:pPr>
            <a:r>
              <a:rPr lang="en-US" altLang="zh-CN" dirty="0"/>
              <a:t>5</a:t>
            </a:r>
            <a:r>
              <a:rPr lang="zh-CN" altLang="en-US" dirty="0"/>
              <a:t>、限制能够</a:t>
            </a:r>
            <a:r>
              <a:rPr lang="en-US" altLang="zh-CN" dirty="0"/>
              <a:t>su</a:t>
            </a:r>
            <a:r>
              <a:rPr lang="zh-CN" altLang="en-US" dirty="0"/>
              <a:t>为</a:t>
            </a:r>
            <a:r>
              <a:rPr lang="en-US" altLang="zh-CN" dirty="0"/>
              <a:t>root</a:t>
            </a:r>
            <a:r>
              <a:rPr lang="zh-CN" altLang="en-US" dirty="0"/>
              <a:t>的用户</a:t>
            </a:r>
            <a:endParaRPr lang="zh-CN" altLang="en-US" dirty="0"/>
          </a:p>
          <a:p>
            <a:pPr fontAlgn="auto">
              <a:lnSpc>
                <a:spcPct val="100000"/>
              </a:lnSpc>
              <a:defRPr/>
            </a:pPr>
            <a:endParaRPr lang="zh-CN" altLang="en-US" dirty="0"/>
          </a:p>
          <a:p>
            <a:pPr fontAlgn="auto">
              <a:lnSpc>
                <a:spcPct val="100000"/>
              </a:lnSpc>
              <a:defRPr/>
            </a:pPr>
            <a:r>
              <a:rPr lang="zh-CN" altLang="en-US" dirty="0"/>
              <a:t> </a:t>
            </a:r>
            <a:r>
              <a:rPr lang="en-US" altLang="zh-CN" dirty="0"/>
              <a:t>       cat /etc/pam.d/su,查看是否有auth required /lib/security/pam_wheel.so这样的配置条目</a:t>
            </a:r>
            <a:endParaRPr lang="en-US" altLang="zh-CN" dirty="0"/>
          </a:p>
          <a:p>
            <a:pPr fontAlgn="auto">
              <a:lnSpc>
                <a:spcPct val="100000"/>
              </a:lnSpc>
              <a:defRPr/>
            </a:pPr>
            <a:endParaRPr lang="en-US" altLang="zh-CN" dirty="0"/>
          </a:p>
          <a:p>
            <a:pPr fontAlgn="auto">
              <a:lnSpc>
                <a:spcPct val="100000"/>
              </a:lnSpc>
              <a:defRPr/>
            </a:pPr>
            <a:endParaRPr lang="en-US" altLang="zh-CN" dirty="0"/>
          </a:p>
          <a:p>
            <a:pPr fontAlgn="auto">
              <a:lnSpc>
                <a:spcPct val="100000"/>
              </a:lnSpc>
              <a:defRPr/>
            </a:pPr>
            <a:endParaRPr lang="en-US" altLang="zh-CN" dirty="0"/>
          </a:p>
          <a:p>
            <a:pPr fontAlgn="auto">
              <a:lnSpc>
                <a:spcPct val="100000"/>
              </a:lnSpc>
              <a:defRPr/>
            </a:pPr>
            <a:endParaRPr lang="en-US" altLang="zh-CN" dirty="0"/>
          </a:p>
          <a:p>
            <a:pPr fontAlgn="auto">
              <a:lnSpc>
                <a:spcPct val="100000"/>
              </a:lnSpc>
              <a:defRPr/>
            </a:pPr>
            <a:endParaRPr lang="en-US" altLang="zh-CN" dirty="0"/>
          </a:p>
          <a:p>
            <a:pPr fontAlgn="auto">
              <a:lnSpc>
                <a:spcPct val="100000"/>
              </a:lnSpc>
              <a:defRPr/>
            </a:pPr>
            <a:r>
              <a:rPr lang="en-US" altLang="zh-CN" dirty="0"/>
              <a:t> </a:t>
            </a:r>
            <a:endParaRPr lang="en-US" altLang="zh-CN" dirty="0"/>
          </a:p>
          <a:p>
            <a:pPr fontAlgn="auto">
              <a:lnSpc>
                <a:spcPct val="100000"/>
              </a:lnSpc>
              <a:defRPr/>
            </a:pPr>
            <a:r>
              <a:rPr lang="en-US" altLang="zh-CN" dirty="0"/>
              <a:t>        加固方法</a:t>
            </a:r>
            <a:endParaRPr lang="en-US" altLang="zh-CN" dirty="0"/>
          </a:p>
          <a:p>
            <a:pPr fontAlgn="auto">
              <a:lnSpc>
                <a:spcPct val="100000"/>
              </a:lnSpc>
              <a:defRPr/>
            </a:pPr>
            <a:r>
              <a:rPr lang="en-US" altLang="zh-CN" dirty="0"/>
              <a:t>        在头部添加：</a:t>
            </a:r>
            <a:endParaRPr lang="en-US" altLang="zh-CN" dirty="0"/>
          </a:p>
          <a:p>
            <a:pPr fontAlgn="auto">
              <a:lnSpc>
                <a:spcPct val="100000"/>
              </a:lnSpc>
              <a:defRPr/>
            </a:pPr>
            <a:r>
              <a:rPr lang="en-US" altLang="zh-CN" dirty="0"/>
              <a:t>               auth required /lib/security/pam_wheel.so group=wheel</a:t>
            </a:r>
            <a:endParaRPr lang="en-US" altLang="zh-CN" dirty="0"/>
          </a:p>
          <a:p>
            <a:pPr fontAlgn="auto">
              <a:lnSpc>
                <a:spcPct val="100000"/>
              </a:lnSpc>
              <a:defRPr/>
            </a:pPr>
            <a:r>
              <a:rPr lang="en-US" altLang="zh-CN" dirty="0"/>
              <a:t>               这样，只有wheel组的用户可以su到root</a:t>
            </a:r>
            <a:endParaRPr lang="en-US" altLang="zh-CN" dirty="0"/>
          </a:p>
          <a:p>
            <a:pPr fontAlgn="auto">
              <a:lnSpc>
                <a:spcPct val="100000"/>
              </a:lnSpc>
              <a:defRPr/>
            </a:pPr>
            <a:endParaRPr lang="en-US" altLang="zh-CN" dirty="0"/>
          </a:p>
          <a:p>
            <a:pPr fontAlgn="auto">
              <a:lnSpc>
                <a:spcPct val="100000"/>
              </a:lnSpc>
              <a:defRPr/>
            </a:pPr>
            <a:r>
              <a:rPr lang="en-US" altLang="zh-CN" dirty="0"/>
              <a:t>               usermod -G10 test 将test用户加入到wheel组             </a:t>
            </a:r>
            <a:endParaRPr lang="en-US" altLang="zh-CN" dirty="0"/>
          </a:p>
        </p:txBody>
      </p:sp>
      <p:sp>
        <p:nvSpPr>
          <p:cNvPr id="2" name="标题 1"/>
          <p:cNvSpPr>
            <a:spLocks noGrp="1"/>
          </p:cNvSpPr>
          <p:nvPr/>
        </p:nvSpPr>
        <p:spPr bwMode="auto">
          <a:xfrm>
            <a:off x="127000" y="280988"/>
            <a:ext cx="4716463" cy="7762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en-US" altLang="zh-CN" dirty="0" smtClean="0"/>
              <a:t>  </a:t>
            </a:r>
            <a:r>
              <a:rPr lang="en-US" altLang="zh-CN" sz="2665" b="1">
                <a:solidFill>
                  <a:srgbClr val="FF0000"/>
                </a:solidFill>
                <a:sym typeface="+mn-ea"/>
              </a:rPr>
              <a:t>2.2 </a:t>
            </a:r>
            <a:r>
              <a:rPr lang="en-US" altLang="zh-CN"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Linux</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操作系统</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加固</a:t>
            </a:r>
            <a:endPar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3" name="图片 2"/>
          <p:cNvPicPr>
            <a:picLocks noChangeAspect="1"/>
          </p:cNvPicPr>
          <p:nvPr/>
        </p:nvPicPr>
        <p:blipFill>
          <a:blip r:embed="rId1"/>
          <a:stretch>
            <a:fillRect/>
          </a:stretch>
        </p:blipFill>
        <p:spPr>
          <a:xfrm>
            <a:off x="1708785" y="2056130"/>
            <a:ext cx="7231380" cy="1333500"/>
          </a:xfrm>
          <a:prstGeom prst="rect">
            <a:avLst/>
          </a:prstGeom>
        </p:spPr>
      </p:pic>
    </p:spTree>
    <p:custDataLst>
      <p:tags r:id="rId2"/>
    </p:custData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 name="矩形 5"/>
          <p:cNvSpPr>
            <a:spLocks noChangeArrowheads="1"/>
          </p:cNvSpPr>
          <p:nvPr/>
        </p:nvSpPr>
        <p:spPr bwMode="auto">
          <a:xfrm>
            <a:off x="676911" y="1153479"/>
            <a:ext cx="8520113"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auto">
              <a:lnSpc>
                <a:spcPct val="100000"/>
              </a:lnSpc>
              <a:defRPr/>
            </a:pPr>
            <a:r>
              <a:rPr lang="en-US" altLang="zh-CN" dirty="0"/>
              <a:t>6</a:t>
            </a:r>
            <a:r>
              <a:rPr lang="zh-CN" altLang="en-US" dirty="0"/>
              <a:t>、重要文件加上不可改变属性</a:t>
            </a:r>
            <a:r>
              <a:rPr lang="en-US" altLang="zh-CN" dirty="0"/>
              <a:t>      </a:t>
            </a:r>
            <a:endParaRPr lang="en-US" altLang="zh-CN" dirty="0"/>
          </a:p>
          <a:p>
            <a:pPr fontAlgn="auto">
              <a:lnSpc>
                <a:spcPct val="100000"/>
              </a:lnSpc>
              <a:defRPr/>
            </a:pPr>
            <a:r>
              <a:rPr lang="en-US" altLang="zh-CN" dirty="0"/>
              <a:t>              </a:t>
            </a:r>
            <a:endParaRPr lang="en-US" altLang="zh-CN" dirty="0"/>
          </a:p>
          <a:p>
            <a:pPr fontAlgn="auto">
              <a:lnSpc>
                <a:spcPct val="100000"/>
              </a:lnSpc>
              <a:defRPr/>
            </a:pPr>
            <a:r>
              <a:rPr lang="en-US" altLang="zh-CN" dirty="0"/>
              <a:t>       把重要文件加上不可改变属性</a:t>
            </a:r>
            <a:endParaRPr lang="en-US" altLang="zh-CN" dirty="0"/>
          </a:p>
          <a:p>
            <a:pPr fontAlgn="auto">
              <a:lnSpc>
                <a:spcPct val="100000"/>
              </a:lnSpc>
              <a:defRPr/>
            </a:pPr>
            <a:r>
              <a:rPr lang="en-US" altLang="zh-CN" dirty="0"/>
              <a:t>       [root@ayazero /]# chattr +i /etc/passwd</a:t>
            </a:r>
            <a:endParaRPr lang="en-US" altLang="zh-CN" dirty="0"/>
          </a:p>
          <a:p>
            <a:pPr fontAlgn="auto">
              <a:lnSpc>
                <a:spcPct val="100000"/>
              </a:lnSpc>
              <a:defRPr/>
            </a:pPr>
            <a:r>
              <a:rPr lang="en-US" altLang="zh-CN" dirty="0"/>
              <a:t>       [root@ayazero /]# chattr +i /etc/shadow</a:t>
            </a:r>
            <a:endParaRPr lang="en-US" altLang="zh-CN" dirty="0"/>
          </a:p>
          <a:p>
            <a:pPr fontAlgn="auto">
              <a:lnSpc>
                <a:spcPct val="100000"/>
              </a:lnSpc>
              <a:defRPr/>
            </a:pPr>
            <a:r>
              <a:rPr lang="en-US" altLang="zh-CN" dirty="0"/>
              <a:t>       [root@ayazero /]# chattr +i /etc/gshadow</a:t>
            </a:r>
            <a:endParaRPr lang="en-US" altLang="zh-CN" dirty="0"/>
          </a:p>
          <a:p>
            <a:pPr fontAlgn="auto">
              <a:lnSpc>
                <a:spcPct val="100000"/>
              </a:lnSpc>
              <a:defRPr/>
            </a:pPr>
            <a:r>
              <a:rPr lang="en-US" altLang="zh-CN" dirty="0"/>
              <a:t>       [root@ayazero /]# chattr +i /etc/group</a:t>
            </a:r>
            <a:endParaRPr lang="en-US" altLang="zh-CN" dirty="0"/>
          </a:p>
          <a:p>
            <a:pPr fontAlgn="auto">
              <a:lnSpc>
                <a:spcPct val="100000"/>
              </a:lnSpc>
              <a:defRPr/>
            </a:pPr>
            <a:r>
              <a:rPr lang="en-US" altLang="zh-CN" dirty="0"/>
              <a:t>       [root@ayazero /]# chattr +i /etc/inetd.conf</a:t>
            </a:r>
            <a:endParaRPr lang="en-US" altLang="zh-CN" dirty="0"/>
          </a:p>
          <a:p>
            <a:pPr fontAlgn="auto">
              <a:lnSpc>
                <a:spcPct val="100000"/>
              </a:lnSpc>
              <a:defRPr/>
            </a:pPr>
            <a:r>
              <a:rPr lang="en-US" altLang="zh-CN" dirty="0"/>
              <a:t>       [root@ayazero /]# chattr +i /etc/httpd.conf</a:t>
            </a:r>
            <a:endParaRPr lang="en-US" altLang="zh-CN" dirty="0"/>
          </a:p>
        </p:txBody>
      </p:sp>
      <p:sp>
        <p:nvSpPr>
          <p:cNvPr id="2" name="标题 1"/>
          <p:cNvSpPr>
            <a:spLocks noGrp="1"/>
          </p:cNvSpPr>
          <p:nvPr/>
        </p:nvSpPr>
        <p:spPr bwMode="auto">
          <a:xfrm>
            <a:off x="127000" y="280988"/>
            <a:ext cx="4716463" cy="7762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en-US" altLang="zh-CN" dirty="0" smtClean="0"/>
              <a:t>  </a:t>
            </a:r>
            <a:r>
              <a:rPr lang="en-US" altLang="zh-CN" sz="2665" b="1">
                <a:solidFill>
                  <a:srgbClr val="FF0000"/>
                </a:solidFill>
                <a:sym typeface="+mn-ea"/>
              </a:rPr>
              <a:t>2.2 </a:t>
            </a:r>
            <a:r>
              <a:rPr lang="en-US" altLang="zh-CN"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Linux</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操作系统</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加固</a:t>
            </a:r>
            <a:endPar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endParaRPr>
          </a:p>
        </p:txBody>
      </p:sp>
    </p:spTree>
    <p:custDataLst>
      <p:tags r:id="rId1"/>
    </p:custData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 name="矩形 5"/>
          <p:cNvSpPr>
            <a:spLocks noChangeArrowheads="1"/>
          </p:cNvSpPr>
          <p:nvPr/>
        </p:nvSpPr>
        <p:spPr bwMode="auto">
          <a:xfrm>
            <a:off x="676911" y="1153479"/>
            <a:ext cx="8520113" cy="5077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auto">
              <a:lnSpc>
                <a:spcPct val="100000"/>
              </a:lnSpc>
              <a:defRPr/>
            </a:pPr>
            <a:r>
              <a:rPr lang="en-US" altLang="zh-CN" dirty="0"/>
              <a:t>7</a:t>
            </a:r>
            <a:r>
              <a:rPr lang="zh-CN" altLang="en-US" dirty="0"/>
              <a:t>、</a:t>
            </a:r>
            <a:r>
              <a:rPr lang="en-US" altLang="zh-CN" dirty="0"/>
              <a:t>Umask</a:t>
            </a:r>
            <a:r>
              <a:rPr lang="zh-CN" altLang="en-US" dirty="0"/>
              <a:t>安全</a:t>
            </a:r>
            <a:endParaRPr lang="zh-CN" altLang="en-US" dirty="0"/>
          </a:p>
          <a:p>
            <a:pPr fontAlgn="auto">
              <a:lnSpc>
                <a:spcPct val="100000"/>
              </a:lnSpc>
              <a:defRPr/>
            </a:pPr>
            <a:endParaRPr lang="zh-CN" altLang="en-US" dirty="0"/>
          </a:p>
          <a:p>
            <a:pPr fontAlgn="auto">
              <a:lnSpc>
                <a:spcPct val="100000"/>
              </a:lnSpc>
              <a:defRPr/>
            </a:pPr>
            <a:endParaRPr lang="zh-CN" altLang="en-US" dirty="0"/>
          </a:p>
          <a:p>
            <a:pPr fontAlgn="auto">
              <a:lnSpc>
                <a:spcPct val="100000"/>
              </a:lnSpc>
              <a:defRPr/>
            </a:pPr>
            <a:endParaRPr lang="zh-CN" altLang="en-US" dirty="0"/>
          </a:p>
          <a:p>
            <a:pPr fontAlgn="auto">
              <a:lnSpc>
                <a:spcPct val="100000"/>
              </a:lnSpc>
              <a:defRPr/>
            </a:pPr>
            <a:endParaRPr lang="zh-CN" altLang="en-US" dirty="0"/>
          </a:p>
          <a:p>
            <a:pPr fontAlgn="auto">
              <a:lnSpc>
                <a:spcPct val="100000"/>
              </a:lnSpc>
              <a:defRPr/>
            </a:pPr>
            <a:endParaRPr lang="zh-CN" altLang="en-US" dirty="0"/>
          </a:p>
          <a:p>
            <a:pPr fontAlgn="auto">
              <a:lnSpc>
                <a:spcPct val="100000"/>
              </a:lnSpc>
              <a:defRPr/>
            </a:pPr>
            <a:endParaRPr lang="zh-CN" altLang="en-US" dirty="0"/>
          </a:p>
          <a:p>
            <a:pPr fontAlgn="auto">
              <a:lnSpc>
                <a:spcPct val="100000"/>
              </a:lnSpc>
              <a:defRPr/>
            </a:pPr>
            <a:r>
              <a:rPr lang="zh-CN" altLang="en-US" dirty="0"/>
              <a:t>0代表本文件/目录拥有者什么权限都没丢弃</a:t>
            </a:r>
            <a:endParaRPr lang="zh-CN" altLang="en-US" dirty="0"/>
          </a:p>
          <a:p>
            <a:pPr fontAlgn="auto">
              <a:lnSpc>
                <a:spcPct val="100000"/>
              </a:lnSpc>
              <a:defRPr/>
            </a:pPr>
            <a:r>
              <a:rPr lang="zh-CN" altLang="en-US" dirty="0"/>
              <a:t>第一个2代表目录的</a:t>
            </a:r>
            <a:r>
              <a:rPr lang="zh-CN" altLang="en-US" dirty="0">
                <a:solidFill>
                  <a:schemeClr val="accent1"/>
                </a:solidFill>
              </a:rPr>
              <a:t>用户组</a:t>
            </a:r>
            <a:r>
              <a:rPr lang="zh-CN" altLang="en-US" dirty="0"/>
              <a:t>丢弃了w权限</a:t>
            </a:r>
            <a:endParaRPr lang="zh-CN" altLang="en-US" dirty="0"/>
          </a:p>
          <a:p>
            <a:pPr fontAlgn="auto">
              <a:lnSpc>
                <a:spcPct val="100000"/>
              </a:lnSpc>
              <a:defRPr/>
            </a:pPr>
            <a:r>
              <a:rPr lang="zh-CN" altLang="en-US" dirty="0"/>
              <a:t>第二个2代表目录的</a:t>
            </a:r>
            <a:r>
              <a:rPr lang="zh-CN" altLang="en-US" dirty="0">
                <a:solidFill>
                  <a:schemeClr val="accent1"/>
                </a:solidFill>
              </a:rPr>
              <a:t>其他用户</a:t>
            </a:r>
            <a:r>
              <a:rPr lang="zh-CN" altLang="en-US" dirty="0">
                <a:sym typeface="+mn-ea"/>
              </a:rPr>
              <a:t>丢弃了w权限</a:t>
            </a:r>
            <a:endParaRPr lang="zh-CN" altLang="en-US" dirty="0"/>
          </a:p>
          <a:p>
            <a:pPr fontAlgn="auto">
              <a:lnSpc>
                <a:spcPct val="100000"/>
              </a:lnSpc>
              <a:defRPr/>
            </a:pPr>
            <a:endParaRPr lang="zh-CN" altLang="en-US" dirty="0"/>
          </a:p>
          <a:p>
            <a:pPr fontAlgn="auto">
              <a:lnSpc>
                <a:spcPct val="100000"/>
              </a:lnSpc>
              <a:defRPr/>
            </a:pPr>
            <a:endParaRPr lang="zh-CN" altLang="en-US" dirty="0"/>
          </a:p>
          <a:p>
            <a:pPr fontAlgn="auto">
              <a:lnSpc>
                <a:spcPct val="100000"/>
              </a:lnSpc>
              <a:defRPr/>
            </a:pPr>
            <a:r>
              <a:rPr lang="zh-CN" altLang="en-US" b="1" dirty="0"/>
              <a:t>实际权限=777-022</a:t>
            </a:r>
            <a:endParaRPr lang="zh-CN" altLang="en-US" b="1" dirty="0"/>
          </a:p>
          <a:p>
            <a:pPr fontAlgn="auto">
              <a:lnSpc>
                <a:spcPct val="100000"/>
              </a:lnSpc>
              <a:defRPr/>
            </a:pPr>
            <a:endParaRPr lang="zh-CN" altLang="en-US" b="1" dirty="0"/>
          </a:p>
          <a:p>
            <a:pPr fontAlgn="auto">
              <a:lnSpc>
                <a:spcPct val="100000"/>
              </a:lnSpc>
              <a:defRPr/>
            </a:pPr>
            <a:r>
              <a:rPr lang="zh-CN" altLang="en-US" b="1" dirty="0"/>
              <a:t>设置合理的umask权限</a:t>
            </a:r>
            <a:endParaRPr lang="zh-CN" altLang="en-US" b="1" dirty="0"/>
          </a:p>
          <a:p>
            <a:pPr fontAlgn="auto">
              <a:lnSpc>
                <a:spcPct val="100000"/>
              </a:lnSpc>
              <a:defRPr/>
            </a:pPr>
            <a:r>
              <a:rPr lang="zh-CN" altLang="en-US" b="1" dirty="0"/>
              <a:t>umask 022</a:t>
            </a:r>
            <a:endParaRPr lang="zh-CN" altLang="en-US" b="1" dirty="0"/>
          </a:p>
          <a:p>
            <a:pPr fontAlgn="auto">
              <a:lnSpc>
                <a:spcPct val="100000"/>
              </a:lnSpc>
              <a:defRPr/>
            </a:pPr>
            <a:r>
              <a:rPr lang="zh-CN" altLang="en-US" dirty="0"/>
              <a:t> </a:t>
            </a:r>
            <a:r>
              <a:rPr lang="en-US" altLang="zh-CN" dirty="0"/>
              <a:t>          </a:t>
            </a:r>
            <a:endParaRPr lang="en-US" altLang="zh-CN" dirty="0"/>
          </a:p>
          <a:p>
            <a:pPr fontAlgn="auto">
              <a:lnSpc>
                <a:spcPct val="100000"/>
              </a:lnSpc>
              <a:defRPr/>
            </a:pPr>
            <a:r>
              <a:rPr lang="en-US" altLang="zh-CN" dirty="0"/>
              <a:t>               </a:t>
            </a:r>
            <a:endParaRPr lang="en-US" altLang="zh-CN" dirty="0"/>
          </a:p>
        </p:txBody>
      </p:sp>
      <p:sp>
        <p:nvSpPr>
          <p:cNvPr id="2" name="标题 1"/>
          <p:cNvSpPr>
            <a:spLocks noGrp="1"/>
          </p:cNvSpPr>
          <p:nvPr/>
        </p:nvSpPr>
        <p:spPr bwMode="auto">
          <a:xfrm>
            <a:off x="127000" y="280988"/>
            <a:ext cx="4716463" cy="7762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en-US" altLang="zh-CN" dirty="0" smtClean="0"/>
              <a:t>  </a:t>
            </a:r>
            <a:r>
              <a:rPr lang="en-US" altLang="zh-CN" sz="2665" b="1">
                <a:solidFill>
                  <a:srgbClr val="FF0000"/>
                </a:solidFill>
                <a:sym typeface="+mn-ea"/>
              </a:rPr>
              <a:t>2.2 </a:t>
            </a:r>
            <a:r>
              <a:rPr lang="en-US" altLang="zh-CN"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Linux</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操作系统</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加固</a:t>
            </a:r>
            <a:endPar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4" name="图片 3"/>
          <p:cNvPicPr>
            <a:picLocks noChangeAspect="1"/>
          </p:cNvPicPr>
          <p:nvPr/>
        </p:nvPicPr>
        <p:blipFill>
          <a:blip r:embed="rId1"/>
          <a:stretch>
            <a:fillRect/>
          </a:stretch>
        </p:blipFill>
        <p:spPr>
          <a:xfrm>
            <a:off x="1056640" y="1728470"/>
            <a:ext cx="3665220" cy="1005840"/>
          </a:xfrm>
          <a:prstGeom prst="rect">
            <a:avLst/>
          </a:prstGeom>
        </p:spPr>
      </p:pic>
    </p:spTree>
    <p:custDataLst>
      <p:tags r:id="rId2"/>
    </p:custData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 name="矩形 5"/>
          <p:cNvSpPr>
            <a:spLocks noChangeArrowheads="1"/>
          </p:cNvSpPr>
          <p:nvPr/>
        </p:nvSpPr>
        <p:spPr bwMode="auto">
          <a:xfrm>
            <a:off x="676911" y="1153479"/>
            <a:ext cx="8520113" cy="4246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auto">
              <a:lnSpc>
                <a:spcPct val="100000"/>
              </a:lnSpc>
              <a:defRPr/>
            </a:pPr>
            <a:r>
              <a:rPr lang="en-US" altLang="zh-CN" dirty="0"/>
              <a:t>8</a:t>
            </a:r>
            <a:r>
              <a:rPr lang="zh-CN" altLang="en-US" dirty="0"/>
              <a:t>、</a:t>
            </a:r>
            <a:r>
              <a:rPr lang="en-US" altLang="zh-CN" dirty="0"/>
              <a:t>ssh</a:t>
            </a:r>
            <a:r>
              <a:rPr lang="zh-CN" altLang="en-US" dirty="0"/>
              <a:t>安全</a:t>
            </a:r>
            <a:endParaRPr lang="zh-CN" altLang="en-US" dirty="0"/>
          </a:p>
          <a:p>
            <a:pPr fontAlgn="auto">
              <a:lnSpc>
                <a:spcPct val="100000"/>
              </a:lnSpc>
              <a:defRPr/>
            </a:pPr>
            <a:endParaRPr lang="zh-CN" altLang="en-US" dirty="0"/>
          </a:p>
          <a:p>
            <a:pPr fontAlgn="auto">
              <a:lnSpc>
                <a:spcPct val="100000"/>
              </a:lnSpc>
              <a:defRPr/>
            </a:pPr>
            <a:r>
              <a:rPr lang="en-US" altLang="zh-CN" dirty="0"/>
              <a:t>     禁止root用户进行远程登录</a:t>
            </a:r>
            <a:endParaRPr lang="en-US" altLang="zh-CN" dirty="0"/>
          </a:p>
          <a:p>
            <a:pPr fontAlgn="auto">
              <a:lnSpc>
                <a:spcPct val="100000"/>
              </a:lnSpc>
              <a:defRPr/>
            </a:pPr>
            <a:r>
              <a:rPr lang="en-US" altLang="zh-CN" dirty="0"/>
              <a:t>     检查方法：</a:t>
            </a:r>
            <a:endParaRPr lang="en-US" altLang="zh-CN" dirty="0"/>
          </a:p>
          <a:p>
            <a:pPr fontAlgn="auto">
              <a:lnSpc>
                <a:spcPct val="100000"/>
              </a:lnSpc>
              <a:defRPr/>
            </a:pPr>
            <a:r>
              <a:rPr lang="en-US" altLang="zh-CN" dirty="0"/>
              <a:t>      cat /etc/ssh/sshd_config | grep PermitRootLogin 是否为no</a:t>
            </a:r>
            <a:endParaRPr lang="en-US" altLang="zh-CN" dirty="0"/>
          </a:p>
          <a:p>
            <a:pPr fontAlgn="auto">
              <a:lnSpc>
                <a:spcPct val="100000"/>
              </a:lnSpc>
              <a:defRPr/>
            </a:pPr>
            <a:r>
              <a:rPr lang="en-US" altLang="zh-CN" dirty="0"/>
              <a:t>     加固方法</a:t>
            </a:r>
            <a:endParaRPr lang="en-US" altLang="zh-CN" dirty="0"/>
          </a:p>
          <a:p>
            <a:pPr fontAlgn="auto">
              <a:lnSpc>
                <a:spcPct val="100000"/>
              </a:lnSpc>
              <a:defRPr/>
            </a:pPr>
            <a:r>
              <a:rPr lang="en-US" altLang="zh-CN" dirty="0"/>
              <a:t>      #vi /etc/ssh/sshd_config </a:t>
            </a:r>
            <a:endParaRPr lang="en-US" altLang="zh-CN" dirty="0"/>
          </a:p>
          <a:p>
            <a:pPr fontAlgn="auto">
              <a:lnSpc>
                <a:spcPct val="100000"/>
              </a:lnSpc>
              <a:defRPr/>
            </a:pPr>
            <a:r>
              <a:rPr lang="en-US" altLang="zh-CN" dirty="0"/>
              <a:t>      PermitRootLogin no</a:t>
            </a:r>
            <a:endParaRPr lang="en-US" altLang="zh-CN" dirty="0"/>
          </a:p>
          <a:p>
            <a:pPr fontAlgn="auto">
              <a:lnSpc>
                <a:spcPct val="100000"/>
              </a:lnSpc>
              <a:defRPr/>
            </a:pPr>
            <a:endParaRPr lang="en-US" altLang="zh-CN" dirty="0"/>
          </a:p>
          <a:p>
            <a:pPr fontAlgn="auto">
              <a:lnSpc>
                <a:spcPct val="100000"/>
              </a:lnSpc>
              <a:defRPr/>
            </a:pPr>
            <a:endParaRPr lang="en-US" altLang="zh-CN" dirty="0"/>
          </a:p>
          <a:p>
            <a:pPr fontAlgn="auto">
              <a:lnSpc>
                <a:spcPct val="100000"/>
              </a:lnSpc>
              <a:defRPr/>
            </a:pPr>
            <a:endParaRPr lang="en-US" altLang="zh-CN" dirty="0"/>
          </a:p>
          <a:p>
            <a:pPr fontAlgn="auto">
              <a:lnSpc>
                <a:spcPct val="100000"/>
              </a:lnSpc>
              <a:defRPr/>
            </a:pPr>
            <a:endParaRPr lang="en-US" altLang="zh-CN" dirty="0"/>
          </a:p>
          <a:p>
            <a:pPr fontAlgn="auto">
              <a:lnSpc>
                <a:spcPct val="100000"/>
              </a:lnSpc>
              <a:defRPr/>
            </a:pPr>
            <a:r>
              <a:rPr lang="en-US" altLang="zh-CN" dirty="0"/>
              <a:t>     更改服务端口</a:t>
            </a:r>
            <a:endParaRPr lang="en-US" altLang="zh-CN" dirty="0"/>
          </a:p>
          <a:p>
            <a:pPr fontAlgn="auto">
              <a:lnSpc>
                <a:spcPct val="100000"/>
              </a:lnSpc>
              <a:defRPr/>
            </a:pPr>
            <a:r>
              <a:rPr lang="en-US" altLang="zh-CN" dirty="0"/>
              <a:t>      cat /etc/ssh/sshd_config | grep Port</a:t>
            </a:r>
            <a:endParaRPr lang="en-US" altLang="zh-CN" dirty="0"/>
          </a:p>
          <a:p>
            <a:pPr fontAlgn="auto">
              <a:lnSpc>
                <a:spcPct val="100000"/>
              </a:lnSpc>
              <a:defRPr/>
            </a:pPr>
            <a:r>
              <a:rPr lang="en-US" altLang="zh-CN" dirty="0"/>
              <a:t>     Port 2222 更改ssh端口                </a:t>
            </a:r>
            <a:endParaRPr lang="en-US" altLang="zh-CN" dirty="0"/>
          </a:p>
        </p:txBody>
      </p:sp>
      <p:sp>
        <p:nvSpPr>
          <p:cNvPr id="2" name="标题 1"/>
          <p:cNvSpPr>
            <a:spLocks noGrp="1"/>
          </p:cNvSpPr>
          <p:nvPr/>
        </p:nvSpPr>
        <p:spPr bwMode="auto">
          <a:xfrm>
            <a:off x="127000" y="280988"/>
            <a:ext cx="4716463" cy="7762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en-US" altLang="zh-CN" dirty="0" smtClean="0"/>
              <a:t>  </a:t>
            </a:r>
            <a:r>
              <a:rPr lang="en-US" altLang="zh-CN" sz="2665" b="1">
                <a:solidFill>
                  <a:srgbClr val="FF0000"/>
                </a:solidFill>
                <a:sym typeface="+mn-ea"/>
              </a:rPr>
              <a:t>2.2 </a:t>
            </a:r>
            <a:r>
              <a:rPr lang="en-US" altLang="zh-CN"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Linux</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操作系统</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加固</a:t>
            </a:r>
            <a:endPar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3" name="图片 2"/>
          <p:cNvPicPr>
            <a:picLocks noChangeAspect="1"/>
          </p:cNvPicPr>
          <p:nvPr/>
        </p:nvPicPr>
        <p:blipFill>
          <a:blip r:embed="rId1"/>
          <a:stretch>
            <a:fillRect/>
          </a:stretch>
        </p:blipFill>
        <p:spPr>
          <a:xfrm>
            <a:off x="1079500" y="3528060"/>
            <a:ext cx="6873240" cy="858520"/>
          </a:xfrm>
          <a:prstGeom prst="rect">
            <a:avLst/>
          </a:prstGeom>
        </p:spPr>
      </p:pic>
    </p:spTree>
    <p:custDataLst>
      <p:tags r:id="rId2"/>
    </p:custData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 name="矩形 5"/>
          <p:cNvSpPr>
            <a:spLocks noChangeArrowheads="1"/>
          </p:cNvSpPr>
          <p:nvPr/>
        </p:nvSpPr>
        <p:spPr bwMode="auto">
          <a:xfrm>
            <a:off x="676911" y="1153479"/>
            <a:ext cx="8520113" cy="4246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auto">
              <a:lnSpc>
                <a:spcPct val="100000"/>
              </a:lnSpc>
              <a:defRPr/>
            </a:pPr>
            <a:r>
              <a:rPr lang="en-US" altLang="zh-CN" dirty="0"/>
              <a:t>9</a:t>
            </a:r>
            <a:r>
              <a:rPr lang="zh-CN" altLang="en-US" dirty="0"/>
              <a:t>、屏蔽</a:t>
            </a:r>
            <a:r>
              <a:rPr lang="en-US" altLang="zh-CN" dirty="0"/>
              <a:t>SSH</a:t>
            </a:r>
            <a:r>
              <a:rPr lang="zh-CN" altLang="en-US" dirty="0"/>
              <a:t>登录</a:t>
            </a:r>
            <a:r>
              <a:rPr lang="en-US" altLang="zh-CN" dirty="0"/>
              <a:t>banner</a:t>
            </a:r>
            <a:r>
              <a:rPr lang="zh-CN" altLang="en-US" dirty="0"/>
              <a:t>信息</a:t>
            </a:r>
            <a:endParaRPr lang="zh-CN" altLang="en-US" dirty="0"/>
          </a:p>
          <a:p>
            <a:pPr fontAlgn="auto">
              <a:lnSpc>
                <a:spcPct val="100000"/>
              </a:lnSpc>
              <a:defRPr/>
            </a:pPr>
            <a:endParaRPr lang="zh-CN" altLang="en-US" dirty="0"/>
          </a:p>
          <a:p>
            <a:pPr fontAlgn="auto">
              <a:lnSpc>
                <a:spcPct val="100000"/>
              </a:lnSpc>
              <a:defRPr/>
            </a:pPr>
            <a:r>
              <a:rPr lang="zh-CN" altLang="en-US" dirty="0"/>
              <a:t> </a:t>
            </a:r>
            <a:r>
              <a:rPr lang="en-US" altLang="zh-CN" dirty="0"/>
              <a:t>     屏蔽SSH登录banner信息</a:t>
            </a:r>
            <a:endParaRPr lang="en-US" altLang="zh-CN" dirty="0"/>
          </a:p>
          <a:p>
            <a:pPr fontAlgn="auto">
              <a:lnSpc>
                <a:spcPct val="100000"/>
              </a:lnSpc>
              <a:defRPr/>
            </a:pPr>
            <a:r>
              <a:rPr lang="en-US" altLang="zh-CN" dirty="0"/>
              <a:t>      检查方法：</a:t>
            </a:r>
            <a:endParaRPr lang="en-US" altLang="zh-CN" dirty="0"/>
          </a:p>
          <a:p>
            <a:pPr fontAlgn="auto">
              <a:lnSpc>
                <a:spcPct val="100000"/>
              </a:lnSpc>
              <a:defRPr/>
            </a:pPr>
            <a:r>
              <a:rPr lang="en-US" altLang="zh-CN" dirty="0"/>
              <a:t>       cat /etc/ssh/sshd_config </a:t>
            </a:r>
            <a:endParaRPr lang="en-US" altLang="zh-CN" dirty="0"/>
          </a:p>
          <a:p>
            <a:pPr fontAlgn="auto">
              <a:lnSpc>
                <a:spcPct val="100000"/>
              </a:lnSpc>
              <a:defRPr/>
            </a:pPr>
            <a:r>
              <a:rPr lang="en-US" altLang="zh-CN" dirty="0"/>
              <a:t>      查看文件中是否存在banner字段，或banner字段为NONE</a:t>
            </a:r>
            <a:endParaRPr lang="en-US" altLang="zh-CN" dirty="0"/>
          </a:p>
          <a:p>
            <a:pPr fontAlgn="auto">
              <a:lnSpc>
                <a:spcPct val="100000"/>
              </a:lnSpc>
              <a:defRPr/>
            </a:pPr>
            <a:r>
              <a:rPr lang="en-US" altLang="zh-CN" dirty="0"/>
              <a:t>       cat /etc/motd </a:t>
            </a:r>
            <a:endParaRPr lang="en-US" altLang="zh-CN" dirty="0"/>
          </a:p>
          <a:p>
            <a:pPr fontAlgn="auto">
              <a:lnSpc>
                <a:spcPct val="100000"/>
              </a:lnSpc>
              <a:defRPr/>
            </a:pPr>
            <a:r>
              <a:rPr lang="en-US" altLang="zh-CN" dirty="0"/>
              <a:t>      查看文件内容，该处内容作为banner信息显示给登录用户</a:t>
            </a:r>
            <a:endParaRPr lang="en-US" altLang="zh-CN" dirty="0"/>
          </a:p>
          <a:p>
            <a:pPr fontAlgn="auto">
              <a:lnSpc>
                <a:spcPct val="100000"/>
              </a:lnSpc>
              <a:defRPr/>
            </a:pPr>
            <a:r>
              <a:rPr lang="en-US" altLang="zh-CN" dirty="0"/>
              <a:t>      加固方法：</a:t>
            </a:r>
            <a:endParaRPr lang="en-US" altLang="zh-CN" dirty="0"/>
          </a:p>
          <a:p>
            <a:pPr fontAlgn="auto">
              <a:lnSpc>
                <a:spcPct val="100000"/>
              </a:lnSpc>
              <a:defRPr/>
            </a:pPr>
            <a:r>
              <a:rPr lang="en-US" altLang="zh-CN" dirty="0"/>
              <a:t>       vim /etc/ssh/sshd_config</a:t>
            </a:r>
            <a:endParaRPr lang="en-US" altLang="zh-CN" dirty="0"/>
          </a:p>
          <a:p>
            <a:pPr fontAlgn="auto">
              <a:lnSpc>
                <a:spcPct val="100000"/>
              </a:lnSpc>
              <a:defRPr/>
            </a:pPr>
            <a:r>
              <a:rPr lang="en-US" altLang="zh-CN" dirty="0"/>
              <a:t>      添加：</a:t>
            </a:r>
            <a:endParaRPr lang="en-US" altLang="zh-CN" dirty="0"/>
          </a:p>
          <a:p>
            <a:pPr fontAlgn="auto">
              <a:lnSpc>
                <a:spcPct val="100000"/>
              </a:lnSpc>
              <a:defRPr/>
            </a:pPr>
            <a:r>
              <a:rPr lang="en-US" altLang="zh-CN" dirty="0"/>
              <a:t>      banner NONE</a:t>
            </a:r>
            <a:endParaRPr lang="en-US" altLang="zh-CN" dirty="0"/>
          </a:p>
          <a:p>
            <a:pPr fontAlgn="auto">
              <a:lnSpc>
                <a:spcPct val="100000"/>
              </a:lnSpc>
              <a:defRPr/>
            </a:pPr>
            <a:r>
              <a:rPr lang="en-US" altLang="zh-CN" dirty="0"/>
              <a:t>      vim /etc/motd</a:t>
            </a:r>
            <a:endParaRPr lang="en-US" altLang="zh-CN" dirty="0"/>
          </a:p>
          <a:p>
            <a:pPr fontAlgn="auto">
              <a:lnSpc>
                <a:spcPct val="100000"/>
              </a:lnSpc>
              <a:defRPr/>
            </a:pPr>
            <a:r>
              <a:rPr lang="en-US" altLang="zh-CN" dirty="0"/>
              <a:t>      删除全部内容或更新成自己想要添加的内容    </a:t>
            </a:r>
            <a:endParaRPr lang="en-US" altLang="zh-CN" dirty="0"/>
          </a:p>
          <a:p>
            <a:pPr fontAlgn="auto">
              <a:lnSpc>
                <a:spcPct val="100000"/>
              </a:lnSpc>
              <a:defRPr/>
            </a:pPr>
            <a:r>
              <a:rPr lang="en-US" altLang="zh-CN" dirty="0"/>
              <a:t>               </a:t>
            </a:r>
            <a:endParaRPr lang="en-US" altLang="zh-CN" dirty="0"/>
          </a:p>
        </p:txBody>
      </p:sp>
      <p:sp>
        <p:nvSpPr>
          <p:cNvPr id="2" name="标题 1"/>
          <p:cNvSpPr>
            <a:spLocks noGrp="1"/>
          </p:cNvSpPr>
          <p:nvPr/>
        </p:nvSpPr>
        <p:spPr bwMode="auto">
          <a:xfrm>
            <a:off x="127000" y="280988"/>
            <a:ext cx="4716463" cy="7762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en-US" altLang="zh-CN" dirty="0" smtClean="0"/>
              <a:t>  </a:t>
            </a:r>
            <a:r>
              <a:rPr lang="en-US" altLang="zh-CN" sz="2665" b="1">
                <a:solidFill>
                  <a:srgbClr val="FF0000"/>
                </a:solidFill>
                <a:sym typeface="+mn-ea"/>
              </a:rPr>
              <a:t>2.2 </a:t>
            </a:r>
            <a:r>
              <a:rPr lang="en-US" altLang="zh-CN"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Linux</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操作系统</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加固</a:t>
            </a:r>
            <a:endPar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endParaRPr>
          </a:p>
        </p:txBody>
      </p:sp>
    </p:spTree>
    <p:custDataLst>
      <p:tags r:id="rId1"/>
    </p:custData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 name="矩形 5"/>
          <p:cNvSpPr>
            <a:spLocks noChangeArrowheads="1"/>
          </p:cNvSpPr>
          <p:nvPr/>
        </p:nvSpPr>
        <p:spPr bwMode="auto">
          <a:xfrm>
            <a:off x="676910" y="1153795"/>
            <a:ext cx="9729470" cy="3415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auto">
              <a:lnSpc>
                <a:spcPct val="100000"/>
              </a:lnSpc>
              <a:defRPr/>
            </a:pPr>
            <a:r>
              <a:rPr lang="en-US" altLang="zh-CN" dirty="0"/>
              <a:t>10</a:t>
            </a:r>
            <a:r>
              <a:rPr lang="zh-CN" altLang="en-US" dirty="0"/>
              <a:t>、仅允许</a:t>
            </a:r>
            <a:r>
              <a:rPr lang="en-US" altLang="zh-CN" dirty="0"/>
              <a:t>SSH</a:t>
            </a:r>
            <a:r>
              <a:rPr lang="zh-CN" altLang="en-US" dirty="0"/>
              <a:t>协议版本</a:t>
            </a:r>
            <a:r>
              <a:rPr lang="en-US" altLang="zh-CN" dirty="0"/>
              <a:t>2</a:t>
            </a:r>
            <a:endParaRPr lang="en-US" altLang="zh-CN" dirty="0"/>
          </a:p>
          <a:p>
            <a:pPr fontAlgn="auto">
              <a:lnSpc>
                <a:spcPct val="100000"/>
              </a:lnSpc>
              <a:defRPr/>
            </a:pPr>
            <a:endParaRPr lang="en-US" altLang="zh-CN" dirty="0"/>
          </a:p>
          <a:p>
            <a:pPr fontAlgn="auto">
              <a:lnSpc>
                <a:spcPct val="100000"/>
              </a:lnSpc>
              <a:defRPr/>
            </a:pPr>
            <a:r>
              <a:rPr lang="en-US" altLang="zh-CN" dirty="0"/>
              <a:t>       有两个SSH协议版本，仅使用SSH协议版本2会更安全，SSH协议版本1有安全问题，包括中间人攻击</a:t>
            </a:r>
            <a:endParaRPr lang="en-US" altLang="zh-CN" dirty="0"/>
          </a:p>
          <a:p>
            <a:pPr fontAlgn="auto">
              <a:lnSpc>
                <a:spcPct val="100000"/>
              </a:lnSpc>
              <a:defRPr/>
            </a:pPr>
            <a:r>
              <a:rPr lang="en-US" altLang="zh-CN" dirty="0"/>
              <a:t>     </a:t>
            </a:r>
            <a:r>
              <a:rPr lang="zh-CN" altLang="en-US" dirty="0"/>
              <a:t>（man-in-the-middle）和注入（insertion）攻击。</a:t>
            </a:r>
            <a:endParaRPr lang="zh-CN" altLang="en-US" dirty="0"/>
          </a:p>
          <a:p>
            <a:pPr fontAlgn="auto">
              <a:lnSpc>
                <a:spcPct val="100000"/>
              </a:lnSpc>
              <a:defRPr/>
            </a:pPr>
            <a:endParaRPr lang="zh-CN" altLang="en-US" dirty="0"/>
          </a:p>
          <a:p>
            <a:pPr fontAlgn="auto">
              <a:lnSpc>
                <a:spcPct val="100000"/>
              </a:lnSpc>
              <a:defRPr/>
            </a:pPr>
            <a:r>
              <a:rPr lang="en-US" altLang="zh-CN" dirty="0"/>
              <a:t>      </a:t>
            </a:r>
            <a:r>
              <a:rPr lang="zh-CN" altLang="en-US" dirty="0"/>
              <a:t>编辑/etc/ssh/sshd_config文件并查找下面这样的行：</a:t>
            </a:r>
            <a:endParaRPr lang="zh-CN" altLang="en-US" dirty="0"/>
          </a:p>
          <a:p>
            <a:pPr fontAlgn="auto">
              <a:lnSpc>
                <a:spcPct val="100000"/>
              </a:lnSpc>
              <a:defRPr/>
            </a:pPr>
            <a:r>
              <a:rPr lang="en-US" altLang="zh-CN" dirty="0"/>
              <a:t>      </a:t>
            </a:r>
            <a:r>
              <a:rPr lang="zh-CN" altLang="en-US" dirty="0"/>
              <a:t>Protocol 2,1</a:t>
            </a:r>
            <a:endParaRPr lang="zh-CN" altLang="en-US" dirty="0"/>
          </a:p>
          <a:p>
            <a:pPr fontAlgn="auto">
              <a:lnSpc>
                <a:spcPct val="100000"/>
              </a:lnSpc>
              <a:defRPr/>
            </a:pPr>
            <a:r>
              <a:rPr lang="en-US" altLang="zh-CN" dirty="0"/>
              <a:t>      </a:t>
            </a:r>
            <a:r>
              <a:rPr lang="zh-CN" altLang="en-US" dirty="0"/>
              <a:t>修改为</a:t>
            </a:r>
            <a:endParaRPr lang="zh-CN" altLang="en-US" dirty="0"/>
          </a:p>
          <a:p>
            <a:pPr fontAlgn="auto">
              <a:lnSpc>
                <a:spcPct val="100000"/>
              </a:lnSpc>
              <a:defRPr/>
            </a:pPr>
            <a:r>
              <a:rPr lang="en-US" altLang="zh-CN" dirty="0"/>
              <a:t>      </a:t>
            </a:r>
            <a:r>
              <a:rPr lang="zh-CN" altLang="en-US" dirty="0"/>
              <a:t>Protocol 2</a:t>
            </a:r>
            <a:endParaRPr lang="zh-CN" altLang="en-US" dirty="0"/>
          </a:p>
          <a:p>
            <a:pPr fontAlgn="auto">
              <a:lnSpc>
                <a:spcPct val="100000"/>
              </a:lnSpc>
              <a:defRPr/>
            </a:pPr>
            <a:r>
              <a:rPr lang="en-US" altLang="zh-CN" dirty="0"/>
              <a:t>      </a:t>
            </a:r>
            <a:endParaRPr lang="en-US" altLang="zh-CN" dirty="0"/>
          </a:p>
          <a:p>
            <a:pPr fontAlgn="auto">
              <a:lnSpc>
                <a:spcPct val="100000"/>
              </a:lnSpc>
              <a:defRPr/>
            </a:pPr>
            <a:r>
              <a:rPr lang="en-US" altLang="zh-CN" dirty="0"/>
              <a:t>               </a:t>
            </a:r>
            <a:endParaRPr lang="en-US" altLang="zh-CN" dirty="0"/>
          </a:p>
        </p:txBody>
      </p:sp>
      <p:sp>
        <p:nvSpPr>
          <p:cNvPr id="2" name="标题 1"/>
          <p:cNvSpPr>
            <a:spLocks noGrp="1"/>
          </p:cNvSpPr>
          <p:nvPr/>
        </p:nvSpPr>
        <p:spPr bwMode="auto">
          <a:xfrm>
            <a:off x="127000" y="280988"/>
            <a:ext cx="4716463" cy="7762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en-US" altLang="zh-CN" dirty="0" smtClean="0"/>
              <a:t>  </a:t>
            </a:r>
            <a:r>
              <a:rPr lang="en-US" altLang="zh-CN" sz="2665" b="1">
                <a:solidFill>
                  <a:srgbClr val="FF0000"/>
                </a:solidFill>
                <a:sym typeface="+mn-ea"/>
              </a:rPr>
              <a:t>2.2 </a:t>
            </a:r>
            <a:r>
              <a:rPr lang="en-US" altLang="zh-CN"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Linux</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操作系统</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加固</a:t>
            </a:r>
            <a:endPar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3" name="图片 2"/>
          <p:cNvPicPr>
            <a:picLocks noChangeAspect="1"/>
          </p:cNvPicPr>
          <p:nvPr/>
        </p:nvPicPr>
        <p:blipFill>
          <a:blip r:embed="rId1"/>
          <a:stretch>
            <a:fillRect/>
          </a:stretch>
        </p:blipFill>
        <p:spPr>
          <a:xfrm>
            <a:off x="1074420" y="4071620"/>
            <a:ext cx="6547485" cy="1346200"/>
          </a:xfrm>
          <a:prstGeom prst="rect">
            <a:avLst/>
          </a:prstGeom>
        </p:spPr>
      </p:pic>
    </p:spTree>
    <p:custDataLst>
      <p:tags r:id="rId2"/>
    </p:custData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 name="矩形 5"/>
          <p:cNvSpPr>
            <a:spLocks noChangeArrowheads="1"/>
          </p:cNvSpPr>
          <p:nvPr/>
        </p:nvSpPr>
        <p:spPr bwMode="auto">
          <a:xfrm>
            <a:off x="676911" y="1153479"/>
            <a:ext cx="8520113" cy="3969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auto">
              <a:lnSpc>
                <a:spcPct val="100000"/>
              </a:lnSpc>
              <a:defRPr/>
            </a:pPr>
            <a:r>
              <a:rPr lang="en-US" altLang="zh-CN" dirty="0"/>
              <a:t>11</a:t>
            </a:r>
            <a:r>
              <a:rPr lang="zh-CN" altLang="en-US" dirty="0"/>
              <a:t>、防止误使用</a:t>
            </a:r>
            <a:r>
              <a:rPr lang="en-US" altLang="zh-CN" dirty="0"/>
              <a:t>Ctrl+Alt+Del</a:t>
            </a:r>
            <a:r>
              <a:rPr lang="zh-CN" altLang="en-US" dirty="0"/>
              <a:t>重启系统</a:t>
            </a:r>
            <a:endParaRPr lang="zh-CN" altLang="en-US" dirty="0"/>
          </a:p>
          <a:p>
            <a:pPr fontAlgn="auto">
              <a:lnSpc>
                <a:spcPct val="100000"/>
              </a:lnSpc>
              <a:defRPr/>
            </a:pPr>
            <a:r>
              <a:rPr lang="zh-CN" altLang="en-US" dirty="0"/>
              <a:t> </a:t>
            </a:r>
            <a:r>
              <a:rPr lang="en-US" altLang="zh-CN" dirty="0"/>
              <a:t> </a:t>
            </a:r>
            <a:endParaRPr lang="en-US" altLang="zh-CN" dirty="0"/>
          </a:p>
          <a:p>
            <a:pPr fontAlgn="auto">
              <a:lnSpc>
                <a:spcPct val="100000"/>
              </a:lnSpc>
              <a:defRPr/>
            </a:pPr>
            <a:r>
              <a:rPr lang="en-US" altLang="zh-CN" dirty="0"/>
              <a:t>             </a:t>
            </a:r>
            <a:endParaRPr lang="en-US" altLang="zh-CN" dirty="0"/>
          </a:p>
          <a:p>
            <a:pPr fontAlgn="auto">
              <a:lnSpc>
                <a:spcPct val="100000"/>
              </a:lnSpc>
              <a:defRPr/>
            </a:pPr>
            <a:r>
              <a:rPr lang="en-US" altLang="zh-CN" dirty="0"/>
              <a:t>       检查方法：</a:t>
            </a:r>
            <a:endParaRPr lang="en-US" altLang="zh-CN" dirty="0"/>
          </a:p>
          <a:p>
            <a:pPr fontAlgn="auto">
              <a:lnSpc>
                <a:spcPct val="100000"/>
              </a:lnSpc>
              <a:defRPr/>
            </a:pPr>
            <a:r>
              <a:rPr lang="en-US" altLang="zh-CN" dirty="0"/>
              <a:t>        cat /etc/inittab |grep ctrlaltdel 查看输出行是否被注释</a:t>
            </a:r>
            <a:endParaRPr lang="en-US" altLang="zh-CN" dirty="0"/>
          </a:p>
          <a:p>
            <a:pPr fontAlgn="auto">
              <a:lnSpc>
                <a:spcPct val="100000"/>
              </a:lnSpc>
              <a:defRPr/>
            </a:pPr>
            <a:r>
              <a:rPr lang="en-US" altLang="zh-CN" dirty="0"/>
              <a:t>        ca::ctrlaltdel:/sbin/shutdown -t3 -r now</a:t>
            </a:r>
            <a:endParaRPr lang="en-US" altLang="zh-CN" dirty="0"/>
          </a:p>
          <a:p>
            <a:pPr fontAlgn="auto">
              <a:lnSpc>
                <a:spcPct val="100000"/>
              </a:lnSpc>
              <a:defRPr/>
            </a:pPr>
            <a:endParaRPr lang="en-US" altLang="zh-CN" dirty="0"/>
          </a:p>
          <a:p>
            <a:pPr fontAlgn="auto">
              <a:lnSpc>
                <a:spcPct val="100000"/>
              </a:lnSpc>
              <a:defRPr/>
            </a:pPr>
            <a:r>
              <a:rPr lang="en-US" altLang="zh-CN" dirty="0"/>
              <a:t>       加固方法：</a:t>
            </a:r>
            <a:endParaRPr lang="en-US" altLang="zh-CN" dirty="0"/>
          </a:p>
          <a:p>
            <a:pPr fontAlgn="auto">
              <a:lnSpc>
                <a:spcPct val="100000"/>
              </a:lnSpc>
              <a:defRPr/>
            </a:pPr>
            <a:r>
              <a:rPr lang="en-US" altLang="zh-CN" dirty="0"/>
              <a:t>        #vim /etc/inittab</a:t>
            </a:r>
            <a:endParaRPr lang="en-US" altLang="zh-CN" dirty="0"/>
          </a:p>
          <a:p>
            <a:pPr fontAlgn="auto">
              <a:lnSpc>
                <a:spcPct val="100000"/>
              </a:lnSpc>
              <a:defRPr/>
            </a:pPr>
            <a:endParaRPr lang="en-US" altLang="zh-CN" dirty="0"/>
          </a:p>
          <a:p>
            <a:pPr fontAlgn="auto">
              <a:lnSpc>
                <a:spcPct val="100000"/>
              </a:lnSpc>
              <a:defRPr/>
            </a:pPr>
            <a:r>
              <a:rPr lang="en-US" altLang="zh-CN" dirty="0"/>
              <a:t>       在行开否添加注释符号“#”</a:t>
            </a:r>
            <a:endParaRPr lang="en-US" altLang="zh-CN" dirty="0"/>
          </a:p>
          <a:p>
            <a:pPr fontAlgn="auto">
              <a:lnSpc>
                <a:spcPct val="100000"/>
              </a:lnSpc>
              <a:defRPr/>
            </a:pPr>
            <a:r>
              <a:rPr lang="en-US" altLang="zh-CN" dirty="0"/>
              <a:t>        #ca::ctrlaltdel:/sbin/shutdown -t3 -r now      </a:t>
            </a:r>
            <a:endParaRPr lang="en-US" altLang="zh-CN" dirty="0"/>
          </a:p>
          <a:p>
            <a:pPr fontAlgn="auto">
              <a:lnSpc>
                <a:spcPct val="100000"/>
              </a:lnSpc>
              <a:defRPr/>
            </a:pPr>
            <a:r>
              <a:rPr lang="en-US" altLang="zh-CN" dirty="0"/>
              <a:t> </a:t>
            </a:r>
            <a:endParaRPr lang="en-US" altLang="zh-CN" dirty="0"/>
          </a:p>
          <a:p>
            <a:pPr fontAlgn="auto">
              <a:lnSpc>
                <a:spcPct val="100000"/>
              </a:lnSpc>
              <a:defRPr/>
            </a:pPr>
            <a:r>
              <a:rPr lang="en-US" altLang="zh-CN" dirty="0"/>
              <a:t>       </a:t>
            </a:r>
            <a:endParaRPr lang="en-US" altLang="zh-CN" dirty="0"/>
          </a:p>
        </p:txBody>
      </p:sp>
      <p:sp>
        <p:nvSpPr>
          <p:cNvPr id="2" name="标题 1"/>
          <p:cNvSpPr>
            <a:spLocks noGrp="1"/>
          </p:cNvSpPr>
          <p:nvPr/>
        </p:nvSpPr>
        <p:spPr bwMode="auto">
          <a:xfrm>
            <a:off x="127000" y="280988"/>
            <a:ext cx="4716463" cy="7762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en-US" altLang="zh-CN" dirty="0" smtClean="0"/>
              <a:t>  </a:t>
            </a:r>
            <a:r>
              <a:rPr lang="en-US" altLang="zh-CN" sz="2665" b="1">
                <a:solidFill>
                  <a:srgbClr val="FF0000"/>
                </a:solidFill>
                <a:sym typeface="+mn-ea"/>
              </a:rPr>
              <a:t>2.2 </a:t>
            </a:r>
            <a:r>
              <a:rPr lang="en-US" altLang="zh-CN"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Linux</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操作系统</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加固</a:t>
            </a:r>
            <a:endPar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3" name="图片 2"/>
          <p:cNvPicPr>
            <a:picLocks noChangeAspect="1"/>
          </p:cNvPicPr>
          <p:nvPr/>
        </p:nvPicPr>
        <p:blipFill>
          <a:blip r:embed="rId1"/>
          <a:stretch>
            <a:fillRect/>
          </a:stretch>
        </p:blipFill>
        <p:spPr>
          <a:xfrm>
            <a:off x="1108710" y="4691380"/>
            <a:ext cx="6134100" cy="868680"/>
          </a:xfrm>
          <a:prstGeom prst="rect">
            <a:avLst/>
          </a:prstGeom>
        </p:spPr>
      </p:pic>
    </p:spTree>
    <p:custDataLst>
      <p:tags r:id="rId2"/>
    </p:custData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 name="矩形 5"/>
          <p:cNvSpPr>
            <a:spLocks noChangeArrowheads="1"/>
          </p:cNvSpPr>
          <p:nvPr/>
        </p:nvSpPr>
        <p:spPr bwMode="auto">
          <a:xfrm>
            <a:off x="676910" y="1153795"/>
            <a:ext cx="10622280" cy="3138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auto">
              <a:lnSpc>
                <a:spcPct val="100000"/>
              </a:lnSpc>
              <a:defRPr/>
            </a:pPr>
            <a:r>
              <a:rPr lang="en-US" altLang="zh-CN" dirty="0"/>
              <a:t>12</a:t>
            </a:r>
            <a:r>
              <a:rPr lang="zh-CN" altLang="en-US" dirty="0"/>
              <a:t>、设置账户锁定登录失败锁定次数、锁定时间</a:t>
            </a:r>
            <a:endParaRPr lang="zh-CN" altLang="en-US" dirty="0"/>
          </a:p>
          <a:p>
            <a:pPr fontAlgn="auto">
              <a:lnSpc>
                <a:spcPct val="100000"/>
              </a:lnSpc>
              <a:defRPr/>
            </a:pPr>
            <a:endParaRPr lang="zh-CN" altLang="en-US" dirty="0"/>
          </a:p>
          <a:p>
            <a:pPr fontAlgn="auto">
              <a:lnSpc>
                <a:spcPct val="100000"/>
              </a:lnSpc>
              <a:defRPr/>
            </a:pPr>
            <a:r>
              <a:rPr lang="en-US" altLang="zh-CN" dirty="0"/>
              <a:t>        检查方法：</a:t>
            </a:r>
            <a:endParaRPr lang="en-US" altLang="zh-CN" dirty="0"/>
          </a:p>
          <a:p>
            <a:pPr fontAlgn="auto">
              <a:lnSpc>
                <a:spcPct val="100000"/>
              </a:lnSpc>
              <a:defRPr/>
            </a:pPr>
            <a:r>
              <a:rPr lang="en-US" altLang="zh-CN" dirty="0"/>
              <a:t>         cat /etc/pam.d/system-auth|grep auth 查看有无auth required pam_tally.so 条目的设置</a:t>
            </a:r>
            <a:endParaRPr lang="en-US" altLang="zh-CN" dirty="0"/>
          </a:p>
          <a:p>
            <a:pPr fontAlgn="auto">
              <a:lnSpc>
                <a:spcPct val="100000"/>
              </a:lnSpc>
              <a:defRPr/>
            </a:pPr>
            <a:r>
              <a:rPr lang="en-US" altLang="zh-CN" dirty="0"/>
              <a:t>        </a:t>
            </a:r>
            <a:endParaRPr lang="en-US" altLang="zh-CN" dirty="0"/>
          </a:p>
          <a:p>
            <a:pPr fontAlgn="auto">
              <a:lnSpc>
                <a:spcPct val="100000"/>
              </a:lnSpc>
              <a:defRPr/>
            </a:pPr>
            <a:r>
              <a:rPr lang="en-US" altLang="zh-CN" dirty="0"/>
              <a:t>        加固方法：</a:t>
            </a:r>
            <a:endParaRPr lang="en-US" altLang="zh-CN" dirty="0"/>
          </a:p>
          <a:p>
            <a:pPr fontAlgn="auto">
              <a:lnSpc>
                <a:spcPct val="100000"/>
              </a:lnSpc>
              <a:defRPr/>
            </a:pPr>
            <a:r>
              <a:rPr lang="en-US" altLang="zh-CN" dirty="0"/>
              <a:t>         #vi /etc/pam.d/system-auth</a:t>
            </a:r>
            <a:endParaRPr lang="en-US" altLang="zh-CN" dirty="0"/>
          </a:p>
          <a:p>
            <a:pPr fontAlgn="auto">
              <a:lnSpc>
                <a:spcPct val="100000"/>
              </a:lnSpc>
              <a:defRPr/>
            </a:pPr>
            <a:r>
              <a:rPr lang="en-US" altLang="zh-CN" dirty="0"/>
              <a:t>         auth required pam_tally.so oneer=filad deny=6 unlock_time=300 设置为密码连续错误6次，锁定时间300秒</a:t>
            </a:r>
            <a:endParaRPr lang="en-US" altLang="zh-CN" dirty="0"/>
          </a:p>
          <a:p>
            <a:pPr fontAlgn="auto">
              <a:lnSpc>
                <a:spcPct val="100000"/>
              </a:lnSpc>
              <a:defRPr/>
            </a:pPr>
            <a:r>
              <a:rPr lang="en-US" altLang="zh-CN" dirty="0"/>
              <a:t>        </a:t>
            </a:r>
            <a:r>
              <a:rPr lang="zh-CN" altLang="en-US" dirty="0"/>
              <a:t>重置</a:t>
            </a:r>
            <a:r>
              <a:rPr lang="en-US" altLang="zh-CN" dirty="0"/>
              <a:t>用户：faillog -u &lt;用户名&gt; -r  </a:t>
            </a:r>
            <a:endParaRPr lang="en-US" altLang="zh-CN" dirty="0"/>
          </a:p>
          <a:p>
            <a:pPr fontAlgn="auto">
              <a:lnSpc>
                <a:spcPct val="100000"/>
              </a:lnSpc>
              <a:defRPr/>
            </a:pPr>
            <a:r>
              <a:rPr lang="en-US" altLang="zh-CN" dirty="0"/>
              <a:t>               </a:t>
            </a:r>
            <a:endParaRPr lang="en-US" altLang="zh-CN" dirty="0"/>
          </a:p>
        </p:txBody>
      </p:sp>
      <p:sp>
        <p:nvSpPr>
          <p:cNvPr id="2" name="标题 1"/>
          <p:cNvSpPr>
            <a:spLocks noGrp="1"/>
          </p:cNvSpPr>
          <p:nvPr/>
        </p:nvSpPr>
        <p:spPr bwMode="auto">
          <a:xfrm>
            <a:off x="127000" y="280988"/>
            <a:ext cx="4716463" cy="7762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en-US" altLang="zh-CN" dirty="0" smtClean="0"/>
              <a:t>  </a:t>
            </a:r>
            <a:r>
              <a:rPr lang="en-US" altLang="zh-CN" sz="2665" b="1">
                <a:solidFill>
                  <a:srgbClr val="FF0000"/>
                </a:solidFill>
                <a:sym typeface="+mn-ea"/>
              </a:rPr>
              <a:t>2.2 </a:t>
            </a:r>
            <a:r>
              <a:rPr lang="en-US" altLang="zh-CN"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Linux</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操作系统</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加固</a:t>
            </a:r>
            <a:endPar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3" name="图片 2"/>
          <p:cNvPicPr>
            <a:picLocks noChangeAspect="1"/>
          </p:cNvPicPr>
          <p:nvPr/>
        </p:nvPicPr>
        <p:blipFill>
          <a:blip r:embed="rId1"/>
          <a:stretch>
            <a:fillRect/>
          </a:stretch>
        </p:blipFill>
        <p:spPr>
          <a:xfrm>
            <a:off x="1126490" y="4077970"/>
            <a:ext cx="7673340" cy="2024380"/>
          </a:xfrm>
          <a:prstGeom prst="rect">
            <a:avLst/>
          </a:prstGeom>
        </p:spPr>
      </p:pic>
    </p:spTree>
    <p:custDataLst>
      <p:tags r:id="rId2"/>
    </p:custData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 name="矩形 5"/>
          <p:cNvSpPr>
            <a:spLocks noChangeArrowheads="1"/>
          </p:cNvSpPr>
          <p:nvPr/>
        </p:nvSpPr>
        <p:spPr bwMode="auto">
          <a:xfrm>
            <a:off x="676911" y="1153479"/>
            <a:ext cx="8520113" cy="286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auto">
              <a:lnSpc>
                <a:spcPct val="100000"/>
              </a:lnSpc>
              <a:defRPr/>
            </a:pPr>
            <a:r>
              <a:rPr lang="en-US" altLang="zh-CN" dirty="0"/>
              <a:t>13</a:t>
            </a:r>
            <a:r>
              <a:rPr lang="zh-CN" altLang="en-US" dirty="0"/>
              <a:t>、修改账户</a:t>
            </a:r>
            <a:r>
              <a:rPr lang="en-US" altLang="zh-CN" dirty="0"/>
              <a:t>TMOUT</a:t>
            </a:r>
            <a:r>
              <a:rPr lang="zh-CN" altLang="en-US" dirty="0"/>
              <a:t>值，设置自动注销</a:t>
            </a:r>
            <a:r>
              <a:rPr lang="zh-CN" altLang="en-US" dirty="0"/>
              <a:t>时间 </a:t>
            </a:r>
            <a:r>
              <a:rPr lang="en-US" altLang="zh-CN" dirty="0"/>
              <a:t> </a:t>
            </a:r>
            <a:endParaRPr lang="en-US" altLang="zh-CN" dirty="0"/>
          </a:p>
          <a:p>
            <a:pPr fontAlgn="auto">
              <a:lnSpc>
                <a:spcPct val="100000"/>
              </a:lnSpc>
              <a:defRPr/>
            </a:pPr>
            <a:r>
              <a:rPr lang="en-US" altLang="zh-CN" dirty="0"/>
              <a:t>             </a:t>
            </a:r>
            <a:endParaRPr lang="en-US" altLang="zh-CN" dirty="0"/>
          </a:p>
          <a:p>
            <a:pPr fontAlgn="auto">
              <a:lnSpc>
                <a:spcPct val="100000"/>
              </a:lnSpc>
              <a:defRPr/>
            </a:pPr>
            <a:r>
              <a:rPr lang="en-US" altLang="zh-CN" dirty="0"/>
              <a:t>       检查方法：</a:t>
            </a:r>
            <a:endParaRPr lang="en-US" altLang="zh-CN" dirty="0"/>
          </a:p>
          <a:p>
            <a:pPr fontAlgn="auto">
              <a:lnSpc>
                <a:spcPct val="100000"/>
              </a:lnSpc>
              <a:defRPr/>
            </a:pPr>
            <a:r>
              <a:rPr lang="en-US" altLang="zh-CN" dirty="0"/>
              <a:t>        cat /etc/profile|grep TMOUT 查看有无TMOUT的设置</a:t>
            </a:r>
            <a:endParaRPr lang="en-US" altLang="zh-CN" dirty="0"/>
          </a:p>
          <a:p>
            <a:pPr fontAlgn="auto">
              <a:lnSpc>
                <a:spcPct val="100000"/>
              </a:lnSpc>
              <a:defRPr/>
            </a:pPr>
            <a:endParaRPr lang="en-US" altLang="zh-CN" dirty="0"/>
          </a:p>
          <a:p>
            <a:pPr fontAlgn="auto">
              <a:lnSpc>
                <a:spcPct val="100000"/>
              </a:lnSpc>
              <a:defRPr/>
            </a:pPr>
            <a:r>
              <a:rPr lang="en-US" altLang="zh-CN" dirty="0"/>
              <a:t>       加固方法：</a:t>
            </a:r>
            <a:endParaRPr lang="en-US" altLang="zh-CN" dirty="0"/>
          </a:p>
          <a:p>
            <a:pPr fontAlgn="auto">
              <a:lnSpc>
                <a:spcPct val="100000"/>
              </a:lnSpc>
              <a:defRPr/>
            </a:pPr>
            <a:r>
              <a:rPr lang="en-US" altLang="zh-CN" dirty="0"/>
              <a:t>        #vim /etc/profile</a:t>
            </a:r>
            <a:endParaRPr lang="en-US" altLang="zh-CN" dirty="0"/>
          </a:p>
          <a:p>
            <a:pPr fontAlgn="auto">
              <a:lnSpc>
                <a:spcPct val="100000"/>
              </a:lnSpc>
              <a:defRPr/>
            </a:pPr>
            <a:r>
              <a:rPr lang="en-US" altLang="zh-CN" dirty="0"/>
              <a:t>       增加</a:t>
            </a:r>
            <a:endParaRPr lang="en-US" altLang="zh-CN" dirty="0"/>
          </a:p>
          <a:p>
            <a:pPr fontAlgn="auto">
              <a:lnSpc>
                <a:spcPct val="100000"/>
              </a:lnSpc>
              <a:defRPr/>
            </a:pPr>
            <a:r>
              <a:rPr lang="en-US" altLang="zh-CN" dirty="0"/>
              <a:t>       TMOUT=600 无操作600秒后自动退出</a:t>
            </a:r>
            <a:endParaRPr lang="en-US" altLang="zh-CN" dirty="0"/>
          </a:p>
          <a:p>
            <a:pPr fontAlgn="auto">
              <a:lnSpc>
                <a:spcPct val="100000"/>
              </a:lnSpc>
              <a:defRPr/>
            </a:pPr>
            <a:endParaRPr lang="en-US" altLang="zh-CN" dirty="0"/>
          </a:p>
        </p:txBody>
      </p:sp>
      <p:sp>
        <p:nvSpPr>
          <p:cNvPr id="2" name="标题 1"/>
          <p:cNvSpPr>
            <a:spLocks noGrp="1"/>
          </p:cNvSpPr>
          <p:nvPr/>
        </p:nvSpPr>
        <p:spPr bwMode="auto">
          <a:xfrm>
            <a:off x="127000" y="280988"/>
            <a:ext cx="4716463" cy="7762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en-US" altLang="zh-CN" dirty="0" smtClean="0"/>
              <a:t>  </a:t>
            </a:r>
            <a:r>
              <a:rPr lang="en-US" altLang="zh-CN" sz="2665" b="1">
                <a:solidFill>
                  <a:srgbClr val="FF0000"/>
                </a:solidFill>
                <a:sym typeface="+mn-ea"/>
              </a:rPr>
              <a:t>2.2 </a:t>
            </a:r>
            <a:r>
              <a:rPr lang="en-US" altLang="zh-CN"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Linux</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操作系统</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加固</a:t>
            </a:r>
            <a:endPar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4" name="图片 3"/>
          <p:cNvPicPr>
            <a:picLocks noChangeAspect="1"/>
          </p:cNvPicPr>
          <p:nvPr/>
        </p:nvPicPr>
        <p:blipFill>
          <a:blip r:embed="rId1"/>
          <a:stretch>
            <a:fillRect/>
          </a:stretch>
        </p:blipFill>
        <p:spPr>
          <a:xfrm>
            <a:off x="1016000" y="4015105"/>
            <a:ext cx="6035040" cy="1158240"/>
          </a:xfrm>
          <a:prstGeom prst="rect">
            <a:avLst/>
          </a:prstGeom>
        </p:spPr>
      </p:pic>
    </p:spTree>
    <p:custDataLst>
      <p:tags r:id="rId2"/>
    </p:custData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 name="矩形 5"/>
          <p:cNvSpPr>
            <a:spLocks noChangeArrowheads="1"/>
          </p:cNvSpPr>
          <p:nvPr/>
        </p:nvSpPr>
        <p:spPr bwMode="auto">
          <a:xfrm>
            <a:off x="676911" y="1153479"/>
            <a:ext cx="8520113" cy="286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auto">
              <a:lnSpc>
                <a:spcPct val="100000"/>
              </a:lnSpc>
              <a:defRPr/>
            </a:pPr>
            <a:r>
              <a:rPr lang="en-US" altLang="zh-CN" dirty="0"/>
              <a:t>14</a:t>
            </a:r>
            <a:r>
              <a:rPr lang="zh-CN" altLang="en-US" dirty="0"/>
              <a:t>、设置</a:t>
            </a:r>
            <a:r>
              <a:rPr lang="en-US" altLang="zh-CN" dirty="0"/>
              <a:t>BASH</a:t>
            </a:r>
            <a:r>
              <a:rPr lang="zh-CN" altLang="en-US" dirty="0"/>
              <a:t>保留历史命令的条目</a:t>
            </a:r>
            <a:endParaRPr lang="zh-CN" altLang="en-US" dirty="0"/>
          </a:p>
          <a:p>
            <a:pPr fontAlgn="auto">
              <a:lnSpc>
                <a:spcPct val="100000"/>
              </a:lnSpc>
              <a:defRPr/>
            </a:pPr>
            <a:endParaRPr lang="zh-CN" altLang="en-US" dirty="0"/>
          </a:p>
          <a:p>
            <a:pPr fontAlgn="auto">
              <a:lnSpc>
                <a:spcPct val="100000"/>
              </a:lnSpc>
              <a:defRPr/>
            </a:pPr>
            <a:r>
              <a:rPr lang="zh-CN" altLang="en-US" dirty="0"/>
              <a:t> </a:t>
            </a:r>
            <a:r>
              <a:rPr lang="en-US" altLang="zh-CN" dirty="0"/>
              <a:t>       检查方法：</a:t>
            </a:r>
            <a:endParaRPr lang="en-US" altLang="zh-CN" dirty="0"/>
          </a:p>
          <a:p>
            <a:pPr fontAlgn="auto">
              <a:lnSpc>
                <a:spcPct val="100000"/>
              </a:lnSpc>
              <a:defRPr/>
            </a:pPr>
            <a:r>
              <a:rPr lang="en-US" altLang="zh-CN" dirty="0"/>
              <a:t>         cat /etc/profile | grep HISTSIZE</a:t>
            </a:r>
            <a:endParaRPr lang="en-US" altLang="zh-CN" dirty="0"/>
          </a:p>
          <a:p>
            <a:pPr fontAlgn="auto">
              <a:lnSpc>
                <a:spcPct val="100000"/>
              </a:lnSpc>
              <a:defRPr/>
            </a:pPr>
            <a:r>
              <a:rPr lang="en-US" altLang="zh-CN" dirty="0"/>
              <a:t>         HISTSIZE=1000</a:t>
            </a:r>
            <a:endParaRPr lang="en-US" altLang="zh-CN" dirty="0"/>
          </a:p>
          <a:p>
            <a:pPr fontAlgn="auto">
              <a:lnSpc>
                <a:spcPct val="100000"/>
              </a:lnSpc>
              <a:defRPr/>
            </a:pPr>
            <a:endParaRPr lang="en-US" altLang="zh-CN" dirty="0"/>
          </a:p>
          <a:p>
            <a:pPr fontAlgn="auto">
              <a:lnSpc>
                <a:spcPct val="100000"/>
              </a:lnSpc>
              <a:defRPr/>
            </a:pPr>
            <a:r>
              <a:rPr lang="en-US" altLang="zh-CN" dirty="0"/>
              <a:t>        加固方法：</a:t>
            </a:r>
            <a:endParaRPr lang="en-US" altLang="zh-CN" dirty="0"/>
          </a:p>
          <a:p>
            <a:pPr fontAlgn="auto">
              <a:lnSpc>
                <a:spcPct val="100000"/>
              </a:lnSpc>
              <a:defRPr/>
            </a:pPr>
            <a:r>
              <a:rPr lang="en-US" altLang="zh-CN" dirty="0"/>
              <a:t>         #vim /etc/profile</a:t>
            </a:r>
            <a:endParaRPr lang="en-US" altLang="zh-CN" dirty="0"/>
          </a:p>
          <a:p>
            <a:pPr fontAlgn="auto">
              <a:lnSpc>
                <a:spcPct val="100000"/>
              </a:lnSpc>
              <a:defRPr/>
            </a:pPr>
            <a:r>
              <a:rPr lang="en-US" altLang="zh-CN" dirty="0"/>
              <a:t>        修改HISTSIZE=5即保留最新执行的5条命令              </a:t>
            </a:r>
            <a:endParaRPr lang="en-US" altLang="zh-CN" dirty="0"/>
          </a:p>
          <a:p>
            <a:pPr fontAlgn="auto">
              <a:lnSpc>
                <a:spcPct val="100000"/>
              </a:lnSpc>
              <a:defRPr/>
            </a:pPr>
            <a:r>
              <a:rPr lang="en-US" altLang="zh-CN" dirty="0"/>
              <a:t>       </a:t>
            </a:r>
            <a:endParaRPr lang="en-US" altLang="zh-CN" dirty="0"/>
          </a:p>
        </p:txBody>
      </p:sp>
      <p:sp>
        <p:nvSpPr>
          <p:cNvPr id="2" name="标题 1"/>
          <p:cNvSpPr>
            <a:spLocks noGrp="1"/>
          </p:cNvSpPr>
          <p:nvPr/>
        </p:nvSpPr>
        <p:spPr bwMode="auto">
          <a:xfrm>
            <a:off x="127000" y="280988"/>
            <a:ext cx="4716463" cy="7762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en-US" altLang="zh-CN" dirty="0" smtClean="0"/>
              <a:t>  </a:t>
            </a:r>
            <a:r>
              <a:rPr lang="en-US" altLang="zh-CN" sz="2665" b="1">
                <a:solidFill>
                  <a:srgbClr val="FF0000"/>
                </a:solidFill>
                <a:sym typeface="+mn-ea"/>
              </a:rPr>
              <a:t>2.2 </a:t>
            </a:r>
            <a:r>
              <a:rPr lang="en-US" altLang="zh-CN"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Linux</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操作系统</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加固</a:t>
            </a:r>
            <a:endPar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3" name="图片 2"/>
          <p:cNvPicPr>
            <a:picLocks noChangeAspect="1"/>
          </p:cNvPicPr>
          <p:nvPr/>
        </p:nvPicPr>
        <p:blipFill>
          <a:blip r:embed="rId1"/>
          <a:stretch>
            <a:fillRect/>
          </a:stretch>
        </p:blipFill>
        <p:spPr>
          <a:xfrm>
            <a:off x="1113790" y="3858260"/>
            <a:ext cx="6255385" cy="1264285"/>
          </a:xfrm>
          <a:prstGeom prst="rect">
            <a:avLst/>
          </a:prstGeom>
        </p:spPr>
      </p:pic>
    </p:spTree>
    <p:custDataLst>
      <p:tags r:id="rId2"/>
    </p:custData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 name="矩形 5"/>
          <p:cNvSpPr>
            <a:spLocks noChangeArrowheads="1"/>
          </p:cNvSpPr>
          <p:nvPr/>
        </p:nvSpPr>
        <p:spPr bwMode="auto">
          <a:xfrm>
            <a:off x="676910" y="1153795"/>
            <a:ext cx="9698355"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auto">
              <a:lnSpc>
                <a:spcPct val="100000"/>
              </a:lnSpc>
              <a:defRPr/>
            </a:pPr>
            <a:r>
              <a:rPr lang="en-US" altLang="zh-CN" dirty="0"/>
              <a:t>15</a:t>
            </a:r>
            <a:r>
              <a:rPr lang="zh-CN" altLang="en-US" dirty="0"/>
              <a:t>、用户注销时删除命令记录</a:t>
            </a:r>
            <a:endParaRPr lang="zh-CN" altLang="en-US" dirty="0"/>
          </a:p>
          <a:p>
            <a:pPr fontAlgn="auto">
              <a:lnSpc>
                <a:spcPct val="100000"/>
              </a:lnSpc>
              <a:defRPr/>
            </a:pPr>
            <a:endParaRPr lang="zh-CN" altLang="en-US" dirty="0"/>
          </a:p>
          <a:p>
            <a:pPr fontAlgn="auto">
              <a:lnSpc>
                <a:spcPct val="100000"/>
              </a:lnSpc>
              <a:defRPr/>
            </a:pPr>
            <a:r>
              <a:rPr lang="zh-CN" altLang="en-US" dirty="0"/>
              <a:t> </a:t>
            </a:r>
            <a:r>
              <a:rPr lang="en-US" altLang="zh-CN" dirty="0"/>
              <a:t>      检查方法：</a:t>
            </a:r>
            <a:endParaRPr lang="en-US" altLang="zh-CN" dirty="0"/>
          </a:p>
          <a:p>
            <a:pPr fontAlgn="auto">
              <a:lnSpc>
                <a:spcPct val="100000"/>
              </a:lnSpc>
              <a:defRPr/>
            </a:pPr>
            <a:r>
              <a:rPr lang="en-US" altLang="zh-CN" dirty="0"/>
              <a:t>       查看/etc/skel/.bash_logout文件，增加如下行</a:t>
            </a:r>
            <a:endParaRPr lang="en-US" altLang="zh-CN" dirty="0"/>
          </a:p>
          <a:p>
            <a:pPr fontAlgn="auto">
              <a:lnSpc>
                <a:spcPct val="100000"/>
              </a:lnSpc>
              <a:defRPr/>
            </a:pPr>
            <a:r>
              <a:rPr lang="en-US" altLang="zh-CN" dirty="0"/>
              <a:t>       rm -f $HOME/.bash_history</a:t>
            </a:r>
            <a:endParaRPr lang="en-US" altLang="zh-CN" dirty="0"/>
          </a:p>
          <a:p>
            <a:pPr fontAlgn="auto">
              <a:lnSpc>
                <a:spcPct val="100000"/>
              </a:lnSpc>
              <a:defRPr/>
            </a:pPr>
            <a:r>
              <a:rPr lang="en-US" altLang="zh-CN" dirty="0"/>
              <a:t>       这样，系统中的所有用户注销时都会删除其命令记录，如果只需要针对某个特定用户，如root用户进行设置，则可只在该用户的主目录下修改/$HOME/.bash_history文件增加相同的一行即可。  </a:t>
            </a:r>
            <a:endParaRPr lang="en-US" altLang="zh-CN" dirty="0"/>
          </a:p>
          <a:p>
            <a:pPr fontAlgn="auto">
              <a:lnSpc>
                <a:spcPct val="100000"/>
              </a:lnSpc>
              <a:defRPr/>
            </a:pPr>
            <a:r>
              <a:rPr lang="en-US" altLang="zh-CN" dirty="0"/>
              <a:t>     </a:t>
            </a:r>
            <a:endParaRPr lang="en-US" altLang="zh-CN" dirty="0"/>
          </a:p>
        </p:txBody>
      </p:sp>
      <p:sp>
        <p:nvSpPr>
          <p:cNvPr id="2" name="标题 1"/>
          <p:cNvSpPr>
            <a:spLocks noGrp="1"/>
          </p:cNvSpPr>
          <p:nvPr/>
        </p:nvSpPr>
        <p:spPr bwMode="auto">
          <a:xfrm>
            <a:off x="127000" y="280988"/>
            <a:ext cx="4716463" cy="7762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en-US" altLang="zh-CN" dirty="0" smtClean="0"/>
              <a:t>  </a:t>
            </a:r>
            <a:r>
              <a:rPr lang="en-US" altLang="zh-CN" sz="2665" b="1">
                <a:solidFill>
                  <a:srgbClr val="FF0000"/>
                </a:solidFill>
                <a:sym typeface="+mn-ea"/>
              </a:rPr>
              <a:t>2.2 </a:t>
            </a:r>
            <a:r>
              <a:rPr lang="en-US" altLang="zh-CN"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Linux</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操作系统</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加固</a:t>
            </a:r>
            <a:endPar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3" name="图片 2"/>
          <p:cNvPicPr>
            <a:picLocks noChangeAspect="1"/>
          </p:cNvPicPr>
          <p:nvPr/>
        </p:nvPicPr>
        <p:blipFill>
          <a:blip r:embed="rId1"/>
          <a:stretch>
            <a:fillRect/>
          </a:stretch>
        </p:blipFill>
        <p:spPr>
          <a:xfrm>
            <a:off x="943610" y="3594100"/>
            <a:ext cx="6982460" cy="1651000"/>
          </a:xfrm>
          <a:prstGeom prst="rect">
            <a:avLst/>
          </a:prstGeom>
        </p:spPr>
      </p:pic>
    </p:spTree>
    <p:custDataLst>
      <p:tags r:id="rId2"/>
    </p:custData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 name="矩形 5"/>
          <p:cNvSpPr>
            <a:spLocks noChangeArrowheads="1"/>
          </p:cNvSpPr>
          <p:nvPr/>
        </p:nvSpPr>
        <p:spPr bwMode="auto">
          <a:xfrm>
            <a:off x="676911" y="1153479"/>
            <a:ext cx="8520113" cy="4523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auto">
              <a:lnSpc>
                <a:spcPct val="100000"/>
              </a:lnSpc>
              <a:defRPr/>
            </a:pPr>
            <a:r>
              <a:rPr lang="en-US" altLang="zh-CN" dirty="0"/>
              <a:t>16</a:t>
            </a:r>
            <a:r>
              <a:rPr lang="zh-CN" altLang="en-US" dirty="0"/>
              <a:t>、设置系统日志策略配置文件</a:t>
            </a:r>
            <a:endParaRPr lang="zh-CN" altLang="en-US" dirty="0"/>
          </a:p>
          <a:p>
            <a:pPr fontAlgn="auto">
              <a:lnSpc>
                <a:spcPct val="100000"/>
              </a:lnSpc>
              <a:defRPr/>
            </a:pPr>
            <a:r>
              <a:rPr lang="en-US" altLang="zh-CN" dirty="0"/>
              <a:t>       </a:t>
            </a:r>
            <a:endParaRPr lang="en-US" altLang="zh-CN" dirty="0"/>
          </a:p>
          <a:p>
            <a:pPr fontAlgn="auto">
              <a:lnSpc>
                <a:spcPct val="100000"/>
              </a:lnSpc>
              <a:defRPr/>
            </a:pPr>
            <a:r>
              <a:rPr lang="en-US" altLang="zh-CN" dirty="0"/>
              <a:t>        日志的主要用途是系统审计、监测追踪和分析统计。</a:t>
            </a:r>
            <a:endParaRPr lang="en-US" altLang="zh-CN" dirty="0"/>
          </a:p>
          <a:p>
            <a:pPr fontAlgn="auto">
              <a:lnSpc>
                <a:spcPct val="100000"/>
              </a:lnSpc>
              <a:defRPr/>
            </a:pPr>
            <a:r>
              <a:rPr lang="en-US" altLang="zh-CN" dirty="0"/>
              <a:t>        为了保证 Linux 系统正常运行、准确解决遇到的各种各样的系统问题，认真地读取日志文件是管理员的一项非常重要的任务。</a:t>
            </a:r>
            <a:endParaRPr lang="en-US" altLang="zh-CN" dirty="0"/>
          </a:p>
          <a:p>
            <a:pPr fontAlgn="auto">
              <a:lnSpc>
                <a:spcPct val="100000"/>
              </a:lnSpc>
              <a:defRPr/>
            </a:pPr>
            <a:r>
              <a:rPr lang="en-US" altLang="zh-CN" dirty="0"/>
              <a:t>        UNIX/ Linux采用了</a:t>
            </a:r>
            <a:r>
              <a:rPr lang="en-US" altLang="zh-CN" dirty="0">
                <a:solidFill>
                  <a:schemeClr val="accent1"/>
                </a:solidFill>
              </a:rPr>
              <a:t>syslog工具</a:t>
            </a:r>
            <a:r>
              <a:rPr lang="en-US" altLang="zh-CN" dirty="0"/>
              <a:t>来实现此功能，如果配置正确的话，所有在主机上发生的事情都会被记录下来，不管是好的还是坏的。</a:t>
            </a:r>
            <a:endParaRPr lang="en-US" altLang="zh-CN" dirty="0"/>
          </a:p>
          <a:p>
            <a:pPr fontAlgn="auto">
              <a:lnSpc>
                <a:spcPct val="100000"/>
              </a:lnSpc>
              <a:defRPr/>
            </a:pPr>
            <a:endParaRPr lang="en-US" altLang="zh-CN" dirty="0"/>
          </a:p>
          <a:p>
            <a:pPr fontAlgn="auto">
              <a:lnSpc>
                <a:spcPct val="100000"/>
              </a:lnSpc>
              <a:defRPr/>
            </a:pPr>
            <a:r>
              <a:rPr lang="en-US" altLang="zh-CN" dirty="0"/>
              <a:t>       centos6起/etc/syslog.conf不再有！而是/etc/rsyslog.conf代替！</a:t>
            </a:r>
            <a:endParaRPr lang="en-US" altLang="zh-CN" dirty="0"/>
          </a:p>
          <a:p>
            <a:pPr fontAlgn="auto">
              <a:lnSpc>
                <a:spcPct val="100000"/>
              </a:lnSpc>
              <a:defRPr/>
            </a:pPr>
            <a:endParaRPr lang="en-US" altLang="zh-CN" dirty="0"/>
          </a:p>
          <a:p>
            <a:pPr fontAlgn="auto">
              <a:lnSpc>
                <a:spcPct val="100000"/>
              </a:lnSpc>
              <a:defRPr/>
            </a:pPr>
            <a:r>
              <a:rPr lang="en-US" altLang="zh-CN" dirty="0"/>
              <a:t>       检查方法：</a:t>
            </a:r>
            <a:endParaRPr lang="en-US" altLang="zh-CN" dirty="0"/>
          </a:p>
          <a:p>
            <a:pPr fontAlgn="auto">
              <a:lnSpc>
                <a:spcPct val="100000"/>
              </a:lnSpc>
              <a:defRPr/>
            </a:pPr>
            <a:r>
              <a:rPr lang="en-US" altLang="zh-CN" dirty="0"/>
              <a:t>       ps -aef | grep syslog 确定syslog服务是否启用</a:t>
            </a:r>
            <a:endParaRPr lang="en-US" altLang="zh-CN" dirty="0"/>
          </a:p>
          <a:p>
            <a:pPr fontAlgn="auto">
              <a:lnSpc>
                <a:spcPct val="100000"/>
              </a:lnSpc>
              <a:defRPr/>
            </a:pPr>
            <a:r>
              <a:rPr lang="en-US" altLang="zh-CN" dirty="0"/>
              <a:t>       cat /etc/rsyslog.conf 查看syslog的配置，并确认日志文件</a:t>
            </a:r>
            <a:r>
              <a:rPr lang="zh-CN" altLang="en-US" dirty="0"/>
              <a:t>是</a:t>
            </a:r>
            <a:r>
              <a:rPr lang="en-US" altLang="zh-CN" dirty="0"/>
              <a:t>否存在</a:t>
            </a:r>
            <a:endParaRPr lang="en-US" altLang="zh-CN" dirty="0"/>
          </a:p>
          <a:p>
            <a:pPr fontAlgn="auto">
              <a:lnSpc>
                <a:spcPct val="100000"/>
              </a:lnSpc>
              <a:defRPr/>
            </a:pPr>
            <a:r>
              <a:rPr lang="en-US" altLang="zh-CN" dirty="0"/>
              <a:t>      系统日志 (默认) /var/log/messages</a:t>
            </a:r>
            <a:endParaRPr lang="en-US" altLang="zh-CN" dirty="0"/>
          </a:p>
          <a:p>
            <a:pPr fontAlgn="auto">
              <a:lnSpc>
                <a:spcPct val="100000"/>
              </a:lnSpc>
              <a:defRPr/>
            </a:pPr>
            <a:r>
              <a:rPr lang="en-US" altLang="zh-CN" dirty="0"/>
              <a:t>       cron日志 (默认) /var/log/cron</a:t>
            </a:r>
            <a:endParaRPr lang="en-US" altLang="zh-CN" dirty="0"/>
          </a:p>
          <a:p>
            <a:pPr fontAlgn="auto">
              <a:lnSpc>
                <a:spcPct val="100000"/>
              </a:lnSpc>
              <a:defRPr/>
            </a:pPr>
            <a:r>
              <a:rPr lang="en-US" altLang="zh-CN" dirty="0"/>
              <a:t>      安全日志 (默认) /var/log/secure</a:t>
            </a:r>
            <a:endParaRPr lang="en-US" altLang="zh-CN" dirty="0"/>
          </a:p>
        </p:txBody>
      </p:sp>
      <p:sp>
        <p:nvSpPr>
          <p:cNvPr id="2" name="标题 1"/>
          <p:cNvSpPr>
            <a:spLocks noGrp="1"/>
          </p:cNvSpPr>
          <p:nvPr/>
        </p:nvSpPr>
        <p:spPr bwMode="auto">
          <a:xfrm>
            <a:off x="127000" y="280988"/>
            <a:ext cx="4716463" cy="7762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en-US" altLang="zh-CN" dirty="0" smtClean="0"/>
              <a:t>  </a:t>
            </a:r>
            <a:r>
              <a:rPr lang="en-US" altLang="zh-CN" sz="2665" b="1">
                <a:solidFill>
                  <a:srgbClr val="FF0000"/>
                </a:solidFill>
                <a:sym typeface="+mn-ea"/>
              </a:rPr>
              <a:t>2.2 </a:t>
            </a:r>
            <a:r>
              <a:rPr lang="en-US" altLang="zh-CN"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Linux</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操作系统</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加固</a:t>
            </a:r>
            <a:endPar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endParaRPr>
          </a:p>
        </p:txBody>
      </p:sp>
    </p:spTree>
    <p:custDataLst>
      <p:tags r:id="rId1"/>
    </p:custData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6" name="矩形 5"/>
          <p:cNvSpPr>
            <a:spLocks noChangeArrowheads="1"/>
          </p:cNvSpPr>
          <p:nvPr/>
        </p:nvSpPr>
        <p:spPr bwMode="auto">
          <a:xfrm>
            <a:off x="676911" y="1153479"/>
            <a:ext cx="8520113" cy="175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auto">
              <a:lnSpc>
                <a:spcPct val="100000"/>
              </a:lnSpc>
              <a:defRPr/>
            </a:pPr>
            <a:r>
              <a:rPr lang="en-US" altLang="zh-CN" dirty="0"/>
              <a:t>17</a:t>
            </a:r>
            <a:r>
              <a:rPr lang="zh-CN" altLang="en-US" dirty="0"/>
              <a:t>、阻止系统响应任何从外部</a:t>
            </a:r>
            <a:r>
              <a:rPr lang="en-US" altLang="zh-CN" dirty="0"/>
              <a:t>/</a:t>
            </a:r>
            <a:r>
              <a:rPr lang="zh-CN" altLang="en-US" dirty="0"/>
              <a:t>内部来的</a:t>
            </a:r>
            <a:r>
              <a:rPr lang="en-US" altLang="zh-CN" dirty="0"/>
              <a:t>ping</a:t>
            </a:r>
            <a:r>
              <a:rPr lang="zh-CN" altLang="en-US" dirty="0"/>
              <a:t>请求</a:t>
            </a:r>
            <a:endParaRPr lang="zh-CN" altLang="en-US" dirty="0"/>
          </a:p>
          <a:p>
            <a:pPr fontAlgn="auto">
              <a:lnSpc>
                <a:spcPct val="100000"/>
              </a:lnSpc>
              <a:defRPr/>
            </a:pPr>
            <a:endParaRPr lang="zh-CN" altLang="en-US" dirty="0"/>
          </a:p>
          <a:p>
            <a:pPr fontAlgn="auto">
              <a:lnSpc>
                <a:spcPct val="100000"/>
              </a:lnSpc>
              <a:defRPr/>
            </a:pPr>
            <a:r>
              <a:rPr lang="zh-CN" altLang="en-US" dirty="0"/>
              <a:t> </a:t>
            </a:r>
            <a:r>
              <a:rPr lang="en-US" altLang="zh-CN" dirty="0"/>
              <a:t>       加固方法：</a:t>
            </a:r>
            <a:endParaRPr lang="en-US" altLang="zh-CN" dirty="0"/>
          </a:p>
          <a:p>
            <a:pPr fontAlgn="auto">
              <a:lnSpc>
                <a:spcPct val="100000"/>
              </a:lnSpc>
              <a:defRPr/>
            </a:pPr>
            <a:r>
              <a:rPr lang="en-US" altLang="zh-CN" dirty="0"/>
              <a:t>        执行命令 echo 1 &gt; /proc/sys/net/ipv4/icmp_echo_ignore_all</a:t>
            </a:r>
            <a:endParaRPr lang="en-US" altLang="zh-CN" dirty="0"/>
          </a:p>
          <a:p>
            <a:pPr fontAlgn="auto">
              <a:lnSpc>
                <a:spcPct val="100000"/>
              </a:lnSpc>
              <a:defRPr/>
            </a:pPr>
            <a:r>
              <a:rPr lang="en-US" altLang="zh-CN" dirty="0"/>
              <a:t>        其他客户端就不能ping通你的服务器了。            </a:t>
            </a:r>
            <a:endParaRPr lang="en-US" altLang="zh-CN" dirty="0"/>
          </a:p>
          <a:p>
            <a:pPr fontAlgn="auto">
              <a:lnSpc>
                <a:spcPct val="100000"/>
              </a:lnSpc>
              <a:defRPr/>
            </a:pPr>
            <a:r>
              <a:rPr lang="en-US" altLang="zh-CN" dirty="0"/>
              <a:t>       </a:t>
            </a:r>
            <a:endParaRPr lang="en-US" altLang="zh-CN" dirty="0"/>
          </a:p>
        </p:txBody>
      </p:sp>
      <p:sp>
        <p:nvSpPr>
          <p:cNvPr id="2" name="标题 1"/>
          <p:cNvSpPr>
            <a:spLocks noGrp="1"/>
          </p:cNvSpPr>
          <p:nvPr/>
        </p:nvSpPr>
        <p:spPr bwMode="auto">
          <a:xfrm>
            <a:off x="127000" y="280988"/>
            <a:ext cx="4716463" cy="7762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en-US" altLang="zh-CN" dirty="0" smtClean="0"/>
              <a:t>  </a:t>
            </a:r>
            <a:r>
              <a:rPr lang="en-US" altLang="zh-CN" sz="2665" b="1">
                <a:solidFill>
                  <a:srgbClr val="FF0000"/>
                </a:solidFill>
                <a:sym typeface="+mn-ea"/>
              </a:rPr>
              <a:t>2.2 </a:t>
            </a:r>
            <a:r>
              <a:rPr lang="en-US" altLang="zh-CN"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Linux</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操作系统</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加固</a:t>
            </a:r>
            <a:endPar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3" name="图片 2"/>
          <p:cNvPicPr>
            <a:picLocks noChangeAspect="1"/>
          </p:cNvPicPr>
          <p:nvPr/>
        </p:nvPicPr>
        <p:blipFill>
          <a:blip r:embed="rId1"/>
          <a:stretch>
            <a:fillRect/>
          </a:stretch>
        </p:blipFill>
        <p:spPr>
          <a:xfrm>
            <a:off x="765810" y="2592070"/>
            <a:ext cx="10660380" cy="3665220"/>
          </a:xfrm>
          <a:prstGeom prst="rect">
            <a:avLst/>
          </a:prstGeom>
        </p:spPr>
      </p:pic>
    </p:spTree>
    <p:custDataLst>
      <p:tags r:id="rId2"/>
    </p:custData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690880" y="585470"/>
            <a:ext cx="10810875" cy="5686425"/>
            <a:chOff x="1125" y="907"/>
            <a:chExt cx="17025" cy="8955"/>
          </a:xfrm>
        </p:grpSpPr>
        <p:sp>
          <p:nvSpPr>
            <p:cNvPr id="3" name="矩形 2"/>
            <p:cNvSpPr/>
            <p:nvPr/>
          </p:nvSpPr>
          <p:spPr>
            <a:xfrm>
              <a:off x="1125" y="907"/>
              <a:ext cx="17025" cy="8955"/>
            </a:xfrm>
            <a:prstGeom prst="rect">
              <a:avLst/>
            </a:prstGeom>
            <a:solidFill>
              <a:schemeClr val="bg1"/>
            </a:solidFill>
            <a:ln>
              <a:noFill/>
            </a:ln>
            <a:effectLst>
              <a:outerShdw blurRad="1778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useBgFill="1">
          <p:nvSpPr>
            <p:cNvPr id="19" name="矩形 18"/>
            <p:cNvSpPr/>
            <p:nvPr/>
          </p:nvSpPr>
          <p:spPr>
            <a:xfrm>
              <a:off x="5110" y="4518"/>
              <a:ext cx="9056" cy="2034"/>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zh-CN" sz="7200" b="1" dirty="0">
                  <a:solidFill>
                    <a:schemeClr val="tx1">
                      <a:lumMod val="75000"/>
                      <a:lumOff val="25000"/>
                    </a:schemeClr>
                  </a:solidFill>
                  <a:effectLst/>
                  <a:cs typeface="+mn-ea"/>
                  <a:sym typeface="+mn-lt"/>
                </a:rPr>
                <a:t>谢谢您的观看</a:t>
              </a:r>
              <a:endParaRPr lang="zh-CN" altLang="zh-CN" sz="7200" b="1" dirty="0">
                <a:solidFill>
                  <a:schemeClr val="tx1">
                    <a:lumMod val="75000"/>
                    <a:lumOff val="25000"/>
                  </a:schemeClr>
                </a:solidFill>
                <a:effectLst/>
                <a:cs typeface="+mn-ea"/>
                <a:sym typeface="+mn-lt"/>
              </a:endParaRPr>
            </a:p>
          </p:txBody>
        </p:sp>
        <p:sp useBgFill="1">
          <p:nvSpPr>
            <p:cNvPr id="6" name="矩形 5"/>
            <p:cNvSpPr/>
            <p:nvPr/>
          </p:nvSpPr>
          <p:spPr>
            <a:xfrm>
              <a:off x="5758" y="6482"/>
              <a:ext cx="7761" cy="109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dirty="0">
                  <a:solidFill>
                    <a:schemeClr val="tx1">
                      <a:lumMod val="75000"/>
                      <a:lumOff val="25000"/>
                    </a:schemeClr>
                  </a:solidFill>
                  <a:effectLst/>
                  <a:cs typeface="+mn-ea"/>
                  <a:sym typeface="+mn-lt"/>
                </a:rPr>
                <a:t>THANKS FOR YOUR WATCHING</a:t>
              </a:r>
              <a:endParaRPr lang="en-US" altLang="zh-CN" sz="2400" b="1" dirty="0">
                <a:solidFill>
                  <a:schemeClr val="tx1">
                    <a:lumMod val="75000"/>
                    <a:lumOff val="25000"/>
                  </a:schemeClr>
                </a:solidFill>
                <a:effectLst/>
                <a:cs typeface="+mn-ea"/>
                <a:sym typeface="+mn-lt"/>
              </a:endParaRPr>
            </a:p>
          </p:txBody>
        </p:sp>
      </p:grpSp>
    </p:spTree>
    <p:custDataLst>
      <p:tags r:id="rId1"/>
    </p:custDataLst>
  </p:cSld>
  <p:clrMapOvr>
    <a:masterClrMapping/>
  </p:clrMapOvr>
</p:sld>
</file>

<file path=ppt/tags/tag1.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2.xml><?xml version="1.0" encoding="utf-8"?>
<p:tagLst xmlns:p="http://schemas.openxmlformats.org/presentationml/2006/main">
  <p:tag name="REFSHAPE" val="199488564"/>
</p:tagLst>
</file>

<file path=ppt/tags/tag3.xml><?xml version="1.0" encoding="utf-8"?>
<p:tagLst xmlns:p="http://schemas.openxmlformats.org/presentationml/2006/main">
  <p:tag name="REFSHAPE" val="199489108"/>
</p:tagLst>
</file>

<file path=ppt/tags/tag4.xml><?xml version="1.0" encoding="utf-8"?>
<p:tagLst xmlns:p="http://schemas.openxmlformats.org/presentationml/2006/main">
  <p:tag name="REFSHAPE" val="199490604"/>
</p:tagLst>
</file>

<file path=ppt/tags/tag5.xml><?xml version="1.0" encoding="utf-8"?>
<p:tagLst xmlns:p="http://schemas.openxmlformats.org/presentationml/2006/main">
  <p:tag name="REFSHAPE" val="199490876"/>
</p:tagLst>
</file>

<file path=ppt/tags/tag6.xml><?xml version="1.0" encoding="utf-8"?>
<p:tagLst xmlns:p="http://schemas.openxmlformats.org/presentationml/2006/main">
  <p:tag name="REFSHAPE" val="199494140"/>
</p:tagLst>
</file>

<file path=ppt/tags/tag7.xml><?xml version="1.0" encoding="utf-8"?>
<p:tagLst xmlns:p="http://schemas.openxmlformats.org/presentationml/2006/main">
  <p:tag name="REFSHAPE" val="199491284"/>
</p:tagLst>
</file>

<file path=ppt/tags/tag8.xml><?xml version="1.0" encoding="utf-8"?>
<p:tagLst xmlns:p="http://schemas.openxmlformats.org/presentationml/2006/main">
  <p:tag name="REFSHAPE" val="199493868"/>
</p:tagLst>
</file>

<file path=ppt/tags/tag9.xml><?xml version="1.0" encoding="utf-8"?>
<p:tagLst xmlns:p="http://schemas.openxmlformats.org/presentationml/2006/main">
  <p:tag name="REFSHAPE" val="199493596"/>
</p:tagLst>
</file>

<file path=ppt/tags/tag10.xml><?xml version="1.0" encoding="utf-8"?>
<p:tagLst xmlns:p="http://schemas.openxmlformats.org/presentationml/2006/main">
  <p:tag name="REFSHAPE" val="199491284"/>
</p:tagLst>
</file>

<file path=ppt/tags/tag11.xml><?xml version="1.0" encoding="utf-8"?>
<p:tagLst xmlns:p="http://schemas.openxmlformats.org/presentationml/2006/main">
  <p:tag name="REFSHAPE" val="199493868"/>
</p:tagLst>
</file>

<file path=ppt/tags/tag12.xml><?xml version="1.0" encoding="utf-8"?>
<p:tagLst xmlns:p="http://schemas.openxmlformats.org/presentationml/2006/main">
  <p:tag name="REFSHAPE" val="199493596"/>
</p:tagLst>
</file>

<file path=ppt/tags/tag13.xml><?xml version="1.0" encoding="utf-8"?>
<p:tagLst xmlns:p="http://schemas.openxmlformats.org/presentationml/2006/main">
  <p:tag name="KSO_WM_SLIDE_ID" val="custom20187308_2"/>
  <p:tag name="KSO_WM_SLIDE_TYPE" val="contents"/>
  <p:tag name="KSO_WM_SLIDE_SUBTYPE" val="diag"/>
  <p:tag name="KSO_WM_SLIDE_ITEM_CNT" val="5"/>
  <p:tag name="KSO_WM_SLIDE_INDEX" val="2"/>
  <p:tag name="KSO_WM_TAG_VERSION" val="1.0"/>
  <p:tag name="KSO_WM_BEAUTIFY_FLAG" val="#wm#"/>
  <p:tag name="KSO_WM_TEMPLATE_CATEGORY" val="custom"/>
  <p:tag name="KSO_WM_TEMPLATE_INDEX" val="20187308"/>
  <p:tag name="KSO_WM_SLIDE_LAYOUT" val="a_b_l"/>
  <p:tag name="KSO_WM_SLIDE_LAYOUT_CNT" val="1_1_1"/>
  <p:tag name="KSO_WM_DIAGRAM_GROUP_CODE" val="l1-1"/>
  <p:tag name="KSO_WM_SPECIAL_SOURCE" val="bdnull"/>
</p:tagLst>
</file>

<file path=ppt/tags/tag14.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15.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16.xml><?xml version="1.0" encoding="utf-8"?>
<p:tagLst xmlns:p="http://schemas.openxmlformats.org/presentationml/2006/main">
  <p:tag name="KSO_WM_SPECIAL_SOURCE" val="bdnull"/>
</p:tagLst>
</file>

<file path=ppt/tags/tag17.xml><?xml version="1.0" encoding="utf-8"?>
<p:tagLst xmlns:p="http://schemas.openxmlformats.org/presentationml/2006/main">
  <p:tag name="KSO_WM_SPECIAL_SOURCE" val="bdnull"/>
</p:tagLst>
</file>

<file path=ppt/tags/tag18.xml><?xml version="1.0" encoding="utf-8"?>
<p:tagLst xmlns:p="http://schemas.openxmlformats.org/presentationml/2006/main">
  <p:tag name="KSO_WM_SPECIAL_SOURCE" val="bdnull"/>
</p:tagLst>
</file>

<file path=ppt/tags/tag19.xml><?xml version="1.0" encoding="utf-8"?>
<p:tagLst xmlns:p="http://schemas.openxmlformats.org/presentationml/2006/main">
  <p:tag name="KSO_WM_SPECIAL_SOURCE" val="bdnull"/>
</p:tagLst>
</file>

<file path=ppt/tags/tag20.xml><?xml version="1.0" encoding="utf-8"?>
<p:tagLst xmlns:p="http://schemas.openxmlformats.org/presentationml/2006/main">
  <p:tag name="KSO_WM_SPECIAL_SOURCE" val="bdnull"/>
</p:tagLst>
</file>

<file path=ppt/tags/tag21.xml><?xml version="1.0" encoding="utf-8"?>
<p:tagLst xmlns:p="http://schemas.openxmlformats.org/presentationml/2006/main">
  <p:tag name="KSO_WM_SPECIAL_SOURCE" val="bdnull"/>
</p:tagLst>
</file>

<file path=ppt/tags/tag22.xml><?xml version="1.0" encoding="utf-8"?>
<p:tagLst xmlns:p="http://schemas.openxmlformats.org/presentationml/2006/main">
  <p:tag name="KSO_WM_UNIT_PLACING_PICTURE_USER_VIEWPORT" val="{&quot;height&quot;:11724,&quot;width&quot;:17712}"/>
</p:tagLst>
</file>

<file path=ppt/tags/tag23.xml><?xml version="1.0" encoding="utf-8"?>
<p:tagLst xmlns:p="http://schemas.openxmlformats.org/presentationml/2006/main">
  <p:tag name="KSO_WM_SPECIAL_SOURCE" val="bdnull"/>
</p:tagLst>
</file>

<file path=ppt/tags/tag24.xml><?xml version="1.0" encoding="utf-8"?>
<p:tagLst xmlns:p="http://schemas.openxmlformats.org/presentationml/2006/main">
  <p:tag name="KSO_WM_SPECIAL_SOURCE" val="bdnull"/>
</p:tagLst>
</file>

<file path=ppt/tags/tag25.xml><?xml version="1.0" encoding="utf-8"?>
<p:tagLst xmlns:p="http://schemas.openxmlformats.org/presentationml/2006/main">
  <p:tag name="KSO_WM_SPECIAL_SOURCE" val="bdnull"/>
</p:tagLst>
</file>

<file path=ppt/tags/tag26.xml><?xml version="1.0" encoding="utf-8"?>
<p:tagLst xmlns:p="http://schemas.openxmlformats.org/presentationml/2006/main">
  <p:tag name="KSO_WM_SPECIAL_SOURCE" val="bdnull"/>
</p:tagLst>
</file>

<file path=ppt/tags/tag27.xml><?xml version="1.0" encoding="utf-8"?>
<p:tagLst xmlns:p="http://schemas.openxmlformats.org/presentationml/2006/main">
  <p:tag name="KSO_WM_SPECIAL_SOURCE" val="bdnull"/>
</p:tagLst>
</file>

<file path=ppt/tags/tag28.xml><?xml version="1.0" encoding="utf-8"?>
<p:tagLst xmlns:p="http://schemas.openxmlformats.org/presentationml/2006/main">
  <p:tag name="KSO_WM_SPECIAL_SOURCE" val="bdnull"/>
</p:tagLst>
</file>

<file path=ppt/tags/tag29.xml><?xml version="1.0" encoding="utf-8"?>
<p:tagLst xmlns:p="http://schemas.openxmlformats.org/presentationml/2006/main">
  <p:tag name="KSO_WM_SPECIAL_SOURCE" val="bdnull"/>
</p:tagLst>
</file>

<file path=ppt/tags/tag30.xml><?xml version="1.0" encoding="utf-8"?>
<p:tagLst xmlns:p="http://schemas.openxmlformats.org/presentationml/2006/main">
  <p:tag name="KSO_WM_SPECIAL_SOURCE" val="bdnull"/>
</p:tagLst>
</file>

<file path=ppt/tags/tag31.xml><?xml version="1.0" encoding="utf-8"?>
<p:tagLst xmlns:p="http://schemas.openxmlformats.org/presentationml/2006/main">
  <p:tag name="KSO_WM_SPECIAL_SOURCE" val="bdnull"/>
</p:tagLst>
</file>

<file path=ppt/tags/tag32.xml><?xml version="1.0" encoding="utf-8"?>
<p:tagLst xmlns:p="http://schemas.openxmlformats.org/presentationml/2006/main">
  <p:tag name="KSO_WM_SPECIAL_SOURCE" val="bdnull"/>
</p:tagLst>
</file>

<file path=ppt/tags/tag33.xml><?xml version="1.0" encoding="utf-8"?>
<p:tagLst xmlns:p="http://schemas.openxmlformats.org/presentationml/2006/main">
  <p:tag name="KSO_WM_SPECIAL_SOURCE" val="bdnull"/>
</p:tagLst>
</file>

<file path=ppt/tags/tag34.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35.xml><?xml version="1.0" encoding="utf-8"?>
<p:tagLst xmlns:p="http://schemas.openxmlformats.org/presentationml/2006/main">
  <p:tag name="KSO_WM_SPECIAL_SOURCE" val="bdnull"/>
</p:tagLst>
</file>

<file path=ppt/tags/tag36.xml><?xml version="1.0" encoding="utf-8"?>
<p:tagLst xmlns:p="http://schemas.openxmlformats.org/presentationml/2006/main">
  <p:tag name="KSO_WM_UNIT_PLACING_PICTURE_USER_VIEWPORT" val="{&quot;height&quot;:9696,&quot;width&quot;:13344}"/>
</p:tagLst>
</file>

<file path=ppt/tags/tag37.xml><?xml version="1.0" encoding="utf-8"?>
<p:tagLst xmlns:p="http://schemas.openxmlformats.org/presentationml/2006/main">
  <p:tag name="KSO_WM_SPECIAL_SOURCE" val="bdnull"/>
</p:tagLst>
</file>

<file path=ppt/tags/tag38.xml><?xml version="1.0" encoding="utf-8"?>
<p:tagLst xmlns:p="http://schemas.openxmlformats.org/presentationml/2006/main">
  <p:tag name="KSO_WM_SPECIAL_SOURCE" val="bdnull"/>
</p:tagLst>
</file>

<file path=ppt/tags/tag39.xml><?xml version="1.0" encoding="utf-8"?>
<p:tagLst xmlns:p="http://schemas.openxmlformats.org/presentationml/2006/main">
  <p:tag name="KSO_WM_SPECIAL_SOURCE" val="bdnull"/>
</p:tagLst>
</file>

<file path=ppt/tags/tag40.xml><?xml version="1.0" encoding="utf-8"?>
<p:tagLst xmlns:p="http://schemas.openxmlformats.org/presentationml/2006/main">
  <p:tag name="KSO_WM_SPECIAL_SOURCE" val="bdnull"/>
</p:tagLst>
</file>

<file path=ppt/tags/tag41.xml><?xml version="1.0" encoding="utf-8"?>
<p:tagLst xmlns:p="http://schemas.openxmlformats.org/presentationml/2006/main">
  <p:tag name="KSO_WM_SPECIAL_SOURCE" val="bdnull"/>
</p:tagLst>
</file>

<file path=ppt/tags/tag42.xml><?xml version="1.0" encoding="utf-8"?>
<p:tagLst xmlns:p="http://schemas.openxmlformats.org/presentationml/2006/main">
  <p:tag name="KSO_WM_SPECIAL_SOURCE" val="bdnull"/>
</p:tagLst>
</file>

<file path=ppt/tags/tag43.xml><?xml version="1.0" encoding="utf-8"?>
<p:tagLst xmlns:p="http://schemas.openxmlformats.org/presentationml/2006/main">
  <p:tag name="KSO_WM_SPECIAL_SOURCE" val="bdnull"/>
</p:tagLst>
</file>

<file path=ppt/tags/tag44.xml><?xml version="1.0" encoding="utf-8"?>
<p:tagLst xmlns:p="http://schemas.openxmlformats.org/presentationml/2006/main">
  <p:tag name="KSO_WM_SPECIAL_SOURCE" val="bdnull"/>
</p:tagLst>
</file>

<file path=ppt/tags/tag45.xml><?xml version="1.0" encoding="utf-8"?>
<p:tagLst xmlns:p="http://schemas.openxmlformats.org/presentationml/2006/main">
  <p:tag name="KSO_WM_SPECIAL_SOURCE" val="bdnull"/>
</p:tagLst>
</file>

<file path=ppt/tags/tag46.xml><?xml version="1.0" encoding="utf-8"?>
<p:tagLst xmlns:p="http://schemas.openxmlformats.org/presentationml/2006/main">
  <p:tag name="KSO_WM_SPECIAL_SOURCE" val="bdnull"/>
</p:tagLst>
</file>

<file path=ppt/tags/tag47.xml><?xml version="1.0" encoding="utf-8"?>
<p:tagLst xmlns:p="http://schemas.openxmlformats.org/presentationml/2006/main">
  <p:tag name="KSO_WM_SPECIAL_SOURCE" val="bdnull"/>
</p:tagLst>
</file>

<file path=ppt/tags/tag48.xml><?xml version="1.0" encoding="utf-8"?>
<p:tagLst xmlns:p="http://schemas.openxmlformats.org/presentationml/2006/main">
  <p:tag name="KSO_WM_SPECIAL_SOURCE" val="bdnull"/>
</p:tagLst>
</file>

<file path=ppt/tags/tag49.xml><?xml version="1.0" encoding="utf-8"?>
<p:tagLst xmlns:p="http://schemas.openxmlformats.org/presentationml/2006/main">
  <p:tag name="KSO_WM_SPECIAL_SOURCE" val="bdnull"/>
</p:tagLst>
</file>

<file path=ppt/tags/tag50.xml><?xml version="1.0" encoding="utf-8"?>
<p:tagLst xmlns:p="http://schemas.openxmlformats.org/presentationml/2006/main">
  <p:tag name="KSO_WM_SPECIAL_SOURCE" val="bdnull"/>
</p:tagLst>
</file>

<file path=ppt/tags/tag51.xml><?xml version="1.0" encoding="utf-8"?>
<p:tagLst xmlns:p="http://schemas.openxmlformats.org/presentationml/2006/main">
  <p:tag name="KSO_WM_SPECIAL_SOURCE" val="bdnull"/>
</p:tagLst>
</file>

<file path=ppt/tags/tag52.xml><?xml version="1.0" encoding="utf-8"?>
<p:tagLst xmlns:p="http://schemas.openxmlformats.org/presentationml/2006/main">
  <p:tag name="KSO_WM_SPECIAL_SOURCE" val="bdnull"/>
</p:tagLst>
</file>

<file path=ppt/tags/tag53.xml><?xml version="1.0" encoding="utf-8"?>
<p:tagLst xmlns:p="http://schemas.openxmlformats.org/presentationml/2006/main">
  <p:tag name="KSO_WM_SPECIAL_SOURCE" val="bdnull"/>
</p:tagLst>
</file>

<file path=ppt/tags/tag54.xml><?xml version="1.0" encoding="utf-8"?>
<p:tagLst xmlns:p="http://schemas.openxmlformats.org/presentationml/2006/main">
  <p:tag name="KSO_WM_SPECIAL_SOURCE" val="bdnull"/>
</p:tagLst>
</file>

<file path=ppt/tags/tag55.xml><?xml version="1.0" encoding="utf-8"?>
<p:tagLst xmlns:p="http://schemas.openxmlformats.org/presentationml/2006/main">
  <p:tag name="KSO_WM_SPECIAL_SOURCE" val="bdnull"/>
</p:tagLst>
</file>

<file path=ppt/tags/tag56.xml><?xml version="1.0" encoding="utf-8"?>
<p:tagLst xmlns:p="http://schemas.openxmlformats.org/presentationml/2006/main">
  <p:tag name="KSO_WM_SPECIAL_SOURCE" val="bdnull"/>
</p:tagLst>
</file>

<file path=ppt/tags/tag57.xml><?xml version="1.0" encoding="utf-8"?>
<p:tagLst xmlns:p="http://schemas.openxmlformats.org/presentationml/2006/main">
  <p:tag name="KSO_WM_SPECIAL_SOURCE" val="bdnull"/>
</p:tagLst>
</file>

<file path=ppt/tags/tag58.xml><?xml version="1.0" encoding="utf-8"?>
<p:tagLst xmlns:p="http://schemas.openxmlformats.org/presentationml/2006/main">
  <p:tag name="KSO_WM_SPECIAL_SOURCE" val="bdnull"/>
</p:tagLst>
</file>

<file path=ppt/tags/tag59.xml><?xml version="1.0" encoding="utf-8"?>
<p:tagLst xmlns:p="http://schemas.openxmlformats.org/presentationml/2006/main">
  <p:tag name="KSO_WM_SPECIAL_SOURCE" val="bdnull"/>
</p:tagLst>
</file>

<file path=ppt/tags/tag60.xml><?xml version="1.0" encoding="utf-8"?>
<p:tagLst xmlns:p="http://schemas.openxmlformats.org/presentationml/2006/main">
  <p:tag name="KSO_WM_SPECIAL_SOURCE" val="bdnull"/>
</p:tagLst>
</file>

<file path=ppt/tags/tag61.xml><?xml version="1.0" encoding="utf-8"?>
<p:tagLst xmlns:p="http://schemas.openxmlformats.org/presentationml/2006/main">
  <p:tag name="KSO_WM_SPECIAL_SOURCE" val="bdnull"/>
</p:tagLst>
</file>

<file path=ppt/tags/tag62.xml><?xml version="1.0" encoding="utf-8"?>
<p:tagLst xmlns:p="http://schemas.openxmlformats.org/presentationml/2006/main">
  <p:tag name="KSO_WM_SPECIAL_SOURCE" val="bdnull"/>
</p:tagLst>
</file>

<file path=ppt/tags/tag63.xml><?xml version="1.0" encoding="utf-8"?>
<p:tagLst xmlns:p="http://schemas.openxmlformats.org/presentationml/2006/main">
  <p:tag name="KSO_WM_SPECIAL_SOURCE" val="bdnull"/>
</p:tagLst>
</file>

<file path=ppt/tags/tag64.xml><?xml version="1.0" encoding="utf-8"?>
<p:tagLst xmlns:p="http://schemas.openxmlformats.org/presentationml/2006/main">
  <p:tag name="KSO_WM_SPECIAL_SOURCE" val="bdnull"/>
</p:tagLst>
</file>

<file path=ppt/tags/tag65.xml><?xml version="1.0" encoding="utf-8"?>
<p:tagLst xmlns:p="http://schemas.openxmlformats.org/presentationml/2006/main">
  <p:tag name="KSO_WM_BEAUTIFY_FLAG" val="#wm#"/>
  <p:tag name="KSO_WM_TEMPLATE_CATEGORY" val="custom"/>
  <p:tag name="KSO_WM_TEMPLATE_INDEX" val="20187308"/>
  <p:tag name="KSO_WM_SPECIAL_SOURCE" val="bdnull"/>
</p:tagLst>
</file>

<file path=ppt/tags/tag66.xml><?xml version="1.0" encoding="utf-8"?>
<p:tagLst xmlns:p="http://schemas.openxmlformats.org/presentationml/2006/main">
  <p:tag name="KSO_DOCER_TEMPLATE_OPEN_ONCE_MARK" val="1"/>
  <p:tag name="commondata" val="eyJoZGlkIjoiMzEwNTM5NzYwMDRjMzkwZTVkZjY2ODkwMGIxNGU0OTU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8777</Words>
  <Application>WPS 演示</Application>
  <PresentationFormat>宽屏</PresentationFormat>
  <Paragraphs>558</Paragraphs>
  <Slides>52</Slides>
  <Notes>5</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52</vt:i4>
      </vt:variant>
    </vt:vector>
  </HeadingPairs>
  <TitlesOfParts>
    <vt:vector size="62" baseType="lpstr">
      <vt:lpstr>Arial</vt:lpstr>
      <vt:lpstr>宋体</vt:lpstr>
      <vt:lpstr>Wingdings</vt:lpstr>
      <vt:lpstr>微软雅黑</vt:lpstr>
      <vt:lpstr>等线</vt:lpstr>
      <vt:lpstr>Arial Unicode MS</vt:lpstr>
      <vt:lpstr>等线 Light</vt:lpstr>
      <vt:lpstr>Calibri</vt:lpstr>
      <vt:lpstr>Office 主题​​</vt:lpstr>
      <vt:lpstr>1_Office 主题​​</vt:lpstr>
      <vt:lpstr>PowerPoint 演示文稿</vt:lpstr>
      <vt:lpstr>PowerPoint 演示文稿</vt:lpstr>
      <vt:lpstr>PowerPoint 演示文稿</vt:lpstr>
      <vt:lpstr>PowerPoint 演示文稿</vt:lpstr>
      <vt:lpstr> 1.1Windows系统安全问题</vt:lpstr>
      <vt:lpstr> 1.1Windows系统安全问题</vt:lpstr>
      <vt:lpstr> 1.1Windows系统安全问题</vt:lpstr>
      <vt:lpstr> 1.1Windows系统安全问题</vt:lpstr>
      <vt:lpstr> 1.1Windows系统安全问题</vt:lpstr>
      <vt:lpstr> 1.2Windows系统安全加固</vt:lpstr>
      <vt:lpstr> 1.2Windows系统安全加固</vt:lpstr>
      <vt:lpstr> 1.2Windows系统安全加固</vt:lpstr>
      <vt:lpstr> 1.2Windows系统安全加固</vt:lpstr>
      <vt:lpstr> 1.2Windows系统安全加固</vt:lpstr>
      <vt:lpstr> 1.2Windows系统安全加固</vt:lpstr>
      <vt:lpstr> 1.2Windows系统安全加固</vt:lpstr>
      <vt:lpstr> 1.2Windows系统安全加固</vt:lpstr>
      <vt:lpstr> 1.2Windows系统安全加固</vt:lpstr>
      <vt:lpstr> 1.2Windows系统安全加固</vt:lpstr>
      <vt:lpstr> 1.2Windows系统安全加固</vt:lpstr>
      <vt:lpstr> 1.2Windows系统安全加固</vt:lpstr>
      <vt:lpstr>PowerPoint 演示文稿</vt:lpstr>
      <vt:lpstr>PowerPoint 演示文稿</vt:lpstr>
      <vt:lpstr>PowerPoint 演示文稿</vt:lpstr>
      <vt:lpstr>PowerPoint 演示文稿</vt:lpstr>
      <vt:lpstr>PowerPoint 演示文稿</vt:lpstr>
      <vt:lpstr>PowerPoint 演示文稿</vt:lpstr>
      <vt:lpstr>  2.1 Linux系统的基本操作</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wdf</dc:creator>
  <cp:lastModifiedBy>:-*:-*:-*:-*</cp:lastModifiedBy>
  <cp:revision>43</cp:revision>
  <dcterms:created xsi:type="dcterms:W3CDTF">2021-08-10T08:24:00Z</dcterms:created>
  <dcterms:modified xsi:type="dcterms:W3CDTF">2024-05-08T13:39:34Z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9AFE2FD318D24208AA13B76F263CBFB2</vt:lpwstr>
  </property>
  <property fmtid="{D5CDD505-2E9C-101B-9397-08002B2CF9AE}" pid="3" name="KSOProductBuildVer">
    <vt:lpwstr>2052-12.1.0.16729</vt:lpwstr>
  </property>
</Properties>
</file>