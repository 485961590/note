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5"/>
  </p:handoutMasterIdLst>
  <p:sldIdLst>
    <p:sldId id="311" r:id="rId3"/>
    <p:sldId id="330" r:id="rId4"/>
    <p:sldId id="265" r:id="rId6"/>
    <p:sldId id="262" r:id="rId7"/>
    <p:sldId id="389" r:id="rId8"/>
    <p:sldId id="442" r:id="rId9"/>
    <p:sldId id="391" r:id="rId10"/>
    <p:sldId id="260" r:id="rId11"/>
    <p:sldId id="332" r:id="rId12"/>
    <p:sldId id="331" r:id="rId13"/>
    <p:sldId id="334" r:id="rId14"/>
    <p:sldId id="335" r:id="rId15"/>
    <p:sldId id="337" r:id="rId16"/>
    <p:sldId id="336" r:id="rId17"/>
    <p:sldId id="502" r:id="rId18"/>
    <p:sldId id="392" r:id="rId19"/>
    <p:sldId id="338" r:id="rId20"/>
    <p:sldId id="340" r:id="rId21"/>
    <p:sldId id="343" r:id="rId22"/>
    <p:sldId id="393" r:id="rId23"/>
    <p:sldId id="380" r:id="rId24"/>
    <p:sldId id="503" r:id="rId25"/>
    <p:sldId id="345" r:id="rId26"/>
    <p:sldId id="346" r:id="rId27"/>
    <p:sldId id="348" r:id="rId28"/>
    <p:sldId id="371" r:id="rId29"/>
    <p:sldId id="387" r:id="rId30"/>
    <p:sldId id="370" r:id="rId31"/>
    <p:sldId id="374" r:id="rId32"/>
    <p:sldId id="377" r:id="rId33"/>
    <p:sldId id="375" r:id="rId34"/>
    <p:sldId id="498" r:id="rId35"/>
    <p:sldId id="499" r:id="rId36"/>
    <p:sldId id="500" r:id="rId37"/>
    <p:sldId id="351" r:id="rId38"/>
    <p:sldId id="504" r:id="rId39"/>
    <p:sldId id="352" r:id="rId40"/>
    <p:sldId id="354" r:id="rId41"/>
    <p:sldId id="363" r:id="rId42"/>
    <p:sldId id="404" r:id="rId43"/>
    <p:sldId id="272" r:id="rId44"/>
  </p:sldIdLst>
  <p:sldSz cx="12192000" cy="6858000"/>
  <p:notesSz cx="7103745" cy="10234295"/>
  <p:custDataLst>
    <p:tags r:id="rId4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4" userDrawn="1">
          <p15:clr>
            <a:srgbClr val="A4A3A4"/>
          </p15:clr>
        </p15:guide>
        <p15:guide id="2" pos="3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959"/>
    <a:srgbClr val="C51A16"/>
    <a:srgbClr val="9B1111"/>
    <a:srgbClr val="A6A6A6"/>
    <a:srgbClr val="EF6C6C"/>
    <a:srgbClr val="ED5757"/>
    <a:srgbClr val="F1F1F1"/>
    <a:srgbClr val="BFBFBF"/>
    <a:srgbClr val="82B732"/>
    <a:srgbClr val="E6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390" y="45"/>
      </p:cViewPr>
      <p:guideLst>
        <p:guide orient="horz" pos="1984"/>
        <p:guide pos="389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9" Type="http://schemas.openxmlformats.org/officeDocument/2006/relationships/tags" Target="tags/tag45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handoutMaster" Target="handoutMasters/handoutMaster1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旁站：同一服务器的不同站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网安基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层1"/>
          <p:cNvPicPr>
            <a:picLocks noChangeAspect="1"/>
          </p:cNvPicPr>
          <p:nvPr userDrawn="1"/>
        </p:nvPicPr>
        <p:blipFill>
          <a:blip r:embed="rId2">
            <a:grayscl/>
            <a:lum bright="70000" contrast="-70000"/>
          </a:blip>
          <a:stretch>
            <a:fillRect/>
          </a:stretch>
        </p:blipFill>
        <p:spPr>
          <a:xfrm>
            <a:off x="-22225" y="3890645"/>
            <a:ext cx="12232640" cy="2960370"/>
          </a:xfrm>
          <a:prstGeom prst="rect">
            <a:avLst/>
          </a:prstGeom>
        </p:spPr>
      </p:pic>
      <p:pic>
        <p:nvPicPr>
          <p:cNvPr id="4" name="图片 3" descr="WechatIMG10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层2"/>
          <p:cNvPicPr>
            <a:picLocks noChangeAspect="1"/>
          </p:cNvPicPr>
          <p:nvPr userDrawn="1"/>
        </p:nvPicPr>
        <p:blipFill>
          <a:blip r:embed="rId2">
            <a:grayscl/>
            <a:lum bright="70000" contrast="-70000"/>
          </a:blip>
          <a:stretch>
            <a:fillRect/>
          </a:stretch>
        </p:blipFill>
        <p:spPr>
          <a:xfrm>
            <a:off x="-22225" y="4938395"/>
            <a:ext cx="12231370" cy="1957070"/>
          </a:xfrm>
          <a:prstGeom prst="rect">
            <a:avLst/>
          </a:prstGeom>
        </p:spPr>
      </p:pic>
      <p:pic>
        <p:nvPicPr>
          <p:cNvPr id="4" name="图片 3" descr="WechatIMG10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层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4605" y="-9525"/>
            <a:ext cx="6477000" cy="6877050"/>
          </a:xfrm>
          <a:prstGeom prst="rect">
            <a:avLst/>
          </a:prstGeom>
        </p:spPr>
      </p:pic>
      <p:pic>
        <p:nvPicPr>
          <p:cNvPr id="4" name="图片 3" descr="WechatIMG10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WechatIMG1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WechatIMG1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WechatIMG1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片 10" descr="WechatIMG1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WechatIMG1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8" name="图片 7" descr="WechatIMG10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2577" y="307730"/>
            <a:ext cx="1619885" cy="5651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tx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7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2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hyperlink" Target="https://phpinfo.me/domain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3.xml"/><Relationship Id="rId1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24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5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6.xml"/><Relationship Id="rId2" Type="http://schemas.openxmlformats.org/officeDocument/2006/relationships/image" Target="../media/image18.png"/><Relationship Id="rId1" Type="http://schemas.openxmlformats.org/officeDocument/2006/relationships/hyperlink" Target="https://fofa.so/" TargetMode="Externa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7.xml"/><Relationship Id="rId2" Type="http://schemas.openxmlformats.org/officeDocument/2006/relationships/image" Target="../media/image19.png"/><Relationship Id="rId1" Type="http://schemas.openxmlformats.org/officeDocument/2006/relationships/hyperlink" Target="https://fofa.so/" TargetMode="Externa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28.xml"/><Relationship Id="rId4" Type="http://schemas.openxmlformats.org/officeDocument/2006/relationships/image" Target="../media/image20.png"/><Relationship Id="rId3" Type="http://schemas.openxmlformats.org/officeDocument/2006/relationships/hyperlink" Target="https://blog.csdn.net/qq_36119192/article/details/84031765" TargetMode="External"/><Relationship Id="rId2" Type="http://schemas.openxmlformats.org/officeDocument/2006/relationships/hyperlink" Target="https://www.cnblogs.com/miaodaren/p/7904484.html" TargetMode="External"/><Relationship Id="rId1" Type="http://schemas.openxmlformats.org/officeDocument/2006/relationships/hyperlink" Target="https://www.shodan.io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29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30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1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2.xml"/><Relationship Id="rId1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34.xml"/><Relationship Id="rId3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5.xml"/><Relationship Id="rId1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36.xml"/><Relationship Id="rId2" Type="http://schemas.openxmlformats.org/officeDocument/2006/relationships/image" Target="../media/image29.png"/><Relationship Id="rId1" Type="http://schemas.openxmlformats.org/officeDocument/2006/relationships/hyperlink" Target="http://whatweb.bugscaner.com/look/" TargetMode="Externa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37.xml"/><Relationship Id="rId2" Type="http://schemas.openxmlformats.org/officeDocument/2006/relationships/image" Target="../media/image30.png"/><Relationship Id="rId1" Type="http://schemas.openxmlformats.org/officeDocument/2006/relationships/hyperlink" Target="https://www.wappalyzer.com/" TargetMode="Externa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9.xml"/><Relationship Id="rId1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40.xml"/><Relationship Id="rId1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1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42.xml"/><Relationship Id="rId2" Type="http://schemas.openxmlformats.org/officeDocument/2006/relationships/image" Target="../media/image35.png"/><Relationship Id="rId1" Type="http://schemas.openxmlformats.org/officeDocument/2006/relationships/hyperlink" Target="http://www.hieu.edu.cn/" TargetMode="Externa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43.xml"/><Relationship Id="rId1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22225" y="2009775"/>
            <a:ext cx="12236450" cy="2145030"/>
          </a:xfrm>
          <a:prstGeom prst="rect">
            <a:avLst/>
          </a:prstGeom>
          <a:solidFill>
            <a:srgbClr val="C51A16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/>
          </a:p>
        </p:txBody>
      </p:sp>
      <p:sp>
        <p:nvSpPr>
          <p:cNvPr id="8" name="文本框 7"/>
          <p:cNvSpPr txBox="1"/>
          <p:nvPr/>
        </p:nvSpPr>
        <p:spPr>
          <a:xfrm>
            <a:off x="1784033" y="2528888"/>
            <a:ext cx="871537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dirty="0">
                <a:solidFill>
                  <a:schemeClr val="bg1"/>
                </a:solidFill>
                <a:effectLst>
                  <a:reflection blurRad="50800" stA="30000" endPos="40000" dist="101600" dir="5400000" sy="-100000" algn="bl" rotWithShape="0"/>
                </a:effectLst>
              </a:rPr>
              <a:t>资产管理</a:t>
            </a:r>
            <a:r>
              <a:rPr lang="en-US" altLang="zh-CN" sz="6600" b="1" dirty="0">
                <a:solidFill>
                  <a:schemeClr val="bg1"/>
                </a:solidFill>
                <a:effectLst>
                  <a:reflection blurRad="50800" stA="30000" endPos="40000" dist="101600" dir="5400000" sy="-100000" algn="bl" rotWithShape="0"/>
                </a:effectLst>
              </a:rPr>
              <a:t>——</a:t>
            </a:r>
            <a:r>
              <a:rPr lang="zh-CN" altLang="en-US" sz="6600" b="1" dirty="0">
                <a:solidFill>
                  <a:schemeClr val="bg1"/>
                </a:solidFill>
                <a:effectLst>
                  <a:reflection blurRad="50800" stA="30000" endPos="40000" dist="101600" dir="5400000" sy="-100000" algn="bl" rotWithShape="0"/>
                </a:effectLst>
              </a:rPr>
              <a:t>资产梳理</a:t>
            </a:r>
            <a:endParaRPr lang="zh-CN" altLang="en-US" sz="6600" b="1" dirty="0">
              <a:solidFill>
                <a:schemeClr val="bg1"/>
              </a:solidFill>
              <a:effectLst>
                <a:reflection blurRad="50800" stA="30000" endPos="40000" dist="101600" dir="5400000" sy="-100000" algn="bl" rotWithShape="0"/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2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-20320" y="2143125"/>
            <a:ext cx="6490970" cy="2614930"/>
          </a:xfrm>
          <a:prstGeom prst="rect">
            <a:avLst/>
          </a:prstGeom>
          <a:solidFill>
            <a:srgbClr val="C51A1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623695" y="2872105"/>
            <a:ext cx="3214370" cy="1113790"/>
            <a:chOff x="2220" y="4415"/>
            <a:chExt cx="5062" cy="1754"/>
          </a:xfrm>
        </p:grpSpPr>
        <p:sp>
          <p:nvSpPr>
            <p:cNvPr id="5141" name="Line 29"/>
            <p:cNvSpPr>
              <a:spLocks noChangeShapeType="1"/>
            </p:cNvSpPr>
            <p:nvPr/>
          </p:nvSpPr>
          <p:spPr bwMode="auto">
            <a:xfrm>
              <a:off x="2220" y="4415"/>
              <a:ext cx="5063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67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142" name="Text Box 30"/>
            <p:cNvSpPr txBox="1">
              <a:spLocks noChangeArrowheads="1"/>
            </p:cNvSpPr>
            <p:nvPr/>
          </p:nvSpPr>
          <p:spPr bwMode="auto">
            <a:xfrm>
              <a:off x="2372" y="4815"/>
              <a:ext cx="1440" cy="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3600" dirty="0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目录</a:t>
              </a:r>
              <a:endParaRPr lang="zh-CN" altLang="zh-CN" sz="3600" dirty="0">
                <a:solidFill>
                  <a:schemeClr val="bg1"/>
                </a:solidFill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143" name="Text Box 31"/>
            <p:cNvSpPr txBox="1">
              <a:spLocks noChangeArrowheads="1"/>
            </p:cNvSpPr>
            <p:nvPr/>
          </p:nvSpPr>
          <p:spPr bwMode="auto">
            <a:xfrm>
              <a:off x="4057" y="5009"/>
              <a:ext cx="3080" cy="6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dirty="0">
                  <a:solidFill>
                    <a:schemeClr val="bg1"/>
                  </a:solidFill>
                  <a:ea typeface="微软雅黑" panose="020B0503020204020204" charset="-122"/>
                  <a:sym typeface="Arial" panose="020B0604020202020204" pitchFamily="34" charset="0"/>
                </a:rPr>
                <a:t>CONTENTS</a:t>
              </a:r>
              <a:endParaRPr lang="zh-CN" altLang="zh-CN" sz="2800" dirty="0">
                <a:solidFill>
                  <a:schemeClr val="bg1"/>
                </a:solidFill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5144" name="Line 32"/>
            <p:cNvSpPr>
              <a:spLocks noChangeShapeType="1"/>
            </p:cNvSpPr>
            <p:nvPr/>
          </p:nvSpPr>
          <p:spPr bwMode="auto">
            <a:xfrm>
              <a:off x="2220" y="6169"/>
              <a:ext cx="5063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67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626225" y="2038350"/>
            <a:ext cx="1783080" cy="813435"/>
            <a:chOff x="7831" y="2299"/>
            <a:chExt cx="2808" cy="1281"/>
          </a:xfrm>
        </p:grpSpPr>
        <p:sp>
          <p:nvSpPr>
            <p:cNvPr id="38" name="矩形 37"/>
            <p:cNvSpPr/>
            <p:nvPr/>
          </p:nvSpPr>
          <p:spPr>
            <a:xfrm>
              <a:off x="7831" y="2299"/>
              <a:ext cx="1234" cy="12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>
                  <a:solidFill>
                    <a:schemeClr val="bg1"/>
                  </a:solidFill>
                  <a:cs typeface="+mn-lt"/>
                </a:rPr>
                <a:t>01</a:t>
              </a:r>
              <a:endParaRPr lang="en-US" altLang="zh-CN" sz="3600">
                <a:solidFill>
                  <a:schemeClr val="bg1"/>
                </a:solidFill>
                <a:cs typeface="+mn-lt"/>
              </a:endParaRPr>
            </a:p>
          </p:txBody>
        </p:sp>
        <p:sp>
          <p:nvSpPr>
            <p:cNvPr id="41" name="文本框 40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  <p:cNvSpPr txBox="1"/>
            <p:nvPr/>
          </p:nvSpPr>
          <p:spPr>
            <a:xfrm>
              <a:off x="9212" y="2528"/>
              <a:ext cx="1427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简述</a:t>
              </a:r>
              <a:endParaRPr lang="zh-CN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626225" y="3133090"/>
            <a:ext cx="2504440" cy="813435"/>
            <a:chOff x="7831" y="2299"/>
            <a:chExt cx="3944" cy="1281"/>
          </a:xfrm>
        </p:grpSpPr>
        <p:sp>
          <p:nvSpPr>
            <p:cNvPr id="21" name="矩形 20"/>
            <p:cNvSpPr/>
            <p:nvPr/>
          </p:nvSpPr>
          <p:spPr>
            <a:xfrm>
              <a:off x="7831" y="2299"/>
              <a:ext cx="1234" cy="12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>
                  <a:solidFill>
                    <a:schemeClr val="bg1"/>
                  </a:solidFill>
                  <a:cs typeface="+mn-lt"/>
                </a:rPr>
                <a:t>02</a:t>
              </a:r>
              <a:endParaRPr lang="en-US" altLang="zh-CN" sz="3600">
                <a:solidFill>
                  <a:schemeClr val="bg1"/>
                </a:solidFill>
                <a:cs typeface="+mn-lt"/>
              </a:endParaRPr>
            </a:p>
          </p:txBody>
        </p:sp>
        <p:sp>
          <p:nvSpPr>
            <p:cNvPr id="23" name="文本框 22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  <p:cNvSpPr txBox="1"/>
            <p:nvPr/>
          </p:nvSpPr>
          <p:spPr>
            <a:xfrm>
              <a:off x="9212" y="2528"/>
              <a:ext cx="2563" cy="8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资产搜集</a:t>
              </a:r>
              <a:endPara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626225" y="4227830"/>
            <a:ext cx="1764665" cy="813435"/>
            <a:chOff x="7831" y="2299"/>
            <a:chExt cx="2779" cy="1281"/>
          </a:xfrm>
        </p:grpSpPr>
        <p:sp>
          <p:nvSpPr>
            <p:cNvPr id="3" name="矩形 2"/>
            <p:cNvSpPr/>
            <p:nvPr/>
          </p:nvSpPr>
          <p:spPr>
            <a:xfrm>
              <a:off x="7831" y="2299"/>
              <a:ext cx="1234" cy="1281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>
                  <a:solidFill>
                    <a:schemeClr val="bg1"/>
                  </a:solidFill>
                  <a:cs typeface="+mn-lt"/>
                </a:rPr>
                <a:t>03</a:t>
              </a:r>
              <a:endParaRPr lang="en-US" altLang="zh-CN" sz="3600">
                <a:solidFill>
                  <a:schemeClr val="bg1"/>
                </a:solidFill>
                <a:cs typeface="+mn-lt"/>
              </a:endParaRPr>
            </a:p>
          </p:txBody>
        </p:sp>
        <p:sp>
          <p:nvSpPr>
            <p:cNvPr id="5" name="文本框 4" descr="e7d195523061f1c0deeec63e560781cfd59afb0ea006f2a87ABB68BF51EA6619813959095094C18C62A12F549504892A4AAA8C1554C6663626E05CA27F281A14E6983772AFC3FB97135759321DEA3D709AACD122C08E6ED11152287138C3ABBD9FE3097DBFFF43ED48AFD97A215A5FC38CCECA07F04C5F44216147602EB0EB762C85458D56ABB1BF27D2E1C1867E529D"/>
            <p:cNvSpPr txBox="1"/>
            <p:nvPr/>
          </p:nvSpPr>
          <p:spPr>
            <a:xfrm>
              <a:off x="9196" y="2527"/>
              <a:ext cx="141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黑体" panose="02010609060101010101" charset="-122"/>
                  <a:ea typeface="黑体" panose="02010609060101010101" charset="-122"/>
                </a:rPr>
                <a:t>任务</a:t>
              </a:r>
              <a:endPara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542" y="1692593"/>
            <a:ext cx="12237085" cy="331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/>
          </a:p>
        </p:txBody>
      </p:sp>
      <p:sp>
        <p:nvSpPr>
          <p:cNvPr id="5" name="文本框 4"/>
          <p:cNvSpPr txBox="1"/>
          <p:nvPr/>
        </p:nvSpPr>
        <p:spPr>
          <a:xfrm>
            <a:off x="6096000" y="2675255"/>
            <a:ext cx="17235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C51A16"/>
                </a:solidFill>
                <a:latin typeface="+mn-ea"/>
              </a:rPr>
              <a:t>简述</a:t>
            </a:r>
            <a:endParaRPr lang="zh-CN" altLang="en-US" sz="6000" b="1" dirty="0">
              <a:solidFill>
                <a:srgbClr val="C51A16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276600" y="2484120"/>
            <a:ext cx="1712595" cy="1692275"/>
            <a:chOff x="1770244" y="775694"/>
            <a:chExt cx="1712595" cy="1692275"/>
          </a:xfrm>
        </p:grpSpPr>
        <p:sp>
          <p:nvSpPr>
            <p:cNvPr id="3" name="矩形 2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b="1" dirty="0">
                  <a:cs typeface="+mn-lt"/>
                </a:rPr>
                <a:t>01</a:t>
              </a:r>
              <a:endParaRPr lang="en-US" altLang="zh-CN" sz="6000" b="1" dirty="0">
                <a:cs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1555750" cy="659130"/>
            <a:chOff x="676" y="334"/>
            <a:chExt cx="245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2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126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简述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184910" y="1328976"/>
            <a:ext cx="609452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FF0000"/>
                </a:solidFill>
                <a:latin typeface="-apple-system"/>
              </a:rPr>
              <a:t>为什么要进行资产梳理？</a:t>
            </a:r>
            <a:endParaRPr lang="en-US" altLang="zh-CN" sz="2400" b="1" dirty="0">
              <a:solidFill>
                <a:srgbClr val="FF0000"/>
              </a:solidFill>
              <a:latin typeface="-apple-system"/>
            </a:endParaRPr>
          </a:p>
          <a:p>
            <a:pPr algn="l"/>
            <a:endParaRPr lang="en-US" altLang="zh-CN" sz="2400" b="1" i="0" dirty="0">
              <a:solidFill>
                <a:srgbClr val="FF0000"/>
              </a:solidFill>
              <a:effectLst/>
              <a:latin typeface="-apple-system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9683" y="1902326"/>
            <a:ext cx="881330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</a:t>
            </a:r>
            <a:r>
              <a:rPr lang="zh-CN" altLang="en-US" sz="2000" b="1" dirty="0"/>
              <a:t> 资产梳理</a:t>
            </a:r>
            <a:r>
              <a:rPr lang="zh-CN" altLang="en-US" sz="2400" dirty="0"/>
              <a:t>（</a:t>
            </a:r>
            <a:r>
              <a:rPr lang="en-US" altLang="zh-CN" sz="2400" dirty="0"/>
              <a:t>Information Gathering</a:t>
            </a:r>
            <a:r>
              <a:rPr lang="zh-CN" altLang="en-US" sz="2400" dirty="0"/>
              <a:t>）资产梳理是指通过各种方式获取所需要的信息，进行资产判断以及整理。</a:t>
            </a:r>
            <a:endParaRPr lang="zh-CN" altLang="en-US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879475" y="3105785"/>
            <a:ext cx="80924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/>
              <a:t>伴随着公司业务流程的连续不断澎涨，愈来愈多的机器设备、系统软件等多头管理，私搭乱建状况比较情况严重，安全风险管理职责分工不清晰等难题仍然不容乐观。在防御实战演练开展以前防御蓝队务必开展资产整理，其</a:t>
            </a:r>
            <a:r>
              <a:rPr lang="zh-CN" altLang="en-US" sz="2000">
                <a:solidFill>
                  <a:schemeClr val="accent1"/>
                </a:solidFill>
              </a:rPr>
              <a:t>目地</a:t>
            </a:r>
            <a:r>
              <a:rPr lang="zh-CN" altLang="en-US" sz="2000"/>
              <a:t>是为公司企业可以作到“认真梳理”，对自个现阶段资产做一个详尽整理，便于在防御实战演练期内可以从容面对。</a:t>
            </a:r>
            <a:endParaRPr lang="zh-CN" altLang="en-US" sz="200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8590" y="3105785"/>
            <a:ext cx="2894330" cy="22123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3603625" cy="659130"/>
            <a:chOff x="676" y="334"/>
            <a:chExt cx="5675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2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448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资产梳理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方式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097915" y="1501140"/>
            <a:ext cx="9114155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一、安全防护设备资产</a:t>
            </a:r>
            <a:endParaRPr lang="zh-CN" altLang="en-US" sz="2400" b="1" dirty="0">
              <a:latin typeface="+mn-ea"/>
            </a:endParaRPr>
          </a:p>
          <a:p>
            <a:endParaRPr lang="zh-CN" altLang="en-US" sz="2400" dirty="0">
              <a:latin typeface="+mn-ea"/>
            </a:endParaRPr>
          </a:p>
          <a:p>
            <a:endParaRPr lang="zh-CN" altLang="en-US" sz="24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安全防护设备是拦截蓝队攻击的关键防御系统。对目前安全防护设备开展合理核对，防御蓝队需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</a:rPr>
              <a:t>清晰每台安全防护设备基本功能</a:t>
            </a:r>
            <a:r>
              <a:rPr lang="zh-CN" altLang="en-US" sz="2400" dirty="0">
                <a:latin typeface="+mn-ea"/>
              </a:rPr>
              <a:t>，有效期，厂家联络人，监管运维管理技术人员，机器设备责任者，运转状况，安全防护区域，是不是须要更新等</a:t>
            </a:r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状况</a:t>
            </a:r>
            <a:r>
              <a:rPr lang="zh-CN" altLang="en-US" sz="2400" dirty="0">
                <a:latin typeface="+mn-ea"/>
              </a:rPr>
              <a:t>开展合理整理和查验，并对存有的有关难题立即商议处理。若有条件公司可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</a:rPr>
              <a:t>购入新式网络安全产品</a:t>
            </a:r>
            <a:r>
              <a:rPr lang="zh-CN" altLang="en-US" sz="2400" dirty="0">
                <a:latin typeface="+mn-ea"/>
              </a:rPr>
              <a:t>开展布署。</a:t>
            </a:r>
            <a:endParaRPr lang="zh-CN" altLang="en-US" sz="2400" dirty="0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3603625" cy="659130"/>
            <a:chOff x="676" y="334"/>
            <a:chExt cx="5675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2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448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资产梳理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方式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184910" y="1351280"/>
            <a:ext cx="9114155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二、对外开放服务项目资产</a:t>
            </a:r>
            <a:endParaRPr lang="zh-CN" altLang="en-US" sz="2400" b="1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对外开放服务项目资产是蓝队紧密的侧重点。对于对外开放服务项目资产</a:t>
            </a:r>
            <a:r>
              <a:rPr lang="zh-CN" altLang="en-US" sz="2400" dirty="0">
                <a:solidFill>
                  <a:schemeClr val="accent1"/>
                </a:solidFill>
                <a:latin typeface="+mn-ea"/>
              </a:rPr>
              <a:t>开展合理核对</a:t>
            </a:r>
            <a:r>
              <a:rPr lang="zh-CN" altLang="en-US" sz="2400" dirty="0">
                <a:latin typeface="+mn-ea"/>
              </a:rPr>
              <a:t>，防御蓝队可对目前的应用服务器进合理归类，清晰服务器主机种类及版本信息，网站系统功能，系统软件间相关性，网站资产网站域名，ip详细地址，服务器端口，开发框架，分布式数据库种类及版本信息，网站服务器地理位置方向，使用人、管理者、责任者名字，联系电话等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3603625" cy="659130"/>
            <a:chOff x="676" y="334"/>
            <a:chExt cx="5675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2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448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资产梳理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方式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1</a:t>
              </a:r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1449278" y="1962016"/>
            <a:ext cx="88133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      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078230" y="1192530"/>
            <a:ext cx="10511155" cy="3723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latin typeface="+mn-ea"/>
                <a:sym typeface="+mn-ea"/>
              </a:rPr>
              <a:t>三、项目外包业务流程资产</a:t>
            </a:r>
            <a:endParaRPr lang="zh-CN" altLang="en-US" sz="2400" b="1" dirty="0">
              <a:latin typeface="+mn-ea"/>
              <a:sym typeface="+mn-ea"/>
            </a:endParaRPr>
          </a:p>
          <a:p>
            <a:pPr algn="l"/>
            <a:endParaRPr lang="en-US" altLang="zh-CN" sz="2400" b="0" i="0" dirty="0">
              <a:solidFill>
                <a:srgbClr val="555666"/>
              </a:solidFill>
              <a:effectLst/>
              <a:latin typeface="-apple-system"/>
            </a:endParaRPr>
          </a:p>
          <a:p>
            <a:pPr algn="l"/>
            <a:endParaRPr lang="zh-CN" altLang="en-US" sz="2000" b="0" i="0" dirty="0">
              <a:solidFill>
                <a:schemeClr val="accent5"/>
              </a:solidFill>
              <a:effectLst/>
              <a:latin typeface="-apple-system"/>
            </a:endParaRPr>
          </a:p>
          <a:p>
            <a:pPr algn="l"/>
            <a:r>
              <a:rPr lang="zh-CN" altLang="en-US" sz="2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项目外包监管是“刚性需求”，近些年公司</a:t>
            </a:r>
            <a:r>
              <a:rPr lang="zh-CN" altLang="en-US" sz="2400" i="0" dirty="0">
                <a:solidFill>
                  <a:schemeClr val="accent1"/>
                </a:solidFill>
                <a:effectLst/>
                <a:latin typeface="-apple-system"/>
              </a:rPr>
              <a:t>高新科技项目外包</a:t>
            </a:r>
            <a:r>
              <a:rPr lang="zh-CN" altLang="en-US" sz="2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发展趋向迅速，项目外包涉及到区域慢慢扩张，已基本上包含了学习培训、规定、设计方案、执行等产品生命周期的每个环节。一部分公司因为项目外包难题所引起的比较</a:t>
            </a:r>
            <a:r>
              <a:rPr lang="zh-CN" altLang="en-US" sz="2400" i="0" dirty="0">
                <a:solidFill>
                  <a:schemeClr val="accent1"/>
                </a:solidFill>
                <a:effectLst/>
                <a:latin typeface="-apple-system"/>
              </a:rPr>
              <a:t>敏感数据泄露</a:t>
            </a:r>
            <a:r>
              <a:rPr lang="zh-CN" altLang="en-US" sz="240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五花八门，项目外包业务流程做为防御实战演练中的曝露口，务必对其进行高度重视。对于项目外包业务流程资产业务开展合理核对，公司企业需提早通告防御实战演练开展及截止时长，签定权责协议书，清晰项目外包联络人、值班安排状况等</a:t>
            </a:r>
            <a:r>
              <a:rPr lang="zh-CN" altLang="en-US" sz="2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-apple-system"/>
              </a:rPr>
              <a:t>。</a:t>
            </a:r>
            <a:endParaRPr lang="zh-CN" altLang="en-US" sz="24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-apple-system"/>
            </a:endParaRPr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429260" y="212090"/>
            <a:ext cx="3603625" cy="1021715"/>
            <a:chOff x="676" y="334"/>
            <a:chExt cx="5675" cy="1609"/>
          </a:xfrm>
        </p:grpSpPr>
        <p:grpSp>
          <p:nvGrpSpPr>
            <p:cNvPr id="21" name="组合 20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76" y="566"/>
                <a:ext cx="82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1866" y="636"/>
              <a:ext cx="4485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资产梳理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方式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184910" y="1027430"/>
            <a:ext cx="974788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latin typeface="+mn-ea"/>
                <a:sym typeface="+mn-ea"/>
              </a:rPr>
              <a:t>一、业务资源 梳理</a:t>
            </a:r>
            <a:endParaRPr lang="zh-CN" altLang="en-US" sz="2400" b="1" dirty="0">
              <a:latin typeface="+mn-ea"/>
              <a:sym typeface="+mn-ea"/>
            </a:endParaRPr>
          </a:p>
          <a:p>
            <a:pPr algn="l"/>
            <a:endParaRPr lang="zh-CN" altLang="en-US" sz="2400" b="1" dirty="0">
              <a:latin typeface="+mn-ea"/>
              <a:sym typeface="+mn-ea"/>
            </a:endParaRPr>
          </a:p>
          <a:p>
            <a:pPr algn="l"/>
            <a:r>
              <a:rPr lang="zh-CN" altLang="en-US" sz="2400" dirty="0">
                <a:latin typeface="+mn-ea"/>
                <a:sym typeface="+mn-ea"/>
              </a:rPr>
              <a:t>我们首要先梳理我们的业务资源，比如业务资源系统的名称，业务资源类型是web、app?，其次我们要知道其业务所部署服务器的类型版本，域名/IP、服务器端口、中间件、数据库、开发的 框架 、部署的位置，相关负责人以及联系方式。如下图 </a:t>
            </a:r>
            <a:endParaRPr lang="zh-CN" altLang="en-US" sz="2400" dirty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1452563" y="4099243"/>
            <a:ext cx="9286875" cy="9429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429260" y="212090"/>
            <a:ext cx="3603625" cy="1021715"/>
            <a:chOff x="676" y="334"/>
            <a:chExt cx="5675" cy="1609"/>
          </a:xfrm>
        </p:grpSpPr>
        <p:grpSp>
          <p:nvGrpSpPr>
            <p:cNvPr id="21" name="组合 20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76" y="566"/>
                <a:ext cx="82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1866" y="636"/>
              <a:ext cx="4485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资产梳理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方式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184910" y="1027430"/>
            <a:ext cx="8359775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latin typeface="+mn-ea"/>
                <a:sym typeface="+mn-ea"/>
              </a:rPr>
              <a:t>二、设备资产梳理</a:t>
            </a:r>
            <a:endParaRPr lang="zh-CN" altLang="en-US" sz="2400" b="1" dirty="0">
              <a:latin typeface="+mn-ea"/>
              <a:sym typeface="+mn-ea"/>
            </a:endParaRPr>
          </a:p>
          <a:p>
            <a:pPr algn="l"/>
            <a:endParaRPr lang="zh-CN" altLang="en-US" sz="2400" dirty="0"/>
          </a:p>
          <a:p>
            <a:pPr algn="l"/>
            <a:r>
              <a:rPr lang="zh-CN" altLang="en-US" sz="2400" dirty="0"/>
              <a:t>例如我们的安全设备，系统的名称，设备的型号，系统的规则库、病毒库的版本号是否最新、安全厂商、联系人、IP地址、授权日期以及相关负责人等信息的统计记录。如下图</a:t>
            </a:r>
            <a:endParaRPr lang="zh-CN" altLang="en-US" sz="2400" dirty="0"/>
          </a:p>
          <a:p>
            <a:pPr algn="l"/>
            <a:endParaRPr lang="zh-CN" altLang="en-US" sz="2400" dirty="0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321118" y="4429760"/>
            <a:ext cx="10029825" cy="9525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429260" y="212090"/>
            <a:ext cx="3603625" cy="659130"/>
            <a:chOff x="676" y="334"/>
            <a:chExt cx="5675" cy="1038"/>
          </a:xfrm>
        </p:grpSpPr>
        <p:grpSp>
          <p:nvGrpSpPr>
            <p:cNvPr id="21" name="组合 20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34" name="矩形 33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76" y="566"/>
                <a:ext cx="822" cy="7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>
                    <a:solidFill>
                      <a:schemeClr val="bg1"/>
                    </a:solidFill>
                    <a:cs typeface="+mn-lt"/>
                  </a:rPr>
                  <a:t>01</a:t>
                </a:r>
                <a:endParaRPr lang="en-US" altLang="zh-CN" sz="240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1866" y="636"/>
              <a:ext cx="4485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资产梳理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方式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1184910" y="1027430"/>
            <a:ext cx="8722360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latin typeface="+mn-ea"/>
                <a:sym typeface="+mn-ea"/>
              </a:rPr>
              <a:t>三、第三方的服务信息梳理</a:t>
            </a:r>
            <a:endParaRPr lang="zh-CN" altLang="en-US" sz="2400" b="1" dirty="0">
              <a:latin typeface="+mn-ea"/>
              <a:sym typeface="+mn-ea"/>
            </a:endParaRPr>
          </a:p>
          <a:p>
            <a:pPr algn="l"/>
            <a:endParaRPr lang="zh-CN" altLang="en-US" sz="2400" dirty="0"/>
          </a:p>
          <a:p>
            <a:pPr algn="l"/>
            <a:r>
              <a:rPr lang="zh-CN" altLang="en-US" sz="2400" dirty="0"/>
              <a:t>第三方服务是指由独立提供的专业服务商，以第三方的角色为客户提供系列的专业性服务过程，该过程以合同的形式来界定供需二者之间的职责</a:t>
            </a:r>
            <a:endParaRPr lang="zh-CN" altLang="en-US" sz="2400" dirty="0"/>
          </a:p>
        </p:txBody>
      </p:sp>
      <p:pic>
        <p:nvPicPr>
          <p:cNvPr id="102" name="图片 101"/>
          <p:cNvPicPr/>
          <p:nvPr/>
        </p:nvPicPr>
        <p:blipFill>
          <a:blip r:embed="rId1"/>
          <a:stretch>
            <a:fillRect/>
          </a:stretch>
        </p:blipFill>
        <p:spPr>
          <a:xfrm>
            <a:off x="1313180" y="4456748"/>
            <a:ext cx="8724900" cy="962024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22542" y="1692593"/>
            <a:ext cx="12237085" cy="33102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77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600"/>
          </a:p>
        </p:txBody>
      </p:sp>
      <p:sp>
        <p:nvSpPr>
          <p:cNvPr id="5" name="文本框 4"/>
          <p:cNvSpPr txBox="1"/>
          <p:nvPr/>
        </p:nvSpPr>
        <p:spPr>
          <a:xfrm>
            <a:off x="6096000" y="2675255"/>
            <a:ext cx="3230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dirty="0">
                <a:solidFill>
                  <a:srgbClr val="C51A16"/>
                </a:solidFill>
                <a:latin typeface="+mn-ea"/>
              </a:rPr>
              <a:t>风险梳理</a:t>
            </a:r>
            <a:endParaRPr lang="zh-CN" altLang="en-US" sz="6000" b="1" dirty="0">
              <a:solidFill>
                <a:srgbClr val="C51A16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276600" y="2484120"/>
            <a:ext cx="1712595" cy="1692275"/>
            <a:chOff x="1770244" y="775694"/>
            <a:chExt cx="1712595" cy="1692275"/>
          </a:xfrm>
        </p:grpSpPr>
        <p:sp>
          <p:nvSpPr>
            <p:cNvPr id="3" name="矩形 2"/>
            <p:cNvSpPr/>
            <p:nvPr/>
          </p:nvSpPr>
          <p:spPr>
            <a:xfrm>
              <a:off x="1770244" y="775694"/>
              <a:ext cx="1379855" cy="1379855"/>
            </a:xfrm>
            <a:prstGeom prst="rect">
              <a:avLst/>
            </a:prstGeom>
            <a:noFill/>
            <a:ln w="50800">
              <a:solidFill>
                <a:srgbClr val="ED575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1981699" y="966829"/>
              <a:ext cx="1501140" cy="1501140"/>
            </a:xfrm>
            <a:prstGeom prst="rect">
              <a:avLst/>
            </a:prstGeom>
            <a:solidFill>
              <a:srgbClr val="C51A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6000" b="1" dirty="0">
                  <a:cs typeface="+mn-lt"/>
                </a:rPr>
                <a:t>02</a:t>
              </a:r>
              <a:endParaRPr lang="en-US" altLang="zh-CN" sz="6000" b="1" dirty="0">
                <a:cs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767330" cy="659130"/>
            <a:chOff x="676" y="334"/>
            <a:chExt cx="4358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31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风险有哪些？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1500178" y="1595032"/>
            <a:ext cx="7743645" cy="3538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账号权限风险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互联网风险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800" dirty="0">
                <a:solidFill>
                  <a:srgbClr val="FF0000"/>
                </a:solidFill>
                <a:sym typeface="+mn-ea"/>
              </a:rPr>
              <a:t>后台目录风险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旁站风险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C</a:t>
            </a:r>
            <a:r>
              <a:rPr lang="zh-CN" altLang="en-US" sz="2800" dirty="0">
                <a:solidFill>
                  <a:srgbClr val="FF0000"/>
                </a:solidFill>
              </a:rPr>
              <a:t>段风险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端口风险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暴露面收敛梳理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indent="0"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公众号、小程序、移动</a:t>
            </a:r>
            <a:r>
              <a:rPr lang="en-US" altLang="zh-CN" sz="2800" dirty="0">
                <a:solidFill>
                  <a:srgbClr val="FF0000"/>
                </a:solidFill>
              </a:rPr>
              <a:t>app......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4644390" cy="659130"/>
            <a:chOff x="676" y="334"/>
            <a:chExt cx="731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6124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sz="2400" b="0" i="0" dirty="0" err="1">
                  <a:solidFill>
                    <a:schemeClr val="accent6">
                      <a:lumMod val="7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风险梳理</a:t>
              </a:r>
              <a:r>
                <a:rPr lang="en-US" altLang="zh-CN" sz="2400" b="0" i="0" dirty="0" err="1">
                  <a:solidFill>
                    <a:schemeClr val="accent6">
                      <a:lumMod val="7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——</a:t>
              </a:r>
              <a:r>
                <a:rPr lang="zh-CN" altLang="en-US" sz="2400" b="0" i="0" dirty="0" err="1">
                  <a:solidFill>
                    <a:schemeClr val="accent6">
                      <a:lumMod val="75000"/>
                    </a:schemeClr>
                  </a:solidFill>
                  <a:effectLst/>
                  <a:latin typeface="微软雅黑" panose="020B0503020204020204" charset="-122"/>
                  <a:ea typeface="微软雅黑" panose="020B0503020204020204" charset="-122"/>
                </a:rPr>
                <a:t>账号权限风险</a:t>
              </a:r>
              <a:endParaRPr lang="zh-CN" altLang="en-US" sz="2400" b="0" i="0" dirty="0" err="1">
                <a:solidFill>
                  <a:schemeClr val="accent6">
                    <a:lumMod val="7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2360295" y="2086457"/>
            <a:ext cx="6094520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2400" b="1"/>
              <a:t>账号权限风险：</a:t>
            </a:r>
            <a:endParaRPr lang="zh-CN" sz="2400" b="1"/>
          </a:p>
          <a:p>
            <a:endParaRPr lang="zh-CN" sz="2400" b="1"/>
          </a:p>
          <a:p>
            <a:r>
              <a:rPr sz="2400"/>
              <a:t>其中包括了禁止共享账号、权限合理划分、删除无关账号、以及弱口令、口令强度的梳理排查，确保使用者符合</a:t>
            </a:r>
            <a:r>
              <a:rPr sz="2400">
                <a:solidFill>
                  <a:schemeClr val="accent1"/>
                </a:solidFill>
              </a:rPr>
              <a:t>最小授权原则</a:t>
            </a:r>
            <a:r>
              <a:rPr lang="zh-CN" sz="2400"/>
              <a:t>。</a:t>
            </a:r>
            <a:endParaRPr lang="zh-CN" sz="2400"/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4291330" cy="659130"/>
            <a:chOff x="676" y="334"/>
            <a:chExt cx="6758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556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</a:rPr>
                <a:t>风险梳理</a:t>
              </a:r>
              <a:r>
                <a:rPr lang="en-US" altLang="zh-CN" sz="2400" dirty="0">
                  <a:solidFill>
                    <a:srgbClr val="C00000"/>
                  </a:solidFill>
                </a:rPr>
                <a:t>——</a:t>
              </a:r>
              <a:r>
                <a:rPr lang="zh-CN" altLang="en-US" sz="2400" dirty="0">
                  <a:solidFill>
                    <a:srgbClr val="C00000"/>
                  </a:solidFill>
                </a:rPr>
                <a:t>互联网风险</a:t>
              </a:r>
              <a:endParaRPr lang="zh-CN" alt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820545" y="1630045"/>
            <a:ext cx="797052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互联网风险梳理：</a:t>
            </a:r>
            <a:endParaRPr lang="zh-CN" altLang="en-US" sz="2400" b="1" dirty="0"/>
          </a:p>
          <a:p>
            <a:endParaRPr lang="zh-CN" altLang="en-US" sz="2400" b="1" dirty="0"/>
          </a:p>
          <a:p>
            <a:r>
              <a:rPr sz="2400"/>
              <a:t>冗余资产、余资产指企业未能正式投入使用，</a:t>
            </a:r>
            <a:endParaRPr sz="2400"/>
          </a:p>
          <a:p>
            <a:r>
              <a:rPr sz="2400"/>
              <a:t>但仍然占用系统资源运行的系统。通常包括旧版本的系统、旧数据库、测试环境等，由于冗余系统</a:t>
            </a:r>
            <a:r>
              <a:rPr sz="2400">
                <a:solidFill>
                  <a:schemeClr val="accent1"/>
                </a:solidFill>
              </a:rPr>
              <a:t>缺少人员的管理和维护</a:t>
            </a:r>
            <a:r>
              <a:rPr sz="2400"/>
              <a:t>，导致存在许多潜在安全风险，包括但不限于版本漏洞、弱口令、功能逻辑漏洞等。扫描并修复所有互联网业务系统及服务器的高、中危风险。对开发端口进行梳理，非必要的服务端口进行关闭</a:t>
            </a:r>
            <a:endParaRPr sz="2400"/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4596130" cy="659130"/>
            <a:chOff x="676" y="334"/>
            <a:chExt cx="7238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604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</a:rPr>
                <a:t>风险梳理</a:t>
              </a:r>
              <a:r>
                <a:rPr lang="en-US" altLang="zh-CN" sz="2400" dirty="0">
                  <a:solidFill>
                    <a:srgbClr val="C00000"/>
                  </a:solidFill>
                </a:rPr>
                <a:t>——</a:t>
              </a:r>
              <a:r>
                <a:rPr lang="zh-CN" altLang="en-US" sz="2400" dirty="0">
                  <a:solidFill>
                    <a:srgbClr val="C00000"/>
                  </a:solidFill>
                </a:rPr>
                <a:t>后台目录风险</a:t>
              </a:r>
              <a:endParaRPr lang="zh-CN" alt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698500" y="1092200"/>
            <a:ext cx="9797415" cy="4523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sz="2400" b="1">
                <a:sym typeface="+mn-ea"/>
              </a:rPr>
              <a:t>后台目录风险：</a:t>
            </a:r>
            <a:endParaRPr lang="zh-CN" sz="2400" b="1">
              <a:sym typeface="+mn-ea"/>
            </a:endParaRPr>
          </a:p>
          <a:p>
            <a:endParaRPr sz="2400">
              <a:sym typeface="+mn-ea"/>
            </a:endParaRPr>
          </a:p>
          <a:p>
            <a:r>
              <a:rPr lang="zh-CN" sz="2400">
                <a:sym typeface="+mn-ea"/>
              </a:rPr>
              <a:t>开放不必要的后台目录可能会造成</a:t>
            </a:r>
            <a:r>
              <a:rPr lang="zh-CN" sz="2400">
                <a:solidFill>
                  <a:schemeClr val="accent1"/>
                </a:solidFill>
                <a:sym typeface="+mn-ea"/>
              </a:rPr>
              <a:t>信息泄露</a:t>
            </a:r>
            <a:r>
              <a:rPr lang="zh-CN" sz="2400">
                <a:solidFill>
                  <a:schemeClr val="tx1"/>
                </a:solidFill>
                <a:sym typeface="+mn-ea"/>
              </a:rPr>
              <a:t>或者源码泄露</a:t>
            </a:r>
            <a:r>
              <a:rPr lang="zh-CN" sz="2400">
                <a:sym typeface="+mn-ea"/>
              </a:rPr>
              <a:t>。在经过攻击者精心利用下可能会造成一些不必要的麻烦。所以可以在资产梳理的时候对后台开放目录进行整理，关闭不必要的目录。</a:t>
            </a:r>
            <a:endParaRPr lang="zh-CN" sz="2400">
              <a:sym typeface="+mn-ea"/>
            </a:endParaRPr>
          </a:p>
          <a:p>
            <a:endParaRPr lang="zh-CN" sz="2400">
              <a:sym typeface="+mn-ea"/>
            </a:endParaRPr>
          </a:p>
          <a:p>
            <a:endParaRPr lang="zh-CN" sz="2400">
              <a:sym typeface="+mn-ea"/>
            </a:endParaRPr>
          </a:p>
          <a:p>
            <a:endParaRPr lang="zh-CN" sz="2400">
              <a:sym typeface="+mn-ea"/>
            </a:endParaRPr>
          </a:p>
          <a:p>
            <a:r>
              <a:rPr lang="zh-CN" sz="2400">
                <a:sym typeface="+mn-ea"/>
              </a:rPr>
              <a:t>工具：</a:t>
            </a:r>
            <a:r>
              <a:rPr lang="en-US" altLang="zh-CN" sz="2400">
                <a:sym typeface="+mn-ea"/>
              </a:rPr>
              <a:t>dirsearch</a:t>
            </a:r>
            <a:r>
              <a:rPr lang="zh-CN" altLang="en-US" sz="2400">
                <a:sym typeface="+mn-ea"/>
              </a:rPr>
              <a:t>目录扫描</a:t>
            </a:r>
            <a:endParaRPr lang="zh-CN" sz="2400">
              <a:sym typeface="+mn-ea"/>
            </a:endParaRPr>
          </a:p>
          <a:p>
            <a:endParaRPr lang="zh-CN" sz="2400">
              <a:sym typeface="+mn-ea"/>
            </a:endParaRPr>
          </a:p>
          <a:p>
            <a:endParaRPr lang="zh-CN" sz="2400">
              <a:sym typeface="+mn-ea"/>
            </a:endParaRPr>
          </a:p>
          <a:p>
            <a:endParaRPr lang="zh-CN" sz="24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3986530" cy="659130"/>
            <a:chOff x="676" y="334"/>
            <a:chExt cx="6278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50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00000"/>
                  </a:solidFill>
                </a:rPr>
                <a:t>风险梳理</a:t>
              </a:r>
              <a:r>
                <a:rPr lang="en-US" altLang="zh-CN" sz="2400" dirty="0">
                  <a:solidFill>
                    <a:srgbClr val="C00000"/>
                  </a:solidFill>
                </a:rPr>
                <a:t>——</a:t>
              </a:r>
              <a:r>
                <a:rPr lang="zh-CN" altLang="en-US" sz="2400" dirty="0">
                  <a:solidFill>
                    <a:srgbClr val="C00000"/>
                  </a:solidFill>
                </a:rPr>
                <a:t>端口风险</a:t>
              </a:r>
              <a:endParaRPr lang="zh-CN" altLang="en-US" sz="24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276985" y="1013346"/>
            <a:ext cx="9104309" cy="4831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端口风险：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作为一个网站，端口开放的情况也就意味着访问者能访问的情况。有一些敏感端口的开放无疑会造成一些重大风险，例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3306,21,23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端口，所以端口检测也是资产梳理的一个重大任务。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工具：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NAMP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TCP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全端口扫描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4949190" cy="659130"/>
            <a:chOff x="676" y="334"/>
            <a:chExt cx="779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6604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风险梳理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——暴露面收敛梳理</a:t>
              </a:r>
              <a:endParaRPr lang="en-US" altLang="zh-CN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902606" y="1162948"/>
            <a:ext cx="10558466" cy="2676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暴露面收敛</a:t>
            </a:r>
            <a:endParaRPr lang="zh-CN" altLang="en-US" sz="2400" dirty="0"/>
          </a:p>
          <a:p>
            <a:endParaRPr lang="zh-CN" altLang="en-US" sz="2400" dirty="0"/>
          </a:p>
          <a:p>
            <a:r>
              <a:rPr lang="zh-CN" altLang="en-US" sz="2400" dirty="0"/>
              <a:t>（1）关闭非核心关键业务系统</a:t>
            </a:r>
            <a:endParaRPr lang="zh-CN" altLang="en-US" sz="2400" dirty="0"/>
          </a:p>
          <a:p>
            <a:r>
              <a:rPr lang="zh-CN" altLang="en-US" sz="2400" dirty="0"/>
              <a:t>（2）关闭非必要端口，仅保留核心关键业务</a:t>
            </a:r>
            <a:endParaRPr lang="zh-CN" altLang="en-US" sz="2400" dirty="0"/>
          </a:p>
          <a:p>
            <a:r>
              <a:rPr lang="zh-CN" altLang="en-US" sz="2400" dirty="0"/>
              <a:t>（3）关闭在互联网暴露的管理后台</a:t>
            </a:r>
            <a:endParaRPr lang="zh-CN" altLang="en-US" sz="2400" dirty="0"/>
          </a:p>
          <a:p>
            <a:r>
              <a:rPr lang="zh-CN" altLang="en-US" sz="2400" dirty="0"/>
              <a:t>（4）关闭不必要的wifi热点</a:t>
            </a:r>
            <a:endParaRPr lang="zh-CN" altLang="en-US" sz="2400" dirty="0"/>
          </a:p>
          <a:p>
            <a:r>
              <a:rPr lang="zh-CN" altLang="en-US" sz="2400" dirty="0"/>
              <a:t>（5）</a:t>
            </a:r>
            <a:r>
              <a:rPr lang="zh-CN" altLang="en-US" sz="2400" dirty="0">
                <a:sym typeface="+mn-ea"/>
              </a:rPr>
              <a:t>控制人员进出登记</a:t>
            </a:r>
            <a:endParaRPr lang="zh-CN" altLang="en-US" sz="2400" dirty="0"/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261775" y="937570"/>
            <a:ext cx="1706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在线查询接口</a:t>
            </a:r>
            <a:endParaRPr lang="zh-CN" altLang="en-US" sz="2000" b="1" dirty="0"/>
          </a:p>
        </p:txBody>
      </p:sp>
      <p:sp>
        <p:nvSpPr>
          <p:cNvPr id="10" name="矩形 9"/>
          <p:cNvSpPr/>
          <p:nvPr/>
        </p:nvSpPr>
        <p:spPr>
          <a:xfrm>
            <a:off x="766948" y="1408033"/>
            <a:ext cx="568706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在线子域名：</a:t>
            </a:r>
            <a:r>
              <a:rPr lang="en-US" altLang="zh-CN" sz="2400" dirty="0">
                <a:hlinkClick r:id="rId1"/>
              </a:rPr>
              <a:t>https://phpinfo.me/domain/</a:t>
            </a:r>
            <a:r>
              <a:rPr lang="en-US" altLang="zh-CN" sz="2400" dirty="0"/>
              <a:t> </a:t>
            </a:r>
            <a:endParaRPr lang="en-US" altLang="zh-CN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645" y="2008061"/>
            <a:ext cx="4600575" cy="4313939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280" y="1148080"/>
            <a:ext cx="4468495" cy="5709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cover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1184910" y="1373204"/>
            <a:ext cx="234124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Layer</a:t>
            </a:r>
            <a:r>
              <a:rPr lang="zh-CN" altLang="en-US" sz="2000" dirty="0"/>
              <a:t>子域名挖掘机</a:t>
            </a:r>
            <a:endParaRPr lang="zh-CN" altLang="en-US" sz="2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670" y="2199640"/>
            <a:ext cx="11212830" cy="30054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61775" y="937570"/>
            <a:ext cx="1452880" cy="98361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/>
              <a:t>子域名枚举</a:t>
            </a:r>
            <a:endParaRPr lang="en-US" altLang="zh-CN" sz="2000" b="1" dirty="0"/>
          </a:p>
          <a:p>
            <a:endParaRPr lang="en-US" altLang="zh-CN" b="1" dirty="0"/>
          </a:p>
          <a:p>
            <a:r>
              <a:rPr lang="en-US" altLang="zh-CN" sz="2000" dirty="0" err="1"/>
              <a:t>Oneforall</a:t>
            </a:r>
            <a:endParaRPr lang="en-US" altLang="zh-CN" sz="2000" dirty="0" err="1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1830" y="1175385"/>
            <a:ext cx="8325485" cy="469709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61775" y="937570"/>
            <a:ext cx="36118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挖洞必备的搜索引擎：谷歌，百度</a:t>
            </a:r>
            <a:endParaRPr lang="zh-CN" altLang="en-US" b="1" dirty="0"/>
          </a:p>
          <a:p>
            <a:r>
              <a:rPr lang="zh-CN" altLang="en-US" b="1" dirty="0"/>
              <a:t>网站：</a:t>
            </a:r>
            <a:r>
              <a:rPr lang="en-US" altLang="zh-CN" b="1" dirty="0" err="1"/>
              <a:t>fofa</a:t>
            </a:r>
            <a:r>
              <a:rPr lang="zh-CN" altLang="en-US" b="1" dirty="0"/>
              <a:t>，</a:t>
            </a:r>
            <a:r>
              <a:rPr lang="en-US" altLang="zh-CN" b="1" dirty="0" err="1"/>
              <a:t>shodan</a:t>
            </a: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26" y="4375031"/>
            <a:ext cx="5153025" cy="1905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636" y="4994275"/>
            <a:ext cx="5095875" cy="6667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76" y="1654448"/>
            <a:ext cx="5749451" cy="210964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469" y="1838134"/>
            <a:ext cx="5295900" cy="1905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447665" y="1124585"/>
            <a:ext cx="419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/>
              <a:t>例如google搜索语法：site:xxx.com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>
    <p:cover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969675" y="1067110"/>
            <a:ext cx="2663825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/>
              <a:t>Google hacking </a:t>
            </a:r>
            <a:r>
              <a:rPr lang="zh-CN" altLang="en-US" sz="2000" b="1" dirty="0"/>
              <a:t>语法</a:t>
            </a:r>
            <a:endParaRPr lang="zh-CN" altLang="en-US" sz="20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408" y="1066991"/>
            <a:ext cx="6364102" cy="56037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71905" y="871220"/>
            <a:ext cx="498919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搜索引擎：</a:t>
            </a:r>
            <a:r>
              <a:rPr lang="en-US" altLang="zh-CN" sz="2400" b="1" dirty="0">
                <a:hlinkClick r:id="rId1"/>
              </a:rPr>
              <a:t>https://fofa.so/</a:t>
            </a:r>
            <a:endParaRPr lang="en-US" altLang="zh-CN" sz="2400" b="1" dirty="0"/>
          </a:p>
          <a:p>
            <a:endParaRPr lang="en-US" altLang="zh-CN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720" y="1492250"/>
            <a:ext cx="7832725" cy="50717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>
    <p:cover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61775" y="937570"/>
            <a:ext cx="400812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搜索引擎：</a:t>
            </a:r>
            <a:r>
              <a:rPr lang="en-US" altLang="zh-CN" sz="2400" b="1" dirty="0">
                <a:hlinkClick r:id="rId1"/>
              </a:rPr>
              <a:t>https://fofa.infp/</a:t>
            </a:r>
            <a:endParaRPr lang="en-US" altLang="zh-CN" sz="2400" b="1" dirty="0"/>
          </a:p>
          <a:p>
            <a:endParaRPr lang="en-US" altLang="zh-CN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10" y="2219417"/>
            <a:ext cx="10587928" cy="3414907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>
    <p:cover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479040" cy="659130"/>
            <a:chOff x="676" y="334"/>
            <a:chExt cx="390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71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子域名收集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61775" y="937570"/>
            <a:ext cx="502856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搜索引擎：</a:t>
            </a:r>
            <a:r>
              <a:rPr lang="en-US" altLang="zh-CN" sz="2400" b="1" dirty="0">
                <a:hlinkClick r:id="rId1"/>
              </a:rPr>
              <a:t>https://www.shodan.io</a:t>
            </a:r>
            <a:r>
              <a:rPr lang="en-US" altLang="zh-CN" sz="2400" b="1" dirty="0"/>
              <a:t> </a:t>
            </a:r>
            <a:endParaRPr lang="en-US" altLang="zh-CN" sz="2400" b="1" dirty="0"/>
          </a:p>
        </p:txBody>
      </p:sp>
      <p:sp>
        <p:nvSpPr>
          <p:cNvPr id="2" name="矩形 1"/>
          <p:cNvSpPr/>
          <p:nvPr/>
        </p:nvSpPr>
        <p:spPr>
          <a:xfrm>
            <a:off x="1184940" y="5472406"/>
            <a:ext cx="620766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hlinkClick r:id="rId2"/>
              </a:rPr>
              <a:t>https://www.cnblogs.com/miaodaren/p/7904484.html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https://blog.csdn.net/qq_36119192/article/details/84031765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940" y="1877442"/>
            <a:ext cx="8145139" cy="3114156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cover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后台目录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dirty="0"/>
              <a:t>御剑后台扫描工具</a:t>
            </a:r>
            <a:endParaRPr lang="zh-CN" altLang="zh-CN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0699" y="2025194"/>
            <a:ext cx="8715375" cy="26479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后台目录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目录构造</a:t>
            </a:r>
            <a:endParaRPr lang="zh-CN" altLang="zh-CN" dirty="0"/>
          </a:p>
        </p:txBody>
      </p:sp>
      <p:sp>
        <p:nvSpPr>
          <p:cNvPr id="2" name="矩形 1"/>
          <p:cNvSpPr/>
          <p:nvPr/>
        </p:nvSpPr>
        <p:spPr>
          <a:xfrm>
            <a:off x="1279584" y="1409639"/>
            <a:ext cx="2710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vat.xxx.com，开局404：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974" y="2148283"/>
            <a:ext cx="4086046" cy="3681412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264213" y="1409639"/>
            <a:ext cx="37497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vat.xxx.com/vat/下原来别有天地：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603" y="2402938"/>
            <a:ext cx="5868506" cy="317329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>
    <p:cover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后台目录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Dirsearch</a:t>
            </a:r>
            <a:r>
              <a:rPr lang="zh-CN" altLang="en-US" dirty="0"/>
              <a:t>（</a:t>
            </a:r>
            <a:r>
              <a:rPr lang="en-US" altLang="zh-CN" dirty="0"/>
              <a:t>python3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Python3 dirsearch.py –u xx.com –e *</a:t>
            </a:r>
            <a:endParaRPr lang="zh-CN" altLang="zh-CN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587" y="2081212"/>
            <a:ext cx="11172825" cy="26955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后台地址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、手动尝试通用的后台如： 域名</a:t>
            </a:r>
            <a:r>
              <a:rPr lang="en-US" altLang="zh-CN" sz="2400" dirty="0"/>
              <a:t>/admin </a:t>
            </a:r>
            <a:r>
              <a:rPr lang="zh-CN" altLang="en-US" sz="2400" dirty="0"/>
              <a:t>、 域名</a:t>
            </a:r>
            <a:r>
              <a:rPr lang="en-US" altLang="zh-CN" sz="2400" dirty="0"/>
              <a:t>/Admin </a:t>
            </a:r>
            <a:r>
              <a:rPr lang="zh-CN" altLang="en-US" sz="2400" dirty="0"/>
              <a:t>、域名</a:t>
            </a:r>
            <a:r>
              <a:rPr lang="en-US" altLang="zh-CN" sz="2400" dirty="0"/>
              <a:t>/user/admin</a:t>
            </a:r>
            <a:endParaRPr lang="en-US" altLang="zh-CN" sz="2400" dirty="0"/>
          </a:p>
          <a:p>
            <a:r>
              <a:rPr lang="zh-CN" altLang="en-US" sz="2400" dirty="0"/>
              <a:t>具有中国特色的后台： 域名</a:t>
            </a:r>
            <a:r>
              <a:rPr lang="en-US" altLang="zh-CN" sz="2400" dirty="0"/>
              <a:t>/</a:t>
            </a:r>
            <a:r>
              <a:rPr lang="zh-CN" altLang="en-US" sz="2400" dirty="0"/>
              <a:t>管理员、域名</a:t>
            </a:r>
            <a:r>
              <a:rPr lang="en-US" altLang="zh-CN" sz="2400" dirty="0"/>
              <a:t>/</a:t>
            </a:r>
            <a:r>
              <a:rPr lang="zh-CN" altLang="en-US" sz="2400" dirty="0"/>
              <a:t>系统管理 、域名</a:t>
            </a:r>
            <a:r>
              <a:rPr lang="en-US" altLang="zh-CN" sz="2400" dirty="0"/>
              <a:t>/</a:t>
            </a:r>
            <a:r>
              <a:rPr lang="zh-CN" altLang="en-US" sz="2400" dirty="0"/>
              <a:t>超级管理。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2.</a:t>
            </a:r>
            <a:r>
              <a:rPr lang="zh-CN" altLang="en-US" sz="2400" dirty="0"/>
              <a:t>网页下方可能会有“后台登录”的链接。</a:t>
            </a: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9119" y="3789678"/>
            <a:ext cx="8052668" cy="21452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后台地址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4.</a:t>
            </a:r>
            <a:r>
              <a:rPr lang="zh-CN" altLang="en-US" sz="2400" dirty="0"/>
              <a:t>观察是否是常见</a:t>
            </a:r>
            <a:r>
              <a:rPr lang="en-US" altLang="zh-CN" sz="2400" dirty="0"/>
              <a:t>CMS</a:t>
            </a:r>
            <a:r>
              <a:rPr lang="zh-CN" altLang="en-US" sz="2400" dirty="0"/>
              <a:t>或框架，使用对应的默认路径尝试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en-US" altLang="zh-CN" sz="2400" dirty="0"/>
              <a:t>5.</a:t>
            </a:r>
            <a:r>
              <a:rPr lang="zh-CN" altLang="en-US" sz="2400" dirty="0"/>
              <a:t>社工的方式。根据网站的归属、公司名称、外包公司名称等拼接后台地址比如：</a:t>
            </a:r>
            <a:endParaRPr lang="zh-CN" altLang="en-US" sz="2400" dirty="0"/>
          </a:p>
          <a:p>
            <a:r>
              <a:rPr lang="en-US" altLang="zh-CN" sz="2400" dirty="0" err="1"/>
              <a:t>baidu</a:t>
            </a:r>
            <a:r>
              <a:rPr lang="en-US" altLang="zh-CN" sz="2400" dirty="0"/>
              <a:t> </a:t>
            </a:r>
            <a:r>
              <a:rPr lang="zh-CN" altLang="en-US" sz="2400" dirty="0"/>
              <a:t>公司给</a:t>
            </a:r>
            <a:r>
              <a:rPr lang="en-US" altLang="zh-CN" sz="2400" dirty="0"/>
              <a:t>QQ</a:t>
            </a:r>
            <a:r>
              <a:rPr lang="zh-CN" altLang="en-US" sz="2400" dirty="0"/>
              <a:t>做了一个网站，后台可能是 </a:t>
            </a:r>
            <a:r>
              <a:rPr lang="en-US" altLang="zh-CN" sz="2400" dirty="0" err="1"/>
              <a:t>baiduadmin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qqadmin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baidu</a:t>
            </a:r>
            <a:r>
              <a:rPr lang="en-US" altLang="zh-CN" sz="2400" dirty="0"/>
              <a:t>/</a:t>
            </a:r>
            <a:r>
              <a:rPr lang="en-US" altLang="zh-CN" sz="2400" dirty="0" err="1"/>
              <a:t>amdin</a:t>
            </a:r>
            <a:r>
              <a:rPr lang="zh-CN" altLang="en-US" sz="2400" dirty="0"/>
              <a:t>、</a:t>
            </a:r>
            <a:r>
              <a:rPr lang="en-US" altLang="zh-CN" sz="2400" dirty="0" err="1"/>
              <a:t>qq</a:t>
            </a:r>
            <a:r>
              <a:rPr lang="en-US" altLang="zh-CN" sz="2400" dirty="0"/>
              <a:t>/admin</a:t>
            </a:r>
            <a:endParaRPr lang="en-US" altLang="zh-CN" sz="2400" dirty="0"/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后台地址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891947" y="1007634"/>
            <a:ext cx="903760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Google </a:t>
            </a:r>
            <a:r>
              <a:rPr lang="zh-CN" altLang="en-US" sz="2000" b="1" dirty="0"/>
              <a:t>语法</a:t>
            </a:r>
            <a:endParaRPr lang="zh-CN" altLang="en-US" sz="2000" b="1" dirty="0"/>
          </a:p>
        </p:txBody>
      </p:sp>
      <p:sp>
        <p:nvSpPr>
          <p:cNvPr id="9" name="矩形 8"/>
          <p:cNvSpPr/>
          <p:nvPr/>
        </p:nvSpPr>
        <p:spPr>
          <a:xfrm>
            <a:off x="891947" y="1607996"/>
            <a:ext cx="10072562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搜索引擎 site:</a:t>
            </a:r>
            <a:r>
              <a:rPr lang="en-US" altLang="zh-CN" sz="2400" dirty="0" err="1"/>
              <a:t>ppdai</a:t>
            </a:r>
            <a:r>
              <a:rPr lang="zh-CN" altLang="en-US" sz="2400" dirty="0"/>
              <a:t>.com intitle:“后台|登录|登陆|验证码|管理员|服务系统|系统登录|认证码|验证身份|管理系统|管理后台|管理平台|mgmt|sysadmin|admin|password|login|manage‘’</a:t>
            </a:r>
            <a:endParaRPr lang="zh-CN" altLang="en-US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09585"/>
            <a:ext cx="6021886" cy="303119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1" y="3662035"/>
            <a:ext cx="5890424" cy="303119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505" y="2886075"/>
            <a:ext cx="4510405" cy="39719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>
    <p:cover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指纹识别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377950" y="6260703"/>
            <a:ext cx="903760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sz="2000" dirty="0"/>
              <a:t>潮汐：</a:t>
            </a:r>
            <a:r>
              <a:rPr lang="en-US" altLang="zh-CN" sz="2000" dirty="0"/>
              <a:t>http://sso.tidesec.com/</a:t>
            </a:r>
            <a:endParaRPr lang="en-US" altLang="zh-CN" sz="20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762" y="2188790"/>
            <a:ext cx="7052337" cy="33096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282563" y="1066189"/>
            <a:ext cx="7817047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可以查询到：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url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地址、域名信息、子域名、旁站、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段、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https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信息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8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通过识别目标网站所使用的操作系统、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CMS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、服务器与中间件信息等。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1377813" y="5810644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可以利用已知的一些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</a:rPr>
              <a:t>CMS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</a:rPr>
              <a:t>漏洞或中间件漏洞来进行攻击。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cover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指纹识别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err="1"/>
              <a:t>在线指纹识别</a:t>
            </a:r>
            <a:r>
              <a:rPr lang="en-US" altLang="zh-CN" dirty="0" err="1"/>
              <a:t>Whatweb</a:t>
            </a:r>
            <a:r>
              <a:rPr lang="zh-CN" altLang="en-US" dirty="0"/>
              <a:t>：</a:t>
            </a:r>
            <a:r>
              <a:rPr lang="en-US" altLang="zh-CN" dirty="0">
                <a:hlinkClick r:id="rId1"/>
              </a:rPr>
              <a:t>http://whatweb.bugscaner.com/look/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446" y="1584441"/>
            <a:ext cx="5852965" cy="491143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>
    <p:cover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指纹识别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Wappalyzer</a:t>
            </a:r>
            <a:r>
              <a:rPr lang="zh-CN" altLang="zh-CN" sz="2400" dirty="0"/>
              <a:t>插件</a:t>
            </a:r>
            <a:r>
              <a:rPr lang="en-US" altLang="zh-CN" sz="2400" dirty="0"/>
              <a:t>:</a:t>
            </a:r>
            <a:r>
              <a:rPr lang="en-US" altLang="zh-CN" sz="2400" u="sng" dirty="0">
                <a:hlinkClick r:id="rId1"/>
              </a:rPr>
              <a:t>https://www.wappalyzer.com/</a:t>
            </a:r>
            <a:r>
              <a:rPr lang="en-US" altLang="zh-CN" sz="2400" dirty="0"/>
              <a:t> </a:t>
            </a:r>
            <a:endParaRPr lang="zh-CN" altLang="zh-CN" sz="24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15" y="1878965"/>
            <a:ext cx="10471785" cy="39363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>
    <p:cover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604135" cy="659130"/>
            <a:chOff x="676" y="334"/>
            <a:chExt cx="4101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911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段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&amp;&amp;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旁站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969645" y="1285875"/>
            <a:ext cx="10631170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C</a:t>
            </a:r>
            <a:r>
              <a:rPr lang="zh-CN" altLang="en-US" sz="2400" b="1" dirty="0"/>
              <a:t>段的概念</a:t>
            </a:r>
            <a:endParaRPr lang="zh-CN" altLang="en-US" sz="2400" b="1" dirty="0"/>
          </a:p>
          <a:p>
            <a:r>
              <a:rPr lang="zh-CN" altLang="en-US" sz="2000" dirty="0"/>
              <a:t>C段指的是同一内网段内的其他服务器，每个IP有ABCD四个段，举个例子，192.168.0.1，A段就是192，B段是168，C段是0，D段是1，而C段嗅探的意思就是拿下它同一C段中的其中一台服务器，也就是说是D段1-255中的一台服务器，然后利用工具嗅探拿下该服务器。</a:t>
            </a:r>
            <a:endParaRPr lang="zh-CN" altLang="en-US" sz="2000" dirty="0"/>
          </a:p>
          <a:p>
            <a:endParaRPr lang="zh-CN" altLang="en-US" sz="2400" b="1" dirty="0"/>
          </a:p>
          <a:p>
            <a:endParaRPr lang="zh-CN" altLang="en-US" sz="2400" b="1" dirty="0"/>
          </a:p>
          <a:p>
            <a:r>
              <a:rPr lang="zh-CN" altLang="en-US" sz="2400" b="1" dirty="0"/>
              <a:t>旁站的概念：</a:t>
            </a:r>
            <a:endParaRPr lang="zh-CN" altLang="en-US" sz="2400" b="1" dirty="0"/>
          </a:p>
          <a:p>
            <a:r>
              <a:rPr lang="zh-CN" altLang="en-US" sz="2000" dirty="0"/>
              <a:t>​ 旁站指的是同一服务器上的其他网站，很多时候，有些网站可能不是那么容易入侵。那么，可以查看该网站所在的服务器上是否还有其他网站。如果有其他网站的话，可以先拿下其他网站的webshell，然后再提权拿到服务器的权限，最后就自然可以拿下该网站了！</a:t>
            </a:r>
            <a:endParaRPr lang="zh-CN" altLang="en-US" sz="2000" dirty="0"/>
          </a:p>
        </p:txBody>
      </p:sp>
    </p:spTree>
    <p:custDataLst>
      <p:tags r:id="rId1"/>
    </p:custDataLst>
  </p:cSld>
  <p:clrMapOvr>
    <a:masterClrMapping/>
  </p:clrMapOvr>
  <p:transition>
    <p:cover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604135" cy="659130"/>
            <a:chOff x="676" y="334"/>
            <a:chExt cx="4101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911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段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&amp;&amp;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旁站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61775" y="937570"/>
            <a:ext cx="690499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在线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段</a:t>
            </a:r>
            <a:r>
              <a:rPr lang="en-US" altLang="zh-CN" sz="2400" b="1" dirty="0"/>
              <a:t>|</a:t>
            </a:r>
            <a:r>
              <a:rPr lang="zh-CN" altLang="en-US" sz="2400" b="1" dirty="0"/>
              <a:t>旁站查询</a:t>
            </a:r>
            <a:r>
              <a:rPr lang="en-US" altLang="zh-CN" sz="2400" b="1" dirty="0"/>
              <a:t>#1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 http://finger.tidesec.com/</a:t>
            </a:r>
            <a:endParaRPr lang="en-US" altLang="zh-CN" sz="2400" b="1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8973" y="1665432"/>
            <a:ext cx="7437874" cy="4145778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80645" y="3031490"/>
            <a:ext cx="458724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/>
              <a:t>A</a:t>
            </a:r>
            <a:r>
              <a:rPr lang="zh-CN" altLang="en-US" dirty="0"/>
              <a:t>类地址：</a:t>
            </a:r>
            <a:r>
              <a:rPr lang="en-US" altLang="zh-CN" dirty="0"/>
              <a:t>10.0.0.0-10.255.255.255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B</a:t>
            </a:r>
            <a:r>
              <a:rPr lang="zh-CN" altLang="en-US" dirty="0"/>
              <a:t>类地址：</a:t>
            </a:r>
            <a:r>
              <a:rPr lang="en-US" altLang="zh-CN" dirty="0"/>
              <a:t>172.16.0.0-172.31.255.255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en-US" altLang="zh-CN" dirty="0"/>
              <a:t>C</a:t>
            </a:r>
            <a:r>
              <a:rPr lang="zh-CN" altLang="en-US" dirty="0"/>
              <a:t>类地址：</a:t>
            </a:r>
            <a:r>
              <a:rPr lang="en-US" altLang="zh-CN" dirty="0"/>
              <a:t>192.168.0.0-192.168.255.255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cover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604135" cy="659130"/>
            <a:chOff x="676" y="334"/>
            <a:chExt cx="4101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911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C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段</a:t>
              </a:r>
              <a:r>
                <a:rPr lang="en-US" altLang="zh-CN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&amp;&amp;</a:t>
              </a:r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旁站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969675" y="5884855"/>
            <a:ext cx="37769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/>
              <a:t>https://www.webscan.cc/</a:t>
            </a:r>
            <a:endParaRPr lang="zh-CN" altLang="en-US" sz="2400" b="1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645" y="1096010"/>
            <a:ext cx="8070215" cy="4563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2171700" cy="659130"/>
            <a:chOff x="676" y="334"/>
            <a:chExt cx="3420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2230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端口扫描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278570" y="1998902"/>
            <a:ext cx="3249608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Nmap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御剑高速</a:t>
            </a:r>
            <a:r>
              <a:rPr lang="en-US" altLang="zh-CN" b="1" dirty="0"/>
              <a:t>TCP</a:t>
            </a:r>
            <a:r>
              <a:rPr lang="zh-CN" altLang="en-US" b="1" dirty="0"/>
              <a:t>全端口扫描工具 </a:t>
            </a:r>
            <a:endParaRPr lang="zh-CN" altLang="en-US" b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591" y="2373919"/>
            <a:ext cx="9791700" cy="1409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591" y="4532016"/>
            <a:ext cx="7278543" cy="2325984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49591" y="1405048"/>
            <a:ext cx="6933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"</a:t>
            </a:r>
            <a:r>
              <a:rPr lang="zh-CN" altLang="en-US" dirty="0"/>
              <a:t>端口</a:t>
            </a:r>
            <a:r>
              <a:rPr lang="en-US" altLang="zh-CN" dirty="0"/>
              <a:t>"</a:t>
            </a:r>
            <a:r>
              <a:rPr lang="zh-CN" altLang="en-US" dirty="0"/>
              <a:t>是英文</a:t>
            </a:r>
            <a:r>
              <a:rPr lang="en-US" altLang="zh-CN" dirty="0"/>
              <a:t>port</a:t>
            </a:r>
            <a:r>
              <a:rPr lang="zh-CN" altLang="en-US" dirty="0"/>
              <a:t>的意译，可以认为是设备与外界通讯交流的出口。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  <p:transition>
    <p:cover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3094990" cy="659130"/>
            <a:chOff x="676" y="334"/>
            <a:chExt cx="487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368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识别服务器类型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1279584" y="1040307"/>
            <a:ext cx="90376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用</a:t>
            </a:r>
            <a:r>
              <a:rPr lang="en-US" altLang="zh-CN" dirty="0"/>
              <a:t>NMAP</a:t>
            </a:r>
            <a:r>
              <a:rPr lang="zh-CN" altLang="en-US" dirty="0"/>
              <a:t>探测操作系统</a:t>
            </a:r>
            <a:endParaRPr lang="en-US" altLang="zh-CN" dirty="0"/>
          </a:p>
          <a:p>
            <a:r>
              <a:rPr lang="en-US" altLang="zh-CN" dirty="0"/>
              <a:t>Nmap –O </a:t>
            </a:r>
            <a:r>
              <a:rPr lang="en-US" altLang="zh-CN" dirty="0">
                <a:solidFill>
                  <a:srgbClr val="FF0000"/>
                </a:solidFill>
                <a:hlinkClick r:id="rId1"/>
              </a:rPr>
              <a:t>www.hieu.edu.cn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22" y="2137759"/>
            <a:ext cx="8575518" cy="30266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13" name="直接连接符 12"/>
          <p:cNvCxnSpPr/>
          <p:nvPr/>
        </p:nvCxnSpPr>
        <p:spPr>
          <a:xfrm>
            <a:off x="621742" y="3799643"/>
            <a:ext cx="7962965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p:transition>
    <p:cover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260" y="212090"/>
            <a:ext cx="3094990" cy="659130"/>
            <a:chOff x="676" y="334"/>
            <a:chExt cx="4874" cy="1038"/>
          </a:xfrm>
        </p:grpSpPr>
        <p:grpSp>
          <p:nvGrpSpPr>
            <p:cNvPr id="4" name="组合 3"/>
            <p:cNvGrpSpPr/>
            <p:nvPr/>
          </p:nvGrpSpPr>
          <p:grpSpPr>
            <a:xfrm>
              <a:off x="676" y="334"/>
              <a:ext cx="1053" cy="1038"/>
              <a:chOff x="676" y="334"/>
              <a:chExt cx="1053" cy="1038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676" y="334"/>
                <a:ext cx="851" cy="851"/>
              </a:xfrm>
              <a:prstGeom prst="rect">
                <a:avLst/>
              </a:prstGeom>
              <a:noFill/>
              <a:ln w="28575" cmpd="sng">
                <a:solidFill>
                  <a:srgbClr val="ED5757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842" y="485"/>
                <a:ext cx="887" cy="887"/>
              </a:xfrm>
              <a:prstGeom prst="rect">
                <a:avLst/>
              </a:prstGeom>
              <a:solidFill>
                <a:srgbClr val="C51A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4800" dirty="0"/>
              </a:p>
            </p:txBody>
          </p:sp>
          <p:sp>
            <p:nvSpPr>
              <p:cNvPr id="7" name="文本框 6"/>
              <p:cNvSpPr txBox="1"/>
              <p:nvPr/>
            </p:nvSpPr>
            <p:spPr>
              <a:xfrm>
                <a:off x="876" y="566"/>
                <a:ext cx="831" cy="7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dirty="0">
                    <a:solidFill>
                      <a:schemeClr val="bg1"/>
                    </a:solidFill>
                    <a:cs typeface="+mn-lt"/>
                  </a:rPr>
                  <a:t>02</a:t>
                </a:r>
                <a:endParaRPr lang="en-US" altLang="zh-CN" sz="2400" dirty="0">
                  <a:solidFill>
                    <a:schemeClr val="bg1"/>
                  </a:solidFill>
                  <a:cs typeface="+mn-lt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1866" y="636"/>
              <a:ext cx="3684" cy="7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solidFill>
                    <a:srgbClr val="C51A16"/>
                  </a:solidFill>
                  <a:latin typeface="微软雅黑" panose="020B0503020204020204" charset="-122"/>
                  <a:ea typeface="微软雅黑" panose="020B0503020204020204" charset="-122"/>
                </a:rPr>
                <a:t>识别服务器类型</a:t>
              </a:r>
              <a:endParaRPr lang="zh-CN" altLang="en-US" sz="2400" dirty="0">
                <a:solidFill>
                  <a:srgbClr val="C51A1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" name="矩形 16"/>
          <p:cNvSpPr/>
          <p:nvPr/>
        </p:nvSpPr>
        <p:spPr>
          <a:xfrm>
            <a:off x="1184910" y="1340703"/>
            <a:ext cx="1274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PING </a:t>
            </a:r>
            <a:r>
              <a:rPr lang="zh-CN" altLang="en-US" dirty="0"/>
              <a:t>命令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27" y="2185233"/>
            <a:ext cx="6229350" cy="2324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>
    <p:cover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690880" y="585470"/>
            <a:ext cx="10810875" cy="5686425"/>
            <a:chOff x="1125" y="907"/>
            <a:chExt cx="17025" cy="8955"/>
          </a:xfrm>
        </p:grpSpPr>
        <p:sp>
          <p:nvSpPr>
            <p:cNvPr id="2" name="矩形 1"/>
            <p:cNvSpPr/>
            <p:nvPr/>
          </p:nvSpPr>
          <p:spPr>
            <a:xfrm>
              <a:off x="1125" y="907"/>
              <a:ext cx="17025" cy="89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778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9" name="矩形 18"/>
            <p:cNvSpPr/>
            <p:nvPr/>
          </p:nvSpPr>
          <p:spPr>
            <a:xfrm>
              <a:off x="5110" y="4518"/>
              <a:ext cx="9056" cy="2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zh-CN" sz="72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+mn-ea"/>
                </a:rPr>
                <a:t>谢谢您的观看</a:t>
              </a:r>
              <a:endParaRPr lang="zh-CN" altLang="zh-CN" sz="72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endParaRPr>
            </a:p>
          </p:txBody>
        </p:sp>
        <p:sp useBgFill="1">
          <p:nvSpPr>
            <p:cNvPr id="6" name="矩形 5"/>
            <p:cNvSpPr/>
            <p:nvPr/>
          </p:nvSpPr>
          <p:spPr>
            <a:xfrm>
              <a:off x="5758" y="6482"/>
              <a:ext cx="7761" cy="10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ea typeface="+mj-ea"/>
                  <a:cs typeface="+mn-lt"/>
                </a:rPr>
                <a:t>THANKS FOR YOUR WATCHING</a:t>
              </a:r>
              <a:endPara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+mj-ea"/>
                <a:cs typeface="+mn-lt"/>
              </a:endParaRPr>
            </a:p>
          </p:txBody>
        </p:sp>
      </p:grpSp>
    </p:spTree>
    <p:custDataLst>
      <p:tags r:id="rId1"/>
    </p:custDataLst>
  </p:cSld>
  <p:clrMapOvr>
    <a:masterClrMapping/>
  </p:clrMapOvr>
  <p:transition>
    <p:zoom/>
  </p:transition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20187308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87308"/>
  <p:tag name="KSO_WM_TEMPLATE_THUMBS_INDEX" val="1、2、3、6、8、10、11、12、15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5.xml><?xml version="1.0" encoding="utf-8"?>
<p:tagLst xmlns:p="http://schemas.openxmlformats.org/presentationml/2006/main">
  <p:tag name="KSO_WM_SLIDE_ID" val="custom20187308_2"/>
  <p:tag name="KSO_WM_SLIDE_TYPE" val="contents"/>
  <p:tag name="KSO_WM_SLIDE_SUBTYPE" val="diag"/>
  <p:tag name="KSO_WM_SLIDE_ITEM_CNT" val="5"/>
  <p:tag name="KSO_WM_SLIDE_INDEX" val="2"/>
  <p:tag name="KSO_WM_TAG_VERSION" val="1.0"/>
  <p:tag name="KSO_WM_BEAUTIFY_FLAG" val="#wm#"/>
  <p:tag name="KSO_WM_TEMPLATE_CATEGORY" val="custom"/>
  <p:tag name="KSO_WM_TEMPLATE_INDEX" val="20187308"/>
  <p:tag name="KSO_WM_SLIDE_LAYOUT" val="a_b_l"/>
  <p:tag name="KSO_WM_SLIDE_LAYOUT_CNT" val="1_1_1"/>
  <p:tag name="KSO_WM_DIAGRAM_GROUP_CODE" val="l1-1"/>
  <p:tag name="KSO_WM_SPECIAL_SOURCE" val="bdnull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  <p:tag name="KSO_WM_SPECIAL_SOURCE" val="bdnull"/>
</p:tagLst>
</file>

<file path=ppt/tags/tag45.xml><?xml version="1.0" encoding="utf-8"?>
<p:tagLst xmlns:p="http://schemas.openxmlformats.org/presentationml/2006/main">
  <p:tag name="KSO_DOCER_TEMPLATE_OPEN_ONCE_MARK" val="1"/>
  <p:tag name="commondata" val="eyJoZGlkIjoiMzEwNTM5NzYwMDRjMzkwZTVkZjY2ODkwMGIxNGU0OTUifQ=="/>
</p:tagLst>
</file>

<file path=ppt/theme/theme1.xml><?xml version="1.0" encoding="utf-8"?>
<a:theme xmlns:a="http://schemas.openxmlformats.org/drawingml/2006/main" name="网安基地">
  <a:themeElements>
    <a:clrScheme name="2019空白演示文档">
      <a:dk1>
        <a:srgbClr val="000000"/>
      </a:dk1>
      <a:lt1>
        <a:srgbClr val="FFFFFF"/>
      </a:lt1>
      <a:dk2>
        <a:srgbClr val="E6E4E4"/>
      </a:dk2>
      <a:lt2>
        <a:srgbClr val="FFFFFF"/>
      </a:lt2>
      <a:accent1>
        <a:srgbClr val="477DEA"/>
      </a:accent1>
      <a:accent2>
        <a:srgbClr val="9B9B9B"/>
      </a:accent2>
      <a:accent3>
        <a:srgbClr val="F3B745"/>
      </a:accent3>
      <a:accent4>
        <a:srgbClr val="477EE7"/>
      </a:accent4>
      <a:accent5>
        <a:srgbClr val="4BA151"/>
      </a:accent5>
      <a:accent6>
        <a:srgbClr val="E9403C"/>
      </a:accent6>
      <a:hlink>
        <a:srgbClr val="0563C1"/>
      </a:hlink>
      <a:folHlink>
        <a:srgbClr val="954D72"/>
      </a:folHlink>
    </a:clrScheme>
    <a:fontScheme name="2019空白演示文档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3545</Words>
  <Application>WPS 演示</Application>
  <PresentationFormat>宽屏</PresentationFormat>
  <Paragraphs>362</Paragraphs>
  <Slides>41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黑体</vt:lpstr>
      <vt:lpstr>-apple-system</vt:lpstr>
      <vt:lpstr>Segoe Print</vt:lpstr>
      <vt:lpstr>Arial Unicode MS</vt:lpstr>
      <vt:lpstr>等线</vt:lpstr>
      <vt:lpstr>Times New Roman</vt:lpstr>
      <vt:lpstr>Calibri</vt:lpstr>
      <vt:lpstr>网安基地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:-*:-*:-*:-*</cp:lastModifiedBy>
  <cp:revision>948</cp:revision>
  <dcterms:created xsi:type="dcterms:W3CDTF">2017-08-03T09:01:00Z</dcterms:created>
  <dcterms:modified xsi:type="dcterms:W3CDTF">2024-05-08T13:39:48Z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F47DBB7B8B674253A3C86453AB4CB492</vt:lpwstr>
  </property>
</Properties>
</file>