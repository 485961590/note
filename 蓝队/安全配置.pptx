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75" r:id="rId3"/>
    <p:sldId id="476" r:id="rId5"/>
    <p:sldId id="810" r:id="rId6"/>
    <p:sldId id="894" r:id="rId7"/>
    <p:sldId id="909" r:id="rId8"/>
    <p:sldId id="910" r:id="rId9"/>
    <p:sldId id="911" r:id="rId10"/>
    <p:sldId id="912" r:id="rId11"/>
    <p:sldId id="913" r:id="rId12"/>
    <p:sldId id="914" r:id="rId13"/>
    <p:sldId id="915" r:id="rId14"/>
    <p:sldId id="916" r:id="rId15"/>
    <p:sldId id="840" r:id="rId16"/>
    <p:sldId id="893" r:id="rId17"/>
    <p:sldId id="943" r:id="rId18"/>
    <p:sldId id="944" r:id="rId19"/>
    <p:sldId id="945" r:id="rId20"/>
    <p:sldId id="946" r:id="rId21"/>
    <p:sldId id="947" r:id="rId22"/>
    <p:sldId id="948" r:id="rId23"/>
    <p:sldId id="949" r:id="rId24"/>
    <p:sldId id="950" r:id="rId25"/>
    <p:sldId id="951" r:id="rId26"/>
    <p:sldId id="952" r:id="rId27"/>
    <p:sldId id="953" r:id="rId28"/>
    <p:sldId id="954" r:id="rId29"/>
    <p:sldId id="841" r:id="rId30"/>
    <p:sldId id="892" r:id="rId31"/>
    <p:sldId id="935" r:id="rId32"/>
    <p:sldId id="936" r:id="rId33"/>
    <p:sldId id="937" r:id="rId34"/>
    <p:sldId id="938" r:id="rId35"/>
    <p:sldId id="939" r:id="rId36"/>
    <p:sldId id="940" r:id="rId37"/>
    <p:sldId id="941" r:id="rId38"/>
    <p:sldId id="942" r:id="rId39"/>
    <p:sldId id="890" r:id="rId40"/>
    <p:sldId id="891" r:id="rId41"/>
    <p:sldId id="895" r:id="rId42"/>
    <p:sldId id="896" r:id="rId43"/>
    <p:sldId id="897" r:id="rId44"/>
    <p:sldId id="898" r:id="rId45"/>
    <p:sldId id="899" r:id="rId46"/>
    <p:sldId id="900" r:id="rId47"/>
    <p:sldId id="901" r:id="rId48"/>
    <p:sldId id="902" r:id="rId49"/>
    <p:sldId id="903" r:id="rId50"/>
    <p:sldId id="904" r:id="rId51"/>
    <p:sldId id="807" r:id="rId52"/>
  </p:sldIdLst>
  <p:sldSz cx="12192000" cy="6858000"/>
  <p:notesSz cx="6858000" cy="9144000"/>
  <p:custDataLst>
    <p:tags r:id="rId5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/>
    <p:restoredTop sz="92644"/>
  </p:normalViewPr>
  <p:slideViewPr>
    <p:cSldViewPr snapToGrid="0" showGuides="1">
      <p:cViewPr>
        <p:scale>
          <a:sx n="75" d="100"/>
          <a:sy n="75" d="100"/>
        </p:scale>
        <p:origin x="830" y="235"/>
      </p:cViewPr>
      <p:guideLst>
        <p:guide orient="horz" pos="215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gs" Target="tags/tag109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5043C5D9-C181-44CE-BC97-D15360BB86C3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95EDAD04-BA75-4CB4-9E42-76A619283E0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r>
              <a:rPr lang="zh-CN" altLang="en-US"/>
              <a:t>常见</a:t>
            </a:r>
            <a:r>
              <a:rPr lang="zh-CN" altLang="en-US"/>
              <a:t>的日志级别</a:t>
            </a:r>
            <a:endParaRPr lang="zh-CN" altLang="en-US"/>
          </a:p>
          <a:p>
            <a:pPr algn="l"/>
            <a:r>
              <a:rPr lang="zh-CN" altLang="en-US"/>
              <a:t>emerg：紧急情况，比如导致系统无法使用的严重错误。</a:t>
            </a:r>
            <a:endParaRPr lang="zh-CN" altLang="en-US"/>
          </a:p>
          <a:p>
            <a:pPr algn="l"/>
            <a:r>
              <a:rPr lang="zh-CN" altLang="en-US"/>
              <a:t>alert：需要立即处理的状况。</a:t>
            </a:r>
            <a:endParaRPr lang="zh-CN" altLang="en-US"/>
          </a:p>
          <a:p>
            <a:pPr algn="l"/>
            <a:r>
              <a:rPr lang="zh-CN" altLang="en-US"/>
              <a:t>crit：临界条件，比如应用程序组件不可用。</a:t>
            </a:r>
            <a:endParaRPr lang="zh-CN" altLang="en-US"/>
          </a:p>
          <a:p>
            <a:pPr algn="l"/>
            <a:r>
              <a:rPr lang="zh-CN" altLang="en-US"/>
              <a:t>err 或 error：错误条件，可以被恢复。</a:t>
            </a:r>
            <a:endParaRPr lang="zh-CN" altLang="en-US"/>
          </a:p>
          <a:p>
            <a:pPr algn="l"/>
            <a:r>
              <a:rPr lang="zh-CN" altLang="en-US"/>
              <a:t>warn 或 warning：警告信息，可能指示潜在的问题。</a:t>
            </a:r>
            <a:endParaRPr lang="zh-CN" altLang="en-US"/>
          </a:p>
          <a:p>
            <a:pPr algn="l"/>
            <a:r>
              <a:rPr lang="zh-CN" altLang="en-US"/>
              <a:t>notice：正常操作中的有用信息，但并不重要。</a:t>
            </a:r>
            <a:endParaRPr lang="zh-CN" altLang="en-US"/>
          </a:p>
          <a:p>
            <a:pPr algn="l"/>
            <a:r>
              <a:rPr lang="zh-CN" altLang="en-US"/>
              <a:t>info：信息性消息，通常包含审计和一般性状态信息。</a:t>
            </a:r>
            <a:endParaRPr lang="zh-CN" altLang="en-US"/>
          </a:p>
          <a:p>
            <a:pPr algn="l"/>
            <a:r>
              <a:rPr lang="zh-CN" altLang="en-US"/>
              <a:t>debug：调试信息。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r>
              <a:rPr lang="zh-CN" altLang="en-US"/>
              <a:t>/usr/local/apache2为源码包httpd默认安装路径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 descr="图层1"/>
          <p:cNvPicPr>
            <a:picLocks noChangeAspect="1"/>
          </p:cNvPicPr>
          <p:nvPr userDrawn="1"/>
        </p:nvPicPr>
        <p:blipFill>
          <a:blip r:embed="rId2">
            <a:grayscl/>
            <a:lum bright="69998" contrast="-70001"/>
          </a:blip>
          <a:stretch>
            <a:fillRect/>
          </a:stretch>
        </p:blipFill>
        <p:spPr>
          <a:xfrm>
            <a:off x="-22225" y="3890963"/>
            <a:ext cx="12233275" cy="2960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图片 3" descr="WechatIMG1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1775" y="146050"/>
            <a:ext cx="1970088" cy="58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" descr="图层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287" y="-9525"/>
            <a:ext cx="6477000" cy="6877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图片 3" descr="WechatIMG1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1775" y="146050"/>
            <a:ext cx="1970088" cy="58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" descr="WechatIMG1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0350" y="114300"/>
            <a:ext cx="1620838" cy="565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7" descr="图层2"/>
          <p:cNvPicPr>
            <a:picLocks noChangeAspect="1"/>
          </p:cNvPicPr>
          <p:nvPr userDrawn="1"/>
        </p:nvPicPr>
        <p:blipFill>
          <a:blip r:embed="rId2">
            <a:grayscl/>
            <a:lum bright="69998" contrast="-70001"/>
          </a:blip>
          <a:stretch>
            <a:fillRect/>
          </a:stretch>
        </p:blipFill>
        <p:spPr>
          <a:xfrm>
            <a:off x="-22225" y="4938713"/>
            <a:ext cx="12231688" cy="19573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7" name="图片 3" descr="WechatIMG1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1775" y="146050"/>
            <a:ext cx="1970088" cy="58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/>
          <p:cNvSpPr/>
          <p:nvPr userDrawn="1"/>
        </p:nvSpPr>
        <p:spPr>
          <a:xfrm>
            <a:off x="920750" y="220663"/>
            <a:ext cx="785813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lvl="0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09800" y="154547"/>
            <a:ext cx="6288109" cy="77628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55915B0-52B6-43CA-B44C-120EFC11084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83CA8476-7398-4CB4-A686-FDB941A7911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9.xml"/><Relationship Id="rId2" Type="http://schemas.openxmlformats.org/officeDocument/2006/relationships/image" Target="../media/image6.png"/><Relationship Id="rId1" Type="http://schemas.openxmlformats.org/officeDocument/2006/relationships/tags" Target="../tags/tag5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7.jpeg"/><Relationship Id="rId1" Type="http://schemas.openxmlformats.org/officeDocument/2006/relationships/tags" Target="../tags/tag6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6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8.png"/><Relationship Id="rId1" Type="http://schemas.openxmlformats.org/officeDocument/2006/relationships/tags" Target="../tags/tag8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5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05.xml"/><Relationship Id="rId2" Type="http://schemas.openxmlformats.org/officeDocument/2006/relationships/image" Target="../media/image9.jpeg"/><Relationship Id="rId1" Type="http://schemas.openxmlformats.org/officeDocument/2006/relationships/tags" Target="../tags/tag104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22225" y="2009775"/>
            <a:ext cx="12236450" cy="2144713"/>
          </a:xfrm>
          <a:prstGeom prst="rect">
            <a:avLst/>
          </a:prstGeom>
          <a:solidFill>
            <a:srgbClr val="C51A16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9600" strike="noStrike" noProof="1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240" y="2528570"/>
            <a:ext cx="111455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6600" b="1" noProof="1">
                <a:solidFill>
                  <a:schemeClr val="bg1"/>
                </a:solidFill>
                <a:effectLst>
                  <a:reflection blurRad="50800" stA="30000" endPos="40000" dist="101600" dir="5400000" sy="-100000" algn="bl" rotWithShape="0"/>
                </a:effectLst>
                <a:latin typeface="+mn-lt"/>
                <a:ea typeface="+mn-ea"/>
                <a:cs typeface="+mn-ea"/>
                <a:sym typeface="+mn-lt"/>
              </a:rPr>
              <a:t>安全配置基线</a:t>
            </a:r>
            <a:endParaRPr lang="zh-CN" altLang="en-US" sz="6600" b="1" noProof="1">
              <a:solidFill>
                <a:schemeClr val="bg1"/>
              </a:solidFill>
              <a:effectLst>
                <a:reflection blurRad="50800" stA="30000" endPos="40000" dist="101600" dir="5400000" sy="-100000" algn="bl" rotWithShape="0"/>
              </a:effectLst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-20637" y="2143125"/>
            <a:ext cx="6491288" cy="2614613"/>
          </a:xfrm>
          <a:prstGeom prst="rect">
            <a:avLst/>
          </a:prstGeom>
          <a:solidFill>
            <a:srgbClr val="C51A1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cs typeface="+mn-ea"/>
              <a:sym typeface="+mn-lt"/>
            </a:endParaRPr>
          </a:p>
        </p:txBody>
      </p:sp>
      <p:grpSp>
        <p:nvGrpSpPr>
          <p:cNvPr id="15362" name="组合 8"/>
          <p:cNvGrpSpPr/>
          <p:nvPr/>
        </p:nvGrpSpPr>
        <p:grpSpPr>
          <a:xfrm>
            <a:off x="1624013" y="2871788"/>
            <a:ext cx="3214687" cy="1114425"/>
            <a:chOff x="2220" y="4415"/>
            <a:chExt cx="5062" cy="1754"/>
          </a:xfrm>
        </p:grpSpPr>
        <p:sp>
          <p:nvSpPr>
            <p:cNvPr id="5141" name="Line 29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220" y="4415"/>
              <a:ext cx="5063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/>
              <a:endParaRPr lang="zh-CN" altLang="en-US" sz="2670" strike="noStrike" noProof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364" name="Text Box 30"/>
            <p:cNvSpPr txBox="1"/>
            <p:nvPr>
              <p:custDataLst>
                <p:tags r:id="rId3"/>
              </p:custDataLst>
            </p:nvPr>
          </p:nvSpPr>
          <p:spPr>
            <a:xfrm>
              <a:off x="2372" y="4815"/>
              <a:ext cx="1440" cy="8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目录</a:t>
              </a:r>
              <a:endParaRPr lang="zh-CN" altLang="zh-CN" sz="3600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15365" name="Text Box 31"/>
            <p:cNvSpPr txBox="1"/>
            <p:nvPr>
              <p:custDataLst>
                <p:tags r:id="rId4"/>
              </p:custDataLst>
            </p:nvPr>
          </p:nvSpPr>
          <p:spPr>
            <a:xfrm>
              <a:off x="4057" y="5009"/>
              <a:ext cx="3080" cy="6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CONTENTS</a:t>
              </a:r>
              <a:endParaRPr lang="zh-CN" altLang="zh-CN" sz="2800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5144" name="Line 32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2220" y="6169"/>
              <a:ext cx="5063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/>
              <a:endParaRPr lang="zh-CN" altLang="en-US" sz="2670" strike="noStrike" noProof="1"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145338" y="2032000"/>
            <a:ext cx="3513389" cy="839788"/>
            <a:chOff x="7831" y="2257"/>
            <a:chExt cx="5531" cy="1323"/>
          </a:xfrm>
        </p:grpSpPr>
        <p:sp>
          <p:nvSpPr>
            <p:cNvPr id="14" name="矩形 13"/>
            <p:cNvSpPr/>
            <p:nvPr>
              <p:custDataLst>
                <p:tags r:id="rId6"/>
              </p:custDataLst>
            </p:nvPr>
          </p:nvSpPr>
          <p:spPr>
            <a:xfrm>
              <a:off x="7831" y="2299"/>
              <a:ext cx="1234" cy="12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3600" strike="noStrike" noProof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3600" strike="noStrike" noProof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373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9212" y="2257"/>
              <a:ext cx="229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endParaRPr lang="en-US" altLang="zh-CN" sz="16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15374" name="文本框 15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  <p:cNvSpPr txBox="1"/>
            <p:nvPr>
              <p:custDataLst>
                <p:tags r:id="rId8"/>
              </p:custDataLst>
            </p:nvPr>
          </p:nvSpPr>
          <p:spPr>
            <a:xfrm>
              <a:off x="9084" y="2551"/>
              <a:ext cx="427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IIS</a:t>
              </a:r>
              <a:r>
                <a:rPr lang="zh-CN" altLang="en-US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安全配置基线</a:t>
              </a:r>
              <a:endParaRPr lang="zh-CN" altLang="en-US" sz="28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134225" y="3217863"/>
            <a:ext cx="4449261" cy="839787"/>
            <a:chOff x="7831" y="2257"/>
            <a:chExt cx="7006" cy="1323"/>
          </a:xfrm>
        </p:grpSpPr>
        <p:sp>
          <p:nvSpPr>
            <p:cNvPr id="20" name="矩形 19"/>
            <p:cNvSpPr/>
            <p:nvPr>
              <p:custDataLst>
                <p:tags r:id="rId9"/>
              </p:custDataLst>
            </p:nvPr>
          </p:nvSpPr>
          <p:spPr>
            <a:xfrm>
              <a:off x="7831" y="2299"/>
              <a:ext cx="1234" cy="12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3600" strike="noStrike" noProof="1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3600" strike="noStrike" noProof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377" name="文本框 20"/>
            <p:cNvSpPr txBox="1"/>
            <p:nvPr>
              <p:custDataLst>
                <p:tags r:id="rId10"/>
              </p:custDataLst>
            </p:nvPr>
          </p:nvSpPr>
          <p:spPr>
            <a:xfrm>
              <a:off x="9212" y="2257"/>
              <a:ext cx="229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endParaRPr lang="en-US" altLang="zh-CN" sz="16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15378" name="文本框 21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  <p:cNvSpPr txBox="1"/>
            <p:nvPr>
              <p:custDataLst>
                <p:tags r:id="rId11"/>
              </p:custDataLst>
            </p:nvPr>
          </p:nvSpPr>
          <p:spPr>
            <a:xfrm>
              <a:off x="9084" y="2551"/>
              <a:ext cx="5753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Tomcat Web</a:t>
              </a:r>
              <a:r>
                <a:rPr lang="zh-CN" altLang="en-US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配置基线</a:t>
              </a:r>
              <a:endParaRPr lang="zh-CN" altLang="en-US" sz="28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145338" y="847725"/>
            <a:ext cx="4313984" cy="839788"/>
            <a:chOff x="7831" y="2257"/>
            <a:chExt cx="6791" cy="1323"/>
          </a:xfrm>
        </p:grpSpPr>
        <p:sp>
          <p:nvSpPr>
            <p:cNvPr id="24" name="矩形 23"/>
            <p:cNvSpPr/>
            <p:nvPr>
              <p:custDataLst>
                <p:tags r:id="rId12"/>
              </p:custDataLst>
            </p:nvPr>
          </p:nvSpPr>
          <p:spPr>
            <a:xfrm>
              <a:off x="7831" y="2299"/>
              <a:ext cx="1234" cy="12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3600" strike="noStrike" noProof="1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3600" strike="noStrike" noProof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381" name="文本框 24"/>
            <p:cNvSpPr txBox="1"/>
            <p:nvPr>
              <p:custDataLst>
                <p:tags r:id="rId13"/>
              </p:custDataLst>
            </p:nvPr>
          </p:nvSpPr>
          <p:spPr>
            <a:xfrm>
              <a:off x="9212" y="2257"/>
              <a:ext cx="229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endParaRPr lang="en-US" altLang="zh-CN" sz="16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15382" name="文本框 25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  <p:cNvSpPr txBox="1"/>
            <p:nvPr>
              <p:custDataLst>
                <p:tags r:id="rId14"/>
              </p:custDataLst>
            </p:nvPr>
          </p:nvSpPr>
          <p:spPr>
            <a:xfrm>
              <a:off x="9084" y="2551"/>
              <a:ext cx="553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Apache</a:t>
              </a:r>
              <a:r>
                <a:rPr lang="zh-CN" altLang="en-US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安全配置基线</a:t>
              </a:r>
              <a:endParaRPr lang="zh-CN" altLang="en-US" sz="28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145655" y="4589463"/>
            <a:ext cx="4851892" cy="839787"/>
            <a:chOff x="7831" y="2257"/>
            <a:chExt cx="7640" cy="1323"/>
          </a:xfrm>
        </p:grpSpPr>
        <p:sp>
          <p:nvSpPr>
            <p:cNvPr id="3" name="矩形 2"/>
            <p:cNvSpPr/>
            <p:nvPr>
              <p:custDataLst>
                <p:tags r:id="rId15"/>
              </p:custDataLst>
            </p:nvPr>
          </p:nvSpPr>
          <p:spPr>
            <a:xfrm>
              <a:off x="7831" y="2299"/>
              <a:ext cx="1234" cy="12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3600" strike="noStrike" noProof="1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en-US" altLang="zh-CN" sz="3600" strike="noStrike" noProof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9212" y="2257"/>
              <a:ext cx="229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endParaRPr lang="en-US" altLang="zh-CN" sz="16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5" name="文本框 21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  <p:cNvSpPr txBox="1"/>
            <p:nvPr>
              <p:custDataLst>
                <p:tags r:id="rId17"/>
              </p:custDataLst>
            </p:nvPr>
          </p:nvSpPr>
          <p:spPr>
            <a:xfrm>
              <a:off x="9084" y="2551"/>
              <a:ext cx="6387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WebLogic Web</a:t>
              </a:r>
              <a:r>
                <a:rPr lang="zh-CN" altLang="en-US" sz="2800" b="1" dirty="0">
                  <a:solidFill>
                    <a:srgbClr val="595959"/>
                  </a:solidFill>
                  <a:latin typeface="等线" panose="02010600030101010101" charset="-122"/>
                  <a:ea typeface="等线" panose="02010600030101010101" charset="-122"/>
                  <a:sym typeface="等线" panose="02010600030101010101" charset="-122"/>
                </a:rPr>
                <a:t>配置基线</a:t>
              </a:r>
              <a:endParaRPr lang="zh-CN" altLang="en-US" sz="2800" b="1" dirty="0">
                <a:solidFill>
                  <a:srgbClr val="595959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endParaRPr>
            </a:p>
          </p:txBody>
        </p:sp>
      </p:grpSp>
    </p:spTree>
    <p:custDataLst>
      <p:tags r:id="rId18"/>
    </p:custData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22225" y="1758950"/>
            <a:ext cx="12238038" cy="33099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9600" strike="noStrike" noProof="1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25613" y="2473325"/>
            <a:ext cx="1712912" cy="1692275"/>
            <a:chOff x="1770244" y="775694"/>
            <a:chExt cx="1712595" cy="1692275"/>
          </a:xfrm>
        </p:grpSpPr>
        <p:sp>
          <p:nvSpPr>
            <p:cNvPr id="11" name="矩形 10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6000" b="1" strike="noStrike" noProof="1">
                  <a:cs typeface="+mn-ea"/>
                  <a:sym typeface="+mn-lt"/>
                </a:rPr>
                <a:t>01</a:t>
              </a:r>
              <a:endParaRPr lang="en-US" altLang="zh-CN" sz="6000" b="1" strike="noStrike" noProof="1"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975100" y="2838133"/>
            <a:ext cx="7329805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Apache</a:t>
            </a:r>
            <a:r>
              <a:rPr lang="zh-CN" altLang="en-US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安全配置基线</a:t>
            </a:r>
            <a:endParaRPr lang="zh-CN" altLang="en-US" sz="6000" b="1" dirty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170305"/>
            <a:ext cx="9478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日志配置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审核登录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36855" y="2075180"/>
          <a:ext cx="11955145" cy="48861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7865"/>
                <a:gridCol w="9987280"/>
              </a:tblGrid>
              <a:tr h="22910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6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endParaRPr lang="en-US" sz="16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编辑httpd.conf配置文件，设置日志记录文件、记录内容、记录格式。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LogLevel notice 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ErrorLog logs/error_log 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LogFormat "%h %l %u %t \"%r\" %&gt;s %b \"%{Accept}i\" \"%{Referer}i\" \"%{User-Agent}i\"" combined 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CustomLog logs/access_log combined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ErrorLog指令设置错误日志文件名和位置。错误日志是最重要的日志文件，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 httpd将在这个文件中存放诊断信息和处理请求中出现的错误。若要将错误日志送到Syslog，则设置：ErrorLog syslog。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CustomLog指令设置访问日志的文件名和位置。访问日志中会记录服务器所处理的所有请求。LogFormat设置日志格式。LogLevel用于调整记录在错误日志中的信息的详细程度，建议设置为notice。</a:t>
                      </a:r>
                      <a:endParaRPr lang="en-US" alt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6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查看logs目录中相关日志文件内容，记录完整。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2、检测操作</a:t>
                      </a:r>
                      <a:r>
                        <a:rPr lang="en-US" sz="16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查看相关日志记录。                                        </a:t>
                      </a:r>
                      <a:endParaRPr lang="en-US" sz="16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3、补充说明</a:t>
                      </a:r>
                      <a:endParaRPr lang="en-US" altLang="en-US" sz="16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170305"/>
            <a:ext cx="9478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访问权限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禁止访问外部文件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206500" y="2128520"/>
          <a:ext cx="10985500" cy="4703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880"/>
                <a:gridCol w="8770620"/>
              </a:tblGrid>
              <a:tr h="67500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6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Apache目录访问权限安全基线要求项</a:t>
                      </a:r>
                      <a:endParaRPr lang="en-US" sz="16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SBL-Apache-03-01-01</a:t>
                      </a:r>
                      <a:endParaRPr lang="en-US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禁止Apache访问Web目录之外的任何文件。</a:t>
                      </a:r>
                      <a:endParaRPr lang="en-US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315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                                       </a:t>
                      </a: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2、补充操作说明</a:t>
                      </a:r>
                      <a:r>
                        <a:rPr lang="en-US" sz="16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设置可访问目录，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编辑httpd.conf配置文件，                           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&lt;Directory /&gt; 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Order Deny,Allow 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Deny from all 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&lt;/Directory&gt; </a:t>
                      </a:r>
                      <a:endParaRPr lang="en-US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无法访问Web目录之外的文件。 </a:t>
                      </a: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2、检测操作</a:t>
                      </a: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访问服务器上不属于Web目录的一个文件，结果应无法显示。</a:t>
                      </a: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3、补充说明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258175" y="4537710"/>
            <a:ext cx="319532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pc="12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&lt;Directory /web&gt; </a:t>
            </a:r>
            <a:endParaRPr lang="en-US" spc="12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spc="12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Order Allow,Deny Allow </a:t>
            </a:r>
            <a:endParaRPr lang="en-US" spc="12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spc="12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from all </a:t>
            </a:r>
            <a:endParaRPr lang="en-US" spc="12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spc="12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&lt;/Directory&gt;</a:t>
            </a:r>
            <a:endParaRPr lang="en-US" spc="12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spc="12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其中/web为网站根目录。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防攻击管理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2.2.1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错误页面处理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2381885"/>
          <a:ext cx="10267950" cy="494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880"/>
                <a:gridCol w="8053070"/>
              </a:tblGrid>
              <a:tr h="4699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Apache错误页面安全基线要求项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SBL-Apache-03-02-01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Apache错误页面重定向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592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(1)修改httpd.conf配置文件：ErrorDocument 400 /custom400.htmlErrorDocument401 /custom401.htmlErrorDocument 403 /custom403.htmlErrorDocument 404 /custom404.htmlErrorDocument405 /custom405.html ErrorDocument 500 /custom500.html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Customxxx.html为要设置的错误页面。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(2)重新启动Apache服务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 </a:t>
                      </a: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指向指定错误页面</a:t>
                      </a: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2、检测操作 </a:t>
                      </a: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URL地址栏中输入（一个不存在的页面）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防攻击管理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2.2.2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目录列表访问限制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66495" y="2131695"/>
          <a:ext cx="10788015" cy="4744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9400"/>
                <a:gridCol w="9238615"/>
              </a:tblGrid>
              <a:tr h="483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禁止Apache列表显示文件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endParaRPr 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(1)编辑httpd.conf配置文件， 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&lt;Directory "/web"&gt;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Options FollowSymLinks 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AllowOverride None   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Order allow,deny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Allow from all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&lt;/Directory&gt;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将Options Indexes FollowSymLinks中的Indexes 去掉，就可以禁止 Apache 显示该目录结构。Indexes 的作用就是当该目录下没有 index.html文件时，就显示目录结构。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95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endParaRPr 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当WEB目录中没有默认首页如index.html文件时，不会列出目录内容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2、检测操作</a:t>
                      </a:r>
                      <a:endParaRPr 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直接访问（xxx为某一目录）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801995" y="2901315"/>
            <a:ext cx="615315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（2)设置Apache的默认页面，编辑%apache%\conf\httpd.conf配置文件，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&lt;IfModule dir_module&gt;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DirectoryIndex index.html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&lt;/IfModule&gt;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其中index.html即为默认页面，可根据情况改为其它文件。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(3)重新启动Apache服务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防攻击管理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2.2.3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拒绝服务防范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1999615"/>
          <a:ext cx="9791700" cy="48606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6690"/>
                <a:gridCol w="7065010"/>
              </a:tblGrid>
              <a:tr h="71437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Apache拒绝服务防范安全基线要求项</a:t>
                      </a:r>
                      <a:endParaRPr lang="en-US" sz="19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18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SBL-Apache-03-02-03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11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拒绝服务防范。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97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(1)编辑httpd.conf配置文件， 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Timeout 10 KeepAlive On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KeepAliveTimeout 15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AcceptFilter http data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AcceptFilter https data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11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    2、检测操作    </a:t>
                      </a: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检查配置文件是否设置。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722870" y="4481830"/>
            <a:ext cx="2950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(2)重新启动Apache服务</a:t>
            </a:r>
            <a:endParaRPr lang="en-US" altLang="en-US" b="0" spc="1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防攻击管理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2.2.4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拒绝服务防范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3800" y="2032000"/>
          <a:ext cx="9613900" cy="48648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880"/>
                <a:gridCol w="7399020"/>
              </a:tblGrid>
              <a:tr h="63754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Apache无用文件安全基线要求项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SBL-Apache-03-02-04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84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删除缺省安装的无用文件。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041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删除缺省HTML文件：     # rm -rf /usr/local/apache2/htdocs/* 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删除缺省的CGI脚本：     # rm –rf /usr/local/apache2/cgi-bin/*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删除Apache说明文件：  # rm –rf /usr/local/apache2/manual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删除源代码文件：          # rm -rf /path/to/httpd-2.2.4*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根据安装步骤不同和版本不同，某些目录或文件可能不存在或位置不同。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     2、检测操作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      </a:t>
                      </a: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检查对应目录。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防攻击管理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2.2.5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隐藏敏感信息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2341880"/>
          <a:ext cx="7366000" cy="45189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7775"/>
                <a:gridCol w="4848225"/>
              </a:tblGrid>
              <a:tr h="5283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Apache隐藏敏感信息安全基线要求项</a:t>
                      </a:r>
                      <a:endParaRPr lang="en-US" sz="19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SBL-Apache-03-02-05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隐藏Apache的版本号及其它敏感信息。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876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修改httpd.conf配置文件：　　       ServerSignature Off 　　ServerTokens Prod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824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2、检测操作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检查配置文件。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防攻击管理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2.2.6 Apache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账户安全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39825" y="2077720"/>
          <a:ext cx="9588500" cy="5115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880"/>
                <a:gridCol w="7373620"/>
              </a:tblGrid>
              <a:tr h="59118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Apache账户安全配置项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SBL-Apache-03-02-06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以专门的用户帐号和组运行Apache。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04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1、根据需要为Apache创建用户、组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2、参考配置操作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修改httpd.conf配置文件，添加如下语句：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User apache 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Group apachegroup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其中apache、apachegroup分别是为Apache创建的用户和组。</a:t>
                      </a:r>
                      <a:endParaRPr 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3、补充操作说明</a:t>
                      </a:r>
                      <a:endParaRPr 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1、根据不同用户，取不同的名称。2、为用户设置适当的家目录和shell。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5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   2、检测操作  </a:t>
                      </a:r>
                      <a:r>
                        <a:rPr lang="en-US" sz="15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检查httpd.conf配置文件，检查用户配置文件。</a:t>
                      </a:r>
                      <a:endParaRPr lang="en-US" altLang="en-US" sz="15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3854450" cy="659130"/>
            <a:chOff x="676" y="334"/>
            <a:chExt cx="6070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48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防攻击管理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2.2.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限制请求消息长度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95070" y="2114550"/>
          <a:ext cx="7607300" cy="4695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6960"/>
                <a:gridCol w="5260340"/>
              </a:tblGrid>
              <a:tr h="5689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Apache接收HTTP请求长度安全基线要求项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SBL-Apache-03-02-07</a:t>
                      </a:r>
                      <a:endParaRPr lang="en-US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限制http请求的消息主体的大小。</a:t>
                      </a:r>
                      <a:endParaRPr lang="en-US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404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编辑httpd.conf配置文件，修改为5120000Byte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LimitRequestBody5120000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2、补充操作说明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6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   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检查配置文件设置。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2、检测操作  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上传文件超过5M将报错。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3、补充说明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22225" y="1758950"/>
            <a:ext cx="12238038" cy="33099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9600" strike="noStrike" noProof="1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25613" y="2473325"/>
            <a:ext cx="1712912" cy="1692275"/>
            <a:chOff x="1770244" y="775694"/>
            <a:chExt cx="1712595" cy="1692275"/>
          </a:xfrm>
        </p:grpSpPr>
        <p:sp>
          <p:nvSpPr>
            <p:cNvPr id="11" name="矩形 10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6000" b="1" strike="noStrike" noProof="1">
                  <a:cs typeface="+mn-ea"/>
                  <a:sym typeface="+mn-lt"/>
                </a:rPr>
                <a:t>02</a:t>
              </a:r>
              <a:endParaRPr lang="en-US" altLang="zh-CN" sz="6000" b="1" strike="noStrike" noProof="1"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890770" y="2838133"/>
            <a:ext cx="5614035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IIS</a:t>
            </a:r>
            <a:r>
              <a:rPr lang="zh-CN" altLang="en-US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安全配置基线</a:t>
            </a:r>
            <a:endParaRPr lang="zh-CN" altLang="en-US" sz="6000" b="1" dirty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8785" y="28448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05230" y="102997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避免账号共享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79070" y="1460500"/>
          <a:ext cx="11530330" cy="5401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7270"/>
                <a:gridCol w="7973060"/>
              </a:tblGrid>
              <a:tr h="28448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进入“控制面板-&gt;管理工具-&gt;计算机管理”，在“系统工具-&gt;本地用户和组”：根据系统的要求，设定不同的帐户和帐户组.对应设置IIS系统管理员的权限。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IIS管理器-&gt;相应网站“属性”-&gt;“目录安全性”-&gt;“身份访问及访问控制”：其中分为“匿名访问身份”及“基本（Basic）验证”。“基本（Basic）验证”包含：“集成windows身份验证”、“Windows域服务器的摘要身份验证”、“基本身份验证”、“.NET Passport身份验证”；可依据业务应用安全特性，相应配置。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6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结合要求和实际业务情况判断符合要求，根据系统的要求，设定不同的帐户和帐户组。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进入“控制面板-&gt;管理工具-&gt;计算机管理”，在“系统工具-&gt;本地用户和组”：查看根据系统的要求，设定不同的帐户和帐户组。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进入IIS管理器-&gt;相应网站“属性”-&gt;“目录安全性”-&gt;“身份访问及访问控制”查看相应配置。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30607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73480" y="9652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删除或锁定无关帐号*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315595" y="1482725"/>
          <a:ext cx="11433810" cy="4816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27425"/>
                <a:gridCol w="7906385"/>
              </a:tblGrid>
              <a:tr h="28448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进入“控制面板-&gt;管理工具-&gt;计算机管理”，在“系统工具-&gt;本地用户和组”：删除或锁定与设备运行、维护等与工作无关的帐号。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6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结合要求和实际业务情况判断符合要求，删除或锁定与设备运行、维护等与工作无关的帐号。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endParaRPr 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进入“控制面板-&gt;管理工具-&gt;计算机管理”，在“系统工具-&gt;本地用户和组”：查看是否删除或锁定与设备运行、维护等与工作无关的帐号。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30607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73480" y="9652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密码复杂度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295" y="1287780"/>
          <a:ext cx="12042775" cy="5421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IIS密码复杂度安全基线要求项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SBL-IIS-02-02-01 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  <a:sym typeface="+mn-ea"/>
                        </a:rPr>
                        <a:t>对于采用静态口令认证技术的设备，维护人员使用的帐户口令的</a:t>
                      </a:r>
                      <a:r>
                        <a:rPr lang="zh-CN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  <a:sym typeface="+mn-ea"/>
                        </a:rPr>
                        <a:t>复杂规则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  <a:sym typeface="+mn-ea"/>
                        </a:rPr>
                        <a:t>（IIS基于Windows系统，可通过提升Windows帐户策略实现）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  <a:sym typeface="+mn-ea"/>
                        </a:rPr>
                        <a:t>参考配置操作</a:t>
                      </a:r>
                      <a:r>
                        <a:rPr lang="zh-CN" alt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  <a:sym typeface="+mn-ea"/>
                        </a:rPr>
                        <a:t>进入“控制面板-&gt;管理工具-&gt;本地安全策略”，在“帐户策略-&gt;密码策略”：“密码必须符合复杂性要求”选择“已启动”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“密码必须符合复杂性要求”选择“已启动”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进入“控制面板-&gt;管理工具-&gt;本地安全策略”，在“帐户策略-&gt;密码策略”：查看是否“密码必须符合复杂性要求”选择“已启动”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30607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91590" y="9652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2.2密码生存期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295" y="1287780"/>
          <a:ext cx="12042775" cy="4829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IIS密码生存期安全基线要求项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SBL-IIS-02-02-02 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对于采用静态口令认证技术的设备，维护人员使用的帐户口令的生存期不长于90天（IIS基于Windows系统，可通过提升Windows帐户策略实现）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进入“控制面板-&gt;管理工具-&gt;本地安全策略”，在“帐户策略-&gt;密码策略”：“密码最长存留期”设置为“90天”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“密码最长存留期”设置为“90天”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进入“控制面板-&gt;管理工具-&gt;本地安全策略”，在“帐户策略-&gt;密码策略”：查看是否“密码最长存留期”设置为“90天”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30607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91590" y="9652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密码更改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295" y="1287780"/>
          <a:ext cx="12042775" cy="4829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IIS密码更改安全基线要求项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SBL-IIS-02-02-03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对于采用静态口令认证技术的设备，应配置设备，使用户不能重复使用最近5次（含5次）内已使用的口令（IIS基于Windows系统，可通过提升Windows帐户策略实现）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进入“控制面板-&gt;管理工具-&gt;本地安全策略”，在“帐户策略-&gt;密码策略”：“强制密码历史”设置为“记住5个密码”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“强制密码历史”设置为“记住5个密码”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  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进入“控制面板-&gt;管理工具-&gt;本地安全策略”，在“帐户策略-&gt;密码策略”：查看是否“强制密码历史”设置为“记住5个密码”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30607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91590" y="9652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用户权利指派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295" y="1287780"/>
          <a:ext cx="12042775" cy="4875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1195"/>
                <a:gridCol w="10101580"/>
              </a:tblGrid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endParaRPr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原理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：（1）文件夹和文件的访问权限：安放在NTFS文件系统上的文件夹和文件，一方面要对其权限加以控制，对不同的用户组和用户进行不同的权限设置；另外，可利用NTFS的审核功能对某些特定用户组成员 读文件的企图等方面进行审核，有效地通过监视如文件访问、用户对象的使用等发现非法用户进行非法活动的前兆，及时加以预防制止。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（2）目录的访问权限：已经设置成Web目录的文件夹，可以通过操作Web站点属性页面实现对www目录访问权限的控制，而该目录下的所有文件和子 文件夹都将继承这些安全性。www服务除了提供NTFS文件系统提供的权限外，还提供读取权限，允许用户读取或下载WWW目录中的文件；执行权限，允许用户运行www目录下的程序和脚本。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具体操作：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（1）启动“域用户管理器”-&gt;   “规则”选单下的“审核”选项-&gt;  “审核规则”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（2）启动ISM（Internet服务器管理器）-&gt;  启动Web属性页面并选择“目录”选项卡；-&gt;  选择www目录；-&gt;  选择“编辑属性”中的“目录属性”进行设置：“脚本资源访问”、“读取”、“写入”、“目录浏览”、“记录访问”、“索引资源”。 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30607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356360" y="9652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启用日志功能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295" y="1287780"/>
          <a:ext cx="12042775" cy="51410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IIS启用日志功能安全基线要求项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SBL-IIS-03-01-01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启用日志功能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打开IIS管理工具，右击要管理的站点，选择“属性”。在“Web Site”选择“启用日志记录”，从下拉菜单中选择“Microsotf IIS日志文件格式”。“W3C”日志格式存在日志记录时间与服务器时间不统一的问题，所以应尽量采用IIS日志格式。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启用日志记录，并采用IIS日志格式。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开始-&gt;管理工具-&gt;Internet 信息服务(IIS)管理器 选择相应的站点，然后右键点击“属性”检查是否“启用日志记录”并采用“Microsotf IIS日志文件格式”。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306070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356360" y="9652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更改日志存放路径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295" y="1287780"/>
          <a:ext cx="12042775" cy="4717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7213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IIS日志存放路径安全基线要求项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SBL-IIS-03-01-02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更改IIS Web日志默认存放路径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将IIS的网页访问日志独立存放在一个独立的分区中，并且系统管理员要定期对该目录进行查看和维护，确保日志内容不会溢出，并可以及早的发现网络异常行为。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IIS的网页访问日志独立存放在一个独立的分区中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进入“开始-&gt;管理工具-&gt;资源管理器”，查看日志文件存放路径。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122555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357630" y="781685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更改日志存放路径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930" y="1174750"/>
          <a:ext cx="12042775" cy="5554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7213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IIS记录安全事件安全基线要求项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设备应配置日志功能，记录与设备相关的安全事件。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endParaRPr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（1）进入“控制面板-&gt;管理工具-&gt;本地安全策略”，在“本地策略-&gt;审核策略”中配置相应 “审核对象访问”、“审核目录服务器访问”、“审核系统事件”、“审核帐号管理”、“审核过程追踪”选项。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（2）运行IIS管理器-&gt;“Internet信息服务”-&gt;“应用相关站点”属性-&gt;“网站”-&gt;“属性”-&gt;“高级”，选择“时间”、“日期”、“扩展属性”是否选择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确定系统相关“审核策略”</a:t>
                      </a:r>
                      <a:r>
                        <a:rPr lang="zh-CN" alt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确定IIS相关“站点属性”日志详细记录。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进入“控制面板-&gt;管理工具-&gt;本地安全策略”，查看“本地策略-&gt;审核策略”配置“成功”、“失败”的选择记录。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122555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357630" y="781685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6IP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访问限制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930" y="1174750"/>
          <a:ext cx="12042775" cy="4285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7213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 IP访问限制安全基线要求项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在条件允许的条件下，对IIS访问源进行IP范围限制。只有在允许的IP范围内的主机才可以访问WWW服务。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zh-CN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开始-&gt;管理工具-&gt;Internet 信息服务(IIS)管理器 选择相应的站点，然后右键点击“属性”</a:t>
                      </a:r>
                      <a:endParaRPr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需要限制访问源的话进行ip范围限制。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开始-&gt;管理工具-&gt;Internet 信息服务(IIS)管理器 选择相应的站点，然后右键点击“属性”。检查是否进行了ip的限制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图片 -2147482617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53" y="1299210"/>
            <a:ext cx="3677285" cy="305943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122555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357630" y="781685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7IP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转发安全性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74930" y="1174750"/>
          <a:ext cx="12042775" cy="4632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7213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 IP转发安全基线要求项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8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IP转发的安全性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IIS服务可提供IP数据包转发功能，此时，充当路由器角色的IIS服务器将会把从Internet接口收到的IP数据包转发到内部网中，以此提升IIS服务安全性。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IIS服务器启动“网络属性”-&gt; “协议”选项卡-&gt;在“TCP/IP属性”中去除 “路由选择”选项。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判断IIS所属服务器“路由选择”选项状态。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IIS服务器启动“网络属性”-&gt; “协议”选项卡-&gt;在“TCP/IP属性”查看 “路由选择”选项。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122555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030980" y="21844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8IP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转发安全性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49225" y="781685"/>
          <a:ext cx="12042775" cy="5863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7213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 SSL身份认证安全基线要求项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zh-CN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IIS的身份认证除了匿名访问、基本验证和Windows NT请求/响应方式外，还有一种安全性更高的认证：通过SSL（Security Socket Layer）安全机制使用数字证书，以此提升IIS应用的身份访问安全性。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启动“Internet信息服务”-&gt;“Web站点的属性页” -&gt;“目录安全性”选项-&gt;单击“密钥管理器”通过密钥管理器生成密钥对文件和请求文件；从身份认证权限中申请一个证书； 通过密钥管理器在服务器上安装证书激活Web站点的SSL安全性。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登录“Internet信息服务”-&gt;“Web站点的属性页” -&gt;“目录安全性”-&gt;“编辑”查看SSL相应选项选择状态。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（1）登录“Internet信息服务”-&gt;“Web站点的属性页” -&gt;“目录安全性”-&gt;“编辑”查看SSL相应选项选择状态。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（2）配置相应SSL身份认证后，分别以普通身份及基于SSL证书方式分别登录Web应用，查看登录状态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830" y="122555"/>
            <a:ext cx="3122295" cy="659130"/>
            <a:chOff x="676" y="334"/>
            <a:chExt cx="491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372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IIS安全配置基线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030980" y="21844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9IP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转发安全性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49225" y="781685"/>
          <a:ext cx="12042775" cy="5928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0325"/>
                <a:gridCol w="8172450"/>
              </a:tblGrid>
              <a:tr h="7213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IIS安装路径安全基线要求项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开始-&gt;管理工具-&gt;Internet 信息服务(IIS)管理器 选择相应的站点，然后右键点击“属性”。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IIS安装后的默认主目录是“%system%Inetpubwwwroot”，为更好地抵抗踩点、刺探等攻击行为，应该更改主目录位置，如下图所示：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5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更改IIS默认安装路径。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开始-&gt;管理工具-&gt;Internet 信息服务(IIS)管理器 选择相应的站点，然后右键点击“属性”。查看是否更改IIS默认安装路径。</a:t>
                      </a:r>
                      <a:endParaRPr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图片 -2147482619" descr="965-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520" y="3001645"/>
            <a:ext cx="2093595" cy="214376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22225" y="1758950"/>
            <a:ext cx="12238038" cy="33099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9600" strike="noStrike" noProof="1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25613" y="2473325"/>
            <a:ext cx="1712912" cy="1692275"/>
            <a:chOff x="1770244" y="775694"/>
            <a:chExt cx="1712595" cy="1692275"/>
          </a:xfrm>
        </p:grpSpPr>
        <p:sp>
          <p:nvSpPr>
            <p:cNvPr id="11" name="矩形 10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6000" b="1" strike="noStrike" noProof="1">
                  <a:cs typeface="+mn-ea"/>
                  <a:sym typeface="+mn-lt"/>
                </a:rPr>
                <a:t>03</a:t>
              </a:r>
              <a:endParaRPr lang="en-US" altLang="zh-CN" sz="6000" b="1" strike="noStrike" noProof="1"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110990" y="2838133"/>
            <a:ext cx="762254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Tomcat Web</a:t>
            </a:r>
            <a:r>
              <a:rPr lang="zh-CN" altLang="en-US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配置基线</a:t>
            </a:r>
            <a:endParaRPr lang="zh-CN" altLang="en-US" sz="6000" b="1" dirty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8785" y="229870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4435" y="8890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1.1共享帐号管理*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505460" y="1287780"/>
          <a:ext cx="11180445" cy="5421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3465"/>
                <a:gridCol w="758698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Tomcat共享帐号管理安全基线要求项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SBL-Tomcat-02-01-01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应按照用户分配帐号。避免不同用户间共享帐号。避免用户帐号和设备间通信使用的帐号共享。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zh-CN" alt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修改tomcat/conf/tomcat-users.xml配置文件，修改或添加帐号。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2、补充操作说明: 1.根据不同用户，取不同的名称。2Tomcat 4.1.37、5.5.27和6.0.18这三个版本及以后发行的版本默认都不存在admin.xml配置文件。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1、判定条件: 各帐号都可以登录Tomcat Web服务器为正常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2、检测操作: 访问http://ip:8080/manager/html管理页面，进行Tomcat服务器管理</a:t>
                      </a: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en-US" alt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8785" y="229870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4435" y="8890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无关账号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管理*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379730" y="1287780"/>
          <a:ext cx="11258550" cy="51410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865"/>
                <a:gridCol w="7639685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Tomcat无关帐号管理安全基线要求项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SBL-Tomcat-02-01-02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应删除或锁定与设备运行、维护等工作无关的帐号。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修改tomcat/conf/tomcat-users.xml配置文件，删除与工作无关的帐号。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例如tomcat1与运行、维护等工作无关，删除帐号：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&lt;user username=”tomcat1” password=”tomcat” roles=”admin”&gt;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被删除的与工作无关的帐号tomcat1不能正常登陆。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访问http://ip:8080/manager/html管理页面，使用删除帐号进行登陆尝试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9730" y="151765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690880" y="1287780"/>
          <a:ext cx="11210925" cy="5737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3625"/>
                <a:gridCol w="7607300"/>
              </a:tblGrid>
              <a:tr h="12534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对于采用静态口令认证技术的设备，口令长度至少8位，并包括数字、小写字母、大写字母和特殊符号四类中至少两类。且5次以内不得设置相同的口令。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在tomcat/conf/tomcat-user.xml配置文件中设置密码&lt;user username=”tomcat” password=”Tomcat!234” roles=”admin”&gt;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补充操作说明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口令要求：口令长度至少8位，并包括数字、小写字母、大写字母和特殊符号四类中至少两类。且5次以内不得设置相同的口令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检查tomcat/conf/tomcat-user.xml配置文件中的帐号口令是否符合移动通过配置口令复杂度要求。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（1）人工检查配置文件中帐号口令是否符合；（2）使用tomcat弱口令扫描工具定期对Tomcat Web服务器进行远程扫描，检查是否存在弱口令帐号。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194435" y="88900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密码复杂度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9730" y="151765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969635" y="24765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用户权利指派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249555" y="692150"/>
          <a:ext cx="11813540" cy="60938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7300"/>
                <a:gridCol w="801624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Tomcat用户权利指派安全基线要求项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45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在设备权限配置能力内，根据用户的业务需要，配置其所需的最小权限。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编辑tomcat/conf/tomcat-user.xml配置文件，修改用户角色权限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授权tomcat具有远程管理权限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：&lt;user username=”tomcat” password=”chinamobile”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roles=”admin,manager”&gt;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补充操作说明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Tomcat 4.x和5.x版本用户角色分为：role1，tomcat，admin，manager四种。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role1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：具有读权限；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tomcat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：具有读和运行权限；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admin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：具有读、运行和写权限；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manager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：具有远程管理权限。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登陆远程管理页面，使用tomcat帐号进行登陆，登陆成功。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登陆http://ip:8080/manager/html页面，使用tomcat帐号登陆，进行远程管理。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0205" y="248920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984875" y="390525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审核登录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475615" y="908050"/>
          <a:ext cx="11716385" cy="5862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4260"/>
                <a:gridCol w="10652125"/>
              </a:tblGrid>
              <a:tr h="585851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编辑server.xml配置文件，在&lt;HOST&gt;标签中增加记录日志功能将以下内容的注释标记&lt; ! --    -- &gt;取消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&lt;valve classname=”org.apache.catalina.valves.AccessLogValve”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Directory=”logs” prefix=”localhost_access_log.” Suffix=”.txt”Pattern=”common”resloveHosts=”false”/&gt;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补充操作说明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classname: This MUST be set to org.apache.catalina.valves.AccessLogValve to use the default access log valve. &amp;&lt;60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Directory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:日志文件放置的目录，在tomcat下面有个logs文件夹，那里面是专门放置日志文件的，也可以修改为其他路径；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: 这个是日志文件的名称前缀，日志名</a:t>
                      </a:r>
                      <a:r>
                        <a:rPr lang="zh-CN" alt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称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localhost_access_log.2008-10-22.txt，前面的前缀就是这个localhost_access_log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Suffix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: 文件后缀名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Pattern: common方式时，将记录访问源IP、本地服务器IP、记录日志服务器IP、访问方式、发送字节数、本地接收端口、访问URL地址等相关信息在日志文件中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resolveHosts:值为true时，tomcat会将这个服务器IP地址通过DNS转换为主机名，如果是false，就直接写服务器IP地址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0205" y="248920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984875" y="390525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支持加密步骤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475615" y="908050"/>
          <a:ext cx="11716385" cy="5858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4260"/>
                <a:gridCol w="10652125"/>
              </a:tblGrid>
              <a:tr h="585851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(1)使用JDK自带的keytool工具生成一个证书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JAVA_HOME/bin/keytool  -genkey –alias tomcat –keyalg  RSA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-keystore /path/to/my/keystore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(2)修改tomcat/conf/server.xml配置文件，更改为使用https方式，增加如下行：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Connector classname=”org.apache.catalina.http.HttpConnector”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port=”8443”  minProcessors=”5”  maxprocessors=”100”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enableLookups=”true”  acceptCount=”10”  debug=”0”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scheme=”https” secure=”true” 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Factory classname=”org.apache.catalina.SSLServerSocketFactory”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clientAuth=”false”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keystoreFile=”/path/to/my/keystore”  keystorePass=”runway”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protocol=”TLS”/&gt;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/Connector&gt;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其中keystorePass的值为生成keystore时输入的密码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(3)重新启动tomcat服务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0205" y="248920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80795" y="90805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定时登出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1283970" y="1586865"/>
          <a:ext cx="9474835" cy="5093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0425"/>
                <a:gridCol w="8614410"/>
              </a:tblGrid>
              <a:tr h="50933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编辑tomcat/conf/server.xml配置文件，修改为300秒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&lt;Connector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port="8080"  maxHttpHeaderSize="8192" maxThreads="150"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minSpareThreads="25" maxSpareThreads="75"、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enableLookups="false" redirectPort="8443" acceptCount="100"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connectionTimeout="300" disableUploadTimeout="true" /&gt;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补充操作说明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0205" y="248920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984875" y="390525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错误页面处理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249555" y="692150"/>
          <a:ext cx="11813540" cy="6156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7300"/>
                <a:gridCol w="801624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Tomcat错误页面安全基线要求项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(1)查看tomcat/conf/web.xml文件: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&lt;error-page&gt;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&lt;error-code&gt;404&lt;/error-code&gt;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&lt;location&gt;/noFile.htm&lt;/location&gt;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&lt;/error-page&gt;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……………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&lt;error-page&gt;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&lt;exception-type&gt;java.lang.NullPointerException&lt;/exception-type&gt;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&lt;location&gt;/ error.jsp&lt;/location&gt; 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&lt;/error-page&gt;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判定条件</a:t>
                      </a:r>
                      <a:r>
                        <a:rPr 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要求包含如下片段：</a:t>
                      </a: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图片 -2147482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885" y="5710873"/>
            <a:ext cx="2438400" cy="11334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0205" y="248920"/>
            <a:ext cx="3971925" cy="659130"/>
            <a:chOff x="676" y="334"/>
            <a:chExt cx="6255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03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06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20470" y="1069340"/>
            <a:ext cx="9478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目录列表访问限制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1283970" y="1586865"/>
          <a:ext cx="9474835" cy="5093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0425"/>
                <a:gridCol w="8614410"/>
              </a:tblGrid>
              <a:tr h="50933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参考配置操作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(1) 编辑tomcat/conf/web.xml配置文件， 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&lt;init-param&gt;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       &lt;param-name&gt;listings&lt;/param-name&gt;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       &lt;param-value&gt;true&lt;/param-value&gt;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   &lt;/init-param&gt;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把true改成false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(2)重新启动tomcat服务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22225" y="1758950"/>
            <a:ext cx="12238038" cy="33099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9600" strike="noStrike" noProof="1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0633" y="2499360"/>
            <a:ext cx="1712912" cy="1692275"/>
            <a:chOff x="1770244" y="775694"/>
            <a:chExt cx="1712595" cy="1692275"/>
          </a:xfrm>
        </p:grpSpPr>
        <p:sp>
          <p:nvSpPr>
            <p:cNvPr id="11" name="矩形 10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6000" b="1" strike="noStrike" noProof="1">
                  <a:cs typeface="+mn-ea"/>
                  <a:sym typeface="+mn-lt"/>
                </a:rPr>
                <a:t>04</a:t>
              </a:r>
              <a:endParaRPr lang="en-US" altLang="zh-CN" sz="6000" b="1" strike="noStrike" noProof="1"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423285" y="2864168"/>
            <a:ext cx="8310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Weblogic Web</a:t>
            </a:r>
            <a:r>
              <a:rPr lang="zh-CN" altLang="en-US" sz="60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配置基线</a:t>
            </a:r>
            <a:endParaRPr lang="zh-CN" altLang="en-US" sz="6000" b="1" dirty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账号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系统启动账号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93800" y="2425700"/>
          <a:ext cx="8483600" cy="36099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6690"/>
                <a:gridCol w="5756910"/>
              </a:tblGrid>
              <a:tr h="6851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WebLogic启动帐号安全基线要求项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SBL-WebLogic-02-01-01</a:t>
                      </a:r>
                      <a:endParaRPr lang="en-US" alt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要求限制帐号</a:t>
                      </a:r>
                      <a:endParaRPr lang="en-US" alt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查看以管理员身份登录控制台执行</a:t>
                      </a:r>
                      <a:r>
                        <a:rPr lang="en-US" sz="1800" b="1" i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# ps –ef| grep –i weblogic</a:t>
                      </a:r>
                      <a:endParaRPr lang="en-US" altLang="en-US" sz="1800" b="1" i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执行帐号不可以是root和nobody。</a:t>
                      </a:r>
                      <a:endParaRPr lang="en-US" alt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108337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账号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账号锁定策略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3800" y="2387600"/>
          <a:ext cx="8229600" cy="4480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880"/>
                <a:gridCol w="6014720"/>
              </a:tblGrid>
              <a:tr h="6102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WebLogic帐号锁定安全基线要求项</a:t>
                      </a:r>
                      <a:endParaRPr lang="en-US" sz="1800" b="0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SBL-WebLogic-02-01-02</a:t>
                      </a:r>
                      <a:endParaRPr lang="en-US" altLang="en-US" sz="1800" b="0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51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要求设定帐号锁定次数和时间，错误输入密码10次，系统自动锁定，锁定时间5分钟。</a:t>
                      </a:r>
                      <a:endParaRPr lang="en-US" altLang="en-US" sz="1800" b="0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20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查看以管理员身份登录控制台1. 点击左侧面板”Security”文件夹，展开”REALM”2. 点击右侧面板中的”User Lock”标签，查看Lockout Enabled，Lockout Threshold，Lockout Duration等</a:t>
                      </a:r>
                      <a:endParaRPr lang="en-US" altLang="en-US" sz="1800" b="0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51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-2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要求Lockout Enabled=true;Lockout Threshold=10;Lockout Duration=5</a:t>
                      </a:r>
                      <a:endParaRPr lang="en-US" altLang="en-US" sz="1800" b="0" spc="-20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口令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1.2.1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密码复杂度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2292350"/>
          <a:ext cx="10558780" cy="44161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6365"/>
                <a:gridCol w="7892415"/>
              </a:tblGrid>
              <a:tr h="5899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WebLogic密码复杂度安全基线要求项</a:t>
                      </a:r>
                      <a:endParaRPr lang="en-US" sz="1800" b="0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altLang="en-US" sz="1800" b="1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SBL-WebLogic-02-02-01</a:t>
                      </a:r>
                      <a:endParaRPr lang="en-US" sz="1800" b="0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26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对于采用静态口令认证技术的设备，口令长度至少8位，并包括数字、小写字母、大写字母和特殊符号四类中至少两类。且5次以内不得设置相同的口令。密码应至少每90天进行更换。</a:t>
                      </a:r>
                      <a:endParaRPr lang="en-US" altLang="en-US" sz="1800" b="0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16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查看WebLogic安装目录下的weblogic.properties配置文件</a:t>
                      </a: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2、补充操作说明</a:t>
                      </a:r>
                      <a:r>
                        <a:rPr lang="en-US" sz="1800" b="0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口令要求：口令长度至少8位，并包括数字、小写字母、大写字母和特殊符号四类中至少两类。且5次以内不得设置相同的口令。密码应至少每90天进行更换。</a:t>
                      </a:r>
                      <a:endParaRPr lang="en-US" altLang="en-US" sz="1800" b="0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2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weblogic.system.minPasswordLen=8等</a:t>
                      </a:r>
                      <a:endParaRPr lang="en-US" altLang="en-US" sz="1800" b="0" spc="12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日志配置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2.1.1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审核登录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4435" y="2560955"/>
          <a:ext cx="10224135" cy="43455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8260"/>
                <a:gridCol w="7635875"/>
              </a:tblGrid>
              <a:tr h="57975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WebLogic审核登录安全基线要求项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SBL-WebLogic-03-01-01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26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设备应配置日志功能，对用户登录进行记录，记录内容包括用户登录使用的帐号，登录是否成功，登录时间，以及远程登录时，用户使用的IP地址。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查看WebLogic安装目录下的weblogic.properties配置文件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开启日志，配置按日期rotateweblogic.system.enableReverseDNSLookups=</a:t>
                      </a:r>
                      <a:r>
                        <a:rPr lang="en-US" sz="1800" b="0" i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endParaRPr lang="en-US" altLang="en-US" sz="1800" b="0" i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 IP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协议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3.1.1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支持加密协议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66420" y="2477770"/>
          <a:ext cx="11506835" cy="43812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150"/>
                <a:gridCol w="9163685"/>
              </a:tblGrid>
              <a:tr h="4559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WebLogic支持加密协议安全基线要求项</a:t>
                      </a:r>
                      <a:endParaRPr 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SBL-WebLogic-04-01-01</a:t>
                      </a:r>
                      <a:endParaRPr lang="en-US" altLang="en-US" sz="18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对于通过HTTP协议进行远程维护的设备，设备应支持使用HTTPS等加密协议。</a:t>
                      </a:r>
                      <a:endParaRPr lang="en-US" altLang="en-US" sz="18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查看WebLogic安装目录下的weblogic.properties配置文件</a:t>
                      </a:r>
                      <a:endParaRPr lang="en-US" altLang="en-US" sz="18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651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weblogic.system.SSLListenPort=</a:t>
                      </a:r>
                      <a:r>
                        <a:rPr lang="en-US" sz="1800" b="0" i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portNumber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weblogic.security.certificate.server=</a:t>
                      </a:r>
                      <a:r>
                        <a:rPr lang="en-US" sz="1800" b="0" i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mycert.der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weblogic.security.key.server=</a:t>
                      </a:r>
                      <a:r>
                        <a:rPr lang="en-US" sz="1800" b="0" i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mykey.der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weblogic.security.certificate.authority=</a:t>
                      </a:r>
                      <a:r>
                        <a:rPr lang="en-US" sz="1800" b="0" i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CA.der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weblogic.security.certificateCacheSize=</a:t>
                      </a:r>
                      <a:r>
                        <a:rPr lang="en-US" sz="1800" b="0" i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weblogic.security.clientRootCA=</a:t>
                      </a:r>
                      <a:r>
                        <a:rPr lang="en-US" sz="1800" b="0" i="1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anyValidCertificate</a:t>
                      </a:r>
                      <a:r>
                        <a:rPr lang="en-US" sz="18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weblogic.httpd.register.authenticated=\weblogic.t3.srvr.ClientAuthenticationServletweblogic.httpd.register.T3AdminCaptureRootCA=admin.T3AdminCaptureRootCA SSL Enabled="true"</a:t>
                      </a:r>
                      <a:endParaRPr lang="en-US" altLang="en-US" sz="18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 IP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协议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3.1.2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限制应用服务器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socket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数量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2378710"/>
          <a:ext cx="10730865" cy="43761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190"/>
                <a:gridCol w="8321675"/>
              </a:tblGrid>
              <a:tr h="54991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WebLogic限制应用服务器Socket数量安全基线要求项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SBL-WebLogic-04-01-02</a:t>
                      </a:r>
                      <a:endParaRPr 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Sockets最大打开数目设置不当的话，容易受到拒绝服务攻击，超出操作系统文件描述符限制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16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以管理员身份登录管理控制台1. 点击左侧面板的域名文件夹，然后点击Servers文件夹，双击要管理的服务器2. 在右侧面板的“Configuration”面板下选择“Tuning”标签，查看Maximum Open Sockets值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要求Maximum Open Sockets不大于1024。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 IP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协议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3.1.3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禁用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send server header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2370455"/>
          <a:ext cx="10005695" cy="4371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880"/>
                <a:gridCol w="7790815"/>
              </a:tblGrid>
              <a:tr h="873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WebLogic禁用Send Server Header安全基线要求项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SBL-WebLogic-04-01-03</a:t>
                      </a:r>
                      <a:endParaRPr 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Sockets最大打开数目设置不当的话，容易受到拒绝服务攻击，超出操作系统文件描述符限制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26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以管理员身份登录管理控制台1. 点击域名下的Servers文件夹，选择要管理的服务器2. 在右侧面板“Protocols”面板下，点击HTTP标签3. 检查是否勾选Send Server header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要求禁止Send Server header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安全管理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4.1.1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定时登出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2408555"/>
          <a:ext cx="9726295" cy="4330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6220"/>
                <a:gridCol w="6950075"/>
              </a:tblGrid>
              <a:tr h="6356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WebLogic定时登出安全基线要求项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SBL-WebLogic-05-01-01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对于具备字符交互界面的设备，应支持定时帐户自动登出。登出后用户需再次登录才能进入系统。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查看WebLogic安装目录下的weblogic.properties配置文件自动登出时间为5分钟。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4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weblogic.login.readTimeoutMillis=</a:t>
                      </a:r>
                      <a:r>
                        <a:rPr lang="en-US" sz="1800" b="0" i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integer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weblogic.login.readTimeoutMillisSSL=</a:t>
                      </a:r>
                      <a:r>
                        <a:rPr lang="en-US" sz="1800" b="0" i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integer</a:t>
                      </a:r>
                      <a:endParaRPr lang="en-US" altLang="en-US" sz="1800" b="0" i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安全管理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4.1.2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更改默认端口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3800" y="2603500"/>
          <a:ext cx="9019540" cy="3975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6690"/>
                <a:gridCol w="6292850"/>
              </a:tblGrid>
              <a:tr h="7550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WebLogic运行端口安全基线要求项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99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SBL-WebLogic-05-01-02</a:t>
                      </a:r>
                      <a:endParaRPr lang="en-US" alt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92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更改WebLogic服务器默认端口</a:t>
                      </a:r>
                      <a:endParaRPr lang="en-US" alt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915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查看WebLogic安装目录下的weblogic.properties配置文件</a:t>
                      </a:r>
                      <a:endParaRPr lang="en-US" alt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92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weblogic.system.listenPort=</a:t>
                      </a:r>
                      <a:r>
                        <a:rPr lang="en-US" sz="1800" b="0" i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integer</a:t>
                      </a:r>
                      <a:endParaRPr lang="en-US" altLang="en-US" sz="1800" b="0" i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安全管理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4.1.3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错误页面处理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5070" y="2378075"/>
          <a:ext cx="8953500" cy="43696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6690"/>
                <a:gridCol w="6226810"/>
              </a:tblGrid>
              <a:tr h="66103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WebLogic错误页面处理安全基线要求项</a:t>
                      </a:r>
                      <a:endParaRPr lang="en-US" sz="19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SBL-WebLogic-05-01-03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安全基线项说明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WebLogic错误页面重定向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567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查看&lt;Application HOME&gt;/WEB-INF/web.xml:</a:t>
                      </a: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7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判定条件</a:t>
                      </a:r>
                      <a:r>
                        <a:rPr 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要求包含如下片段：</a:t>
                      </a:r>
                      <a:endParaRPr 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15900" marR="215900" marT="133350" marB="1333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4124960" y="5660390"/>
            <a:ext cx="3357245" cy="102806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420" y="629920"/>
            <a:ext cx="4290695" cy="659130"/>
            <a:chOff x="676" y="334"/>
            <a:chExt cx="6757" cy="1038"/>
          </a:xfrm>
        </p:grpSpPr>
        <p:grpSp>
          <p:nvGrpSpPr>
            <p:cNvPr id="5" name="组合 4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76" y="566"/>
                <a:ext cx="794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04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66" y="460"/>
              <a:ext cx="556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51A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Weblogic Web配置基线</a:t>
              </a:r>
              <a:endParaRPr lang="zh-CN" altLang="en-US" sz="2400">
                <a:solidFill>
                  <a:srgbClr val="C51A1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95070" y="1289050"/>
            <a:ext cx="94780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 安全管理</a:t>
            </a:r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4.1.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目录列表访问限制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3800" y="2451100"/>
          <a:ext cx="7498080" cy="386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7915"/>
                <a:gridCol w="5130165"/>
              </a:tblGrid>
              <a:tr h="6096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安全基线项目名称</a:t>
                      </a:r>
                      <a:endParaRPr lang="en-US" sz="18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WebLogic目录列表安全基线要求项</a:t>
                      </a:r>
                      <a:endParaRPr lang="en-US" sz="18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安全基线编号</a:t>
                      </a:r>
                      <a:endParaRPr 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SBL-WebLogic-05-01-04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安全基线项说明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禁止WebLogic列表显示文件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检测操作步骤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1、参考配置操作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查看WebLogic安装目录下的weblogic.properties配置文件</a:t>
                      </a:r>
                      <a:endParaRPr lang="en-US" altLang="en-US" sz="18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174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基线符合性判定依据</a:t>
                      </a:r>
                      <a:endParaRPr lang="en-US" altLang="en-US" sz="18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1、判定条件</a:t>
                      </a:r>
                      <a:r>
                        <a:rPr lang="en-US" sz="18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weblogic.httpd.indexDirectories=</a:t>
                      </a:r>
                      <a:r>
                        <a:rPr lang="en-US" sz="1800" b="0" i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lang="en-US" altLang="en-US" sz="1800" b="0" i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组合 9"/>
          <p:cNvGrpSpPr/>
          <p:nvPr/>
        </p:nvGrpSpPr>
        <p:grpSpPr>
          <a:xfrm>
            <a:off x="690563" y="585788"/>
            <a:ext cx="10810875" cy="5686425"/>
            <a:chOff x="1125" y="907"/>
            <a:chExt cx="17025" cy="8955"/>
          </a:xfrm>
        </p:grpSpPr>
        <p:sp>
          <p:nvSpPr>
            <p:cNvPr id="3" name="矩形 2"/>
            <p:cNvSpPr/>
            <p:nvPr/>
          </p:nvSpPr>
          <p:spPr>
            <a:xfrm>
              <a:off x="1125" y="907"/>
              <a:ext cx="17025" cy="89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cs typeface="+mn-ea"/>
                <a:sym typeface="+mn-lt"/>
              </a:endParaRPr>
            </a:p>
          </p:txBody>
        </p:sp>
        <p:sp useBgFill="1">
          <p:nvSpPr>
            <p:cNvPr id="19" name="矩形 18"/>
            <p:cNvSpPr/>
            <p:nvPr/>
          </p:nvSpPr>
          <p:spPr>
            <a:xfrm>
              <a:off x="5110" y="4518"/>
              <a:ext cx="9056" cy="2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/>
              <a:r>
                <a:rPr lang="zh-CN" altLang="zh-CN" sz="7200" b="1" strike="noStrike" noProof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cs typeface="+mn-ea"/>
                  <a:sym typeface="+mn-lt"/>
                </a:rPr>
                <a:t>谢谢您的观看</a:t>
              </a:r>
              <a:endParaRPr lang="zh-CN" altLang="zh-CN" sz="7200" b="1" strike="noStrike" noProof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 useBgFill="1">
          <p:nvSpPr>
            <p:cNvPr id="6" name="矩形 5"/>
            <p:cNvSpPr/>
            <p:nvPr/>
          </p:nvSpPr>
          <p:spPr>
            <a:xfrm>
              <a:off x="5758" y="6482"/>
              <a:ext cx="7761" cy="1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/>
              <a:r>
                <a:rPr lang="en-US" altLang="zh-CN" sz="2400" b="1" strike="noStrike" noProof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cs typeface="+mn-ea"/>
                  <a:sym typeface="+mn-lt"/>
                </a:rPr>
                <a:t>THANKS FOR YOUR WATCHING</a:t>
              </a:r>
              <a:endParaRPr lang="en-US" altLang="zh-CN" sz="2400" b="1" strike="noStrike" noProof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.xml><?xml version="1.0" encoding="utf-8"?>
<p:tagLst xmlns:p="http://schemas.openxmlformats.org/presentationml/2006/main">
  <p:tag name="REFSHAPE" val="199488564"/>
</p:tagLst>
</file>

<file path=ppt/tags/tag3.xml><?xml version="1.0" encoding="utf-8"?>
<p:tagLst xmlns:p="http://schemas.openxmlformats.org/presentationml/2006/main">
  <p:tag name="REFSHAPE" val="199489108"/>
</p:tagLst>
</file>

<file path=ppt/tags/tag4.xml><?xml version="1.0" encoding="utf-8"?>
<p:tagLst xmlns:p="http://schemas.openxmlformats.org/presentationml/2006/main">
  <p:tag name="REFSHAPE" val="199490604"/>
</p:tagLst>
</file>

<file path=ppt/tags/tag5.xml><?xml version="1.0" encoding="utf-8"?>
<p:tagLst xmlns:p="http://schemas.openxmlformats.org/presentationml/2006/main">
  <p:tag name="REFSHAPE" val="199490876"/>
</p:tagLst>
</file>

<file path=ppt/tags/tag6.xml><?xml version="1.0" encoding="utf-8"?>
<p:tagLst xmlns:p="http://schemas.openxmlformats.org/presentationml/2006/main">
  <p:tag name="REFSHAPE" val="199494140"/>
</p:tagLst>
</file>

<file path=ppt/tags/tag7.xml><?xml version="1.0" encoding="utf-8"?>
<p:tagLst xmlns:p="http://schemas.openxmlformats.org/presentationml/2006/main">
  <p:tag name="REFSHAPE" val="199491284"/>
</p:tagLst>
</file>

<file path=ppt/tags/tag8.xml><?xml version="1.0" encoding="utf-8"?>
<p:tagLst xmlns:p="http://schemas.openxmlformats.org/presentationml/2006/main">
  <p:tag name="REFSHAPE" val="199493868"/>
</p:tagLst>
</file>

<file path=ppt/tags/tag9.xml><?xml version="1.0" encoding="utf-8"?>
<p:tagLst xmlns:p="http://schemas.openxmlformats.org/presentationml/2006/main">
  <p:tag name="REFSHAPE" val="199493596"/>
</p:tagLst>
</file>

<file path=ppt/tags/tag10.xml><?xml version="1.0" encoding="utf-8"?>
<p:tagLst xmlns:p="http://schemas.openxmlformats.org/presentationml/2006/main">
  <p:tag name="REFSHAPE" val="199491284"/>
</p:tagLst>
</file>

<file path=ppt/tags/tag11.xml><?xml version="1.0" encoding="utf-8"?>
<p:tagLst xmlns:p="http://schemas.openxmlformats.org/presentationml/2006/main">
  <p:tag name="REFSHAPE" val="199493868"/>
</p:tagLst>
</file>

<file path=ppt/tags/tag12.xml><?xml version="1.0" encoding="utf-8"?>
<p:tagLst xmlns:p="http://schemas.openxmlformats.org/presentationml/2006/main">
  <p:tag name="REFSHAPE" val="199493596"/>
</p:tagLst>
</file>

<file path=ppt/tags/tag13.xml><?xml version="1.0" encoding="utf-8"?>
<p:tagLst xmlns:p="http://schemas.openxmlformats.org/presentationml/2006/main">
  <p:tag name="REFSHAPE" val="199491284"/>
</p:tagLst>
</file>

<file path=ppt/tags/tag14.xml><?xml version="1.0" encoding="utf-8"?>
<p:tagLst xmlns:p="http://schemas.openxmlformats.org/presentationml/2006/main">
  <p:tag name="REFSHAPE" val="199493868"/>
</p:tagLst>
</file>

<file path=ppt/tags/tag15.xml><?xml version="1.0" encoding="utf-8"?>
<p:tagLst xmlns:p="http://schemas.openxmlformats.org/presentationml/2006/main">
  <p:tag name="REFSHAPE" val="199493596"/>
</p:tagLst>
</file>

<file path=ppt/tags/tag16.xml><?xml version="1.0" encoding="utf-8"?>
<p:tagLst xmlns:p="http://schemas.openxmlformats.org/presentationml/2006/main">
  <p:tag name="REFSHAPE" val="199491284"/>
</p:tagLst>
</file>

<file path=ppt/tags/tag17.xml><?xml version="1.0" encoding="utf-8"?>
<p:tagLst xmlns:p="http://schemas.openxmlformats.org/presentationml/2006/main">
  <p:tag name="REFSHAPE" val="199493868"/>
</p:tagLst>
</file>

<file path=ppt/tags/tag18.xml><?xml version="1.0" encoding="utf-8"?>
<p:tagLst xmlns:p="http://schemas.openxmlformats.org/presentationml/2006/main">
  <p:tag name="REFSHAPE" val="199493596"/>
</p:tagLst>
</file>

<file path=ppt/tags/tag19.xml><?xml version="1.0" encoding="utf-8"?>
<p:tagLst xmlns:p="http://schemas.openxmlformats.org/presentationml/2006/main">
  <p:tag name="KSO_WM_SLIDE_ID" val="custom20187308_2"/>
  <p:tag name="KSO_WM_SLIDE_TYPE" val="contents"/>
  <p:tag name="KSO_WM_SLIDE_SUBTYPE" val="diag"/>
  <p:tag name="KSO_WM_SLIDE_ITEM_CNT" val="5"/>
  <p:tag name="KSO_WM_SLIDE_INDEX" val="2"/>
  <p:tag name="KSO_WM_TAG_VERSION" val="1.0"/>
  <p:tag name="KSO_WM_BEAUTIFY_FLAG" val="#wm#"/>
  <p:tag name="KSO_WM_TEMPLATE_CATEGORY" val="custom"/>
  <p:tag name="KSO_WM_TEMPLATE_INDEX" val="20187308"/>
  <p:tag name="KSO_WM_SLIDE_LAYOUT" val="a_b_l"/>
  <p:tag name="KSO_WM_SLIDE_LAYOUT_CNT" val="1_1_1"/>
  <p:tag name="KSO_WM_DIAGRAM_GROUP_CODE" val="l1-1"/>
  <p:tag name="KSO_WM_SPECIAL_SOURCE" val="bdnull"/>
</p:tagLst>
</file>

<file path=ppt/tags/tag20.xml><?xml version="1.0" encoding="utf-8"?>
<p:tagLst xmlns:p="http://schemas.openxmlformats.org/presentationml/2006/main">
  <p:tag name="KSO_WM_SPECIAL_SOURCE" val="bdnull"/>
</p:tagLst>
</file>

<file path=ppt/tags/tag21.xml><?xml version="1.0" encoding="utf-8"?>
<p:tagLst xmlns:p="http://schemas.openxmlformats.org/presentationml/2006/main">
  <p:tag name="KSO_WM_UNIT_TABLE_BEAUTIFY" val="smartTable{c1f70d50-7734-4d63-91e0-de59a35763da}"/>
  <p:tag name="TABLE_ENDDRAG_ORIGIN_RECT" val="960*464"/>
  <p:tag name="TABLE_ENDDRAG_RECT" val="0*197*960*464"/>
  <p:tag name="TABLE_AUTOADJUST_FLAG" val="1"/>
</p:tagLst>
</file>

<file path=ppt/tags/tag22.xml><?xml version="1.0" encoding="utf-8"?>
<p:tagLst xmlns:p="http://schemas.openxmlformats.org/presentationml/2006/main">
  <p:tag name="KSO_WM_SPECIAL_SOURCE" val="bdnull"/>
</p:tagLst>
</file>

<file path=ppt/tags/tag23.xml><?xml version="1.0" encoding="utf-8"?>
<p:tagLst xmlns:p="http://schemas.openxmlformats.org/presentationml/2006/main">
  <p:tag name="KSO_WM_UNIT_TABLE_BEAUTIFY" val="smartTable{f59924df-7548-48e8-98fe-094d59fc2f99}"/>
  <p:tag name="TABLE_ENDDRAG_ORIGIN_RECT" val="865*334"/>
  <p:tag name="TABLE_ENDDRAG_RECT" val="94*205*865*334"/>
  <p:tag name="TABLE_AUTOADJUST_FLAG" val="1"/>
</p:tagLst>
</file>

<file path=ppt/tags/tag24.xml><?xml version="1.0" encoding="utf-8"?>
<p:tagLst xmlns:p="http://schemas.openxmlformats.org/presentationml/2006/main">
  <p:tag name="KSO_WM_SPECIAL_SOURCE" val="bdnull"/>
</p:tagLst>
</file>

<file path=ppt/tags/tag25.xml><?xml version="1.0" encoding="utf-8"?>
<p:tagLst xmlns:p="http://schemas.openxmlformats.org/presentationml/2006/main">
  <p:tag name="KSO_WM_UNIT_TABLE_BEAUTIFY" val="smartTable{34a4dc94-97bf-4ee4-ae11-1ea262d2aa3e}"/>
  <p:tag name="TABLE_ENDDRAG_ORIGIN_RECT" val="865*348"/>
  <p:tag name="TABLE_ENDDRAG_RECT" val="94*192*865*348"/>
  <p:tag name="TABLE_AUTOADJUST_FLAG" val="1"/>
</p:tagLst>
</file>

<file path=ppt/tags/tag26.xml><?xml version="1.0" encoding="utf-8"?>
<p:tagLst xmlns:p="http://schemas.openxmlformats.org/presentationml/2006/main">
  <p:tag name="KSO_WM_SPECIAL_SOURCE" val="bdnull"/>
</p:tagLst>
</file>

<file path=ppt/tags/tag27.xml><?xml version="1.0" encoding="utf-8"?>
<p:tagLst xmlns:p="http://schemas.openxmlformats.org/presentationml/2006/main">
  <p:tag name="KSO_WM_UNIT_TABLE_BEAUTIFY" val="smartTable{4d2794a2-cc53-407d-bc22-2ed96b40dfd7}"/>
  <p:tag name="TABLE_ENDDRAG_ORIGIN_RECT" val="849*354"/>
  <p:tag name="TABLE_ENDDRAG_RECT" val="91*187*849*354"/>
  <p:tag name="TABLE_AUTOADJUST_FLAG" val="1"/>
</p:tagLst>
</file>

<file path=ppt/tags/tag28.xml><?xml version="1.0" encoding="utf-8"?>
<p:tagLst xmlns:p="http://schemas.openxmlformats.org/presentationml/2006/main">
  <p:tag name="KSO_WM_SPECIAL_SOURCE" val="bdnull"/>
</p:tagLst>
</file>

<file path=ppt/tags/tag29.xml><?xml version="1.0" encoding="utf-8"?>
<p:tagLst xmlns:p="http://schemas.openxmlformats.org/presentationml/2006/main">
  <p:tag name="KSO_WM_UNIT_TABLE_BEAUTIFY" val="smartTable{95af569e-a737-4fda-83d4-38cbd3f47d5d}"/>
  <p:tag name="TABLE_ENDDRAG_ORIGIN_RECT" val="771*374"/>
  <p:tag name="TABLE_ENDDRAG_RECT" val="94*165*771*374"/>
  <p:tag name="TABLE_AUTOADJUST_FLAG" val="1"/>
</p:tagLst>
</file>

<file path=ppt/tags/tag30.xml><?xml version="1.0" encoding="utf-8"?>
<p:tagLst xmlns:p="http://schemas.openxmlformats.org/presentationml/2006/main">
  <p:tag name="KSO_WM_SPECIAL_SOURCE" val="bdnull"/>
</p:tagLst>
</file>

<file path=ppt/tags/tag31.xml><?xml version="1.0" encoding="utf-8"?>
<p:tagLst xmlns:p="http://schemas.openxmlformats.org/presentationml/2006/main">
  <p:tag name="KSO_WM_UNIT_TABLE_BEAUTIFY" val="smartTable{e672327a-e424-417f-91ac-eae4701452e6}"/>
  <p:tag name="TABLE_ENDDRAG_ORIGIN_RECT" val="757*368"/>
  <p:tag name="TABLE_ENDDRAG_RECT" val="94*160*757*368"/>
  <p:tag name="TABLE_AUTOADJUST_FLAG" val="1"/>
</p:tagLst>
</file>

<file path=ppt/tags/tag32.xml><?xml version="1.0" encoding="utf-8"?>
<p:tagLst xmlns:p="http://schemas.openxmlformats.org/presentationml/2006/main">
  <p:tag name="KSO_WM_SPECIAL_SOURCE" val="bdnull"/>
</p:tagLst>
</file>

<file path=ppt/tags/tag33.xml><?xml version="1.0" encoding="utf-8"?>
<p:tagLst xmlns:p="http://schemas.openxmlformats.org/presentationml/2006/main">
  <p:tag name="KSO_WM_UNIT_TABLE_BEAUTIFY" val="smartTable{ad9fdf26-5add-465c-a55d-176b19fa958f}"/>
  <p:tag name="TABLE_ENDDRAG_ORIGIN_RECT" val="580*358"/>
  <p:tag name="TABLE_ENDDRAG_RECT" val="94*181*580*358"/>
  <p:tag name="TABLE_AUTOADJUST_FLAG" val="1"/>
</p:tagLst>
</file>

<file path=ppt/tags/tag34.xml><?xml version="1.0" encoding="utf-8"?>
<p:tagLst xmlns:p="http://schemas.openxmlformats.org/presentationml/2006/main">
  <p:tag name="KSO_WM_SPECIAL_SOURCE" val="bdnull"/>
</p:tagLst>
</file>

<file path=ppt/tags/tag35.xml><?xml version="1.0" encoding="utf-8"?>
<p:tagLst xmlns:p="http://schemas.openxmlformats.org/presentationml/2006/main">
  <p:tag name="KSO_WM_UNIT_TABLE_BEAUTIFY" val="smartTable{db0c8191-7fd2-4dcb-8b3e-d50805cf52ce}"/>
  <p:tag name="TABLE_ENDDRAG_ORIGIN_RECT" val="755*345"/>
  <p:tag name="TABLE_ENDDRAG_RECT" val="94*224*755*345"/>
  <p:tag name="TABLE_AUTOADJUST_FLAG" val="1"/>
</p:tagLst>
</file>

<file path=ppt/tags/tag36.xml><?xml version="1.0" encoding="utf-8"?>
<p:tagLst xmlns:p="http://schemas.openxmlformats.org/presentationml/2006/main">
  <p:tag name="KSO_WM_SPECIAL_SOURCE" val="bdnull"/>
</p:tagLst>
</file>

<file path=ppt/tags/tag37.xml><?xml version="1.0" encoding="utf-8"?>
<p:tagLst xmlns:p="http://schemas.openxmlformats.org/presentationml/2006/main">
  <p:tag name="KSO_WM_UNIT_TABLE_BEAUTIFY" val="smartTable{f9cad227-3e9e-45b4-b286-ed04d986c59f}"/>
  <p:tag name="TABLE_ENDDRAG_ORIGIN_RECT" val="599*284"/>
  <p:tag name="TABLE_ENDDRAG_RECT" val="94*178*599*284"/>
  <p:tag name="TABLE_AUTOADJUST_FLAG" val="1"/>
</p:tagLst>
</file>

<file path=ppt/tags/tag38.xml><?xml version="1.0" encoding="utf-8"?>
<p:tagLst xmlns:p="http://schemas.openxmlformats.org/presentationml/2006/main">
  <p:tag name="KSO_WM_SPECIAL_SOURCE" val="bdnull"/>
</p:tagLst>
</file>

<file path=ppt/tags/tag39.xml><?xml version="1.0" encoding="utf-8"?>
<p:tagLst xmlns:p="http://schemas.openxmlformats.org/presentationml/2006/main">
  <p:tag name="KSO_WM_SPECIAL_SOURCE" val="bdnull"/>
</p:tagLst>
</file>

<file path=ppt/tags/tag40.xml><?xml version="1.0" encoding="utf-8"?>
<p:tagLst xmlns:p="http://schemas.openxmlformats.org/presentationml/2006/main">
  <p:tag name="KSO_WM_UNIT_TABLE_BEAUTIFY" val="smartTable{e45ecbcb-2693-4f2e-8f31-9afc3018514e}"/>
  <p:tag name="TABLE_ENDDRAG_ORIGIN_RECT" val="907*425"/>
  <p:tag name="TABLE_ENDDRAG_RECT" val="18*142*907*425"/>
  <p:tag name="TABLE_AUTOADJUST_FLAG" val="1"/>
</p:tagLst>
</file>

<file path=ppt/tags/tag41.xml><?xml version="1.0" encoding="utf-8"?>
<p:tagLst xmlns:p="http://schemas.openxmlformats.org/presentationml/2006/main">
  <p:tag name="KSO_WM_SPECIAL_SOURCE" val="bdnull"/>
</p:tagLst>
</file>

<file path=ppt/tags/tag42.xml><?xml version="1.0" encoding="utf-8"?>
<p:tagLst xmlns:p="http://schemas.openxmlformats.org/presentationml/2006/main">
  <p:tag name="KSO_WM_UNIT_TABLE_BEAUTIFY" val="smartTable{f860f2b6-1ac4-442e-8cbd-302bdfcd62e2}"/>
  <p:tag name="TABLE_ENDDRAG_ORIGIN_RECT" val="900*425"/>
  <p:tag name="TABLE_ENDDRAG_RECT" val="24*116*900*425"/>
  <p:tag name="TABLE_AUTOADJUST_FLAG" val="1"/>
</p:tagLst>
</file>

<file path=ppt/tags/tag43.xml><?xml version="1.0" encoding="utf-8"?>
<p:tagLst xmlns:p="http://schemas.openxmlformats.org/presentationml/2006/main">
  <p:tag name="KSO_WM_SPECIAL_SOURCE" val="bdnull"/>
</p:tagLst>
</file>

<file path=ppt/tags/tag44.xml><?xml version="1.0" encoding="utf-8"?>
<p:tagLst xmlns:p="http://schemas.openxmlformats.org/presentationml/2006/main">
  <p:tag name="KSO_WM_UNIT_TABLE_BEAUTIFY" val="smartTable{ecd944b2-d8ad-4ddb-9c02-36e6e9ec4148}"/>
  <p:tag name="TABLE_ENDDRAG_ORIGIN_RECT" val="948*478"/>
  <p:tag name="TABLE_ENDDRAG_RECT" val="5*101*948*478"/>
  <p:tag name="TABLE_AUTOADJUST_FLAG" val="1"/>
</p:tagLst>
</file>

<file path=ppt/tags/tag45.xml><?xml version="1.0" encoding="utf-8"?>
<p:tagLst xmlns:p="http://schemas.openxmlformats.org/presentationml/2006/main">
  <p:tag name="KSO_WM_SPECIAL_SOURCE" val="bdnull"/>
</p:tagLst>
</file>

<file path=ppt/tags/tag46.xml><?xml version="1.0" encoding="utf-8"?>
<p:tagLst xmlns:p="http://schemas.openxmlformats.org/presentationml/2006/main">
  <p:tag name="KSO_WM_UNIT_TABLE_BEAUTIFY" val="smartTable{c01be3ef-2554-48bd-a65b-74c39ba7b2e7}"/>
  <p:tag name="TABLE_ENDDRAG_ORIGIN_RECT" val="948*478"/>
  <p:tag name="TABLE_ENDDRAG_RECT" val="5*101*948*478"/>
  <p:tag name="TABLE_AUTOADJUST_FLAG" val="1"/>
</p:tagLst>
</file>

<file path=ppt/tags/tag47.xml><?xml version="1.0" encoding="utf-8"?>
<p:tagLst xmlns:p="http://schemas.openxmlformats.org/presentationml/2006/main">
  <p:tag name="KSO_WM_SPECIAL_SOURCE" val="bdnull"/>
</p:tagLst>
</file>

<file path=ppt/tags/tag48.xml><?xml version="1.0" encoding="utf-8"?>
<p:tagLst xmlns:p="http://schemas.openxmlformats.org/presentationml/2006/main">
  <p:tag name="KSO_WM_UNIT_TABLE_BEAUTIFY" val="smartTable{5ddf2348-e70c-4914-9702-587fa10654ba}"/>
  <p:tag name="TABLE_ENDDRAG_ORIGIN_RECT" val="948*478"/>
  <p:tag name="TABLE_ENDDRAG_RECT" val="5*101*948*478"/>
  <p:tag name="TABLE_AUTOADJUST_FLAG" val="1"/>
</p:tagLst>
</file>

<file path=ppt/tags/tag49.xml><?xml version="1.0" encoding="utf-8"?>
<p:tagLst xmlns:p="http://schemas.openxmlformats.org/presentationml/2006/main">
  <p:tag name="KSO_WM_SPECIAL_SOURCE" val="bdnull"/>
</p:tagLst>
</file>

<file path=ppt/tags/tag50.xml><?xml version="1.0" encoding="utf-8"?>
<p:tagLst xmlns:p="http://schemas.openxmlformats.org/presentationml/2006/main">
  <p:tag name="KSO_WM_UNIT_TABLE_BEAUTIFY" val="smartTable{5ddf2348-e70c-4914-9702-587fa10654ba}"/>
  <p:tag name="TABLE_ENDDRAG_ORIGIN_RECT" val="948*478"/>
  <p:tag name="TABLE_ENDDRAG_RECT" val="5*101*948*478"/>
  <p:tag name="TABLE_AUTOADJUST_FLAG" val="1"/>
</p:tagLst>
</file>

<file path=ppt/tags/tag51.xml><?xml version="1.0" encoding="utf-8"?>
<p:tagLst xmlns:p="http://schemas.openxmlformats.org/presentationml/2006/main">
  <p:tag name="KSO_WM_SPECIAL_SOURCE" val="bdnull"/>
</p:tagLst>
</file>

<file path=ppt/tags/tag52.xml><?xml version="1.0" encoding="utf-8"?>
<p:tagLst xmlns:p="http://schemas.openxmlformats.org/presentationml/2006/main">
  <p:tag name="KSO_WM_UNIT_TABLE_BEAUTIFY" val="smartTable{5ddf2348-e70c-4914-9702-587fa10654ba}"/>
  <p:tag name="TABLE_ENDDRAG_ORIGIN_RECT" val="948*478"/>
  <p:tag name="TABLE_ENDDRAG_RECT" val="5*101*948*478"/>
  <p:tag name="TABLE_AUTOADJUST_FLAG" val="1"/>
</p:tagLst>
</file>

<file path=ppt/tags/tag53.xml><?xml version="1.0" encoding="utf-8"?>
<p:tagLst xmlns:p="http://schemas.openxmlformats.org/presentationml/2006/main">
  <p:tag name="KSO_WM_SPECIAL_SOURCE" val="bdnull"/>
</p:tagLst>
</file>

<file path=ppt/tags/tag54.xml><?xml version="1.0" encoding="utf-8"?>
<p:tagLst xmlns:p="http://schemas.openxmlformats.org/presentationml/2006/main">
  <p:tag name="KSO_WM_UNIT_TABLE_BEAUTIFY" val="smartTable{5ddf2348-e70c-4914-9702-587fa10654ba}"/>
  <p:tag name="TABLE_ENDDRAG_ORIGIN_RECT" val="948*371"/>
  <p:tag name="TABLE_ENDDRAG_RECT" val="5*101*948*371"/>
  <p:tag name="TABLE_AUTOADJUST_FLAG" val="1"/>
</p:tagLst>
</file>

<file path=ppt/tags/tag55.xml><?xml version="1.0" encoding="utf-8"?>
<p:tagLst xmlns:p="http://schemas.openxmlformats.org/presentationml/2006/main">
  <p:tag name="KSO_WM_SPECIAL_SOURCE" val="bdnull"/>
</p:tagLst>
</file>

<file path=ppt/tags/tag56.xml><?xml version="1.0" encoding="utf-8"?>
<p:tagLst xmlns:p="http://schemas.openxmlformats.org/presentationml/2006/main">
  <p:tag name="KSO_WM_UNIT_TABLE_BEAUTIFY" val="smartTable{5ddf2348-e70c-4914-9702-587fa10654ba}"/>
  <p:tag name="TABLE_ENDDRAG_ORIGIN_RECT" val="948*371"/>
  <p:tag name="TABLE_ENDDRAG_RECT" val="5*101*948*371"/>
  <p:tag name="TABLE_AUTOADJUST_FLAG" val="1"/>
</p:tagLst>
</file>

<file path=ppt/tags/tag57.xml><?xml version="1.0" encoding="utf-8"?>
<p:tagLst xmlns:p="http://schemas.openxmlformats.org/presentationml/2006/main">
  <p:tag name="KSO_WM_SPECIAL_SOURCE" val="bdnull"/>
</p:tagLst>
</file>

<file path=ppt/tags/tag58.xml><?xml version="1.0" encoding="utf-8"?>
<p:tagLst xmlns:p="http://schemas.openxmlformats.org/presentationml/2006/main">
  <p:tag name="KSO_WM_UNIT_TABLE_BEAUTIFY" val="smartTable{5ddf2348-e70c-4914-9702-587fa10654ba}"/>
  <p:tag name="TABLE_ENDDRAG_ORIGIN_RECT" val="948*371"/>
  <p:tag name="TABLE_ENDDRAG_RECT" val="5*101*948*371"/>
  <p:tag name="TABLE_AUTOADJUST_FLAG" val="1"/>
</p:tagLst>
</file>

<file path=ppt/tags/tag59.xml><?xml version="1.0" encoding="utf-8"?>
<p:tagLst xmlns:p="http://schemas.openxmlformats.org/presentationml/2006/main">
  <p:tag name="KSO_WM_SPECIAL_SOURCE" val="bdnull"/>
</p:tagLst>
</file>

<file path=ppt/tags/tag60.xml><?xml version="1.0" encoding="utf-8"?>
<p:tagLst xmlns:p="http://schemas.openxmlformats.org/presentationml/2006/main">
  <p:tag name="KSO_WM_UNIT_TABLE_BEAUTIFY" val="smartTable{5ddf2348-e70c-4914-9702-587fa10654ba}"/>
  <p:tag name="TABLE_ENDDRAG_ORIGIN_RECT" val="948*371"/>
  <p:tag name="TABLE_ENDDRAG_RECT" val="5*101*948*371"/>
  <p:tag name="TABLE_AUTOADJUST_FLAG" val="1"/>
</p:tagLst>
</file>

<file path=ppt/tags/tag61.xml><?xml version="1.0" encoding="utf-8"?>
<p:tagLst xmlns:p="http://schemas.openxmlformats.org/presentationml/2006/main">
  <p:tag name="KSO_WM_SPECIAL_SOURCE" val="bdnull"/>
</p:tagLst>
</file>

<file path=ppt/tags/tag62.xml><?xml version="1.0" encoding="utf-8"?>
<p:tagLst xmlns:p="http://schemas.openxmlformats.org/presentationml/2006/main">
  <p:tag name="KSO_WM_UNIT_TABLE_BEAUTIFY" val="smartTable{5ddf2348-e70c-4914-9702-587fa10654ba}"/>
  <p:tag name="TABLE_ENDDRAG_ORIGIN_RECT" val="948*371"/>
  <p:tag name="TABLE_ENDDRAG_RECT" val="5*101*948*371"/>
  <p:tag name="TABLE_AUTOADJUST_FLAG" val="1"/>
</p:tagLst>
</file>

<file path=ppt/tags/tag63.xml><?xml version="1.0" encoding="utf-8"?>
<p:tagLst xmlns:p="http://schemas.openxmlformats.org/presentationml/2006/main">
  <p:tag name="KSO_WM_SPECIAL_SOURCE" val="bdnull"/>
</p:tagLst>
</file>

<file path=ppt/tags/tag64.xml><?xml version="1.0" encoding="utf-8"?>
<p:tagLst xmlns:p="http://schemas.openxmlformats.org/presentationml/2006/main">
  <p:tag name="KSO_WM_UNIT_TABLE_BEAUTIFY" val="smartTable{5ddf2348-e70c-4914-9702-587fa10654ba}"/>
  <p:tag name="TABLE_ENDDRAG_ORIGIN_RECT" val="948*371"/>
  <p:tag name="TABLE_ENDDRAG_RECT" val="5*101*948*371"/>
  <p:tag name="TABLE_AUTOADJUST_FLAG" val="1"/>
</p:tagLst>
</file>

<file path=ppt/tags/tag65.xml><?xml version="1.0" encoding="utf-8"?>
<p:tagLst xmlns:p="http://schemas.openxmlformats.org/presentationml/2006/main">
  <p:tag name="KSO_WM_SPECIAL_SOURCE" val="bdnull"/>
</p:tagLst>
</file>

<file path=ppt/tags/tag66.xml><?xml version="1.0" encoding="utf-8"?>
<p:tagLst xmlns:p="http://schemas.openxmlformats.org/presentationml/2006/main">
  <p:tag name="KSO_WM_SPECIAL_SOURCE" val="bdnull"/>
</p:tagLst>
</file>

<file path=ppt/tags/tag67.xml><?xml version="1.0" encoding="utf-8"?>
<p:tagLst xmlns:p="http://schemas.openxmlformats.org/presentationml/2006/main">
  <p:tag name="KSO_WM_UNIT_TABLE_BEAUTIFY" val="smartTable{5ddf2348-e70c-4914-9702-587fa10654ba}"/>
  <p:tag name="TABLE_ENDDRAG_ORIGIN_RECT" val="880*456"/>
  <p:tag name="TABLE_ENDDRAG_RECT" val="34*132*880*456"/>
  <p:tag name="TABLE_AUTOADJUST_FLAG" val="1"/>
</p:tagLst>
</file>

<file path=ppt/tags/tag68.xml><?xml version="1.0" encoding="utf-8"?>
<p:tagLst xmlns:p="http://schemas.openxmlformats.org/presentationml/2006/main">
  <p:tag name="KSO_WM_SPECIAL_SOURCE" val="bdnull"/>
</p:tagLst>
</file>

<file path=ppt/tags/tag69.xml><?xml version="1.0" encoding="utf-8"?>
<p:tagLst xmlns:p="http://schemas.openxmlformats.org/presentationml/2006/main">
  <p:tag name="KSO_WM_UNIT_TABLE_BEAUTIFY" val="smartTable{5ddf2348-e70c-4914-9702-587fa10654ba}"/>
  <p:tag name="TABLE_ENDDRAG_ORIGIN_RECT" val="886*382"/>
  <p:tag name="TABLE_ENDDRAG_RECT" val="34*140*886*382"/>
  <p:tag name="TABLE_AUTOADJUST_FLAG" val="1"/>
</p:tagLst>
</file>

<file path=ppt/tags/tag70.xml><?xml version="1.0" encoding="utf-8"?>
<p:tagLst xmlns:p="http://schemas.openxmlformats.org/presentationml/2006/main">
  <p:tag name="KSO_WM_SPECIAL_SOURCE" val="bdnull"/>
</p:tagLst>
</file>

<file path=ppt/tags/tag71.xml><?xml version="1.0" encoding="utf-8"?>
<p:tagLst xmlns:p="http://schemas.openxmlformats.org/presentationml/2006/main">
  <p:tag name="KSO_WM_UNIT_TABLE_BEAUTIFY" val="smartTable{5ddf2348-e70c-4914-9702-587fa10654ba}"/>
  <p:tag name="TABLE_ENDDRAG_ORIGIN_RECT" val="882*423"/>
  <p:tag name="TABLE_ENDDRAG_RECT" val="54*101*882*423"/>
  <p:tag name="TABLE_AUTOADJUST_FLAG" val="1"/>
</p:tagLst>
</file>

<file path=ppt/tags/tag72.xml><?xml version="1.0" encoding="utf-8"?>
<p:tagLst xmlns:p="http://schemas.openxmlformats.org/presentationml/2006/main">
  <p:tag name="KSO_WM_SPECIAL_SOURCE" val="bdnull"/>
</p:tagLst>
</file>

<file path=ppt/tags/tag73.xml><?xml version="1.0" encoding="utf-8"?>
<p:tagLst xmlns:p="http://schemas.openxmlformats.org/presentationml/2006/main">
  <p:tag name="KSO_WM_UNIT_TABLE_BEAUTIFY" val="smartTable{5ddf2348-e70c-4914-9702-587fa10654ba}"/>
  <p:tag name="TABLE_ENDDRAG_ORIGIN_RECT" val="930*375"/>
  <p:tag name="TABLE_ENDDRAG_RECT" val="11*101*930*375"/>
  <p:tag name="TABLE_AUTOADJUST_FLAG" val="1"/>
</p:tagLst>
</file>

<file path=ppt/tags/tag74.xml><?xml version="1.0" encoding="utf-8"?>
<p:tagLst xmlns:p="http://schemas.openxmlformats.org/presentationml/2006/main">
  <p:tag name="KSO_WM_SPECIAL_SOURCE" val="bdnull"/>
</p:tagLst>
</file>

<file path=ppt/tags/tag75.xml><?xml version="1.0" encoding="utf-8"?>
<p:tagLst xmlns:p="http://schemas.openxmlformats.org/presentationml/2006/main">
  <p:tag name="KSO_WM_UNIT_TABLE_BEAUTIFY" val="smartTable{5ddf2348-e70c-4914-9702-587fa10654ba}"/>
  <p:tag name="TABLE_ENDDRAG_ORIGIN_RECT" val="922*585"/>
  <p:tag name="TABLE_ENDDRAG_RECT" val="37*71*922*585"/>
  <p:tag name="TABLE_AUTOADJUST_FLAG" val="1"/>
</p:tagLst>
</file>

<file path=ppt/tags/tag76.xml><?xml version="1.0" encoding="utf-8"?>
<p:tagLst xmlns:p="http://schemas.openxmlformats.org/presentationml/2006/main">
  <p:tag name="KSO_WM_SPECIAL_SOURCE" val="bdnull"/>
</p:tagLst>
</file>

<file path=ppt/tags/tag77.xml><?xml version="1.0" encoding="utf-8"?>
<p:tagLst xmlns:p="http://schemas.openxmlformats.org/presentationml/2006/main">
  <p:tag name="KSO_WM_UNIT_TABLE_BEAUTIFY" val="smartTable{5ddf2348-e70c-4914-9702-587fa10654ba}"/>
  <p:tag name="TABLE_ENDDRAG_ORIGIN_RECT" val="922*585"/>
  <p:tag name="TABLE_ENDDRAG_RECT" val="37*71*922*585"/>
  <p:tag name="TABLE_AUTOADJUST_FLAG" val="1"/>
</p:tagLst>
</file>

<file path=ppt/tags/tag78.xml><?xml version="1.0" encoding="utf-8"?>
<p:tagLst xmlns:p="http://schemas.openxmlformats.org/presentationml/2006/main">
  <p:tag name="KSO_WM_SPECIAL_SOURCE" val="bdnull"/>
</p:tagLst>
</file>

<file path=ppt/tags/tag79.xml><?xml version="1.0" encoding="utf-8"?>
<p:tagLst xmlns:p="http://schemas.openxmlformats.org/presentationml/2006/main">
  <p:tag name="KSO_WM_UNIT_TABLE_BEAUTIFY" val="smartTable{5ddf2348-e70c-4914-9702-587fa10654ba}"/>
  <p:tag name="TABLE_ENDDRAG_ORIGIN_RECT" val="746*401"/>
  <p:tag name="TABLE_ENDDRAG_RECT" val="37*131*746*401"/>
  <p:tag name="TABLE_AUTOADJUST_FLAG" val="1"/>
</p:tagLst>
</file>

<file path=ppt/tags/tag80.xml><?xml version="1.0" encoding="utf-8"?>
<p:tagLst xmlns:p="http://schemas.openxmlformats.org/presentationml/2006/main">
  <p:tag name="KSO_WM_SPECIAL_SOURCE" val="bdnull"/>
</p:tagLst>
</file>

<file path=ppt/tags/tag81.xml><?xml version="1.0" encoding="utf-8"?>
<p:tagLst xmlns:p="http://schemas.openxmlformats.org/presentationml/2006/main">
  <p:tag name="KSO_WM_UNIT_TABLE_BEAUTIFY" val="smartTable{5ddf2348-e70c-4914-9702-587fa10654ba}"/>
  <p:tag name="TABLE_ENDDRAG_ORIGIN_RECT" val="930*375"/>
  <p:tag name="TABLE_ENDDRAG_RECT" val="11*101*930*375"/>
  <p:tag name="TABLE_AUTOADJUST_FLAG" val="1"/>
</p:tagLst>
</file>

<file path=ppt/tags/tag82.xml><?xml version="1.0" encoding="utf-8"?>
<p:tagLst xmlns:p="http://schemas.openxmlformats.org/presentationml/2006/main">
  <p:tag name="KSO_WM_SPECIAL_SOURCE" val="bdnull"/>
</p:tagLst>
</file>

<file path=ppt/tags/tag83.xml><?xml version="1.0" encoding="utf-8"?>
<p:tagLst xmlns:p="http://schemas.openxmlformats.org/presentationml/2006/main">
  <p:tag name="KSO_WM_UNIT_TABLE_BEAUTIFY" val="smartTable{5ddf2348-e70c-4914-9702-587fa10654ba}"/>
  <p:tag name="TABLE_ENDDRAG_ORIGIN_RECT" val="746*401"/>
  <p:tag name="TABLE_ENDDRAG_RECT" val="37*131*746*401"/>
  <p:tag name="TABLE_AUTOADJUST_FLAG" val="1"/>
</p:tagLst>
</file>

<file path=ppt/tags/tag84.xml><?xml version="1.0" encoding="utf-8"?>
<p:tagLst xmlns:p="http://schemas.openxmlformats.org/presentationml/2006/main">
  <p:tag name="KSO_WM_SPECIAL_SOURCE" val="bdnull"/>
</p:tagLst>
</file>

<file path=ppt/tags/tag85.xml><?xml version="1.0" encoding="utf-8"?>
<p:tagLst xmlns:p="http://schemas.openxmlformats.org/presentationml/2006/main">
  <p:tag name="KSO_WM_SPECIAL_SOURCE" val="bdnull"/>
</p:tagLst>
</file>

<file path=ppt/tags/tag86.xml><?xml version="1.0" encoding="utf-8"?>
<p:tagLst xmlns:p="http://schemas.openxmlformats.org/presentationml/2006/main">
  <p:tag name="KSO_WM_UNIT_TABLE_BEAUTIFY" val="smartTable{d95b5fa2-79d4-4204-802f-407673a132d3}"/>
  <p:tag name="TABLE_ENDDRAG_ORIGIN_RECT" val="668*335"/>
  <p:tag name="TABLE_ENDDRAG_RECT" val="94*191*668*335"/>
  <p:tag name="TABLE_AUTOADJUST_FLAG" val="1"/>
</p:tagLst>
</file>

<file path=ppt/tags/tag87.xml><?xml version="1.0" encoding="utf-8"?>
<p:tagLst xmlns:p="http://schemas.openxmlformats.org/presentationml/2006/main">
  <p:tag name="KSO_WM_SPECIAL_SOURCE" val="bdnull"/>
</p:tagLst>
</file>

<file path=ppt/tags/tag88.xml><?xml version="1.0" encoding="utf-8"?>
<p:tagLst xmlns:p="http://schemas.openxmlformats.org/presentationml/2006/main">
  <p:tag name="KSO_WM_UNIT_TABLE_BEAUTIFY" val="smartTable{7241b4f6-a01c-4431-8cdd-162bb117ac80}"/>
  <p:tag name="TABLE_ENDDRAG_ORIGIN_RECT" val="648*351"/>
  <p:tag name="TABLE_ENDDRAG_RECT" val="94*188*648*352"/>
  <p:tag name="TABLE_AUTOADJUST_FLAG" val="1"/>
</p:tagLst>
</file>

<file path=ppt/tags/tag89.xml><?xml version="1.0" encoding="utf-8"?>
<p:tagLst xmlns:p="http://schemas.openxmlformats.org/presentationml/2006/main">
  <p:tag name="KSO_WM_SPECIAL_SOURCE" val="bdnull"/>
</p:tagLst>
</file>

<file path=ppt/tags/tag90.xml><?xml version="1.0" encoding="utf-8"?>
<p:tagLst xmlns:p="http://schemas.openxmlformats.org/presentationml/2006/main">
  <p:tag name="KSO_WM_UNIT_TABLE_BEAUTIFY" val="smartTable{4a5f81d9-524d-47af-a116-1257a4bc95d7}"/>
  <p:tag name="TABLE_ENDDRAG_ORIGIN_RECT" val="866*355"/>
  <p:tag name="TABLE_ENDDRAG_RECT" val="94*196*866*355"/>
  <p:tag name="TABLE_AUTOADJUST_FLAG" val="1"/>
</p:tagLst>
</file>

<file path=ppt/tags/tag91.xml><?xml version="1.0" encoding="utf-8"?>
<p:tagLst xmlns:p="http://schemas.openxmlformats.org/presentationml/2006/main">
  <p:tag name="KSO_WM_SPECIAL_SOURCE" val="bdnull"/>
</p:tagLst>
</file>

<file path=ppt/tags/tag92.xml><?xml version="1.0" encoding="utf-8"?>
<p:tagLst xmlns:p="http://schemas.openxmlformats.org/presentationml/2006/main">
  <p:tag name="KSO_WM_UNIT_TABLE_BEAUTIFY" val="smartTable{8721a9c9-83f0-47ef-ac2e-abfef6243033}"/>
  <p:tag name="TABLE_ENDDRAG_ORIGIN_RECT" val="805*348"/>
  <p:tag name="TABLE_ENDDRAG_RECT" val="94*201*805*348"/>
  <p:tag name="TABLE_AUTOADJUST_FLAG" val="1"/>
</p:tagLst>
</file>

<file path=ppt/tags/tag93.xml><?xml version="1.0" encoding="utf-8"?>
<p:tagLst xmlns:p="http://schemas.openxmlformats.org/presentationml/2006/main">
  <p:tag name="KSO_WM_SPECIAL_SOURCE" val="bdnull"/>
</p:tagLst>
</file>

<file path=ppt/tags/tag94.xml><?xml version="1.0" encoding="utf-8"?>
<p:tagLst xmlns:p="http://schemas.openxmlformats.org/presentationml/2006/main">
  <p:tag name="KSO_WM_UNIT_TABLE_BEAUTIFY" val="smartTable{0f6e3428-73a1-40df-ab11-bcff3f130149}"/>
  <p:tag name="TABLE_ENDDRAG_ORIGIN_RECT" val="906*341"/>
  <p:tag name="TABLE_ENDDRAG_RECT" val="53*179*906*341"/>
  <p:tag name="TABLE_AUTOADJUST_FLAG" val="1"/>
</p:tagLst>
</file>

<file path=ppt/tags/tag95.xml><?xml version="1.0" encoding="utf-8"?>
<p:tagLst xmlns:p="http://schemas.openxmlformats.org/presentationml/2006/main">
  <p:tag name="KSO_WM_SPECIAL_SOURCE" val="bdnull"/>
</p:tagLst>
</file>

<file path=ppt/tags/tag96.xml><?xml version="1.0" encoding="utf-8"?>
<p:tagLst xmlns:p="http://schemas.openxmlformats.org/presentationml/2006/main">
  <p:tag name="KSO_WM_UNIT_TABLE_BEAUTIFY" val="smartTable{6f03ae02-8e04-440d-b2f0-7d643988bb21}"/>
  <p:tag name="TABLE_ENDDRAG_ORIGIN_RECT" val="844*333"/>
  <p:tag name="TABLE_ENDDRAG_RECT" val="94*198*844*333"/>
  <p:tag name="TABLE_AUTOADJUST_FLAG" val="1"/>
</p:tagLst>
</file>

<file path=ppt/tags/tag97.xml><?xml version="1.0" encoding="utf-8"?>
<p:tagLst xmlns:p="http://schemas.openxmlformats.org/presentationml/2006/main">
  <p:tag name="KSO_WM_SPECIAL_SOURCE" val="bdnull"/>
</p:tagLst>
</file>

<file path=ppt/tags/tag98.xml><?xml version="1.0" encoding="utf-8"?>
<p:tagLst xmlns:p="http://schemas.openxmlformats.org/presentationml/2006/main">
  <p:tag name="KSO_WM_UNIT_TABLE_BEAUTIFY" val="smartTable{679ac790-77de-4fd7-85a3-c33dcf5a7137}"/>
  <p:tag name="TABLE_ENDDRAG_ORIGIN_RECT" val="787*332"/>
  <p:tag name="TABLE_ENDDRAG_RECT" val="94*199*787*332"/>
  <p:tag name="TABLE_AUTOADJUST_FLAG" val="1"/>
</p:tagLst>
</file>

<file path=ppt/tags/tag99.xml><?xml version="1.0" encoding="utf-8"?>
<p:tagLst xmlns:p="http://schemas.openxmlformats.org/presentationml/2006/main">
  <p:tag name="KSO_WM_SPECIAL_SOURCE" val="bdnull"/>
</p:tagLst>
</file>

<file path=ppt/tags/tag100.xml><?xml version="1.0" encoding="utf-8"?>
<p:tagLst xmlns:p="http://schemas.openxmlformats.org/presentationml/2006/main">
  <p:tag name="KSO_WM_UNIT_TABLE_BEAUTIFY" val="smartTable{018bf184-1c49-4adb-9efe-edc38e5f0ab9}"/>
  <p:tag name="TABLE_ENDDRAG_ORIGIN_RECT" val="765*403"/>
  <p:tag name="TABLE_ENDDRAG_RECT" val="94*199*765*403"/>
  <p:tag name="TABLE_AUTOADJUST_FLAG" val="1"/>
</p:tagLst>
</file>

<file path=ppt/tags/tag101.xml><?xml version="1.0" encoding="utf-8"?>
<p:tagLst xmlns:p="http://schemas.openxmlformats.org/presentationml/2006/main">
  <p:tag name="KSO_WM_SPECIAL_SOURCE" val="bdnull"/>
</p:tagLst>
</file>

<file path=ppt/tags/tag102.xml><?xml version="1.0" encoding="utf-8"?>
<p:tagLst xmlns:p="http://schemas.openxmlformats.org/presentationml/2006/main">
  <p:tag name="KSO_WM_UNIT_TABLE_BEAUTIFY" val="smartTable{343ac3a6-c467-4fe3-b923-58f04f23ce62}"/>
  <p:tag name="TABLE_ENDDRAG_ORIGIN_RECT" val="809*313"/>
  <p:tag name="TABLE_ENDDRAG_RECT" val="94*205*809*313"/>
  <p:tag name="TABLE_AUTOADJUST_FLAG" val="1"/>
</p:tagLst>
</file>

<file path=ppt/tags/tag103.xml><?xml version="1.0" encoding="utf-8"?>
<p:tagLst xmlns:p="http://schemas.openxmlformats.org/presentationml/2006/main">
  <p:tag name="KSO_WM_SPECIAL_SOURCE" val="bdnull"/>
</p:tagLst>
</file>

<file path=ppt/tags/tag104.xml><?xml version="1.0" encoding="utf-8"?>
<p:tagLst xmlns:p="http://schemas.openxmlformats.org/presentationml/2006/main">
  <p:tag name="KSO_WM_UNIT_TABLE_BEAUTIFY" val="smartTable{db64b85e-8449-4158-8c36-49e1ca5ae457}"/>
  <p:tag name="TABLE_ENDDRAG_ORIGIN_RECT" val="769*323"/>
  <p:tag name="TABLE_ENDDRAG_RECT" val="94*199*769*323"/>
  <p:tag name="TABLE_AUTOADJUST_FLAG" val="1"/>
</p:tagLst>
</file>

<file path=ppt/tags/tag105.xml><?xml version="1.0" encoding="utf-8"?>
<p:tagLst xmlns:p="http://schemas.openxmlformats.org/presentationml/2006/main">
  <p:tag name="KSO_WM_SPECIAL_SOURCE" val="bdnull"/>
</p:tagLst>
</file>

<file path=ppt/tags/tag106.xml><?xml version="1.0" encoding="utf-8"?>
<p:tagLst xmlns:p="http://schemas.openxmlformats.org/presentationml/2006/main">
  <p:tag name="KSO_WM_UNIT_TABLE_BEAUTIFY" val="smartTable{3068fe29-b1bc-47a7-afe8-6579c7a3b3a2}"/>
  <p:tag name="TABLE_ENDDRAG_ORIGIN_RECT" val="541*304"/>
  <p:tag name="TABLE_ENDDRAG_RECT" val="94*193*541*304"/>
  <p:tag name="TABLE_AUTOADJUST_FLAG" val="1"/>
</p:tagLst>
</file>

<file path=ppt/tags/tag107.xml><?xml version="1.0" encoding="utf-8"?>
<p:tagLst xmlns:p="http://schemas.openxmlformats.org/presentationml/2006/main">
  <p:tag name="KSO_WM_SPECIAL_SOURCE" val="bdnull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09.xml><?xml version="1.0" encoding="utf-8"?>
<p:tagLst xmlns:p="http://schemas.openxmlformats.org/presentationml/2006/main">
  <p:tag name="KSO_DOCER_TEMPLATE_OPEN_ONCE_MARK" val="1"/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15177</Words>
  <Application>WPS 演示</Application>
  <PresentationFormat>宽屏</PresentationFormat>
  <Paragraphs>1193</Paragraphs>
  <Slides>49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wdf</dc:creator>
  <cp:lastModifiedBy>:-*:-*:-*:-*</cp:lastModifiedBy>
  <cp:revision>205</cp:revision>
  <dcterms:created xsi:type="dcterms:W3CDTF">2021-08-10T08:24:00Z</dcterms:created>
  <dcterms:modified xsi:type="dcterms:W3CDTF">2024-05-08T09:31:58Z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A086F2B402A74764A8FBB30E87CA8D28</vt:lpwstr>
  </property>
  <property fmtid="{D5CDD505-2E9C-101B-9397-08002B2CF9AE}" pid="3" name="KSOProductBuildVer">
    <vt:lpwstr>2052-12.1.0.16729</vt:lpwstr>
  </property>
  <property fmtid="{D5CDD505-2E9C-101B-9397-08002B2CF9AE}" pid="4" name="commondata">
    <vt:lpwstr>eyJoZGlkIjoiNWViNTg4NDg1MTg1ZDZiNzdhYjZlNWY1OTJmMGZjMzUifQ==</vt:lpwstr>
  </property>
</Properties>
</file>