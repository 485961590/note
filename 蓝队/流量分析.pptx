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527" r:id="rId3"/>
    <p:sldId id="557" r:id="rId5"/>
    <p:sldId id="265" r:id="rId6"/>
    <p:sldId id="611" r:id="rId7"/>
    <p:sldId id="579" r:id="rId8"/>
    <p:sldId id="580" r:id="rId9"/>
    <p:sldId id="610" r:id="rId10"/>
    <p:sldId id="618" r:id="rId11"/>
    <p:sldId id="581" r:id="rId12"/>
    <p:sldId id="613" r:id="rId13"/>
    <p:sldId id="619" r:id="rId14"/>
    <p:sldId id="620" r:id="rId15"/>
    <p:sldId id="621" r:id="rId16"/>
    <p:sldId id="623" r:id="rId17"/>
    <p:sldId id="624" r:id="rId18"/>
    <p:sldId id="627" r:id="rId19"/>
    <p:sldId id="273" r:id="rId20"/>
  </p:sldIdLst>
  <p:sldSz cx="12192000" cy="6858000"/>
  <p:notesSz cx="6858000" cy="9144000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89" autoAdjust="0"/>
    <p:restoredTop sz="96366" autoAdjust="0"/>
  </p:normalViewPr>
  <p:slideViewPr>
    <p:cSldViewPr snapToGrid="0" showGuides="1">
      <p:cViewPr varScale="1">
        <p:scale>
          <a:sx n="78" d="100"/>
          <a:sy n="78" d="100"/>
        </p:scale>
        <p:origin x="102" y="804"/>
      </p:cViewPr>
      <p:guideLst>
        <p:guide orient="horz" pos="214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30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D33F5CB-6361-44D6-BD0C-0FC2D51635B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823B0BC-6EB1-4A35-AC95-BBD4CADBB46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Calibri" panose="020F0502020204030204" pitchFamily="34" charset="0"/>
                <a:ea typeface="宋体" panose="02010600030101010101" pitchFamily="2" charset="-122"/>
                <a:cs typeface="+mn-ea"/>
              </a:defRPr>
            </a:lvl1pPr>
          </a:lstStyle>
          <a:p>
            <a:pPr>
              <a:defRPr/>
            </a:pPr>
            <a:fld id="{0EEC573A-21CA-48AA-A7DC-4270D7F5502F}" type="slidenum">
              <a:rPr lang="zh-CN" altLang="en-US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83CD437-51C1-456B-90F2-8AE993C3A3BA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4F5E2CB-6D3B-4D5C-9745-796D3404DF91}" type="slidenum">
              <a:rPr lang="zh-CN" altLang="en-US" smtClean="0"/>
            </a:fld>
            <a:endParaRPr lang="zh-CN" altLang="en-US"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7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20996-9D3F-442D-8A88-7226D5F4393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427A4-67E0-465E-BECD-ACFC4F01EF7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0" y="612775"/>
            <a:ext cx="12192000" cy="0"/>
          </a:xfrm>
          <a:prstGeom prst="line">
            <a:avLst/>
          </a:prstGeom>
          <a:ln w="50800">
            <a:solidFill>
              <a:srgbClr val="DD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6600" b="1">
              <a:solidFill>
                <a:srgbClr val="FFFFFF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LingWai SC Medium" pitchFamily="66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0" y="612775"/>
            <a:ext cx="12192000" cy="0"/>
          </a:xfrm>
          <a:prstGeom prst="line">
            <a:avLst/>
          </a:prstGeom>
          <a:ln w="50800">
            <a:solidFill>
              <a:srgbClr val="DD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10028238" y="647700"/>
            <a:ext cx="2163762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6600" b="1">
              <a:solidFill>
                <a:srgbClr val="FFFFFF"/>
              </a:solidFill>
              <a:latin typeface="华文隶书" panose="02010800040101010101" pitchFamily="2" charset="-122"/>
              <a:ea typeface="华文隶书" panose="02010800040101010101" pitchFamily="2" charset="-122"/>
              <a:cs typeface="LingWai SC Medium" pitchFamily="66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6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6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567CE-B69A-4991-A91A-8434EF73390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68BB4-5386-463A-B205-3FD03E59550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9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9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1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1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94B39-FC01-47BF-BB79-F00FA162D01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FD67A-C2FF-499F-9C99-9AC3E59AD7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/>
        </p:nvCxnSpPr>
        <p:spPr>
          <a:xfrm>
            <a:off x="0" y="612775"/>
            <a:ext cx="12192000" cy="0"/>
          </a:xfrm>
          <a:prstGeom prst="line">
            <a:avLst/>
          </a:prstGeom>
          <a:ln w="50800">
            <a:solidFill>
              <a:srgbClr val="DD00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8" y="45721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321C3-C9D6-4C9C-98BD-6C615578402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8" y="45721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D7029-583E-4EDF-8EF7-B92FB893041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7BF6F-8A02-498F-A636-65725855C66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8C456-BEEA-4264-A03F-1A0BB10683E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defRPr/>
            </a:pPr>
            <a:fld id="{D0ADA486-959E-430D-9CA5-B115D8D9964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defRPr/>
            </a:pPr>
            <a:fld id="{0350D87D-7119-4E5D-B388-2E50F6C5CEEA}" type="slidenum">
              <a:rPr lang="zh-CN" altLang="en-US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76585" y="0"/>
            <a:ext cx="1415415" cy="6013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" charset="0"/>
          <a:ea typeface="Avenir Next" charset="0"/>
          <a:cs typeface="Avenir Nex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Box 3"/>
          <p:cNvSpPr>
            <a:spLocks noChangeArrowheads="1"/>
          </p:cNvSpPr>
          <p:nvPr/>
        </p:nvSpPr>
        <p:spPr bwMode="auto">
          <a:xfrm>
            <a:off x="0" y="2617788"/>
            <a:ext cx="12192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8000" b="1" dirty="0">
                <a:solidFill>
                  <a:srgbClr val="DD00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流量分析</a:t>
            </a:r>
            <a:endParaRPr lang="en-US" altLang="zh-CN" sz="8000" b="1" dirty="0">
              <a:solidFill>
                <a:srgbClr val="DD00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4890086" y="3429000"/>
            <a:ext cx="4056206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流量分析思路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890086" y="2583570"/>
            <a:ext cx="4056206" cy="6191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Wireshark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bian SC"/>
              </a:rPr>
              <a:t>使用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bian SC"/>
            </a:endParaRPr>
          </a:p>
        </p:txBody>
      </p:sp>
      <p:sp>
        <p:nvSpPr>
          <p:cNvPr id="18439" name="文本框 1"/>
          <p:cNvSpPr txBox="1">
            <a:spLocks noChangeArrowheads="1"/>
          </p:cNvSpPr>
          <p:nvPr/>
        </p:nvSpPr>
        <p:spPr bwMode="auto">
          <a:xfrm>
            <a:off x="0" y="11113"/>
            <a:ext cx="13303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3200">
                <a:solidFill>
                  <a:srgbClr val="DD1F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3200">
              <a:solidFill>
                <a:srgbClr val="DD1F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542" y="1692593"/>
            <a:ext cx="12237085" cy="331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/>
          </a:p>
        </p:txBody>
      </p:sp>
      <p:sp>
        <p:nvSpPr>
          <p:cNvPr id="5" name="文本框 4"/>
          <p:cNvSpPr txBox="1"/>
          <p:nvPr/>
        </p:nvSpPr>
        <p:spPr>
          <a:xfrm>
            <a:off x="6096000" y="2675255"/>
            <a:ext cx="52213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solidFill>
                  <a:srgbClr val="C51A16"/>
                </a:solidFill>
                <a:latin typeface="+mn-ea"/>
              </a:rPr>
              <a:t>Wireshark</a:t>
            </a:r>
            <a:r>
              <a:rPr lang="zh-CN" altLang="en-US" sz="6000" b="1" dirty="0">
                <a:solidFill>
                  <a:srgbClr val="C51A16"/>
                </a:solidFill>
                <a:latin typeface="+mn-ea"/>
              </a:rPr>
              <a:t>使用</a:t>
            </a:r>
            <a:endParaRPr lang="zh-CN" altLang="en-US" sz="6000" b="1" dirty="0">
              <a:solidFill>
                <a:srgbClr val="C51A16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76600" y="2484120"/>
            <a:ext cx="1712595" cy="1692275"/>
            <a:chOff x="1770244" y="775694"/>
            <a:chExt cx="1712595" cy="1692275"/>
          </a:xfrm>
        </p:grpSpPr>
        <p:sp>
          <p:nvSpPr>
            <p:cNvPr id="3" name="矩形 2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>
                  <a:cs typeface="+mn-lt"/>
                </a:rPr>
                <a:t>01</a:t>
              </a:r>
              <a:endParaRPr lang="en-US" altLang="zh-CN" sz="6000" b="1" dirty="0">
                <a:cs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Wireshark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常用应用场景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623589" y="1195001"/>
            <a:ext cx="839863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网络管理员会使用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0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检查网络问题</a:t>
            </a:r>
            <a:endParaRPr lang="zh-CN" altLang="en-US" sz="20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软件测试工程师使用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抓包，来</a:t>
            </a:r>
            <a:r>
              <a:rPr lang="zh-CN" altLang="en-US" sz="20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分析自己测试的软件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编程的工程师会用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0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运维人员用于日常工作，</a:t>
            </a:r>
            <a:r>
              <a:rPr lang="zh-CN" altLang="en-US" sz="20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应急响应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总之跟网络相关的东西，都可能会用到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Wireshark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抓包原理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93217" y="717922"/>
            <a:ext cx="9058275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WinPCAP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作为接口，直接与网卡进行数据报文交换。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使用的环境大致分为两种，一种是电脑直连网络的</a:t>
            </a:r>
            <a:r>
              <a:rPr lang="zh-CN" altLang="en-US" sz="20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单机环境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，另外一种就是应用比较多的网络环境，即</a:t>
            </a:r>
            <a:r>
              <a:rPr lang="zh-CN" altLang="en-US" sz="20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连接交换机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的情况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154" y="2734621"/>
            <a:ext cx="5031516" cy="387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-10255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Wireshark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抓包界面介绍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270" y="1149985"/>
            <a:ext cx="9311640" cy="4993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Wireshark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抓包界面介绍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0" y="1104265"/>
            <a:ext cx="8694420" cy="4649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Wireshark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抓包界面介绍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53016" y="1210962"/>
            <a:ext cx="507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右击流量</a:t>
            </a:r>
            <a:r>
              <a:rPr lang="en-US" altLang="zh-CN" dirty="0"/>
              <a:t>-&gt;</a:t>
            </a:r>
            <a:r>
              <a:rPr lang="zh-CN" altLang="en-US" dirty="0"/>
              <a:t>追踪流</a:t>
            </a:r>
            <a:r>
              <a:rPr lang="en-US" altLang="zh-CN" dirty="0"/>
              <a:t>-&gt;http</a:t>
            </a:r>
            <a:r>
              <a:rPr lang="zh-CN" altLang="en-US" dirty="0"/>
              <a:t>流可查看</a:t>
            </a:r>
            <a:r>
              <a:rPr lang="en-US" altLang="zh-CN" dirty="0"/>
              <a:t>http</a:t>
            </a:r>
            <a:r>
              <a:rPr lang="zh-CN" altLang="en-US" dirty="0"/>
              <a:t>请求响应包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725930"/>
            <a:ext cx="8264525" cy="4432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常用语法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17340" y="2890391"/>
            <a:ext cx="8324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官网语法查询：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https://www.wireshark.org/docs/dfref/</a:t>
            </a:r>
            <a:endParaRPr lang="zh-CN" altLang="en-US" sz="3200" b="0" i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542" y="1692593"/>
            <a:ext cx="12237085" cy="331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/>
          </a:p>
        </p:txBody>
      </p:sp>
      <p:sp>
        <p:nvSpPr>
          <p:cNvPr id="5" name="文本框 4"/>
          <p:cNvSpPr txBox="1"/>
          <p:nvPr/>
        </p:nvSpPr>
        <p:spPr>
          <a:xfrm>
            <a:off x="6096000" y="2675255"/>
            <a:ext cx="4820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C51A16"/>
                </a:solidFill>
                <a:latin typeface="+mn-ea"/>
              </a:rPr>
              <a:t>流量分析操作</a:t>
            </a:r>
            <a:endParaRPr lang="zh-CN" altLang="en-US" sz="6000" b="1" dirty="0">
              <a:solidFill>
                <a:srgbClr val="C51A16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76600" y="2484120"/>
            <a:ext cx="1712595" cy="1692275"/>
            <a:chOff x="1770244" y="775694"/>
            <a:chExt cx="1712595" cy="1692275"/>
          </a:xfrm>
        </p:grpSpPr>
        <p:sp>
          <p:nvSpPr>
            <p:cNvPr id="3" name="矩形 2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>
                  <a:cs typeface="+mn-lt"/>
                </a:rPr>
                <a:t>02</a:t>
              </a:r>
              <a:endParaRPr lang="en-US" altLang="zh-CN" sz="6000" b="1" dirty="0">
                <a:cs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IP   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筛选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00748" y="1143686"/>
            <a:ext cx="6122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404040"/>
                </a:solidFill>
                <a:effectLst/>
                <a:latin typeface="-apple-system"/>
              </a:rPr>
              <a:t>ip.dst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 ==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地址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260" y="1875790"/>
            <a:ext cx="9461500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搜索功能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57692" y="783532"/>
            <a:ext cx="7389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Wireshark</a:t>
            </a:r>
            <a:r>
              <a:rPr lang="zh-CN" altLang="en-US" dirty="0"/>
              <a:t>的搜索功能支持正则表达式、字符串、十六进制等方式进行搜索，通常情况下直接使用字符串方式进行搜索。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780" y="1950085"/>
            <a:ext cx="9352915" cy="3605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数据提取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60690" y="1208812"/>
            <a:ext cx="7659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Wireshark</a:t>
            </a:r>
            <a:r>
              <a:rPr lang="zh-CN" altLang="en-US" dirty="0"/>
              <a:t>支持提取通过</a:t>
            </a:r>
            <a:r>
              <a:rPr lang="en-US" altLang="zh-CN" dirty="0"/>
              <a:t>http</a:t>
            </a:r>
            <a:r>
              <a:rPr lang="zh-CN" altLang="en-US" dirty="0"/>
              <a:t>传输（上传</a:t>
            </a:r>
            <a:r>
              <a:rPr lang="en-US" altLang="zh-CN" dirty="0"/>
              <a:t>/</a:t>
            </a:r>
            <a:r>
              <a:rPr lang="zh-CN" altLang="en-US" dirty="0"/>
              <a:t>下载）的文件内容，方法如下：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选中</a:t>
            </a:r>
            <a:r>
              <a:rPr lang="en-US" altLang="zh-CN" dirty="0"/>
              <a:t>http</a:t>
            </a:r>
            <a:r>
              <a:rPr lang="zh-CN" altLang="en-US" dirty="0"/>
              <a:t>文件传输流量包，在分组详情中找到</a:t>
            </a:r>
            <a:r>
              <a:rPr lang="en-US" altLang="zh-CN" dirty="0"/>
              <a:t>data</a:t>
            </a:r>
            <a:r>
              <a:rPr lang="zh-CN" altLang="en-US" dirty="0"/>
              <a:t>或者</a:t>
            </a:r>
            <a:r>
              <a:rPr lang="en-US" altLang="zh-CN" dirty="0"/>
              <a:t>Line-based text </a:t>
            </a:r>
            <a:r>
              <a:rPr lang="en-US" altLang="zh-CN" dirty="0" err="1"/>
              <a:t>data:text</a:t>
            </a:r>
            <a:r>
              <a:rPr lang="en-US" altLang="zh-CN" dirty="0"/>
              <a:t>/html</a:t>
            </a:r>
            <a:r>
              <a:rPr lang="zh-CN" altLang="en-US" dirty="0"/>
              <a:t>层，鼠标右键点击 </a:t>
            </a:r>
            <a:r>
              <a:rPr lang="en-US" altLang="zh-CN" dirty="0"/>
              <a:t>– </a:t>
            </a:r>
            <a:r>
              <a:rPr lang="zh-CN" altLang="en-US" dirty="0"/>
              <a:t>选中 导出分组字节流。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445" y="2351405"/>
            <a:ext cx="6950075" cy="37420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流量分析思路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43300" y="1082403"/>
            <a:ext cx="6122772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初步检查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在流量文件中，首先进行初步检查，包括查看通信的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协议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、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源和目标</a:t>
            </a:r>
            <a:r>
              <a:rPr lang="en-US" altLang="zh-CN" b="0" i="0" dirty="0">
                <a:solidFill>
                  <a:schemeClr val="accent5"/>
                </a:solidFill>
                <a:effectLst/>
                <a:latin typeface="Söhne"/>
              </a:rPr>
              <a:t>IP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地址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、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端口号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等基本信息。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寻找异常和模式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寻找流量中的异常或不寻常的模式。这可能包括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大量数据传输、大量的重复请求、异常端口或协议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等。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过滤和搜索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使用过滤器和搜索功能来缩小关注范围。根据题目提示或猜测，查找与挑战相关的流量。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协议分析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如果流量涉及不同的协议，请深入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了解这些协议的工作原理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。这有助于理解流量的含义和目的。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分析数据包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逐个分析数据包，查看其内容、标头信息、有效载荷等。尝试识别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任何隐藏在数据包中的信息或命令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解密加密通信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（如果适用）：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如果流量中包含加密通信，请</a:t>
            </a:r>
            <a:r>
              <a:rPr lang="zh-CN" altLang="en-US" b="0" i="0" dirty="0">
                <a:solidFill>
                  <a:schemeClr val="accent5"/>
                </a:solidFill>
                <a:effectLst/>
                <a:latin typeface="Söhne"/>
              </a:rPr>
              <a:t>尝试解密加密数据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。可能需要访问相应的密钥或证书。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流量分析思路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1007" y="2551837"/>
            <a:ext cx="66015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374151"/>
                </a:solidFill>
                <a:effectLst/>
                <a:latin typeface="Söhne"/>
              </a:rPr>
              <a:t>如果存在告警或者有提示，可以通过理解漏洞特征来找寻流量</a:t>
            </a:r>
            <a:endParaRPr lang="en-US" altLang="zh-CN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en-US" altLang="zh-CN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zh-CN" altLang="en-US" b="1" dirty="0">
                <a:solidFill>
                  <a:srgbClr val="374151"/>
                </a:solidFill>
                <a:latin typeface="Söhne"/>
              </a:rPr>
              <a:t>如：</a:t>
            </a:r>
            <a:endParaRPr lang="en-US" altLang="zh-CN" b="1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端口扫描的特征是什么？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altLang="zh-CN" dirty="0" err="1">
                <a:solidFill>
                  <a:srgbClr val="374151"/>
                </a:solidFill>
                <a:latin typeface="Söhne"/>
              </a:rPr>
              <a:t>Sql</a:t>
            </a:r>
            <a:r>
              <a:rPr lang="zh-CN" altLang="en-US" dirty="0">
                <a:solidFill>
                  <a:srgbClr val="374151"/>
                </a:solidFill>
                <a:latin typeface="Söhne"/>
              </a:rPr>
              <a:t>注入的特征是什么？</a:t>
            </a:r>
            <a:endParaRPr lang="en-US" altLang="zh-CN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zh-CN" altLang="en-US" dirty="0">
                <a:solidFill>
                  <a:srgbClr val="374151"/>
                </a:solidFill>
                <a:latin typeface="Söhne"/>
              </a:rPr>
              <a:t>目录扫描的特征是什么？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647700"/>
            <a:ext cx="2163763" cy="6210300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ingWai SC Medium" pitchFamily="66" charset="-122"/>
              </a:rPr>
              <a:t>流量分析思路</a:t>
            </a:r>
            <a:endParaRPr lang="zh-CN" altLang="en-US" sz="5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ingWai SC Medium" pitchFamily="66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01570" y="798830"/>
            <a:ext cx="9404985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1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、端口扫描的特征：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频繁的连接尝试：扫描者通常会尝试连接多个端口，可能是顺序扫描或随机扫描。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短暂的连接持续时间：扫描者通常只会与目标主机建立短暂的连接，以快速地检测目标主机的开放端口。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非标准端口访问：如果某个主机频繁访问一些非常规的端口（例如TCP端口0到1023之外的端口），可能是在进行端口扫描。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2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、SQL注入的特征：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异常的数据库查询语句：包含不正常的SQL语法或关键字，如UNION、SELECT、INSERT、UPDATE等。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单引号或双引号的异常使用：SQL注入常常利用不正确使用的引号来篡改查询语句。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错误消息暴露：当应用程序返回数据库错误消息时，可能会泄露SQL注入攻击的信息，例如数据库类型或查询结构。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374151"/>
                </a:solidFill>
                <a:effectLst/>
                <a:latin typeface="Söhne"/>
              </a:rPr>
              <a:t>3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、目录扫描的特征：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频繁的HTTP请求：扫描者通常会尝试访问网站上的多个目录或文件。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常见的扫描路径：扫描者可能会使用常见的目录和文件名，如“/admin”，“/login”，“/wp-admin”等。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404错误页面的增加：如果网站的404错误页面访问频率异常增加，可能是因为扫描器在尝试访问不存在的目录或文件。</a:t>
            </a:r>
            <a:endParaRPr lang="zh-CN" alt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1390650"/>
            <a:ext cx="12192000" cy="2105025"/>
          </a:xfrm>
          <a:prstGeom prst="rect">
            <a:avLst/>
          </a:prstGeom>
          <a:solidFill>
            <a:srgbClr val="DD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venir Next"/>
            </a:endParaRPr>
          </a:p>
        </p:txBody>
      </p:sp>
      <p:sp>
        <p:nvSpPr>
          <p:cNvPr id="24578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933575"/>
            <a:ext cx="12192000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venir Next"/>
                <a:ea typeface="Avenir Next"/>
                <a:cs typeface="Avenir Next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6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66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9" name="KSO_Shape"/>
          <p:cNvSpPr>
            <a:spLocks noChangeArrowheads="1"/>
          </p:cNvSpPr>
          <p:nvPr/>
        </p:nvSpPr>
        <p:spPr bwMode="auto">
          <a:xfrm>
            <a:off x="5195888" y="3949700"/>
            <a:ext cx="1800225" cy="1724025"/>
          </a:xfrm>
          <a:custGeom>
            <a:avLst/>
            <a:gdLst>
              <a:gd name="T0" fmla="*/ 0 w 12269552"/>
              <a:gd name="T1" fmla="*/ 0 h 11753851"/>
              <a:gd name="T2" fmla="*/ 0 w 12269552"/>
              <a:gd name="T3" fmla="*/ 0 h 11753851"/>
              <a:gd name="T4" fmla="*/ 0 w 12269552"/>
              <a:gd name="T5" fmla="*/ 0 h 11753851"/>
              <a:gd name="T6" fmla="*/ 0 w 12269552"/>
              <a:gd name="T7" fmla="*/ 0 h 11753851"/>
              <a:gd name="T8" fmla="*/ 0 w 12269552"/>
              <a:gd name="T9" fmla="*/ 0 h 11753851"/>
              <a:gd name="T10" fmla="*/ 0 w 12269552"/>
              <a:gd name="T11" fmla="*/ 0 h 11753851"/>
              <a:gd name="T12" fmla="*/ 0 w 12269552"/>
              <a:gd name="T13" fmla="*/ 0 h 11753851"/>
              <a:gd name="T14" fmla="*/ 0 w 12269552"/>
              <a:gd name="T15" fmla="*/ 0 h 11753851"/>
              <a:gd name="T16" fmla="*/ 0 w 12269552"/>
              <a:gd name="T17" fmla="*/ 0 h 11753851"/>
              <a:gd name="T18" fmla="*/ 0 w 12269552"/>
              <a:gd name="T19" fmla="*/ 0 h 11753851"/>
              <a:gd name="T20" fmla="*/ 0 w 12269552"/>
              <a:gd name="T21" fmla="*/ 0 h 11753851"/>
              <a:gd name="T22" fmla="*/ 0 w 12269552"/>
              <a:gd name="T23" fmla="*/ 0 h 11753851"/>
              <a:gd name="T24" fmla="*/ 0 w 12269552"/>
              <a:gd name="T25" fmla="*/ 0 h 11753851"/>
              <a:gd name="T26" fmla="*/ 0 w 12269552"/>
              <a:gd name="T27" fmla="*/ 0 h 11753851"/>
              <a:gd name="T28" fmla="*/ 0 w 12269552"/>
              <a:gd name="T29" fmla="*/ 0 h 11753851"/>
              <a:gd name="T30" fmla="*/ 0 w 12269552"/>
              <a:gd name="T31" fmla="*/ 0 h 11753851"/>
              <a:gd name="T32" fmla="*/ 0 w 12269552"/>
              <a:gd name="T33" fmla="*/ 0 h 11753851"/>
              <a:gd name="T34" fmla="*/ 0 w 12269552"/>
              <a:gd name="T35" fmla="*/ 0 h 11753851"/>
              <a:gd name="T36" fmla="*/ 0 w 12269552"/>
              <a:gd name="T37" fmla="*/ 0 h 11753851"/>
              <a:gd name="T38" fmla="*/ 0 w 12269552"/>
              <a:gd name="T39" fmla="*/ 0 h 11753851"/>
              <a:gd name="T40" fmla="*/ 0 w 12269552"/>
              <a:gd name="T41" fmla="*/ 0 h 11753851"/>
              <a:gd name="T42" fmla="*/ 0 w 12269552"/>
              <a:gd name="T43" fmla="*/ 0 h 11753851"/>
              <a:gd name="T44" fmla="*/ 0 w 12269552"/>
              <a:gd name="T45" fmla="*/ 0 h 11753851"/>
              <a:gd name="T46" fmla="*/ 0 w 12269552"/>
              <a:gd name="T47" fmla="*/ 0 h 11753851"/>
              <a:gd name="T48" fmla="*/ 0 w 12269552"/>
              <a:gd name="T49" fmla="*/ 0 h 11753851"/>
              <a:gd name="T50" fmla="*/ 0 w 12269552"/>
              <a:gd name="T51" fmla="*/ 0 h 11753851"/>
              <a:gd name="T52" fmla="*/ 0 w 12269552"/>
              <a:gd name="T53" fmla="*/ 0 h 11753851"/>
              <a:gd name="T54" fmla="*/ 0 w 12269552"/>
              <a:gd name="T55" fmla="*/ 0 h 11753851"/>
              <a:gd name="T56" fmla="*/ 0 w 12269552"/>
              <a:gd name="T57" fmla="*/ 0 h 11753851"/>
              <a:gd name="T58" fmla="*/ 0 w 12269552"/>
              <a:gd name="T59" fmla="*/ 0 h 11753851"/>
              <a:gd name="T60" fmla="*/ 0 w 12269552"/>
              <a:gd name="T61" fmla="*/ 0 h 11753851"/>
              <a:gd name="T62" fmla="*/ 0 w 12269552"/>
              <a:gd name="T63" fmla="*/ 0 h 11753851"/>
              <a:gd name="T64" fmla="*/ 0 w 12269552"/>
              <a:gd name="T65" fmla="*/ 0 h 11753851"/>
              <a:gd name="T66" fmla="*/ 0 w 12269552"/>
              <a:gd name="T67" fmla="*/ 0 h 11753851"/>
              <a:gd name="T68" fmla="*/ 0 w 12269552"/>
              <a:gd name="T69" fmla="*/ 0 h 11753851"/>
              <a:gd name="T70" fmla="*/ 0 w 12269552"/>
              <a:gd name="T71" fmla="*/ 0 h 11753851"/>
              <a:gd name="T72" fmla="*/ 0 w 12269552"/>
              <a:gd name="T73" fmla="*/ 0 h 11753851"/>
              <a:gd name="T74" fmla="*/ 0 w 12269552"/>
              <a:gd name="T75" fmla="*/ 0 h 11753851"/>
              <a:gd name="T76" fmla="*/ 0 w 12269552"/>
              <a:gd name="T77" fmla="*/ 0 h 11753851"/>
              <a:gd name="T78" fmla="*/ 0 w 12269552"/>
              <a:gd name="T79" fmla="*/ 0 h 1175385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2269552" h="11753851">
                <a:moveTo>
                  <a:pt x="5478990" y="1790700"/>
                </a:moveTo>
                <a:cubicBezTo>
                  <a:pt x="7986505" y="1790700"/>
                  <a:pt x="7986505" y="1790700"/>
                  <a:pt x="7986505" y="1790700"/>
                </a:cubicBezTo>
                <a:cubicBezTo>
                  <a:pt x="8170440" y="1790700"/>
                  <a:pt x="8335605" y="1862026"/>
                  <a:pt x="8459480" y="1982155"/>
                </a:cubicBezTo>
                <a:cubicBezTo>
                  <a:pt x="10058584" y="3581364"/>
                  <a:pt x="10058584" y="3581364"/>
                  <a:pt x="10058584" y="3581364"/>
                </a:cubicBezTo>
                <a:cubicBezTo>
                  <a:pt x="11383663" y="2256197"/>
                  <a:pt x="11383663" y="2256197"/>
                  <a:pt x="11383663" y="2256197"/>
                </a:cubicBezTo>
                <a:cubicBezTo>
                  <a:pt x="11477507" y="2177363"/>
                  <a:pt x="11597628" y="2132315"/>
                  <a:pt x="11729010" y="2132315"/>
                </a:cubicBezTo>
                <a:cubicBezTo>
                  <a:pt x="12029311" y="2132315"/>
                  <a:pt x="12269552" y="2372572"/>
                  <a:pt x="12269552" y="2669139"/>
                </a:cubicBezTo>
                <a:cubicBezTo>
                  <a:pt x="12269552" y="2796776"/>
                  <a:pt x="12220753" y="2916904"/>
                  <a:pt x="12145678" y="3007000"/>
                </a:cubicBezTo>
                <a:cubicBezTo>
                  <a:pt x="10546573" y="4621226"/>
                  <a:pt x="10546573" y="4621226"/>
                  <a:pt x="10546573" y="4621226"/>
                </a:cubicBezTo>
                <a:cubicBezTo>
                  <a:pt x="10062338" y="5105494"/>
                  <a:pt x="9671946" y="4692552"/>
                  <a:pt x="9671946" y="4692552"/>
                </a:cubicBezTo>
                <a:cubicBezTo>
                  <a:pt x="8692213" y="3709001"/>
                  <a:pt x="8692213" y="3709001"/>
                  <a:pt x="8692213" y="3709001"/>
                </a:cubicBezTo>
                <a:cubicBezTo>
                  <a:pt x="7156923" y="5480895"/>
                  <a:pt x="7156923" y="5480895"/>
                  <a:pt x="7156923" y="5480895"/>
                </a:cubicBezTo>
                <a:cubicBezTo>
                  <a:pt x="8560831" y="6884896"/>
                  <a:pt x="8560831" y="6884896"/>
                  <a:pt x="8560831" y="6884896"/>
                </a:cubicBezTo>
                <a:cubicBezTo>
                  <a:pt x="8560831" y="6884896"/>
                  <a:pt x="8857379" y="7158939"/>
                  <a:pt x="8688459" y="7707025"/>
                </a:cubicBezTo>
                <a:cubicBezTo>
                  <a:pt x="7900169" y="11220781"/>
                  <a:pt x="7900169" y="11220781"/>
                  <a:pt x="7900169" y="11220781"/>
                </a:cubicBezTo>
                <a:cubicBezTo>
                  <a:pt x="7840108" y="11524856"/>
                  <a:pt x="7569837" y="11753851"/>
                  <a:pt x="7247013" y="11753851"/>
                </a:cubicBezTo>
                <a:cubicBezTo>
                  <a:pt x="6879144" y="11753851"/>
                  <a:pt x="6578843" y="11453530"/>
                  <a:pt x="6578843" y="11085637"/>
                </a:cubicBezTo>
                <a:cubicBezTo>
                  <a:pt x="6578843" y="11025572"/>
                  <a:pt x="6586351" y="10969262"/>
                  <a:pt x="6597612" y="10916706"/>
                </a:cubicBezTo>
                <a:cubicBezTo>
                  <a:pt x="7247013" y="8037378"/>
                  <a:pt x="7247013" y="8037378"/>
                  <a:pt x="7247013" y="8037378"/>
                </a:cubicBezTo>
                <a:cubicBezTo>
                  <a:pt x="5647909" y="6483216"/>
                  <a:pt x="5647909" y="6483216"/>
                  <a:pt x="5647909" y="6483216"/>
                </a:cubicBezTo>
                <a:cubicBezTo>
                  <a:pt x="4277784" y="8014854"/>
                  <a:pt x="4277784" y="8014854"/>
                  <a:pt x="4277784" y="8014854"/>
                </a:cubicBezTo>
                <a:cubicBezTo>
                  <a:pt x="4277784" y="8014854"/>
                  <a:pt x="4056312" y="8288897"/>
                  <a:pt x="3463217" y="8270127"/>
                </a:cubicBezTo>
                <a:cubicBezTo>
                  <a:pt x="681676" y="8273881"/>
                  <a:pt x="681676" y="8273881"/>
                  <a:pt x="681676" y="8273881"/>
                </a:cubicBezTo>
                <a:cubicBezTo>
                  <a:pt x="370114" y="8277635"/>
                  <a:pt x="88581" y="8067410"/>
                  <a:pt x="17260" y="7752073"/>
                </a:cubicBezTo>
                <a:cubicBezTo>
                  <a:pt x="-65323" y="7391688"/>
                  <a:pt x="156149" y="7038811"/>
                  <a:pt x="516511" y="6956222"/>
                </a:cubicBezTo>
                <a:cubicBezTo>
                  <a:pt x="572817" y="6944960"/>
                  <a:pt x="629124" y="6941206"/>
                  <a:pt x="685430" y="6941206"/>
                </a:cubicBezTo>
                <a:cubicBezTo>
                  <a:pt x="3080333" y="6948714"/>
                  <a:pt x="3080333" y="6948714"/>
                  <a:pt x="3080333" y="6948714"/>
                </a:cubicBezTo>
                <a:cubicBezTo>
                  <a:pt x="6623888" y="2841824"/>
                  <a:pt x="6623888" y="2841824"/>
                  <a:pt x="6623888" y="2841824"/>
                </a:cubicBezTo>
                <a:lnTo>
                  <a:pt x="5696708" y="2838070"/>
                </a:lnTo>
                <a:cubicBezTo>
                  <a:pt x="4086342" y="4696306"/>
                  <a:pt x="4086342" y="4696306"/>
                  <a:pt x="4086342" y="4696306"/>
                </a:cubicBezTo>
                <a:cubicBezTo>
                  <a:pt x="3992498" y="4812681"/>
                  <a:pt x="3849855" y="4884007"/>
                  <a:pt x="3688443" y="4884007"/>
                </a:cubicBezTo>
                <a:cubicBezTo>
                  <a:pt x="3399403" y="4884007"/>
                  <a:pt x="3166669" y="4651258"/>
                  <a:pt x="3166669" y="4365953"/>
                </a:cubicBezTo>
                <a:cubicBezTo>
                  <a:pt x="3166669" y="4208284"/>
                  <a:pt x="3234237" y="4069386"/>
                  <a:pt x="3343097" y="3975536"/>
                </a:cubicBezTo>
                <a:cubicBezTo>
                  <a:pt x="5077337" y="1978401"/>
                  <a:pt x="5077337" y="1978401"/>
                  <a:pt x="5077337" y="1978401"/>
                </a:cubicBezTo>
                <a:cubicBezTo>
                  <a:pt x="5171181" y="1862026"/>
                  <a:pt x="5313824" y="1790700"/>
                  <a:pt x="5478990" y="1790700"/>
                </a:cubicBezTo>
                <a:close/>
                <a:moveTo>
                  <a:pt x="9252509" y="0"/>
                </a:moveTo>
                <a:cubicBezTo>
                  <a:pt x="9823713" y="0"/>
                  <a:pt x="10286766" y="463053"/>
                  <a:pt x="10286766" y="1034257"/>
                </a:cubicBezTo>
                <a:cubicBezTo>
                  <a:pt x="10286766" y="1605461"/>
                  <a:pt x="9823713" y="2068514"/>
                  <a:pt x="9252509" y="2068514"/>
                </a:cubicBezTo>
                <a:cubicBezTo>
                  <a:pt x="8681305" y="2068514"/>
                  <a:pt x="8218252" y="1605461"/>
                  <a:pt x="8218252" y="1034257"/>
                </a:cubicBezTo>
                <a:cubicBezTo>
                  <a:pt x="8218252" y="463053"/>
                  <a:pt x="8681305" y="0"/>
                  <a:pt x="9252509" y="0"/>
                </a:cubicBezTo>
                <a:close/>
              </a:path>
            </a:pathLst>
          </a:custGeom>
          <a:solidFill>
            <a:srgbClr val="DD001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3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4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6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7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8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9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0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1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3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4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5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6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7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8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19.xml><?xml version="1.0" encoding="utf-8"?>
<p:tagLst xmlns:p="http://schemas.openxmlformats.org/presentationml/2006/main">
  <p:tag name="MH" val="20150814111403"/>
  <p:tag name="MH_LIBRARY" val="GRAPHIC"/>
  <p:tag name="MH_ORDER" val="Rectangle 2"/>
</p:tagLst>
</file>

<file path=ppt/tags/tag20.xml><?xml version="1.0" encoding="utf-8"?>
<p:tagLst xmlns:p="http://schemas.openxmlformats.org/presentationml/2006/main">
  <p:tag name="MH" val="20150814111403"/>
  <p:tag name="MH_LIBRARY" val="GRAPHIC"/>
  <p:tag name="MH_ORDER" val="文本框 3"/>
</p:tagLst>
</file>

<file path=ppt/tags/tag21.xml><?xml version="1.0" encoding="utf-8"?>
<p:tagLst xmlns:p="http://schemas.openxmlformats.org/presentationml/2006/main">
  <p:tag name="MH" val="20150814111403"/>
  <p:tag name="MH_LIBRARY" val="GRAPHIC"/>
</p:tagLst>
</file>

<file path=ppt/tags/tag22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WPS 演示</Application>
  <PresentationFormat>宽屏</PresentationFormat>
  <Paragraphs>113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Avenir Next</vt:lpstr>
      <vt:lpstr>Segoe Print</vt:lpstr>
      <vt:lpstr>Calibri Light</vt:lpstr>
      <vt:lpstr>华文隶书</vt:lpstr>
      <vt:lpstr>LingWai SC Medium</vt:lpstr>
      <vt:lpstr>微软雅黑</vt:lpstr>
      <vt:lpstr>Calibri</vt:lpstr>
      <vt:lpstr>Avenir Next</vt:lpstr>
      <vt:lpstr>Libian SC</vt:lpstr>
      <vt:lpstr>-apple-system</vt:lpstr>
      <vt:lpstr>Söhne</vt:lpstr>
      <vt:lpstr>Arial Unicode MS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:-*:-*:-*:-*</cp:lastModifiedBy>
  <cp:revision>5</cp:revision>
  <dcterms:created xsi:type="dcterms:W3CDTF">2019-08-09T08:18:00Z</dcterms:created>
  <dcterms:modified xsi:type="dcterms:W3CDTF">2024-05-17T13:47:54Z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7740347DA43A4B37B66331374239D0D3_12</vt:lpwstr>
  </property>
  <property fmtid="{D5CDD505-2E9C-101B-9397-08002B2CF9AE}" pid="3" name="KSOProductBuildVer">
    <vt:lpwstr>2052-12.1.0.16729</vt:lpwstr>
  </property>
</Properties>
</file>