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 id="2147483661" r:id="rId4"/>
  </p:sldMasterIdLst>
  <p:notesMasterIdLst>
    <p:notesMasterId r:id="rId7"/>
  </p:notesMasterIdLst>
  <p:handoutMasterIdLst>
    <p:handoutMasterId r:id="rId58"/>
  </p:handoutMasterIdLst>
  <p:sldIdLst>
    <p:sldId id="256" r:id="rId5"/>
    <p:sldId id="376" r:id="rId6"/>
    <p:sldId id="434" r:id="rId8"/>
    <p:sldId id="445" r:id="rId9"/>
    <p:sldId id="446" r:id="rId10"/>
    <p:sldId id="565" r:id="rId11"/>
    <p:sldId id="436" r:id="rId12"/>
    <p:sldId id="437" r:id="rId13"/>
    <p:sldId id="455" r:id="rId14"/>
    <p:sldId id="456" r:id="rId15"/>
    <p:sldId id="458" r:id="rId16"/>
    <p:sldId id="457" r:id="rId17"/>
    <p:sldId id="377" r:id="rId18"/>
    <p:sldId id="373" r:id="rId19"/>
    <p:sldId id="441" r:id="rId20"/>
    <p:sldId id="442" r:id="rId21"/>
    <p:sldId id="443" r:id="rId22"/>
    <p:sldId id="374" r:id="rId23"/>
    <p:sldId id="530" r:id="rId24"/>
    <p:sldId id="531" r:id="rId25"/>
    <p:sldId id="497" r:id="rId26"/>
    <p:sldId id="529" r:id="rId27"/>
    <p:sldId id="498" r:id="rId28"/>
    <p:sldId id="378" r:id="rId29"/>
    <p:sldId id="454" r:id="rId30"/>
    <p:sldId id="289" r:id="rId31"/>
    <p:sldId id="459" r:id="rId32"/>
    <p:sldId id="448" r:id="rId33"/>
    <p:sldId id="449" r:id="rId34"/>
    <p:sldId id="450" r:id="rId35"/>
    <p:sldId id="451" r:id="rId36"/>
    <p:sldId id="329" r:id="rId37"/>
    <p:sldId id="285" r:id="rId38"/>
    <p:sldId id="375" r:id="rId39"/>
    <p:sldId id="336" r:id="rId40"/>
    <p:sldId id="337" r:id="rId41"/>
    <p:sldId id="308" r:id="rId42"/>
    <p:sldId id="295" r:id="rId43"/>
    <p:sldId id="379" r:id="rId44"/>
    <p:sldId id="444" r:id="rId45"/>
    <p:sldId id="350" r:id="rId46"/>
    <p:sldId id="385" r:id="rId47"/>
    <p:sldId id="386" r:id="rId48"/>
    <p:sldId id="387" r:id="rId49"/>
    <p:sldId id="388" r:id="rId50"/>
    <p:sldId id="389" r:id="rId51"/>
    <p:sldId id="351" r:id="rId52"/>
    <p:sldId id="382" r:id="rId53"/>
    <p:sldId id="352" r:id="rId54"/>
    <p:sldId id="383" r:id="rId55"/>
    <p:sldId id="353" r:id="rId56"/>
    <p:sldId id="496" r:id="rId57"/>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957300918@qq.com" initials="9"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FD9"/>
    <a:srgbClr val="C89800"/>
    <a:srgbClr val="2684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81" autoAdjust="0"/>
    <p:restoredTop sz="86411" autoAdjust="0"/>
  </p:normalViewPr>
  <p:slideViewPr>
    <p:cSldViewPr showGuides="1">
      <p:cViewPr varScale="1">
        <p:scale>
          <a:sx n="74" d="100"/>
          <a:sy n="74" d="100"/>
        </p:scale>
        <p:origin x="442" y="72"/>
      </p:cViewPr>
      <p:guideLst>
        <p:guide orient="horz" pos="2234"/>
        <p:guide pos="3840"/>
      </p:guideLst>
    </p:cSldViewPr>
  </p:slideViewPr>
  <p:outlineViewPr>
    <p:cViewPr>
      <p:scale>
        <a:sx n="33" d="100"/>
        <a:sy n="33" d="100"/>
      </p:scale>
      <p:origin x="0" y="-17508"/>
    </p:cViewPr>
  </p:outlineViewPr>
  <p:notesTextViewPr>
    <p:cViewPr>
      <p:scale>
        <a:sx n="100" d="100"/>
        <a:sy n="100" d="100"/>
      </p:scale>
      <p:origin x="0" y="0"/>
    </p:cViewPr>
  </p:notesTextViewPr>
  <p:notesViewPr>
    <p:cSldViewPr>
      <p:cViewPr varScale="1">
        <p:scale>
          <a:sx n="58" d="100"/>
          <a:sy n="58" d="100"/>
        </p:scale>
        <p:origin x="1722"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3" Type="http://schemas.openxmlformats.org/officeDocument/2006/relationships/tags" Target="tags/tag78.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2.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331362A-A752-44F9-81E0-B098BFDC237E}" type="doc">
      <dgm:prSet loTypeId="urn:microsoft.com/office/officeart/2005/8/layout/radial6#1" loCatId="cycle" qsTypeId="urn:microsoft.com/office/officeart/2005/8/quickstyle/simple1#5" qsCatId="simple" csTypeId="urn:microsoft.com/office/officeart/2005/8/colors/colorful1#1" csCatId="colorful" phldr="1"/>
      <dgm:spPr/>
      <dgm:t>
        <a:bodyPr/>
        <a:lstStyle/>
        <a:p>
          <a:endParaRPr lang="zh-CN" altLang="en-US"/>
        </a:p>
      </dgm:t>
    </dgm:pt>
    <dgm:pt modelId="{9163107C-68B9-4F1E-86B5-337B45AC0DB8}">
      <dgm:prSet phldrT="[文本]" custT="1"/>
      <dgm:spPr/>
      <dgm:t>
        <a:bodyPr/>
        <a:lstStyle/>
        <a:p>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三个</a:t>
          </a:r>
          <a:endPar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分等级</a:t>
          </a:r>
        </a:p>
      </dgm:t>
    </dgm:pt>
    <dgm:pt modelId="{004AD5B8-DA08-41A3-98AC-07B668BD00C5}" cxnId="{122DD765-6113-4A13-BF3E-D84899D1552D}" type="par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999613C2-F951-4D47-A886-97410E332C6D}" cxnId="{122DD765-6113-4A13-BF3E-D84899D1552D}" type="sib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8A143B1B-B8E0-49ED-9998-A6877DBD4CA3}">
      <dgm:prSet phldrT="[文本]" custT="1"/>
      <dgm:spPr/>
      <dgm:t>
        <a:bodyPr/>
        <a:lstStyle/>
        <a:p>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信息系统</a:t>
          </a:r>
        </a:p>
      </dgm:t>
    </dgm:pt>
    <dgm:pt modelId="{3D83EFE0-2E89-4339-AB61-D22BAB323E6F}" cxnId="{C7F7D677-0AC6-4D03-976D-1E117B843A5B}" type="par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11DA1F57-F6A7-4251-976C-B05383665FA2}" cxnId="{C7F7D677-0AC6-4D03-976D-1E117B843A5B}" type="sib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CEAA5F16-B492-49FF-A51A-F12D867D17F2}">
      <dgm:prSet phldrT="[文本]" custT="1"/>
      <dgm:spPr/>
      <dgm:t>
        <a:bodyPr/>
        <a:lstStyle/>
        <a:p>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安全产品</a:t>
          </a:r>
        </a:p>
      </dgm:t>
    </dgm:pt>
    <dgm:pt modelId="{53E041CA-D8FA-488C-A2DC-78B52D4EE9E0}" cxnId="{C1F32B03-72C9-4426-9104-AB01D6D87865}" type="par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87B00DE7-E170-453D-8F06-28781E2124B9}" cxnId="{C1F32B03-72C9-4426-9104-AB01D6D87865}" type="sib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17577182-112A-4B5C-9846-96B175230DC1}">
      <dgm:prSet phldrT="[文本]" custT="1"/>
      <dgm:spPr/>
      <dgm:t>
        <a:bodyPr/>
        <a:lstStyle/>
        <a:p>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安全事件</a:t>
          </a:r>
        </a:p>
      </dgm:t>
    </dgm:pt>
    <dgm:pt modelId="{6D937B88-1B27-448A-8CB5-649435B33BBC}" cxnId="{2F040126-6F33-46EC-850A-259D1D90B96F}" type="par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6B51100C-FC02-44AC-94BD-F1F602F28100}" cxnId="{2F040126-6F33-46EC-850A-259D1D90B96F}" type="sibTrans">
      <dgm:prSet/>
      <dgm:spPr/>
      <dgm:t>
        <a:bodyPr/>
        <a:lstStyle/>
        <a:p>
          <a:endParaRPr lang="zh-CN" altLang="en-US" sz="240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EAE5FFF6-4DBE-4EFB-9292-A2FF37349601}" type="pres">
      <dgm:prSet presAssocID="{6331362A-A752-44F9-81E0-B098BFDC237E}" presName="Name0" presStyleCnt="0">
        <dgm:presLayoutVars>
          <dgm:chMax val="1"/>
          <dgm:dir/>
          <dgm:animLvl val="ctr"/>
          <dgm:resizeHandles val="exact"/>
        </dgm:presLayoutVars>
      </dgm:prSet>
      <dgm:spPr/>
    </dgm:pt>
    <dgm:pt modelId="{AF45673D-BABD-4429-8B05-4913C755C8A7}" type="pres">
      <dgm:prSet presAssocID="{9163107C-68B9-4F1E-86B5-337B45AC0DB8}" presName="centerShape" presStyleLbl="node0" presStyleIdx="0" presStyleCnt="1"/>
      <dgm:spPr/>
    </dgm:pt>
    <dgm:pt modelId="{A130C076-90CF-4570-8FDD-5D79D7B26CCF}" type="pres">
      <dgm:prSet presAssocID="{8A143B1B-B8E0-49ED-9998-A6877DBD4CA3}" presName="node" presStyleLbl="node1" presStyleIdx="0" presStyleCnt="3">
        <dgm:presLayoutVars>
          <dgm:bulletEnabled val="1"/>
        </dgm:presLayoutVars>
      </dgm:prSet>
      <dgm:spPr/>
    </dgm:pt>
    <dgm:pt modelId="{74F9AA35-46A7-4E1D-BAB7-0CEE5BD71BA2}" type="pres">
      <dgm:prSet presAssocID="{8A143B1B-B8E0-49ED-9998-A6877DBD4CA3}" presName="dummy" presStyleCnt="0"/>
      <dgm:spPr/>
    </dgm:pt>
    <dgm:pt modelId="{339F9593-7052-4DAB-8598-D1A1AABA8F2F}" type="pres">
      <dgm:prSet presAssocID="{11DA1F57-F6A7-4251-976C-B05383665FA2}" presName="sibTrans" presStyleLbl="sibTrans2D1" presStyleIdx="0" presStyleCnt="3"/>
      <dgm:spPr/>
    </dgm:pt>
    <dgm:pt modelId="{538A1AF4-F455-4745-A446-4C4F17C6550F}" type="pres">
      <dgm:prSet presAssocID="{CEAA5F16-B492-49FF-A51A-F12D867D17F2}" presName="node" presStyleLbl="node1" presStyleIdx="1" presStyleCnt="3">
        <dgm:presLayoutVars>
          <dgm:bulletEnabled val="1"/>
        </dgm:presLayoutVars>
      </dgm:prSet>
      <dgm:spPr/>
    </dgm:pt>
    <dgm:pt modelId="{F3C2748D-F85D-4D0B-BC67-8F7F181CC160}" type="pres">
      <dgm:prSet presAssocID="{CEAA5F16-B492-49FF-A51A-F12D867D17F2}" presName="dummy" presStyleCnt="0"/>
      <dgm:spPr/>
    </dgm:pt>
    <dgm:pt modelId="{25FD3752-D38E-4168-8589-953A414D280D}" type="pres">
      <dgm:prSet presAssocID="{87B00DE7-E170-453D-8F06-28781E2124B9}" presName="sibTrans" presStyleLbl="sibTrans2D1" presStyleIdx="1" presStyleCnt="3"/>
      <dgm:spPr/>
    </dgm:pt>
    <dgm:pt modelId="{14AA6C5A-96C5-4FF9-8A33-60A7AB4EF955}" type="pres">
      <dgm:prSet presAssocID="{17577182-112A-4B5C-9846-96B175230DC1}" presName="node" presStyleLbl="node1" presStyleIdx="2" presStyleCnt="3">
        <dgm:presLayoutVars>
          <dgm:bulletEnabled val="1"/>
        </dgm:presLayoutVars>
      </dgm:prSet>
      <dgm:spPr/>
    </dgm:pt>
    <dgm:pt modelId="{F658D74A-6DAD-4E97-A740-C6AADB2D831D}" type="pres">
      <dgm:prSet presAssocID="{17577182-112A-4B5C-9846-96B175230DC1}" presName="dummy" presStyleCnt="0"/>
      <dgm:spPr/>
    </dgm:pt>
    <dgm:pt modelId="{DFA894CC-2271-4669-AD06-A8F9B85D2080}" type="pres">
      <dgm:prSet presAssocID="{6B51100C-FC02-44AC-94BD-F1F602F28100}" presName="sibTrans" presStyleLbl="sibTrans2D1" presStyleIdx="2" presStyleCnt="3"/>
      <dgm:spPr/>
    </dgm:pt>
  </dgm:ptLst>
  <dgm:cxnLst>
    <dgm:cxn modelId="{C1F32B03-72C9-4426-9104-AB01D6D87865}" srcId="{9163107C-68B9-4F1E-86B5-337B45AC0DB8}" destId="{CEAA5F16-B492-49FF-A51A-F12D867D17F2}" srcOrd="1" destOrd="0" parTransId="{53E041CA-D8FA-488C-A2DC-78B52D4EE9E0}" sibTransId="{87B00DE7-E170-453D-8F06-28781E2124B9}"/>
    <dgm:cxn modelId="{10839815-E166-42D7-893E-73F63F34A1CB}" type="presOf" srcId="{6B51100C-FC02-44AC-94BD-F1F602F28100}" destId="{DFA894CC-2271-4669-AD06-A8F9B85D2080}" srcOrd="0" destOrd="0" presId="urn:microsoft.com/office/officeart/2005/8/layout/radial6#1"/>
    <dgm:cxn modelId="{55BE9A1E-ACE9-4A30-8FC2-70D3EF4D9719}" type="presOf" srcId="{CEAA5F16-B492-49FF-A51A-F12D867D17F2}" destId="{538A1AF4-F455-4745-A446-4C4F17C6550F}" srcOrd="0" destOrd="0" presId="urn:microsoft.com/office/officeart/2005/8/layout/radial6#1"/>
    <dgm:cxn modelId="{882B3B21-57FA-46D6-B844-1689F80AC9BA}" type="presOf" srcId="{87B00DE7-E170-453D-8F06-28781E2124B9}" destId="{25FD3752-D38E-4168-8589-953A414D280D}" srcOrd="0" destOrd="0" presId="urn:microsoft.com/office/officeart/2005/8/layout/radial6#1"/>
    <dgm:cxn modelId="{2F040126-6F33-46EC-850A-259D1D90B96F}" srcId="{9163107C-68B9-4F1E-86B5-337B45AC0DB8}" destId="{17577182-112A-4B5C-9846-96B175230DC1}" srcOrd="2" destOrd="0" parTransId="{6D937B88-1B27-448A-8CB5-649435B33BBC}" sibTransId="{6B51100C-FC02-44AC-94BD-F1F602F28100}"/>
    <dgm:cxn modelId="{0CB2D82F-9223-423E-9F3D-FB2AA3D216D1}" type="presOf" srcId="{8A143B1B-B8E0-49ED-9998-A6877DBD4CA3}" destId="{A130C076-90CF-4570-8FDD-5D79D7B26CCF}" srcOrd="0" destOrd="0" presId="urn:microsoft.com/office/officeart/2005/8/layout/radial6#1"/>
    <dgm:cxn modelId="{122DD765-6113-4A13-BF3E-D84899D1552D}" srcId="{6331362A-A752-44F9-81E0-B098BFDC237E}" destId="{9163107C-68B9-4F1E-86B5-337B45AC0DB8}" srcOrd="0" destOrd="0" parTransId="{004AD5B8-DA08-41A3-98AC-07B668BD00C5}" sibTransId="{999613C2-F951-4D47-A886-97410E332C6D}"/>
    <dgm:cxn modelId="{C7F7D677-0AC6-4D03-976D-1E117B843A5B}" srcId="{9163107C-68B9-4F1E-86B5-337B45AC0DB8}" destId="{8A143B1B-B8E0-49ED-9998-A6877DBD4CA3}" srcOrd="0" destOrd="0" parTransId="{3D83EFE0-2E89-4339-AB61-D22BAB323E6F}" sibTransId="{11DA1F57-F6A7-4251-976C-B05383665FA2}"/>
    <dgm:cxn modelId="{A6C3FB7C-0A73-4035-9BDB-974F92188007}" type="presOf" srcId="{11DA1F57-F6A7-4251-976C-B05383665FA2}" destId="{339F9593-7052-4DAB-8598-D1A1AABA8F2F}" srcOrd="0" destOrd="0" presId="urn:microsoft.com/office/officeart/2005/8/layout/radial6#1"/>
    <dgm:cxn modelId="{6C935494-0598-4515-BF0F-CC73EC3E5987}" type="presOf" srcId="{9163107C-68B9-4F1E-86B5-337B45AC0DB8}" destId="{AF45673D-BABD-4429-8B05-4913C755C8A7}" srcOrd="0" destOrd="0" presId="urn:microsoft.com/office/officeart/2005/8/layout/radial6#1"/>
    <dgm:cxn modelId="{FE792AC8-DB48-407E-814D-E729199BEAA6}" type="presOf" srcId="{17577182-112A-4B5C-9846-96B175230DC1}" destId="{14AA6C5A-96C5-4FF9-8A33-60A7AB4EF955}" srcOrd="0" destOrd="0" presId="urn:microsoft.com/office/officeart/2005/8/layout/radial6#1"/>
    <dgm:cxn modelId="{AA8A02CA-64D9-4A0B-83C9-A34B8E07B1CE}" type="presOf" srcId="{6331362A-A752-44F9-81E0-B098BFDC237E}" destId="{EAE5FFF6-4DBE-4EFB-9292-A2FF37349601}" srcOrd="0" destOrd="0" presId="urn:microsoft.com/office/officeart/2005/8/layout/radial6#1"/>
    <dgm:cxn modelId="{903829F4-FBBD-40A6-95EE-AB7B1A484D6B}" type="presParOf" srcId="{EAE5FFF6-4DBE-4EFB-9292-A2FF37349601}" destId="{AF45673D-BABD-4429-8B05-4913C755C8A7}" srcOrd="0" destOrd="0" presId="urn:microsoft.com/office/officeart/2005/8/layout/radial6#1"/>
    <dgm:cxn modelId="{DDC6CBB0-A782-41DA-A982-02F6879E53A7}" type="presParOf" srcId="{EAE5FFF6-4DBE-4EFB-9292-A2FF37349601}" destId="{A130C076-90CF-4570-8FDD-5D79D7B26CCF}" srcOrd="1" destOrd="0" presId="urn:microsoft.com/office/officeart/2005/8/layout/radial6#1"/>
    <dgm:cxn modelId="{3FB4B1B4-B7FD-4067-B57D-656DE7272CA7}" type="presParOf" srcId="{EAE5FFF6-4DBE-4EFB-9292-A2FF37349601}" destId="{74F9AA35-46A7-4E1D-BAB7-0CEE5BD71BA2}" srcOrd="2" destOrd="0" presId="urn:microsoft.com/office/officeart/2005/8/layout/radial6#1"/>
    <dgm:cxn modelId="{42C18A81-0A22-4FAE-8A01-46AA13CE555D}" type="presParOf" srcId="{EAE5FFF6-4DBE-4EFB-9292-A2FF37349601}" destId="{339F9593-7052-4DAB-8598-D1A1AABA8F2F}" srcOrd="3" destOrd="0" presId="urn:microsoft.com/office/officeart/2005/8/layout/radial6#1"/>
    <dgm:cxn modelId="{2BDC3FC8-BE68-482B-A66F-20326C906319}" type="presParOf" srcId="{EAE5FFF6-4DBE-4EFB-9292-A2FF37349601}" destId="{538A1AF4-F455-4745-A446-4C4F17C6550F}" srcOrd="4" destOrd="0" presId="urn:microsoft.com/office/officeart/2005/8/layout/radial6#1"/>
    <dgm:cxn modelId="{55E79AC8-75D4-42EB-88A7-389BE3096CE0}" type="presParOf" srcId="{EAE5FFF6-4DBE-4EFB-9292-A2FF37349601}" destId="{F3C2748D-F85D-4D0B-BC67-8F7F181CC160}" srcOrd="5" destOrd="0" presId="urn:microsoft.com/office/officeart/2005/8/layout/radial6#1"/>
    <dgm:cxn modelId="{6ED8DC37-725F-4DC6-8A67-27B05B06A7DF}" type="presParOf" srcId="{EAE5FFF6-4DBE-4EFB-9292-A2FF37349601}" destId="{25FD3752-D38E-4168-8589-953A414D280D}" srcOrd="6" destOrd="0" presId="urn:microsoft.com/office/officeart/2005/8/layout/radial6#1"/>
    <dgm:cxn modelId="{5FD48B50-6F26-4B8E-9B7D-A6EF839D3968}" type="presParOf" srcId="{EAE5FFF6-4DBE-4EFB-9292-A2FF37349601}" destId="{14AA6C5A-96C5-4FF9-8A33-60A7AB4EF955}" srcOrd="7" destOrd="0" presId="urn:microsoft.com/office/officeart/2005/8/layout/radial6#1"/>
    <dgm:cxn modelId="{E51A8136-0C38-4BE8-9036-EB773912B08E}" type="presParOf" srcId="{EAE5FFF6-4DBE-4EFB-9292-A2FF37349601}" destId="{F658D74A-6DAD-4E97-A740-C6AADB2D831D}" srcOrd="8" destOrd="0" presId="urn:microsoft.com/office/officeart/2005/8/layout/radial6#1"/>
    <dgm:cxn modelId="{2269A202-A2EC-4B01-A543-5D4FCF1D5388}" type="presParOf" srcId="{EAE5FFF6-4DBE-4EFB-9292-A2FF37349601}" destId="{DFA894CC-2271-4669-AD06-A8F9B85D2080}" srcOrd="9" destOrd="0" presId="urn:microsoft.com/office/officeart/2005/8/layout/radial6#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7809F8-520D-4542-B998-50081A060086}" type="doc">
      <dgm:prSet loTypeId="urn:microsoft.com/office/officeart/2005/8/layout/hierarchy1#1" loCatId="" qsTypeId="urn:microsoft.com/office/officeart/2005/8/quickstyle/simple1#1" qsCatId="simple" csTypeId="urn:microsoft.com/office/officeart/2005/8/colors/colorful1#2" csCatId="colorful" phldr="1"/>
      <dgm:spPr/>
      <dgm:t>
        <a:bodyPr/>
        <a:lstStyle/>
        <a:p>
          <a:endParaRPr lang="zh-CN" altLang="en-US"/>
        </a:p>
      </dgm:t>
    </dgm:pt>
    <dgm:pt modelId="{2EEB1454-A3C9-0E41-9793-34428352CFBF}">
      <dgm:prSet phldrT="[文本]" custT="1"/>
      <dgm:spPr>
        <a:solidFill>
          <a:srgbClr val="FFFFFF">
            <a:alpha val="90000"/>
            <a:hueOff val="0"/>
            <a:satOff val="0"/>
            <a:lumOff val="0"/>
            <a:alphaOff val="0"/>
          </a:srgbClr>
        </a:solidFill>
        <a:ln w="12700" cap="flat" cmpd="sng" algn="ctr">
          <a:solidFill>
            <a:srgbClr val="E77817">
              <a:hueOff val="0"/>
              <a:satOff val="0"/>
              <a:lumOff val="0"/>
              <a:alphaOff val="0"/>
            </a:srgbClr>
          </a:solidFill>
          <a:prstDash val="solid"/>
          <a:miter lim="800000"/>
        </a:ln>
        <a:effectLst/>
      </dgm:spPr>
      <dgm:t>
        <a:bodyPr spcFirstLastPara="0" vert="horz" wrap="square" lIns="118110" tIns="118110" rIns="118110" bIns="118110" numCol="1" spcCol="1270" anchor="ctr" anchorCtr="0"/>
        <a:lstStyle/>
        <a:p>
          <a:pPr marL="0" lvl="0" indent="0" algn="ctr" defTabSz="1377950">
            <a:lnSpc>
              <a:spcPct val="90000"/>
            </a:lnSpc>
            <a:spcBef>
              <a:spcPct val="0"/>
            </a:spcBef>
            <a:spcAft>
              <a:spcPct val="35000"/>
            </a:spcAft>
            <a:buNone/>
          </a:pPr>
          <a:r>
            <a:rPr lang="zh-CN" altLang="en-US" sz="1600" b="1" kern="1200" dirty="0">
              <a:solidFill>
                <a:srgbClr val="000000">
                  <a:hueOff val="0"/>
                  <a:satOff val="0"/>
                  <a:lumOff val="0"/>
                  <a:alphaOff val="0"/>
                </a:srgbClr>
              </a:solidFill>
              <a:latin typeface="Arial" panose="020B0604020202020204"/>
              <a:ea typeface="微软雅黑" panose="020B0503020204020204" pitchFamily="34" charset="-122"/>
              <a:cs typeface="+mn-cs"/>
            </a:rPr>
            <a:t>网络安全等级保护基本要求</a:t>
          </a:r>
          <a:endParaRPr lang="en-US" altLang="zh-CN" sz="1600" b="1"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indent="0" algn="ctr" defTabSz="1377950">
            <a:lnSpc>
              <a:spcPct val="90000"/>
            </a:lnSpc>
            <a:spcBef>
              <a:spcPct val="0"/>
            </a:spcBef>
            <a:spcAft>
              <a:spcPct val="35000"/>
            </a:spcAft>
            <a:buNone/>
          </a:pPr>
          <a:r>
            <a:rPr lang="zh-CN" altLang="en-US" sz="1600" b="1" kern="1200" dirty="0">
              <a:solidFill>
                <a:srgbClr val="000000">
                  <a:hueOff val="0"/>
                  <a:satOff val="0"/>
                  <a:lumOff val="0"/>
                  <a:alphaOff val="0"/>
                </a:srgbClr>
              </a:solidFill>
              <a:latin typeface="Arial" panose="020B0604020202020204"/>
              <a:ea typeface="微软雅黑" panose="020B0503020204020204" pitchFamily="34" charset="-122"/>
              <a:cs typeface="+mn-cs"/>
            </a:rPr>
            <a:t>（安全通用要求）</a:t>
          </a:r>
        </a:p>
      </dgm:t>
    </dgm:pt>
    <dgm:pt modelId="{64ADD9F9-A9F2-AD48-B299-F72FF5479BDF}" cxnId="{FB8132F4-3FA4-8049-8761-80CF8BF4EC31}" type="parTrans">
      <dgm:prSet/>
      <dgm:spPr/>
      <dgm:t>
        <a:bodyPr/>
        <a:lstStyle/>
        <a:p>
          <a:endParaRPr lang="zh-CN" altLang="en-US"/>
        </a:p>
      </dgm:t>
    </dgm:pt>
    <dgm:pt modelId="{2FBE1460-8FC1-C448-99FE-5A9956409638}" cxnId="{FB8132F4-3FA4-8049-8761-80CF8BF4EC31}" type="sibTrans">
      <dgm:prSet/>
      <dgm:spPr/>
      <dgm:t>
        <a:bodyPr/>
        <a:lstStyle/>
        <a:p>
          <a:endParaRPr lang="zh-CN" altLang="en-US"/>
        </a:p>
      </dgm:t>
    </dgm:pt>
    <dgm:pt modelId="{0EFBEED9-14FD-B84E-BCF7-EC976EDD9220}">
      <dgm:prSet phldrT="[文本]" custT="1"/>
      <dgm:spPr>
        <a:solidFill>
          <a:srgbClr val="FFFFFF">
            <a:alpha val="90000"/>
            <a:hueOff val="0"/>
            <a:satOff val="0"/>
            <a:lumOff val="0"/>
            <a:alphaOff val="0"/>
          </a:srgbClr>
        </a:solidFill>
        <a:ln w="12700" cap="flat" cmpd="sng" algn="ctr">
          <a:solidFill>
            <a:srgbClr val="E77817">
              <a:hueOff val="0"/>
              <a:satOff val="0"/>
              <a:lumOff val="0"/>
              <a:alphaOff val="0"/>
            </a:srgbClr>
          </a:solidFill>
          <a:prstDash val="solid"/>
          <a:miter lim="800000"/>
        </a:ln>
        <a:effectLst/>
      </dgm:spPr>
      <dgm:t>
        <a:bodyPr spcFirstLastPara="0" vert="horz" wrap="square" lIns="118110" tIns="118110" rIns="118110" bIns="118110" numCol="1" spcCol="1270" anchor="ctr" anchorCtr="0"/>
        <a:lstStyle/>
        <a:p>
          <a:pPr marL="0" lvl="0" indent="0" algn="ctr" defTabSz="1377950">
            <a:lnSpc>
              <a:spcPct val="90000"/>
            </a:lnSpc>
            <a:spcBef>
              <a:spcPct val="0"/>
            </a:spcBef>
            <a:spcAft>
              <a:spcPct val="35000"/>
            </a:spcAft>
            <a:buNone/>
          </a:pPr>
          <a:r>
            <a:rPr lang="zh-CN" altLang="en-US" sz="1400" b="1" kern="1200" dirty="0">
              <a:solidFill>
                <a:srgbClr val="000000">
                  <a:hueOff val="0"/>
                  <a:satOff val="0"/>
                  <a:lumOff val="0"/>
                  <a:alphaOff val="0"/>
                </a:srgbClr>
              </a:solidFill>
              <a:latin typeface="Arial" panose="020B0604020202020204"/>
              <a:ea typeface="微软雅黑" panose="020B0503020204020204" pitchFamily="34" charset="-122"/>
              <a:cs typeface="+mn-cs"/>
            </a:rPr>
            <a:t>技术要求</a:t>
          </a:r>
        </a:p>
      </dgm:t>
    </dgm:pt>
    <dgm:pt modelId="{ED9C3F59-3317-6746-B394-3B0C43A4C43C}" cxnId="{548E4C80-CFFF-284B-B65D-5B6D9D7B843E}" type="parTrans">
      <dgm:prSet/>
      <dgm:spPr/>
      <dgm:t>
        <a:bodyPr/>
        <a:lstStyle/>
        <a:p>
          <a:endParaRPr lang="zh-CN" altLang="en-US"/>
        </a:p>
      </dgm:t>
    </dgm:pt>
    <dgm:pt modelId="{1687F5B1-4824-F545-A3EF-AA4832C7DEB3}" cxnId="{548E4C80-CFFF-284B-B65D-5B6D9D7B843E}" type="sibTrans">
      <dgm:prSet/>
      <dgm:spPr/>
      <dgm:t>
        <a:bodyPr/>
        <a:lstStyle/>
        <a:p>
          <a:endParaRPr lang="zh-CN" altLang="en-US"/>
        </a:p>
      </dgm:t>
    </dgm:pt>
    <dgm:pt modelId="{1290B9E4-31E2-714B-AF00-E24D31BD0A44}">
      <dgm:prSet custT="1"/>
      <dgm:spPr/>
      <dgm:t>
        <a:bodyPr/>
        <a:lstStyle/>
        <a:p>
          <a:r>
            <a:rPr lang="zh-CN" altLang="en-US" sz="1000" dirty="0"/>
            <a:t>安全物理环境</a:t>
          </a:r>
        </a:p>
      </dgm:t>
    </dgm:pt>
    <dgm:pt modelId="{61A583CC-18F6-2440-874B-B7561F3AD560}" cxnId="{691A03DE-BC13-3743-8D7A-12A777B4EEDA}" type="parTrans">
      <dgm:prSet/>
      <dgm:spPr/>
      <dgm:t>
        <a:bodyPr/>
        <a:lstStyle/>
        <a:p>
          <a:endParaRPr lang="zh-CN" altLang="en-US"/>
        </a:p>
      </dgm:t>
    </dgm:pt>
    <dgm:pt modelId="{DFC49423-1981-9547-8DC3-A8391EF8D065}" cxnId="{691A03DE-BC13-3743-8D7A-12A777B4EEDA}" type="sibTrans">
      <dgm:prSet/>
      <dgm:spPr/>
      <dgm:t>
        <a:bodyPr/>
        <a:lstStyle/>
        <a:p>
          <a:endParaRPr lang="zh-CN" altLang="en-US"/>
        </a:p>
      </dgm:t>
    </dgm:pt>
    <dgm:pt modelId="{FC0B743F-4CF7-E043-9147-28AF0AA6458E}">
      <dgm:prSet custT="1"/>
      <dgm:spPr>
        <a:ln>
          <a:solidFill>
            <a:schemeClr val="accent5">
              <a:lumMod val="60000"/>
              <a:lumOff val="40000"/>
            </a:schemeClr>
          </a:solidFill>
        </a:ln>
      </dgm:spPr>
      <dgm:t>
        <a:bodyPr/>
        <a:lstStyle/>
        <a:p>
          <a:r>
            <a:rPr lang="zh-CN" altLang="en-US" sz="1400" b="1" dirty="0"/>
            <a:t>管理要求</a:t>
          </a:r>
        </a:p>
      </dgm:t>
    </dgm:pt>
    <dgm:pt modelId="{23CBD623-3C42-4045-93DF-F9346471D365}" cxnId="{F057EE9B-DE08-F546-B148-3E32F3CE577F}" type="parTrans">
      <dgm:prSet/>
      <dgm:spPr/>
      <dgm:t>
        <a:bodyPr/>
        <a:lstStyle/>
        <a:p>
          <a:endParaRPr lang="zh-CN" altLang="en-US"/>
        </a:p>
      </dgm:t>
    </dgm:pt>
    <dgm:pt modelId="{B10D29D4-1FF6-3A48-913A-F55311B765E6}" cxnId="{F057EE9B-DE08-F546-B148-3E32F3CE577F}" type="sibTrans">
      <dgm:prSet/>
      <dgm:spPr/>
      <dgm:t>
        <a:bodyPr/>
        <a:lstStyle/>
        <a:p>
          <a:endParaRPr lang="zh-CN" altLang="en-US"/>
        </a:p>
      </dgm:t>
    </dgm:pt>
    <dgm:pt modelId="{3F3E3548-D1D4-C347-8ED2-2EEC2E788F95}">
      <dgm:prSet custT="1"/>
      <dgm:spPr>
        <a:solidFill>
          <a:srgbClr val="FFFFFF">
            <a:alpha val="90000"/>
            <a:hueOff val="0"/>
            <a:satOff val="0"/>
            <a:lumOff val="0"/>
            <a:alphaOff val="0"/>
          </a:srgbClr>
        </a:solidFill>
        <a:ln w="12700" cap="flat" cmpd="sng" algn="ctr">
          <a:solidFill>
            <a:srgbClr val="667AB3">
              <a:lumMod val="60000"/>
              <a:lumOff val="40000"/>
            </a:srgbClr>
          </a:solidFill>
          <a:prstDash val="solid"/>
          <a:miter lim="800000"/>
        </a:ln>
        <a:effectLst/>
      </dgm:spPr>
      <dgm:t>
        <a:bodyPr spcFirstLastPara="0" vert="horz" wrap="square" lIns="38100" tIns="38100" rIns="38100" bIns="38100" numCol="1" spcCol="1270" anchor="ctr" anchorCtr="0"/>
        <a:lstStyle/>
        <a:p>
          <a:pPr marL="0" lvl="0" indent="0" algn="ctr" defTabSz="44450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安全运维管理</a:t>
          </a:r>
        </a:p>
      </dgm:t>
    </dgm:pt>
    <dgm:pt modelId="{D8F555DB-B555-0147-A296-4DCD80D431EC}" cxnId="{F265B00F-ED68-0140-901F-5EB830384AC3}" type="parTrans">
      <dgm:prSet/>
      <dgm:spPr/>
      <dgm:t>
        <a:bodyPr/>
        <a:lstStyle/>
        <a:p>
          <a:endParaRPr lang="zh-CN" altLang="en-US"/>
        </a:p>
      </dgm:t>
    </dgm:pt>
    <dgm:pt modelId="{93789B2D-E29D-9448-B49B-E9AD68AE3D21}" cxnId="{F265B00F-ED68-0140-901F-5EB830384AC3}" type="sibTrans">
      <dgm:prSet/>
      <dgm:spPr/>
      <dgm:t>
        <a:bodyPr/>
        <a:lstStyle/>
        <a:p>
          <a:endParaRPr lang="zh-CN" altLang="en-US"/>
        </a:p>
      </dgm:t>
    </dgm:pt>
    <dgm:pt modelId="{73619578-AABF-4E4A-9E91-31367035A282}">
      <dgm:prSet/>
      <dgm:spPr>
        <a:ln>
          <a:solidFill>
            <a:schemeClr val="accent5">
              <a:lumMod val="60000"/>
              <a:lumOff val="40000"/>
            </a:schemeClr>
          </a:solidFill>
        </a:ln>
      </dgm:spPr>
      <dgm:t>
        <a:bodyPr/>
        <a:lstStyle/>
        <a:p>
          <a:r>
            <a:rPr lang="zh-CN" altLang="en-US" dirty="0"/>
            <a:t>安全建设管理</a:t>
          </a:r>
        </a:p>
      </dgm:t>
    </dgm:pt>
    <dgm:pt modelId="{F0F77637-C4A8-3345-BD41-19C7BAA6F54C}" cxnId="{3183747B-46FB-BA4A-94F4-80EF4136F707}" type="sibTrans">
      <dgm:prSet/>
      <dgm:spPr/>
      <dgm:t>
        <a:bodyPr/>
        <a:lstStyle/>
        <a:p>
          <a:endParaRPr lang="zh-CN" altLang="en-US"/>
        </a:p>
      </dgm:t>
    </dgm:pt>
    <dgm:pt modelId="{1D4D987C-D797-0E44-872D-CFA361745B74}" cxnId="{3183747B-46FB-BA4A-94F4-80EF4136F707}" type="parTrans">
      <dgm:prSet/>
      <dgm:spPr/>
      <dgm:t>
        <a:bodyPr/>
        <a:lstStyle/>
        <a:p>
          <a:endParaRPr lang="zh-CN" altLang="en-US"/>
        </a:p>
      </dgm:t>
    </dgm:pt>
    <dgm:pt modelId="{C5817432-6F22-2A46-9355-E71B70ABAE6B}">
      <dgm:prSet/>
      <dgm:spPr>
        <a:ln>
          <a:solidFill>
            <a:schemeClr val="accent5">
              <a:lumMod val="60000"/>
              <a:lumOff val="40000"/>
            </a:schemeClr>
          </a:solidFill>
        </a:ln>
      </dgm:spPr>
      <dgm:t>
        <a:bodyPr/>
        <a:lstStyle/>
        <a:p>
          <a:r>
            <a:rPr lang="zh-CN" altLang="en-US" dirty="0"/>
            <a:t>安全管理人员</a:t>
          </a:r>
        </a:p>
      </dgm:t>
    </dgm:pt>
    <dgm:pt modelId="{D41E48AD-68CD-824E-87AF-BD7DA7346D44}" cxnId="{9710F343-6200-0C48-86C9-AD320C859C70}" type="sibTrans">
      <dgm:prSet/>
      <dgm:spPr/>
      <dgm:t>
        <a:bodyPr/>
        <a:lstStyle/>
        <a:p>
          <a:endParaRPr lang="zh-CN" altLang="en-US"/>
        </a:p>
      </dgm:t>
    </dgm:pt>
    <dgm:pt modelId="{1306EDD7-8D02-5542-BE42-D86EF9AFEE38}" cxnId="{9710F343-6200-0C48-86C9-AD320C859C70}" type="parTrans">
      <dgm:prSet/>
      <dgm:spPr/>
      <dgm:t>
        <a:bodyPr/>
        <a:lstStyle/>
        <a:p>
          <a:endParaRPr lang="zh-CN" altLang="en-US"/>
        </a:p>
      </dgm:t>
    </dgm:pt>
    <dgm:pt modelId="{962BE203-E5B8-4C47-BE61-24A47DAD0036}">
      <dgm:prSet custT="1"/>
      <dgm:spPr>
        <a:solidFill>
          <a:srgbClr val="FFFFFF">
            <a:alpha val="90000"/>
            <a:hueOff val="0"/>
            <a:satOff val="0"/>
            <a:lumOff val="0"/>
            <a:alphaOff val="0"/>
          </a:srgbClr>
        </a:solidFill>
        <a:ln w="12700" cap="flat" cmpd="sng" algn="ctr">
          <a:solidFill>
            <a:srgbClr val="667AB3">
              <a:lumMod val="60000"/>
              <a:lumOff val="40000"/>
            </a:srgbClr>
          </a:solidFill>
          <a:prstDash val="solid"/>
          <a:miter lim="800000"/>
        </a:ln>
        <a:effectLst/>
      </dgm:spPr>
      <dgm:t>
        <a:bodyPr spcFirstLastPara="0" vert="horz" wrap="square" lIns="38100" tIns="38100" rIns="38100" bIns="38100" numCol="1" spcCol="1270" anchor="ctr" anchorCtr="0"/>
        <a:lstStyle/>
        <a:p>
          <a:pPr marL="0" lvl="0" indent="0" algn="ctr" defTabSz="44450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安全管理机构</a:t>
          </a:r>
        </a:p>
      </dgm:t>
    </dgm:pt>
    <dgm:pt modelId="{FE839FBD-8B7F-8D41-B0E4-5680D701AB9A}" cxnId="{F49FC6D7-C4D0-1948-9C1F-E28EF6664B16}" type="sibTrans">
      <dgm:prSet/>
      <dgm:spPr/>
      <dgm:t>
        <a:bodyPr/>
        <a:lstStyle/>
        <a:p>
          <a:endParaRPr lang="zh-CN" altLang="en-US"/>
        </a:p>
      </dgm:t>
    </dgm:pt>
    <dgm:pt modelId="{77739EC9-C840-9347-BDB6-D2653ED9EB2A}" cxnId="{F49FC6D7-C4D0-1948-9C1F-E28EF6664B16}" type="parTrans">
      <dgm:prSet/>
      <dgm:spPr/>
      <dgm:t>
        <a:bodyPr/>
        <a:lstStyle/>
        <a:p>
          <a:endParaRPr lang="zh-CN" altLang="en-US"/>
        </a:p>
      </dgm:t>
    </dgm:pt>
    <dgm:pt modelId="{94EEBBAD-27EF-C440-9C0C-7B855DE78144}">
      <dgm:prSet/>
      <dgm:spPr>
        <a:ln>
          <a:solidFill>
            <a:schemeClr val="accent5">
              <a:lumMod val="60000"/>
              <a:lumOff val="40000"/>
            </a:schemeClr>
          </a:solidFill>
        </a:ln>
      </dgm:spPr>
      <dgm:t>
        <a:bodyPr/>
        <a:lstStyle/>
        <a:p>
          <a:r>
            <a:rPr lang="zh-CN" altLang="en-US" dirty="0"/>
            <a:t>安全管理制度</a:t>
          </a:r>
        </a:p>
      </dgm:t>
    </dgm:pt>
    <dgm:pt modelId="{6CFA920B-8A1C-8F40-95A8-DBE48C0E0344}" cxnId="{E89FB92E-C7EA-8348-A647-99F91948258E}" type="sibTrans">
      <dgm:prSet/>
      <dgm:spPr/>
      <dgm:t>
        <a:bodyPr/>
        <a:lstStyle/>
        <a:p>
          <a:endParaRPr lang="zh-CN" altLang="en-US"/>
        </a:p>
      </dgm:t>
    </dgm:pt>
    <dgm:pt modelId="{B1B0E2FB-C545-1D4A-A846-1F9128E008EC}" cxnId="{E89FB92E-C7EA-8348-A647-99F91948258E}" type="parTrans">
      <dgm:prSet/>
      <dgm:spPr/>
      <dgm:t>
        <a:bodyPr/>
        <a:lstStyle/>
        <a:p>
          <a:endParaRPr lang="zh-CN" altLang="en-US"/>
        </a:p>
      </dgm:t>
    </dgm:pt>
    <dgm:pt modelId="{50A60E05-98CD-1643-A231-1DD2C0B9C5E8}">
      <dgm:prSet/>
      <dgm:spPr/>
      <dgm:t>
        <a:bodyPr/>
        <a:lstStyle/>
        <a:p>
          <a:r>
            <a:rPr lang="zh-CN" altLang="en-US" dirty="0"/>
            <a:t>安全管理中心</a:t>
          </a:r>
        </a:p>
      </dgm:t>
    </dgm:pt>
    <dgm:pt modelId="{0C230E91-516D-3F43-9098-9A7AF472F066}" cxnId="{2422F0D1-BD9E-D34A-8DEE-FD0363E3C3F7}" type="sibTrans">
      <dgm:prSet/>
      <dgm:spPr/>
      <dgm:t>
        <a:bodyPr/>
        <a:lstStyle/>
        <a:p>
          <a:endParaRPr lang="zh-CN" altLang="en-US"/>
        </a:p>
      </dgm:t>
    </dgm:pt>
    <dgm:pt modelId="{932E6F8D-AEA7-2A4B-AE85-C16C6F7AC145}" cxnId="{2422F0D1-BD9E-D34A-8DEE-FD0363E3C3F7}" type="parTrans">
      <dgm:prSet/>
      <dgm:spPr/>
      <dgm:t>
        <a:bodyPr/>
        <a:lstStyle/>
        <a:p>
          <a:endParaRPr lang="zh-CN" altLang="en-US"/>
        </a:p>
      </dgm:t>
    </dgm:pt>
    <dgm:pt modelId="{E356B01D-D39C-784D-934A-E7562BCEB760}">
      <dgm:prSet/>
      <dgm:spPr/>
      <dgm:t>
        <a:bodyPr/>
        <a:lstStyle/>
        <a:p>
          <a:r>
            <a:rPr lang="zh-CN" altLang="en-US" dirty="0"/>
            <a:t>安全计算环境</a:t>
          </a:r>
        </a:p>
      </dgm:t>
    </dgm:pt>
    <dgm:pt modelId="{53A99946-2A78-904F-9741-79FE167DCBD8}" cxnId="{862BF948-09D1-0049-A7B9-8D02A4A92C9B}" type="sibTrans">
      <dgm:prSet/>
      <dgm:spPr/>
      <dgm:t>
        <a:bodyPr/>
        <a:lstStyle/>
        <a:p>
          <a:endParaRPr lang="zh-CN" altLang="en-US"/>
        </a:p>
      </dgm:t>
    </dgm:pt>
    <dgm:pt modelId="{6951D1E5-83ED-7D4D-A403-6C96EE1544F2}" cxnId="{862BF948-09D1-0049-A7B9-8D02A4A92C9B}" type="parTrans">
      <dgm:prSet/>
      <dgm:spPr/>
      <dgm:t>
        <a:bodyPr/>
        <a:lstStyle/>
        <a:p>
          <a:endParaRPr lang="zh-CN" altLang="en-US"/>
        </a:p>
      </dgm:t>
    </dgm:pt>
    <dgm:pt modelId="{4ECC2193-6CA3-A546-A7DC-6EC64DCACE44}">
      <dgm:prSet/>
      <dgm:spPr/>
      <dgm:t>
        <a:bodyPr/>
        <a:lstStyle/>
        <a:p>
          <a:r>
            <a:rPr lang="zh-CN" altLang="en-US" dirty="0"/>
            <a:t>安全区域边界</a:t>
          </a:r>
        </a:p>
      </dgm:t>
    </dgm:pt>
    <dgm:pt modelId="{BA07DA97-B5DA-244A-882C-20100800BDF6}" cxnId="{DDE32C20-C5CC-9F41-9D82-D4A340FA4AEA}" type="sibTrans">
      <dgm:prSet/>
      <dgm:spPr/>
      <dgm:t>
        <a:bodyPr/>
        <a:lstStyle/>
        <a:p>
          <a:endParaRPr lang="zh-CN" altLang="en-US"/>
        </a:p>
      </dgm:t>
    </dgm:pt>
    <dgm:pt modelId="{D350B086-FCDB-FE46-973E-4C66D5974F2D}" cxnId="{DDE32C20-C5CC-9F41-9D82-D4A340FA4AEA}" type="parTrans">
      <dgm:prSet/>
      <dgm:spPr/>
      <dgm:t>
        <a:bodyPr/>
        <a:lstStyle/>
        <a:p>
          <a:endParaRPr lang="zh-CN" altLang="en-US"/>
        </a:p>
      </dgm:t>
    </dgm:pt>
    <dgm:pt modelId="{58DC2402-273E-184E-A177-2F3D3C6A0A7C}">
      <dgm:prSet/>
      <dgm:spPr/>
      <dgm:t>
        <a:bodyPr/>
        <a:lstStyle/>
        <a:p>
          <a:r>
            <a:rPr lang="zh-CN" altLang="en-US" dirty="0"/>
            <a:t>安全通信网络</a:t>
          </a:r>
        </a:p>
      </dgm:t>
    </dgm:pt>
    <dgm:pt modelId="{64FDD3A1-8348-D34A-82A0-5AA3F3A28CA2}" cxnId="{0A42DC04-E4A2-7747-9547-DF29B3E9CFBA}" type="sibTrans">
      <dgm:prSet/>
      <dgm:spPr/>
      <dgm:t>
        <a:bodyPr/>
        <a:lstStyle/>
        <a:p>
          <a:endParaRPr lang="zh-CN" altLang="en-US"/>
        </a:p>
      </dgm:t>
    </dgm:pt>
    <dgm:pt modelId="{5F68C6A3-64BB-CE41-AA79-CFBB71E92D13}" cxnId="{0A42DC04-E4A2-7747-9547-DF29B3E9CFBA}" type="parTrans">
      <dgm:prSet/>
      <dgm:spPr/>
      <dgm:t>
        <a:bodyPr/>
        <a:lstStyle/>
        <a:p>
          <a:endParaRPr lang="zh-CN" altLang="en-US"/>
        </a:p>
      </dgm:t>
    </dgm:pt>
    <dgm:pt modelId="{F5CA6252-5548-804B-B9BC-1563E7607B06}">
      <dgm:prSet custT="1"/>
      <dgm:spPr/>
      <dgm:t>
        <a:bodyPr anchor="t"/>
        <a:lstStyle/>
        <a:p>
          <a:pPr algn="l"/>
          <a:r>
            <a:rPr lang="zh-CN" altLang="en-US" sz="1000" dirty="0"/>
            <a:t>物理位置选择</a:t>
          </a:r>
          <a:endParaRPr lang="en-US" altLang="zh-CN" sz="1000" dirty="0"/>
        </a:p>
        <a:p>
          <a:pPr algn="l"/>
          <a:r>
            <a:rPr lang="zh-CN" altLang="en-US" sz="1000" dirty="0"/>
            <a:t>物理访问控制</a:t>
          </a:r>
          <a:endParaRPr lang="en-US" altLang="zh-CN" sz="1000" dirty="0"/>
        </a:p>
        <a:p>
          <a:pPr algn="l"/>
          <a:r>
            <a:rPr lang="zh-CN" altLang="en-US" sz="1000" dirty="0"/>
            <a:t>防盗窃和防破坏</a:t>
          </a:r>
          <a:endParaRPr lang="en-US" altLang="zh-CN" sz="1000" dirty="0"/>
        </a:p>
        <a:p>
          <a:pPr algn="l"/>
          <a:r>
            <a:rPr lang="zh-CN" altLang="en-US" sz="1000" dirty="0"/>
            <a:t>防雷击</a:t>
          </a:r>
          <a:endParaRPr lang="en-US" altLang="zh-CN" sz="1000" dirty="0"/>
        </a:p>
        <a:p>
          <a:pPr algn="l"/>
          <a:r>
            <a:rPr lang="zh-CN" altLang="en-US" sz="1000" dirty="0"/>
            <a:t>防火</a:t>
          </a:r>
          <a:endParaRPr lang="en-US" altLang="zh-CN" sz="1000" dirty="0"/>
        </a:p>
        <a:p>
          <a:pPr algn="l"/>
          <a:r>
            <a:rPr lang="zh-CN" altLang="en-US" sz="1000" dirty="0"/>
            <a:t>防水和防潮</a:t>
          </a:r>
          <a:endParaRPr lang="en-US" altLang="zh-CN" sz="1000" dirty="0"/>
        </a:p>
        <a:p>
          <a:pPr algn="l"/>
          <a:r>
            <a:rPr lang="zh-CN" altLang="en-US" sz="1000" dirty="0"/>
            <a:t>防静电</a:t>
          </a:r>
          <a:endParaRPr lang="en-US" altLang="zh-CN" sz="1000" dirty="0"/>
        </a:p>
        <a:p>
          <a:pPr algn="l"/>
          <a:r>
            <a:rPr lang="zh-CN" altLang="en-US" sz="1000" dirty="0"/>
            <a:t>温湿度控制</a:t>
          </a:r>
          <a:endParaRPr lang="en-US" altLang="zh-CN" sz="1000" dirty="0"/>
        </a:p>
        <a:p>
          <a:pPr algn="l"/>
          <a:r>
            <a:rPr lang="zh-CN" altLang="en-US" sz="1000" dirty="0"/>
            <a:t>电力供应</a:t>
          </a:r>
          <a:endParaRPr lang="en-US" altLang="zh-CN" sz="1000" dirty="0"/>
        </a:p>
        <a:p>
          <a:pPr algn="l"/>
          <a:r>
            <a:rPr lang="zh-CN" altLang="en-US" sz="1000" dirty="0"/>
            <a:t>电磁防护</a:t>
          </a:r>
        </a:p>
      </dgm:t>
    </dgm:pt>
    <dgm:pt modelId="{5C304F8F-E61C-1941-B54E-FF9F0C0FD0FE}" cxnId="{2CF6CC87-6C2B-8643-AF3D-5C5315605509}" type="parTrans">
      <dgm:prSet/>
      <dgm:spPr/>
      <dgm:t>
        <a:bodyPr/>
        <a:lstStyle/>
        <a:p>
          <a:endParaRPr lang="zh-CN" altLang="en-US"/>
        </a:p>
      </dgm:t>
    </dgm:pt>
    <dgm:pt modelId="{291E0E20-3A8A-FC44-BF97-7C9FCF92BA27}" cxnId="{2CF6CC87-6C2B-8643-AF3D-5C5315605509}" type="sibTrans">
      <dgm:prSet/>
      <dgm:spPr/>
      <dgm:t>
        <a:bodyPr/>
        <a:lstStyle/>
        <a:p>
          <a:endParaRPr lang="zh-CN" altLang="en-US"/>
        </a:p>
      </dgm:t>
    </dgm:pt>
    <dgm:pt modelId="{E38FD531-F4B7-134C-90D9-F5FE9DA7858B}">
      <dgm:prSet custT="1"/>
      <dgm:spPr/>
      <dgm:t>
        <a:bodyPr anchor="t"/>
        <a:lstStyle/>
        <a:p>
          <a:pPr algn="l"/>
          <a:r>
            <a:rPr lang="zh-CN" altLang="en-US" sz="1000" dirty="0"/>
            <a:t>网络架构</a:t>
          </a:r>
          <a:endParaRPr lang="en-US" altLang="zh-CN" sz="1000" dirty="0"/>
        </a:p>
        <a:p>
          <a:pPr algn="l"/>
          <a:r>
            <a:rPr lang="zh-CN" altLang="en-US" sz="1000" dirty="0"/>
            <a:t>通信传输</a:t>
          </a:r>
          <a:endParaRPr lang="en-US" altLang="zh-CN" sz="1000" dirty="0"/>
        </a:p>
        <a:p>
          <a:pPr algn="l"/>
          <a:r>
            <a:rPr lang="zh-CN" altLang="en-US" sz="1000" dirty="0"/>
            <a:t>可信验证</a:t>
          </a:r>
        </a:p>
      </dgm:t>
    </dgm:pt>
    <dgm:pt modelId="{0D5B977A-2B5E-294B-99D8-FA2964F1915D}" cxnId="{77E895BD-E82E-B047-BA08-CF759659BD18}" type="parTrans">
      <dgm:prSet/>
      <dgm:spPr/>
      <dgm:t>
        <a:bodyPr/>
        <a:lstStyle/>
        <a:p>
          <a:endParaRPr lang="zh-CN" altLang="en-US"/>
        </a:p>
      </dgm:t>
    </dgm:pt>
    <dgm:pt modelId="{E97B6B61-B0BF-DE4F-8E34-3039706D7B68}" cxnId="{77E895BD-E82E-B047-BA08-CF759659BD18}" type="sibTrans">
      <dgm:prSet/>
      <dgm:spPr/>
      <dgm:t>
        <a:bodyPr/>
        <a:lstStyle/>
        <a:p>
          <a:endParaRPr lang="zh-CN" altLang="en-US"/>
        </a:p>
      </dgm:t>
    </dgm:pt>
    <dgm:pt modelId="{785BE711-10A8-F745-87E8-29C6FB1F45DA}">
      <dgm:prSet custT="1"/>
      <dgm:spPr/>
      <dgm:t>
        <a:bodyPr anchor="t"/>
        <a:lstStyle/>
        <a:p>
          <a:pPr algn="l"/>
          <a:r>
            <a:rPr lang="zh-CN" altLang="en-US" sz="1000" dirty="0"/>
            <a:t>边界防护</a:t>
          </a:r>
          <a:endParaRPr lang="en-US" altLang="zh-CN" sz="1000" dirty="0"/>
        </a:p>
        <a:p>
          <a:pPr algn="l"/>
          <a:r>
            <a:rPr lang="zh-CN" altLang="en-US" sz="1000" dirty="0"/>
            <a:t>访问控制</a:t>
          </a:r>
          <a:endParaRPr lang="en-US" altLang="zh-CN" sz="1000" dirty="0"/>
        </a:p>
        <a:p>
          <a:pPr algn="l"/>
          <a:r>
            <a:rPr lang="zh-CN" altLang="en-US" sz="1000" dirty="0"/>
            <a:t>入侵防范</a:t>
          </a:r>
          <a:endParaRPr lang="en-US" altLang="zh-CN" sz="1000" dirty="0"/>
        </a:p>
        <a:p>
          <a:pPr algn="l"/>
          <a:r>
            <a:rPr lang="zh-CN" altLang="en-US" sz="1000" dirty="0"/>
            <a:t>恶意代码和垃圾邮件防范</a:t>
          </a:r>
          <a:endParaRPr lang="en-US" altLang="zh-CN" sz="1000" dirty="0"/>
        </a:p>
        <a:p>
          <a:pPr algn="l"/>
          <a:r>
            <a:rPr lang="zh-CN" altLang="en-US" sz="1000" dirty="0"/>
            <a:t>安全审计</a:t>
          </a:r>
          <a:endParaRPr lang="en-US" altLang="zh-CN" sz="1000" dirty="0"/>
        </a:p>
        <a:p>
          <a:pPr algn="l"/>
          <a:r>
            <a:rPr lang="zh-CN" altLang="en-US" sz="1000" dirty="0"/>
            <a:t>可信验证</a:t>
          </a:r>
        </a:p>
      </dgm:t>
    </dgm:pt>
    <dgm:pt modelId="{445B193B-1EE6-5B48-9323-24EAF567B0FA}" cxnId="{ED4D53B6-2414-5444-9497-1F6899A1D54F}" type="parTrans">
      <dgm:prSet/>
      <dgm:spPr/>
      <dgm:t>
        <a:bodyPr/>
        <a:lstStyle/>
        <a:p>
          <a:endParaRPr lang="zh-CN" altLang="en-US"/>
        </a:p>
      </dgm:t>
    </dgm:pt>
    <dgm:pt modelId="{176E1D8D-6F6E-1D40-96A5-93BD69FFF0C8}" cxnId="{ED4D53B6-2414-5444-9497-1F6899A1D54F}" type="sibTrans">
      <dgm:prSet/>
      <dgm:spPr/>
      <dgm:t>
        <a:bodyPr/>
        <a:lstStyle/>
        <a:p>
          <a:endParaRPr lang="zh-CN" altLang="en-US"/>
        </a:p>
      </dgm:t>
    </dgm:pt>
    <dgm:pt modelId="{451D6685-9383-224A-917E-4EF571A95296}">
      <dgm:prSet custT="1"/>
      <dgm:spPr/>
      <dgm:t>
        <a:bodyPr/>
        <a:lstStyle/>
        <a:p>
          <a:pPr algn="l"/>
          <a:r>
            <a:rPr lang="zh-CN" altLang="en-US" sz="1000" dirty="0"/>
            <a:t>身份鉴别</a:t>
          </a:r>
          <a:endParaRPr lang="en-US" altLang="zh-CN" sz="1000" dirty="0"/>
        </a:p>
        <a:p>
          <a:pPr algn="l"/>
          <a:r>
            <a:rPr lang="zh-CN" altLang="en-US" sz="1000" dirty="0"/>
            <a:t>访问控制</a:t>
          </a:r>
          <a:endParaRPr lang="en-US" altLang="zh-CN" sz="1000" dirty="0"/>
        </a:p>
        <a:p>
          <a:pPr algn="l"/>
          <a:r>
            <a:rPr lang="zh-CN" altLang="en-US" sz="1000" dirty="0"/>
            <a:t>安全审计</a:t>
          </a:r>
          <a:endParaRPr lang="en-US" altLang="zh-CN" sz="1000" dirty="0"/>
        </a:p>
        <a:p>
          <a:pPr algn="l"/>
          <a:r>
            <a:rPr lang="zh-CN" altLang="en-US" sz="1000" dirty="0"/>
            <a:t>入侵防范</a:t>
          </a:r>
          <a:endParaRPr lang="en-US" altLang="zh-CN" sz="1000" dirty="0"/>
        </a:p>
        <a:p>
          <a:pPr algn="l"/>
          <a:r>
            <a:rPr lang="zh-CN" altLang="en-US" sz="1000" dirty="0"/>
            <a:t>恶意代码防范</a:t>
          </a:r>
          <a:endParaRPr lang="en-US" altLang="zh-CN" sz="1000" dirty="0"/>
        </a:p>
        <a:p>
          <a:pPr algn="l"/>
          <a:r>
            <a:rPr lang="zh-CN" altLang="en-US" sz="1000" dirty="0"/>
            <a:t>可信验证</a:t>
          </a:r>
          <a:endParaRPr lang="en-US" altLang="zh-CN" sz="1000" dirty="0"/>
        </a:p>
        <a:p>
          <a:pPr algn="l"/>
          <a:r>
            <a:rPr lang="zh-CN" altLang="en-US" sz="1000" dirty="0"/>
            <a:t>数据完整性</a:t>
          </a:r>
          <a:endParaRPr lang="en-US" altLang="zh-CN" sz="1000" dirty="0"/>
        </a:p>
        <a:p>
          <a:pPr algn="l"/>
          <a:r>
            <a:rPr lang="zh-CN" altLang="en-US" sz="1000" dirty="0"/>
            <a:t>数据保密性</a:t>
          </a:r>
          <a:endParaRPr lang="en-US" altLang="zh-CN" sz="1000" dirty="0"/>
        </a:p>
        <a:p>
          <a:pPr algn="l"/>
          <a:r>
            <a:rPr lang="zh-CN" altLang="en-US" sz="1000" dirty="0"/>
            <a:t>数据备份恢复</a:t>
          </a:r>
          <a:endParaRPr lang="en-US" altLang="zh-CN" sz="1000" dirty="0"/>
        </a:p>
        <a:p>
          <a:pPr algn="l"/>
          <a:r>
            <a:rPr lang="zh-CN" altLang="en-US" sz="1000" dirty="0"/>
            <a:t>剩余信息保护</a:t>
          </a:r>
          <a:endParaRPr lang="en-US" altLang="zh-CN" sz="1000" dirty="0"/>
        </a:p>
        <a:p>
          <a:pPr algn="l"/>
          <a:r>
            <a:rPr lang="zh-CN" altLang="en-US" sz="1000" dirty="0"/>
            <a:t>个人信息安全</a:t>
          </a:r>
        </a:p>
      </dgm:t>
    </dgm:pt>
    <dgm:pt modelId="{7FF40306-3D86-DD46-9680-AAEF2CCF2C90}" cxnId="{6B54AD2B-A33C-0943-8BCA-7B93CC1F4580}" type="parTrans">
      <dgm:prSet/>
      <dgm:spPr/>
      <dgm:t>
        <a:bodyPr/>
        <a:lstStyle/>
        <a:p>
          <a:endParaRPr lang="zh-CN" altLang="en-US"/>
        </a:p>
      </dgm:t>
    </dgm:pt>
    <dgm:pt modelId="{B908D709-3DE9-8C4C-A8BD-AA8FA225EA7A}" cxnId="{6B54AD2B-A33C-0943-8BCA-7B93CC1F4580}" type="sibTrans">
      <dgm:prSet/>
      <dgm:spPr/>
      <dgm:t>
        <a:bodyPr/>
        <a:lstStyle/>
        <a:p>
          <a:endParaRPr lang="zh-CN" altLang="en-US"/>
        </a:p>
      </dgm:t>
    </dgm:pt>
    <dgm:pt modelId="{5B4A43FF-B5DF-3B40-B3CE-8F502C2CF782}">
      <dgm:prSet custT="1"/>
      <dgm:spPr/>
      <dgm:t>
        <a:bodyPr anchor="t"/>
        <a:lstStyle/>
        <a:p>
          <a:pPr algn="l"/>
          <a:r>
            <a:rPr lang="zh-CN" altLang="en-US" sz="1000" dirty="0"/>
            <a:t>系统管理</a:t>
          </a:r>
          <a:endParaRPr lang="en-US" altLang="zh-CN" sz="1000" dirty="0"/>
        </a:p>
        <a:p>
          <a:pPr algn="l"/>
          <a:r>
            <a:rPr lang="zh-CN" altLang="en-US" sz="1000" dirty="0"/>
            <a:t>审计管理</a:t>
          </a:r>
          <a:endParaRPr lang="en-US" altLang="zh-CN" sz="1000" dirty="0"/>
        </a:p>
        <a:p>
          <a:pPr algn="l"/>
          <a:r>
            <a:rPr lang="zh-CN" altLang="en-US" sz="1000" dirty="0"/>
            <a:t>安全管理</a:t>
          </a:r>
          <a:endParaRPr lang="en-US" altLang="zh-CN" sz="1000" dirty="0"/>
        </a:p>
        <a:p>
          <a:pPr algn="l"/>
          <a:r>
            <a:rPr lang="zh-CN" altLang="en-US" sz="1000" dirty="0"/>
            <a:t>集中管控</a:t>
          </a:r>
        </a:p>
      </dgm:t>
    </dgm:pt>
    <dgm:pt modelId="{E3AAFFB1-C216-0A4C-B4B0-E66AA30D6EFE}" cxnId="{034F99CC-D755-B84C-BA18-2534CF2CD818}" type="parTrans">
      <dgm:prSet/>
      <dgm:spPr/>
      <dgm:t>
        <a:bodyPr/>
        <a:lstStyle/>
        <a:p>
          <a:endParaRPr lang="zh-CN" altLang="en-US"/>
        </a:p>
      </dgm:t>
    </dgm:pt>
    <dgm:pt modelId="{DA45EFC5-F3D6-A845-8EC3-928EF3A2E40A}" cxnId="{034F99CC-D755-B84C-BA18-2534CF2CD818}" type="sibTrans">
      <dgm:prSet/>
      <dgm:spPr/>
      <dgm:t>
        <a:bodyPr/>
        <a:lstStyle/>
        <a:p>
          <a:endParaRPr lang="zh-CN" altLang="en-US"/>
        </a:p>
      </dgm:t>
    </dgm:pt>
    <dgm:pt modelId="{2116DE28-7F55-1243-96A0-DF774A6CE6EC}">
      <dgm:prSet custT="1"/>
      <dgm:spPr>
        <a:ln>
          <a:solidFill>
            <a:schemeClr val="accent5">
              <a:lumMod val="60000"/>
              <a:lumOff val="40000"/>
            </a:schemeClr>
          </a:solidFill>
        </a:ln>
      </dgm:spPr>
      <dgm:t>
        <a:bodyPr anchor="t"/>
        <a:lstStyle/>
        <a:p>
          <a:pPr algn="l"/>
          <a:r>
            <a:rPr lang="zh-CN" altLang="en-US" sz="1000" dirty="0"/>
            <a:t>安全策略</a:t>
          </a:r>
          <a:endParaRPr lang="en-US" altLang="zh-CN" sz="1000" dirty="0"/>
        </a:p>
        <a:p>
          <a:pPr algn="l"/>
          <a:r>
            <a:rPr lang="zh-CN" altLang="en-US" sz="1000" dirty="0"/>
            <a:t>管理制度</a:t>
          </a:r>
          <a:endParaRPr lang="en-US" altLang="zh-CN" sz="1000" dirty="0"/>
        </a:p>
        <a:p>
          <a:pPr algn="l"/>
          <a:r>
            <a:rPr lang="zh-CN" altLang="en-US" sz="1000" dirty="0"/>
            <a:t>制定发布</a:t>
          </a:r>
          <a:endParaRPr lang="en-US" altLang="zh-CN" sz="1000" dirty="0"/>
        </a:p>
        <a:p>
          <a:pPr algn="l"/>
          <a:r>
            <a:rPr lang="zh-CN" altLang="en-US" sz="1000" dirty="0"/>
            <a:t>评审和修订</a:t>
          </a:r>
        </a:p>
      </dgm:t>
    </dgm:pt>
    <dgm:pt modelId="{32447184-14C7-6244-A727-F2C645C3DA33}" cxnId="{FCEB5510-C3F2-9D4F-9E23-6FB6A54BC94B}" type="parTrans">
      <dgm:prSet/>
      <dgm:spPr/>
      <dgm:t>
        <a:bodyPr/>
        <a:lstStyle/>
        <a:p>
          <a:endParaRPr lang="zh-CN" altLang="en-US"/>
        </a:p>
      </dgm:t>
    </dgm:pt>
    <dgm:pt modelId="{AFD38955-3249-4049-B76E-D1FB1F152DAB}" cxnId="{FCEB5510-C3F2-9D4F-9E23-6FB6A54BC94B}" type="sibTrans">
      <dgm:prSet/>
      <dgm:spPr/>
      <dgm:t>
        <a:bodyPr/>
        <a:lstStyle/>
        <a:p>
          <a:endParaRPr lang="zh-CN" altLang="en-US"/>
        </a:p>
      </dgm:t>
    </dgm:pt>
    <dgm:pt modelId="{33C3C9C2-D67F-0B45-8D47-FC76498B8811}">
      <dgm:prSet custT="1"/>
      <dgm:spPr>
        <a:solidFill>
          <a:srgbClr val="FFFFFF">
            <a:alpha val="90000"/>
            <a:hueOff val="0"/>
            <a:satOff val="0"/>
            <a:lumOff val="0"/>
            <a:alphaOff val="0"/>
          </a:srgbClr>
        </a:solidFill>
        <a:ln w="12700" cap="flat" cmpd="sng" algn="ctr">
          <a:solidFill>
            <a:srgbClr val="3BB3C2">
              <a:hueOff val="0"/>
              <a:satOff val="0"/>
              <a:lumOff val="0"/>
              <a:alphaOff val="0"/>
            </a:srgbClr>
          </a:solidFill>
          <a:prstDash val="solid"/>
          <a:miter lim="800000"/>
        </a:ln>
        <a:effectLst/>
      </dgm:spPr>
      <dgm:t>
        <a:bodyPr spcFirstLastPara="0" vert="horz" wrap="square" lIns="34290" tIns="34290" rIns="34290" bIns="34290" numCol="1" spcCol="1270" anchor="t" anchorCtr="0"/>
        <a:lstStyle/>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岗位设置</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人员配置</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授权和审批</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沟通和合作</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审核和检查</a:t>
          </a:r>
        </a:p>
      </dgm:t>
    </dgm:pt>
    <dgm:pt modelId="{4F8864B2-465F-A349-A30C-9E491D794F45}" cxnId="{B4561D5B-5274-F845-9B57-8DF59B2D5A84}" type="parTrans">
      <dgm:prSet/>
      <dgm:spPr/>
      <dgm:t>
        <a:bodyPr/>
        <a:lstStyle/>
        <a:p>
          <a:endParaRPr lang="zh-CN" altLang="en-US"/>
        </a:p>
      </dgm:t>
    </dgm:pt>
    <dgm:pt modelId="{869F3396-4C4C-794B-BC0D-F76529C5D96A}" cxnId="{B4561D5B-5274-F845-9B57-8DF59B2D5A84}" type="sibTrans">
      <dgm:prSet/>
      <dgm:spPr/>
      <dgm:t>
        <a:bodyPr/>
        <a:lstStyle/>
        <a:p>
          <a:endParaRPr lang="zh-CN" altLang="en-US"/>
        </a:p>
      </dgm:t>
    </dgm:pt>
    <dgm:pt modelId="{62CADF01-142C-C442-8561-CFB48D8DB3D7}">
      <dgm:prSet custT="1"/>
      <dgm:spPr/>
      <dgm:t>
        <a:bodyPr anchor="t"/>
        <a:lstStyle/>
        <a:p>
          <a:pPr algn="l"/>
          <a:r>
            <a:rPr lang="zh-CN" altLang="en-US" sz="1000" dirty="0"/>
            <a:t>人员录用</a:t>
          </a:r>
          <a:endParaRPr lang="en-US" altLang="zh-CN" sz="1000" dirty="0"/>
        </a:p>
        <a:p>
          <a:pPr algn="l"/>
          <a:r>
            <a:rPr lang="zh-CN" altLang="en-US" sz="1000" dirty="0"/>
            <a:t>人员离岗</a:t>
          </a:r>
          <a:endParaRPr lang="en-US" altLang="zh-CN" sz="1000" dirty="0"/>
        </a:p>
        <a:p>
          <a:pPr algn="l"/>
          <a:r>
            <a:rPr lang="zh-CN" altLang="en-US" sz="1000" dirty="0"/>
            <a:t>安全意识教育和培训</a:t>
          </a:r>
          <a:endParaRPr lang="en-US" altLang="zh-CN" sz="1000" dirty="0"/>
        </a:p>
        <a:p>
          <a:pPr algn="l"/>
          <a:r>
            <a:rPr lang="zh-CN" altLang="en-US" sz="1000" dirty="0"/>
            <a:t>外部人员访问管理</a:t>
          </a:r>
          <a:endParaRPr lang="en-US" altLang="zh-CN" sz="1000" dirty="0"/>
        </a:p>
        <a:p>
          <a:pPr algn="ctr"/>
          <a:endParaRPr lang="zh-CN" altLang="en-US" sz="1000" dirty="0"/>
        </a:p>
      </dgm:t>
    </dgm:pt>
    <dgm:pt modelId="{78A9C9F4-56DA-5D48-BC80-25A63B86F410}" cxnId="{2E816057-7E16-1843-9DC6-FEEF2DD33CA4}" type="parTrans">
      <dgm:prSet/>
      <dgm:spPr/>
      <dgm:t>
        <a:bodyPr/>
        <a:lstStyle/>
        <a:p>
          <a:endParaRPr lang="zh-CN" altLang="en-US"/>
        </a:p>
      </dgm:t>
    </dgm:pt>
    <dgm:pt modelId="{989E93EB-EAFD-C74B-82CE-D276BFCD198B}" cxnId="{2E816057-7E16-1843-9DC6-FEEF2DD33CA4}" type="sibTrans">
      <dgm:prSet/>
      <dgm:spPr/>
      <dgm:t>
        <a:bodyPr/>
        <a:lstStyle/>
        <a:p>
          <a:endParaRPr lang="zh-CN" altLang="en-US"/>
        </a:p>
      </dgm:t>
    </dgm:pt>
    <dgm:pt modelId="{8A4595E1-7A96-3F4B-9AC8-F0DAD8A43D5E}">
      <dgm:prSet custT="1"/>
      <dgm:spPr/>
      <dgm:t>
        <a:bodyPr anchor="t"/>
        <a:lstStyle/>
        <a:p>
          <a:pPr algn="l"/>
          <a:r>
            <a:rPr lang="zh-CN" altLang="en-US" sz="1000" dirty="0"/>
            <a:t>定级和备案</a:t>
          </a:r>
          <a:endParaRPr lang="en-US" altLang="zh-CN" sz="1000" dirty="0"/>
        </a:p>
        <a:p>
          <a:pPr algn="l"/>
          <a:r>
            <a:rPr lang="zh-CN" altLang="en-US" sz="1000" dirty="0"/>
            <a:t>安全方案设计</a:t>
          </a:r>
          <a:endParaRPr lang="en-US" altLang="zh-CN" sz="1000" dirty="0"/>
        </a:p>
        <a:p>
          <a:pPr algn="l"/>
          <a:r>
            <a:rPr lang="zh-CN" altLang="en-US" sz="1000" dirty="0"/>
            <a:t>产品采购和使用</a:t>
          </a:r>
          <a:endParaRPr lang="en-US" altLang="zh-CN" sz="1000" dirty="0"/>
        </a:p>
        <a:p>
          <a:pPr algn="l"/>
          <a:r>
            <a:rPr lang="zh-CN" altLang="en-US" sz="1000" dirty="0"/>
            <a:t>自行软件开发</a:t>
          </a:r>
          <a:endParaRPr lang="en-US" altLang="zh-CN" sz="1000" dirty="0"/>
        </a:p>
        <a:p>
          <a:pPr algn="l"/>
          <a:r>
            <a:rPr lang="zh-CN" altLang="en-US" sz="1000" dirty="0"/>
            <a:t>外包软件开发</a:t>
          </a:r>
          <a:endParaRPr lang="en-US" altLang="zh-CN" sz="1000" dirty="0"/>
        </a:p>
        <a:p>
          <a:pPr algn="l"/>
          <a:r>
            <a:rPr lang="zh-CN" altLang="en-US" sz="1000" dirty="0"/>
            <a:t>工程实施</a:t>
          </a:r>
          <a:endParaRPr lang="en-US" altLang="zh-CN" sz="1000" dirty="0"/>
        </a:p>
        <a:p>
          <a:pPr algn="l"/>
          <a:r>
            <a:rPr lang="zh-CN" altLang="en-US" sz="1000" dirty="0"/>
            <a:t>测试验收</a:t>
          </a:r>
          <a:endParaRPr lang="en-US" altLang="zh-CN" sz="1000" dirty="0"/>
        </a:p>
        <a:p>
          <a:pPr algn="l"/>
          <a:r>
            <a:rPr lang="zh-CN" altLang="en-US" sz="1000" dirty="0"/>
            <a:t>系统交付</a:t>
          </a:r>
          <a:endParaRPr lang="en-US" altLang="zh-CN" sz="1000" dirty="0"/>
        </a:p>
        <a:p>
          <a:pPr algn="l"/>
          <a:r>
            <a:rPr lang="zh-CN" altLang="en-US" sz="1000" dirty="0"/>
            <a:t>等级测评</a:t>
          </a:r>
          <a:endParaRPr lang="en-US" altLang="zh-CN" sz="1000" dirty="0"/>
        </a:p>
        <a:p>
          <a:pPr algn="l"/>
          <a:r>
            <a:rPr lang="zh-CN" altLang="en-US" sz="1000" dirty="0"/>
            <a:t>服务供应商选择</a:t>
          </a:r>
        </a:p>
      </dgm:t>
    </dgm:pt>
    <dgm:pt modelId="{8BBDAF8A-F7A0-5648-BBC1-CC9F6C750DED}" cxnId="{943C29BD-20CC-5546-97C0-275EDD8F6E2A}" type="parTrans">
      <dgm:prSet/>
      <dgm:spPr/>
      <dgm:t>
        <a:bodyPr/>
        <a:lstStyle/>
        <a:p>
          <a:endParaRPr lang="zh-CN" altLang="en-US"/>
        </a:p>
      </dgm:t>
    </dgm:pt>
    <dgm:pt modelId="{60BF03E6-4AA6-3146-980E-65EBA5CD7252}" cxnId="{943C29BD-20CC-5546-97C0-275EDD8F6E2A}" type="sibTrans">
      <dgm:prSet/>
      <dgm:spPr/>
      <dgm:t>
        <a:bodyPr/>
        <a:lstStyle/>
        <a:p>
          <a:endParaRPr lang="zh-CN" altLang="en-US"/>
        </a:p>
      </dgm:t>
    </dgm:pt>
    <dgm:pt modelId="{6D578D93-94F2-DA41-83F1-2D82C8B88027}">
      <dgm:prSet custT="1"/>
      <dgm:spPr/>
      <dgm:t>
        <a:bodyPr/>
        <a:lstStyle/>
        <a:p>
          <a:pPr algn="l"/>
          <a:r>
            <a:rPr lang="zh-CN" altLang="en-US" sz="800" dirty="0"/>
            <a:t>环境管理</a:t>
          </a:r>
          <a:endParaRPr lang="en-US" altLang="zh-CN" sz="800" dirty="0"/>
        </a:p>
        <a:p>
          <a:pPr algn="l"/>
          <a:r>
            <a:rPr lang="zh-CN" altLang="en-US" sz="800" dirty="0"/>
            <a:t>资产管理</a:t>
          </a:r>
          <a:endParaRPr lang="en-US" altLang="zh-CN" sz="800" dirty="0"/>
        </a:p>
        <a:p>
          <a:pPr algn="l"/>
          <a:r>
            <a:rPr lang="zh-CN" altLang="en-US" sz="800" dirty="0"/>
            <a:t>介质管理</a:t>
          </a:r>
          <a:endParaRPr lang="en-US" altLang="zh-CN" sz="800" dirty="0"/>
        </a:p>
        <a:p>
          <a:pPr algn="l"/>
          <a:r>
            <a:rPr lang="zh-CN" altLang="en-US" sz="800" dirty="0"/>
            <a:t>设备维护管理</a:t>
          </a:r>
          <a:endParaRPr lang="en-US" altLang="zh-CN" sz="800" dirty="0"/>
        </a:p>
        <a:p>
          <a:pPr algn="l"/>
          <a:r>
            <a:rPr lang="zh-CN" altLang="en-US" sz="800" dirty="0"/>
            <a:t>漏洞和风险管理</a:t>
          </a:r>
          <a:endParaRPr lang="en-US" altLang="zh-CN" sz="800" dirty="0"/>
        </a:p>
        <a:p>
          <a:pPr algn="l"/>
          <a:r>
            <a:rPr lang="zh-CN" altLang="en-US" sz="800" dirty="0"/>
            <a:t>网络和系统安全管理</a:t>
          </a:r>
          <a:endParaRPr lang="en-US" altLang="zh-CN" sz="800" dirty="0"/>
        </a:p>
        <a:p>
          <a:pPr algn="l"/>
          <a:r>
            <a:rPr lang="zh-CN" altLang="en-US" sz="800" dirty="0"/>
            <a:t>恶意代码防范管理</a:t>
          </a:r>
          <a:endParaRPr lang="en-US" altLang="zh-CN" sz="800" dirty="0"/>
        </a:p>
        <a:p>
          <a:pPr algn="l"/>
          <a:r>
            <a:rPr lang="zh-CN" altLang="en-US" sz="800" dirty="0"/>
            <a:t>配置管理</a:t>
          </a:r>
          <a:endParaRPr lang="en-US" altLang="zh-CN" sz="800" dirty="0"/>
        </a:p>
        <a:p>
          <a:pPr algn="l"/>
          <a:r>
            <a:rPr lang="zh-CN" altLang="en-US" sz="800" dirty="0"/>
            <a:t>密码管理</a:t>
          </a:r>
          <a:endParaRPr lang="en-US" altLang="zh-CN" sz="800" dirty="0"/>
        </a:p>
        <a:p>
          <a:pPr algn="l"/>
          <a:r>
            <a:rPr lang="zh-CN" altLang="en-US" sz="800" dirty="0"/>
            <a:t>变更管理</a:t>
          </a:r>
          <a:endParaRPr lang="en-US" altLang="zh-CN" sz="800" dirty="0"/>
        </a:p>
        <a:p>
          <a:pPr algn="l"/>
          <a:r>
            <a:rPr lang="zh-CN" altLang="en-US" sz="800" dirty="0"/>
            <a:t>备份与恢复管理</a:t>
          </a:r>
          <a:endParaRPr lang="en-US" altLang="zh-CN" sz="800" dirty="0"/>
        </a:p>
        <a:p>
          <a:pPr algn="l"/>
          <a:r>
            <a:rPr lang="zh-CN" altLang="en-US" sz="800" dirty="0"/>
            <a:t>安全事件处置</a:t>
          </a:r>
          <a:endParaRPr lang="en-US" altLang="zh-CN" sz="800" dirty="0"/>
        </a:p>
        <a:p>
          <a:pPr algn="l"/>
          <a:r>
            <a:rPr lang="zh-CN" altLang="en-US" sz="800" dirty="0"/>
            <a:t>应急预案管理</a:t>
          </a:r>
          <a:endParaRPr lang="en-US" altLang="zh-CN" sz="800" dirty="0"/>
        </a:p>
        <a:p>
          <a:pPr algn="l"/>
          <a:r>
            <a:rPr lang="zh-CN" altLang="en-US" sz="800" dirty="0"/>
            <a:t>外包运维管理</a:t>
          </a:r>
          <a:endParaRPr lang="en-US" altLang="zh-CN" sz="800" dirty="0"/>
        </a:p>
      </dgm:t>
    </dgm:pt>
    <dgm:pt modelId="{974DD94B-9257-4A41-8144-F1299252CF72}" cxnId="{1E7EE6FF-2B70-244F-88B0-772F726FE8E4}" type="parTrans">
      <dgm:prSet/>
      <dgm:spPr/>
      <dgm:t>
        <a:bodyPr/>
        <a:lstStyle/>
        <a:p>
          <a:endParaRPr lang="zh-CN" altLang="en-US"/>
        </a:p>
      </dgm:t>
    </dgm:pt>
    <dgm:pt modelId="{8CAB2B0C-92B0-234D-B76A-FC0AA16D6F7A}" cxnId="{1E7EE6FF-2B70-244F-88B0-772F726FE8E4}" type="sibTrans">
      <dgm:prSet/>
      <dgm:spPr/>
      <dgm:t>
        <a:bodyPr/>
        <a:lstStyle/>
        <a:p>
          <a:endParaRPr lang="zh-CN" altLang="en-US"/>
        </a:p>
      </dgm:t>
    </dgm:pt>
    <dgm:pt modelId="{B2FE777D-A90A-6B42-A111-9B53BCF21F5B}" type="pres">
      <dgm:prSet presAssocID="{6D7809F8-520D-4542-B998-50081A060086}" presName="hierChild1" presStyleCnt="0">
        <dgm:presLayoutVars>
          <dgm:chPref val="1"/>
          <dgm:dir/>
          <dgm:animOne val="branch"/>
          <dgm:animLvl val="lvl"/>
          <dgm:resizeHandles/>
        </dgm:presLayoutVars>
      </dgm:prSet>
      <dgm:spPr/>
    </dgm:pt>
    <dgm:pt modelId="{D6C607B2-25FF-BC47-B946-757A52215D47}" type="pres">
      <dgm:prSet presAssocID="{2EEB1454-A3C9-0E41-9793-34428352CFBF}" presName="hierRoot1" presStyleCnt="0"/>
      <dgm:spPr/>
    </dgm:pt>
    <dgm:pt modelId="{D431E5CD-401B-314E-A00E-A6ADEDCBD1E8}" type="pres">
      <dgm:prSet presAssocID="{2EEB1454-A3C9-0E41-9793-34428352CFBF}" presName="composite" presStyleCnt="0"/>
      <dgm:spPr/>
    </dgm:pt>
    <dgm:pt modelId="{E8184913-6576-9B42-9104-9592BB81AE8A}" type="pres">
      <dgm:prSet presAssocID="{2EEB1454-A3C9-0E41-9793-34428352CFBF}" presName="background" presStyleLbl="node0" presStyleIdx="0" presStyleCnt="1"/>
      <dgm:spPr/>
    </dgm:pt>
    <dgm:pt modelId="{89432697-4073-0749-9B46-D825476B7A0B}" type="pres">
      <dgm:prSet presAssocID="{2EEB1454-A3C9-0E41-9793-34428352CFBF}" presName="text" presStyleLbl="fgAcc0" presStyleIdx="0" presStyleCnt="1" custScaleX="390636" custScaleY="173741">
        <dgm:presLayoutVars>
          <dgm:chPref val="3"/>
        </dgm:presLayoutVars>
      </dgm:prSet>
      <dgm:spPr>
        <a:xfrm>
          <a:off x="3460805" y="202735"/>
          <a:ext cx="2787143" cy="1213696"/>
        </a:xfrm>
        <a:prstGeom prst="roundRect">
          <a:avLst>
            <a:gd name="adj" fmla="val 10000"/>
          </a:avLst>
        </a:prstGeom>
      </dgm:spPr>
    </dgm:pt>
    <dgm:pt modelId="{45CCA276-8FD0-F44A-87B6-08A229A64DF9}" type="pres">
      <dgm:prSet presAssocID="{2EEB1454-A3C9-0E41-9793-34428352CFBF}" presName="hierChild2" presStyleCnt="0"/>
      <dgm:spPr/>
    </dgm:pt>
    <dgm:pt modelId="{3211C32F-121C-0F4B-BCA0-D810766E2B4C}" type="pres">
      <dgm:prSet presAssocID="{ED9C3F59-3317-6746-B394-3B0C43A4C43C}" presName="Name10" presStyleLbl="parChTrans1D2" presStyleIdx="0" presStyleCnt="2"/>
      <dgm:spPr/>
    </dgm:pt>
    <dgm:pt modelId="{5B843B50-94EC-0244-9F1D-5E649E04046C}" type="pres">
      <dgm:prSet presAssocID="{0EFBEED9-14FD-B84E-BCF7-EC976EDD9220}" presName="hierRoot2" presStyleCnt="0"/>
      <dgm:spPr/>
    </dgm:pt>
    <dgm:pt modelId="{445F5A8B-5827-8047-A41A-C4C33CC2F89B}" type="pres">
      <dgm:prSet presAssocID="{0EFBEED9-14FD-B84E-BCF7-EC976EDD9220}" presName="composite2" presStyleCnt="0"/>
      <dgm:spPr/>
    </dgm:pt>
    <dgm:pt modelId="{6160FEE8-33EF-794B-8F6E-BAF1E28D8E86}" type="pres">
      <dgm:prSet presAssocID="{0EFBEED9-14FD-B84E-BCF7-EC976EDD9220}" presName="background2" presStyleLbl="node2" presStyleIdx="0" presStyleCnt="2"/>
      <dgm:spPr/>
    </dgm:pt>
    <dgm:pt modelId="{5C934BFF-2B32-3546-A8F9-861CFA31B516}" type="pres">
      <dgm:prSet presAssocID="{0EFBEED9-14FD-B84E-BCF7-EC976EDD9220}" presName="text2" presStyleLbl="fgAcc2" presStyleIdx="0" presStyleCnt="2" custScaleX="307789">
        <dgm:presLayoutVars>
          <dgm:chPref val="3"/>
        </dgm:presLayoutVars>
      </dgm:prSet>
      <dgm:spPr>
        <a:xfrm>
          <a:off x="2730674" y="1972311"/>
          <a:ext cx="1911332" cy="1213696"/>
        </a:xfrm>
        <a:prstGeom prst="roundRect">
          <a:avLst>
            <a:gd name="adj" fmla="val 10000"/>
          </a:avLst>
        </a:prstGeom>
      </dgm:spPr>
    </dgm:pt>
    <dgm:pt modelId="{8AB87AA4-C4C9-B243-88CE-68208039C668}" type="pres">
      <dgm:prSet presAssocID="{0EFBEED9-14FD-B84E-BCF7-EC976EDD9220}" presName="hierChild3" presStyleCnt="0"/>
      <dgm:spPr/>
    </dgm:pt>
    <dgm:pt modelId="{88492A7D-53F2-A54A-82FA-0C5DA8E83BDA}" type="pres">
      <dgm:prSet presAssocID="{61A583CC-18F6-2440-874B-B7561F3AD560}" presName="Name17" presStyleLbl="parChTrans1D3" presStyleIdx="0" presStyleCnt="10"/>
      <dgm:spPr/>
    </dgm:pt>
    <dgm:pt modelId="{6499295F-9B01-2D42-ACCA-BD80B132A8D4}" type="pres">
      <dgm:prSet presAssocID="{1290B9E4-31E2-714B-AF00-E24D31BD0A44}" presName="hierRoot3" presStyleCnt="0"/>
      <dgm:spPr/>
    </dgm:pt>
    <dgm:pt modelId="{C08F04ED-C6D1-E140-82F5-1894953D8C5F}" type="pres">
      <dgm:prSet presAssocID="{1290B9E4-31E2-714B-AF00-E24D31BD0A44}" presName="composite3" presStyleCnt="0"/>
      <dgm:spPr/>
    </dgm:pt>
    <dgm:pt modelId="{16D7A03F-B428-834C-9D7B-2D101CD11A45}" type="pres">
      <dgm:prSet presAssocID="{1290B9E4-31E2-714B-AF00-E24D31BD0A44}" presName="background3" presStyleLbl="node3" presStyleIdx="0" presStyleCnt="10"/>
      <dgm:spPr/>
    </dgm:pt>
    <dgm:pt modelId="{7AE369F6-3E56-E24D-B82D-F577766915B9}" type="pres">
      <dgm:prSet presAssocID="{1290B9E4-31E2-714B-AF00-E24D31BD0A44}" presName="text3" presStyleLbl="fgAcc3" presStyleIdx="0" presStyleCnt="10" custScaleX="112629">
        <dgm:presLayoutVars>
          <dgm:chPref val="3"/>
        </dgm:presLayoutVars>
      </dgm:prSet>
      <dgm:spPr/>
    </dgm:pt>
    <dgm:pt modelId="{D5B7C457-D7E3-404D-B0BA-48B53544948D}" type="pres">
      <dgm:prSet presAssocID="{1290B9E4-31E2-714B-AF00-E24D31BD0A44}" presName="hierChild4" presStyleCnt="0"/>
      <dgm:spPr/>
    </dgm:pt>
    <dgm:pt modelId="{81A7369C-7C9D-1C46-AFD6-4076FCE128AE}" type="pres">
      <dgm:prSet presAssocID="{5C304F8F-E61C-1941-B54E-FF9F0C0FD0FE}" presName="Name23" presStyleLbl="parChTrans1D4" presStyleIdx="0" presStyleCnt="10"/>
      <dgm:spPr/>
    </dgm:pt>
    <dgm:pt modelId="{93AC4A1E-45C7-4642-B76C-BC232FD2D2D4}" type="pres">
      <dgm:prSet presAssocID="{F5CA6252-5548-804B-B9BC-1563E7607B06}" presName="hierRoot4" presStyleCnt="0"/>
      <dgm:spPr/>
    </dgm:pt>
    <dgm:pt modelId="{85438CDB-4EED-A341-9F16-DF81E6E2DAB8}" type="pres">
      <dgm:prSet presAssocID="{F5CA6252-5548-804B-B9BC-1563E7607B06}" presName="composite4" presStyleCnt="0"/>
      <dgm:spPr/>
    </dgm:pt>
    <dgm:pt modelId="{2E9FE2F5-368A-E449-B906-B2D103A74371}" type="pres">
      <dgm:prSet presAssocID="{F5CA6252-5548-804B-B9BC-1563E7607B06}" presName="background4" presStyleLbl="node4" presStyleIdx="0" presStyleCnt="10"/>
      <dgm:spPr/>
    </dgm:pt>
    <dgm:pt modelId="{C91C88DA-FA20-364D-8D25-FB83D20AE8C6}" type="pres">
      <dgm:prSet presAssocID="{F5CA6252-5548-804B-B9BC-1563E7607B06}" presName="text4" presStyleLbl="fgAcc4" presStyleIdx="0" presStyleCnt="10" custScaleX="142810" custScaleY="587779">
        <dgm:presLayoutVars>
          <dgm:chPref val="3"/>
        </dgm:presLayoutVars>
      </dgm:prSet>
      <dgm:spPr/>
    </dgm:pt>
    <dgm:pt modelId="{CC50E09A-57FC-4746-888F-D6DBF2A90178}" type="pres">
      <dgm:prSet presAssocID="{F5CA6252-5548-804B-B9BC-1563E7607B06}" presName="hierChild5" presStyleCnt="0"/>
      <dgm:spPr/>
    </dgm:pt>
    <dgm:pt modelId="{9359DA8E-890E-D44F-8173-7CF211AD8ADF}" type="pres">
      <dgm:prSet presAssocID="{5F68C6A3-64BB-CE41-AA79-CFBB71E92D13}" presName="Name17" presStyleLbl="parChTrans1D3" presStyleIdx="1" presStyleCnt="10"/>
      <dgm:spPr/>
    </dgm:pt>
    <dgm:pt modelId="{EE891D82-2FCE-AC44-8B00-6B4841EDD072}" type="pres">
      <dgm:prSet presAssocID="{58DC2402-273E-184E-A177-2F3D3C6A0A7C}" presName="hierRoot3" presStyleCnt="0"/>
      <dgm:spPr/>
    </dgm:pt>
    <dgm:pt modelId="{BF1E14D8-8631-2D47-BA99-47F52DE10970}" type="pres">
      <dgm:prSet presAssocID="{58DC2402-273E-184E-A177-2F3D3C6A0A7C}" presName="composite3" presStyleCnt="0"/>
      <dgm:spPr/>
    </dgm:pt>
    <dgm:pt modelId="{5184D6DE-000C-0540-B0BA-D40BDD449807}" type="pres">
      <dgm:prSet presAssocID="{58DC2402-273E-184E-A177-2F3D3C6A0A7C}" presName="background3" presStyleLbl="node3" presStyleIdx="1" presStyleCnt="10"/>
      <dgm:spPr/>
    </dgm:pt>
    <dgm:pt modelId="{F8B853CF-A2A9-434C-ADD1-0046FDD4B52B}" type="pres">
      <dgm:prSet presAssocID="{58DC2402-273E-184E-A177-2F3D3C6A0A7C}" presName="text3" presStyleLbl="fgAcc3" presStyleIdx="1" presStyleCnt="10" custScaleX="123272">
        <dgm:presLayoutVars>
          <dgm:chPref val="3"/>
        </dgm:presLayoutVars>
      </dgm:prSet>
      <dgm:spPr/>
    </dgm:pt>
    <dgm:pt modelId="{53B76263-091C-684D-9384-62583DD4784C}" type="pres">
      <dgm:prSet presAssocID="{58DC2402-273E-184E-A177-2F3D3C6A0A7C}" presName="hierChild4" presStyleCnt="0"/>
      <dgm:spPr/>
    </dgm:pt>
    <dgm:pt modelId="{9D990122-54E6-9B4D-9732-3EC73C3ED7A9}" type="pres">
      <dgm:prSet presAssocID="{0D5B977A-2B5E-294B-99D8-FA2964F1915D}" presName="Name23" presStyleLbl="parChTrans1D4" presStyleIdx="1" presStyleCnt="10"/>
      <dgm:spPr/>
    </dgm:pt>
    <dgm:pt modelId="{33FE3D2B-864E-5041-8F59-687F844DB6C4}" type="pres">
      <dgm:prSet presAssocID="{E38FD531-F4B7-134C-90D9-F5FE9DA7858B}" presName="hierRoot4" presStyleCnt="0"/>
      <dgm:spPr/>
    </dgm:pt>
    <dgm:pt modelId="{5AC1DB03-664F-9A4F-BC23-7150E1717006}" type="pres">
      <dgm:prSet presAssocID="{E38FD531-F4B7-134C-90D9-F5FE9DA7858B}" presName="composite4" presStyleCnt="0"/>
      <dgm:spPr/>
    </dgm:pt>
    <dgm:pt modelId="{982B825B-3BE1-FE4F-9DB0-57FC3E0DE8F0}" type="pres">
      <dgm:prSet presAssocID="{E38FD531-F4B7-134C-90D9-F5FE9DA7858B}" presName="background4" presStyleLbl="node4" presStyleIdx="1" presStyleCnt="10"/>
      <dgm:spPr/>
    </dgm:pt>
    <dgm:pt modelId="{99E214C5-37CE-FB4A-9EC2-8E5396E92757}" type="pres">
      <dgm:prSet presAssocID="{E38FD531-F4B7-134C-90D9-F5FE9DA7858B}" presName="text4" presStyleLbl="fgAcc4" presStyleIdx="1" presStyleCnt="10" custScaleY="587779">
        <dgm:presLayoutVars>
          <dgm:chPref val="3"/>
        </dgm:presLayoutVars>
      </dgm:prSet>
      <dgm:spPr/>
    </dgm:pt>
    <dgm:pt modelId="{B7E557D0-F05A-9C4B-939B-1DA67E34CD34}" type="pres">
      <dgm:prSet presAssocID="{E38FD531-F4B7-134C-90D9-F5FE9DA7858B}" presName="hierChild5" presStyleCnt="0"/>
      <dgm:spPr/>
    </dgm:pt>
    <dgm:pt modelId="{05B7D4B6-E1B0-7C41-BEE2-CD9D092C6E51}" type="pres">
      <dgm:prSet presAssocID="{D350B086-FCDB-FE46-973E-4C66D5974F2D}" presName="Name17" presStyleLbl="parChTrans1D3" presStyleIdx="2" presStyleCnt="10"/>
      <dgm:spPr/>
    </dgm:pt>
    <dgm:pt modelId="{6D1FF501-AD07-344B-A921-51E0DC207BDD}" type="pres">
      <dgm:prSet presAssocID="{4ECC2193-6CA3-A546-A7DC-6EC64DCACE44}" presName="hierRoot3" presStyleCnt="0"/>
      <dgm:spPr/>
    </dgm:pt>
    <dgm:pt modelId="{0C031DE0-0640-7647-9E58-B2991689FC4B}" type="pres">
      <dgm:prSet presAssocID="{4ECC2193-6CA3-A546-A7DC-6EC64DCACE44}" presName="composite3" presStyleCnt="0"/>
      <dgm:spPr/>
    </dgm:pt>
    <dgm:pt modelId="{3C2265ED-A541-904F-AD8B-45C276C3804C}" type="pres">
      <dgm:prSet presAssocID="{4ECC2193-6CA3-A546-A7DC-6EC64DCACE44}" presName="background3" presStyleLbl="node3" presStyleIdx="2" presStyleCnt="10"/>
      <dgm:spPr/>
    </dgm:pt>
    <dgm:pt modelId="{F0E3B609-1585-6C41-BD5E-2091C4E1AF85}" type="pres">
      <dgm:prSet presAssocID="{4ECC2193-6CA3-A546-A7DC-6EC64DCACE44}" presName="text3" presStyleLbl="fgAcc3" presStyleIdx="2" presStyleCnt="10" custScaleX="119289">
        <dgm:presLayoutVars>
          <dgm:chPref val="3"/>
        </dgm:presLayoutVars>
      </dgm:prSet>
      <dgm:spPr>
        <a:prstGeom prst="round2DiagRect">
          <a:avLst/>
        </a:prstGeom>
      </dgm:spPr>
    </dgm:pt>
    <dgm:pt modelId="{E4CB6A57-C16B-0A4A-8286-F62BCCC657E3}" type="pres">
      <dgm:prSet presAssocID="{4ECC2193-6CA3-A546-A7DC-6EC64DCACE44}" presName="hierChild4" presStyleCnt="0"/>
      <dgm:spPr/>
    </dgm:pt>
    <dgm:pt modelId="{DCA5EAE3-97A8-6248-BE67-8FB3A62C9716}" type="pres">
      <dgm:prSet presAssocID="{445B193B-1EE6-5B48-9323-24EAF567B0FA}" presName="Name23" presStyleLbl="parChTrans1D4" presStyleIdx="2" presStyleCnt="10"/>
      <dgm:spPr/>
    </dgm:pt>
    <dgm:pt modelId="{4F03942C-DB53-B841-BFAF-6DEB131A573E}" type="pres">
      <dgm:prSet presAssocID="{785BE711-10A8-F745-87E8-29C6FB1F45DA}" presName="hierRoot4" presStyleCnt="0"/>
      <dgm:spPr/>
    </dgm:pt>
    <dgm:pt modelId="{6269E948-2029-6848-A7DF-AC6999FBCB02}" type="pres">
      <dgm:prSet presAssocID="{785BE711-10A8-F745-87E8-29C6FB1F45DA}" presName="composite4" presStyleCnt="0"/>
      <dgm:spPr/>
    </dgm:pt>
    <dgm:pt modelId="{04B1F445-A390-0249-B528-1D8635307E7F}" type="pres">
      <dgm:prSet presAssocID="{785BE711-10A8-F745-87E8-29C6FB1F45DA}" presName="background4" presStyleLbl="node4" presStyleIdx="2" presStyleCnt="10"/>
      <dgm:spPr/>
    </dgm:pt>
    <dgm:pt modelId="{6A6E11CE-A0B2-D845-8D18-68AA08267E09}" type="pres">
      <dgm:prSet presAssocID="{785BE711-10A8-F745-87E8-29C6FB1F45DA}" presName="text4" presStyleLbl="fgAcc4" presStyleIdx="2" presStyleCnt="10" custScaleX="126718" custScaleY="587459">
        <dgm:presLayoutVars>
          <dgm:chPref val="3"/>
        </dgm:presLayoutVars>
      </dgm:prSet>
      <dgm:spPr/>
    </dgm:pt>
    <dgm:pt modelId="{DBBE02D8-2807-4A4A-9429-A6F5380F0A00}" type="pres">
      <dgm:prSet presAssocID="{785BE711-10A8-F745-87E8-29C6FB1F45DA}" presName="hierChild5" presStyleCnt="0"/>
      <dgm:spPr/>
    </dgm:pt>
    <dgm:pt modelId="{7F507F57-FD4C-0F41-AFD3-12AC08AEBB17}" type="pres">
      <dgm:prSet presAssocID="{6951D1E5-83ED-7D4D-A403-6C96EE1544F2}" presName="Name17" presStyleLbl="parChTrans1D3" presStyleIdx="3" presStyleCnt="10"/>
      <dgm:spPr/>
    </dgm:pt>
    <dgm:pt modelId="{4063ACFC-4420-C24E-BDFB-0554E01E43B1}" type="pres">
      <dgm:prSet presAssocID="{E356B01D-D39C-784D-934A-E7562BCEB760}" presName="hierRoot3" presStyleCnt="0"/>
      <dgm:spPr/>
    </dgm:pt>
    <dgm:pt modelId="{397ECFFA-0F94-7043-B991-9C7C856A1AF8}" type="pres">
      <dgm:prSet presAssocID="{E356B01D-D39C-784D-934A-E7562BCEB760}" presName="composite3" presStyleCnt="0"/>
      <dgm:spPr/>
    </dgm:pt>
    <dgm:pt modelId="{A9FBAF3A-D5CF-E449-ABF0-32FDA583FF2A}" type="pres">
      <dgm:prSet presAssocID="{E356B01D-D39C-784D-934A-E7562BCEB760}" presName="background3" presStyleLbl="node3" presStyleIdx="3" presStyleCnt="10"/>
      <dgm:spPr/>
    </dgm:pt>
    <dgm:pt modelId="{25A9A123-E9F5-744F-A8C2-010259074AFD}" type="pres">
      <dgm:prSet presAssocID="{E356B01D-D39C-784D-934A-E7562BCEB760}" presName="text3" presStyleLbl="fgAcc3" presStyleIdx="3" presStyleCnt="10" custScaleX="126115">
        <dgm:presLayoutVars>
          <dgm:chPref val="3"/>
        </dgm:presLayoutVars>
      </dgm:prSet>
      <dgm:spPr/>
    </dgm:pt>
    <dgm:pt modelId="{839D5018-F367-4240-817B-A786D2D0A728}" type="pres">
      <dgm:prSet presAssocID="{E356B01D-D39C-784D-934A-E7562BCEB760}" presName="hierChild4" presStyleCnt="0"/>
      <dgm:spPr/>
    </dgm:pt>
    <dgm:pt modelId="{785B3B41-B988-0448-B678-67FCAB41A61B}" type="pres">
      <dgm:prSet presAssocID="{7FF40306-3D86-DD46-9680-AAEF2CCF2C90}" presName="Name23" presStyleLbl="parChTrans1D4" presStyleIdx="3" presStyleCnt="10"/>
      <dgm:spPr/>
    </dgm:pt>
    <dgm:pt modelId="{35297841-E946-F448-B676-1C0F2A707E9B}" type="pres">
      <dgm:prSet presAssocID="{451D6685-9383-224A-917E-4EF571A95296}" presName="hierRoot4" presStyleCnt="0"/>
      <dgm:spPr/>
    </dgm:pt>
    <dgm:pt modelId="{C2C83F26-D12B-3840-B048-DACBB919BC76}" type="pres">
      <dgm:prSet presAssocID="{451D6685-9383-224A-917E-4EF571A95296}" presName="composite4" presStyleCnt="0"/>
      <dgm:spPr/>
    </dgm:pt>
    <dgm:pt modelId="{D27ADEA6-2D07-DA4C-809D-3784567362F6}" type="pres">
      <dgm:prSet presAssocID="{451D6685-9383-224A-917E-4EF571A95296}" presName="background4" presStyleLbl="node4" presStyleIdx="3" presStyleCnt="10"/>
      <dgm:spPr/>
    </dgm:pt>
    <dgm:pt modelId="{ADAC5CC0-8700-3648-B7B7-1798B9D3CF7D}" type="pres">
      <dgm:prSet presAssocID="{451D6685-9383-224A-917E-4EF571A95296}" presName="text4" presStyleLbl="fgAcc4" presStyleIdx="3" presStyleCnt="10" custScaleX="117592" custScaleY="587459">
        <dgm:presLayoutVars>
          <dgm:chPref val="3"/>
        </dgm:presLayoutVars>
      </dgm:prSet>
      <dgm:spPr/>
    </dgm:pt>
    <dgm:pt modelId="{7E5CCD95-D253-CF43-9571-4CAD43567E36}" type="pres">
      <dgm:prSet presAssocID="{451D6685-9383-224A-917E-4EF571A95296}" presName="hierChild5" presStyleCnt="0"/>
      <dgm:spPr/>
    </dgm:pt>
    <dgm:pt modelId="{065FE762-9A9E-8142-9A32-A2158A2DE6B3}" type="pres">
      <dgm:prSet presAssocID="{932E6F8D-AEA7-2A4B-AE85-C16C6F7AC145}" presName="Name17" presStyleLbl="parChTrans1D3" presStyleIdx="4" presStyleCnt="10"/>
      <dgm:spPr/>
    </dgm:pt>
    <dgm:pt modelId="{F39117CE-6077-3248-B658-37767AE9BBDA}" type="pres">
      <dgm:prSet presAssocID="{50A60E05-98CD-1643-A231-1DD2C0B9C5E8}" presName="hierRoot3" presStyleCnt="0"/>
      <dgm:spPr/>
    </dgm:pt>
    <dgm:pt modelId="{D84CC990-830C-1441-9DE3-90437D2E2CF4}" type="pres">
      <dgm:prSet presAssocID="{50A60E05-98CD-1643-A231-1DD2C0B9C5E8}" presName="composite3" presStyleCnt="0"/>
      <dgm:spPr/>
    </dgm:pt>
    <dgm:pt modelId="{093F5D6F-E7D4-454D-A840-1A3AB3234FAF}" type="pres">
      <dgm:prSet presAssocID="{50A60E05-98CD-1643-A231-1DD2C0B9C5E8}" presName="background3" presStyleLbl="node3" presStyleIdx="4" presStyleCnt="10"/>
      <dgm:spPr/>
    </dgm:pt>
    <dgm:pt modelId="{3FE913F8-C8C7-3A49-A394-772966992C26}" type="pres">
      <dgm:prSet presAssocID="{50A60E05-98CD-1643-A231-1DD2C0B9C5E8}" presName="text3" presStyleLbl="fgAcc3" presStyleIdx="4" presStyleCnt="10" custScaleX="112622">
        <dgm:presLayoutVars>
          <dgm:chPref val="3"/>
        </dgm:presLayoutVars>
      </dgm:prSet>
      <dgm:spPr/>
    </dgm:pt>
    <dgm:pt modelId="{583D48BC-4722-6D4A-9C24-7F5BAC1D184D}" type="pres">
      <dgm:prSet presAssocID="{50A60E05-98CD-1643-A231-1DD2C0B9C5E8}" presName="hierChild4" presStyleCnt="0"/>
      <dgm:spPr/>
    </dgm:pt>
    <dgm:pt modelId="{2A0908C8-3067-2042-BEE0-47247E267690}" type="pres">
      <dgm:prSet presAssocID="{E3AAFFB1-C216-0A4C-B4B0-E66AA30D6EFE}" presName="Name23" presStyleLbl="parChTrans1D4" presStyleIdx="4" presStyleCnt="10"/>
      <dgm:spPr/>
    </dgm:pt>
    <dgm:pt modelId="{7C79999B-6218-B746-863F-CAF44488DB27}" type="pres">
      <dgm:prSet presAssocID="{5B4A43FF-B5DF-3B40-B3CE-8F502C2CF782}" presName="hierRoot4" presStyleCnt="0"/>
      <dgm:spPr/>
    </dgm:pt>
    <dgm:pt modelId="{E6AD8DBC-0EB7-E143-AA83-8E0AA7938D44}" type="pres">
      <dgm:prSet presAssocID="{5B4A43FF-B5DF-3B40-B3CE-8F502C2CF782}" presName="composite4" presStyleCnt="0"/>
      <dgm:spPr/>
    </dgm:pt>
    <dgm:pt modelId="{78DAB352-0C38-B648-B731-BA6D7ED80E4E}" type="pres">
      <dgm:prSet presAssocID="{5B4A43FF-B5DF-3B40-B3CE-8F502C2CF782}" presName="background4" presStyleLbl="node4" presStyleIdx="4" presStyleCnt="10"/>
      <dgm:spPr/>
    </dgm:pt>
    <dgm:pt modelId="{CFACCEA3-615B-2747-867A-F169A8469CBA}" type="pres">
      <dgm:prSet presAssocID="{5B4A43FF-B5DF-3B40-B3CE-8F502C2CF782}" presName="text4" presStyleLbl="fgAcc4" presStyleIdx="4" presStyleCnt="10" custScaleY="581949">
        <dgm:presLayoutVars>
          <dgm:chPref val="3"/>
        </dgm:presLayoutVars>
      </dgm:prSet>
      <dgm:spPr/>
    </dgm:pt>
    <dgm:pt modelId="{03434A7A-2DE9-AB46-825E-30AACB33C46E}" type="pres">
      <dgm:prSet presAssocID="{5B4A43FF-B5DF-3B40-B3CE-8F502C2CF782}" presName="hierChild5" presStyleCnt="0"/>
      <dgm:spPr/>
    </dgm:pt>
    <dgm:pt modelId="{28CEE385-34CB-2341-BA99-605298BF3098}" type="pres">
      <dgm:prSet presAssocID="{23CBD623-3C42-4045-93DF-F9346471D365}" presName="Name10" presStyleLbl="parChTrans1D2" presStyleIdx="1" presStyleCnt="2"/>
      <dgm:spPr/>
    </dgm:pt>
    <dgm:pt modelId="{6934348C-42AE-DB41-9857-C71B03944C86}" type="pres">
      <dgm:prSet presAssocID="{FC0B743F-4CF7-E043-9147-28AF0AA6458E}" presName="hierRoot2" presStyleCnt="0"/>
      <dgm:spPr/>
    </dgm:pt>
    <dgm:pt modelId="{F015F983-4AD8-B142-9648-DBB427342A2E}" type="pres">
      <dgm:prSet presAssocID="{FC0B743F-4CF7-E043-9147-28AF0AA6458E}" presName="composite2" presStyleCnt="0"/>
      <dgm:spPr/>
    </dgm:pt>
    <dgm:pt modelId="{9D0A9AAA-BD87-AC44-A8A8-92466320982F}" type="pres">
      <dgm:prSet presAssocID="{FC0B743F-4CF7-E043-9147-28AF0AA6458E}" presName="background2" presStyleLbl="node2" presStyleIdx="1" presStyleCnt="2"/>
      <dgm:spPr>
        <a:solidFill>
          <a:schemeClr val="accent5">
            <a:lumMod val="60000"/>
            <a:lumOff val="40000"/>
          </a:schemeClr>
        </a:solidFill>
        <a:ln>
          <a:solidFill>
            <a:schemeClr val="accent5">
              <a:lumMod val="60000"/>
              <a:lumOff val="40000"/>
            </a:schemeClr>
          </a:solidFill>
        </a:ln>
      </dgm:spPr>
    </dgm:pt>
    <dgm:pt modelId="{19CE0678-91DA-014A-BCAC-328B2CE58B6B}" type="pres">
      <dgm:prSet presAssocID="{FC0B743F-4CF7-E043-9147-28AF0AA6458E}" presName="text2" presStyleLbl="fgAcc2" presStyleIdx="1" presStyleCnt="2" custScaleX="293767">
        <dgm:presLayoutVars>
          <dgm:chPref val="3"/>
        </dgm:presLayoutVars>
      </dgm:prSet>
      <dgm:spPr/>
    </dgm:pt>
    <dgm:pt modelId="{68918955-C614-E740-A292-41AA9C57C95F}" type="pres">
      <dgm:prSet presAssocID="{FC0B743F-4CF7-E043-9147-28AF0AA6458E}" presName="hierChild3" presStyleCnt="0"/>
      <dgm:spPr/>
    </dgm:pt>
    <dgm:pt modelId="{49CE03B1-4B2B-F44B-B9E3-67A7F254A233}" type="pres">
      <dgm:prSet presAssocID="{B1B0E2FB-C545-1D4A-A846-1F9128E008EC}" presName="Name17" presStyleLbl="parChTrans1D3" presStyleIdx="5" presStyleCnt="10"/>
      <dgm:spPr/>
    </dgm:pt>
    <dgm:pt modelId="{6901F8F7-C8B0-0943-B793-34246C3DDD5D}" type="pres">
      <dgm:prSet presAssocID="{94EEBBAD-27EF-C440-9C0C-7B855DE78144}" presName="hierRoot3" presStyleCnt="0"/>
      <dgm:spPr/>
    </dgm:pt>
    <dgm:pt modelId="{DBE1F378-BC70-964A-A56E-2730EE5A89BA}" type="pres">
      <dgm:prSet presAssocID="{94EEBBAD-27EF-C440-9C0C-7B855DE78144}" presName="composite3" presStyleCnt="0"/>
      <dgm:spPr/>
    </dgm:pt>
    <dgm:pt modelId="{B901F53C-038B-8D48-87F2-30FB17BEF780}" type="pres">
      <dgm:prSet presAssocID="{94EEBBAD-27EF-C440-9C0C-7B855DE78144}" presName="background3" presStyleLbl="node3" presStyleIdx="5" presStyleCnt="10"/>
      <dgm:spPr>
        <a:solidFill>
          <a:schemeClr val="accent5">
            <a:lumMod val="60000"/>
            <a:lumOff val="40000"/>
          </a:schemeClr>
        </a:solidFill>
      </dgm:spPr>
    </dgm:pt>
    <dgm:pt modelId="{2EB8D344-1708-C840-97AC-E6A2B8BDAE1B}" type="pres">
      <dgm:prSet presAssocID="{94EEBBAD-27EF-C440-9C0C-7B855DE78144}" presName="text3" presStyleLbl="fgAcc3" presStyleIdx="5" presStyleCnt="10" custScaleX="111427">
        <dgm:presLayoutVars>
          <dgm:chPref val="3"/>
        </dgm:presLayoutVars>
      </dgm:prSet>
      <dgm:spPr/>
    </dgm:pt>
    <dgm:pt modelId="{247E0333-06C5-4744-85CC-8D4E75248223}" type="pres">
      <dgm:prSet presAssocID="{94EEBBAD-27EF-C440-9C0C-7B855DE78144}" presName="hierChild4" presStyleCnt="0"/>
      <dgm:spPr/>
    </dgm:pt>
    <dgm:pt modelId="{9018607E-A9A8-0647-8DFA-ACA6AB61BCD3}" type="pres">
      <dgm:prSet presAssocID="{32447184-14C7-6244-A727-F2C645C3DA33}" presName="Name23" presStyleLbl="parChTrans1D4" presStyleIdx="5" presStyleCnt="10"/>
      <dgm:spPr/>
    </dgm:pt>
    <dgm:pt modelId="{9ACCDFF5-D048-9F4F-B9FF-E2E9DC6647AF}" type="pres">
      <dgm:prSet presAssocID="{2116DE28-7F55-1243-96A0-DF774A6CE6EC}" presName="hierRoot4" presStyleCnt="0"/>
      <dgm:spPr/>
    </dgm:pt>
    <dgm:pt modelId="{6B7D7F8E-34DD-804D-A8BB-EBFC4F0BBF38}" type="pres">
      <dgm:prSet presAssocID="{2116DE28-7F55-1243-96A0-DF774A6CE6EC}" presName="composite4" presStyleCnt="0"/>
      <dgm:spPr/>
    </dgm:pt>
    <dgm:pt modelId="{4A80C282-B802-5048-A9FC-95D7C18876CC}" type="pres">
      <dgm:prSet presAssocID="{2116DE28-7F55-1243-96A0-DF774A6CE6EC}" presName="background4" presStyleLbl="node4" presStyleIdx="5" presStyleCnt="10"/>
      <dgm:spPr>
        <a:solidFill>
          <a:schemeClr val="accent5">
            <a:lumMod val="60000"/>
            <a:lumOff val="40000"/>
          </a:schemeClr>
        </a:solidFill>
      </dgm:spPr>
    </dgm:pt>
    <dgm:pt modelId="{28E66324-A064-B94D-8845-382C9632E36C}" type="pres">
      <dgm:prSet presAssocID="{2116DE28-7F55-1243-96A0-DF774A6CE6EC}" presName="text4" presStyleLbl="fgAcc4" presStyleIdx="5" presStyleCnt="10" custScaleY="581949">
        <dgm:presLayoutVars>
          <dgm:chPref val="3"/>
        </dgm:presLayoutVars>
      </dgm:prSet>
      <dgm:spPr/>
    </dgm:pt>
    <dgm:pt modelId="{46790F33-4BB0-D84A-820B-F7E19E609A67}" type="pres">
      <dgm:prSet presAssocID="{2116DE28-7F55-1243-96A0-DF774A6CE6EC}" presName="hierChild5" presStyleCnt="0"/>
      <dgm:spPr/>
    </dgm:pt>
    <dgm:pt modelId="{B3AED9A7-00A5-0844-B764-65C265308647}" type="pres">
      <dgm:prSet presAssocID="{77739EC9-C840-9347-BDB6-D2653ED9EB2A}" presName="Name17" presStyleLbl="parChTrans1D3" presStyleIdx="6" presStyleCnt="10"/>
      <dgm:spPr/>
    </dgm:pt>
    <dgm:pt modelId="{DFC4A81C-E49D-1048-8782-74292F6E9811}" type="pres">
      <dgm:prSet presAssocID="{962BE203-E5B8-4C47-BE61-24A47DAD0036}" presName="hierRoot3" presStyleCnt="0"/>
      <dgm:spPr/>
    </dgm:pt>
    <dgm:pt modelId="{A63084F1-BA00-C543-AAC6-C570F9AB4627}" type="pres">
      <dgm:prSet presAssocID="{962BE203-E5B8-4C47-BE61-24A47DAD0036}" presName="composite3" presStyleCnt="0"/>
      <dgm:spPr/>
    </dgm:pt>
    <dgm:pt modelId="{CE23E9AA-CE64-114C-9EFB-A1A04CCD0E6A}" type="pres">
      <dgm:prSet presAssocID="{962BE203-E5B8-4C47-BE61-24A47DAD0036}" presName="background3" presStyleLbl="node3" presStyleIdx="6" presStyleCnt="10"/>
      <dgm:spPr>
        <a:solidFill>
          <a:schemeClr val="accent5">
            <a:lumMod val="60000"/>
            <a:lumOff val="40000"/>
          </a:schemeClr>
        </a:solidFill>
      </dgm:spPr>
    </dgm:pt>
    <dgm:pt modelId="{10F17935-0A92-DF45-9FB0-93E22C45C94F}" type="pres">
      <dgm:prSet presAssocID="{962BE203-E5B8-4C47-BE61-24A47DAD0036}" presName="text3" presStyleLbl="fgAcc3" presStyleIdx="6" presStyleCnt="10" custScaleX="119087">
        <dgm:presLayoutVars>
          <dgm:chPref val="3"/>
        </dgm:presLayoutVars>
      </dgm:prSet>
      <dgm:spPr>
        <a:xfrm>
          <a:off x="7251048" y="1854479"/>
          <a:ext cx="993542" cy="529780"/>
        </a:xfrm>
        <a:prstGeom prst="roundRect">
          <a:avLst>
            <a:gd name="adj" fmla="val 10000"/>
          </a:avLst>
        </a:prstGeom>
      </dgm:spPr>
    </dgm:pt>
    <dgm:pt modelId="{17F41FF5-3997-1442-95C2-35D9AE5CCC0E}" type="pres">
      <dgm:prSet presAssocID="{962BE203-E5B8-4C47-BE61-24A47DAD0036}" presName="hierChild4" presStyleCnt="0"/>
      <dgm:spPr/>
    </dgm:pt>
    <dgm:pt modelId="{43A03E71-9FAA-0241-8749-6E431B6DD71A}" type="pres">
      <dgm:prSet presAssocID="{4F8864B2-465F-A349-A30C-9E491D794F45}" presName="Name23" presStyleLbl="parChTrans1D4" presStyleIdx="6" presStyleCnt="10"/>
      <dgm:spPr/>
    </dgm:pt>
    <dgm:pt modelId="{4ED89147-F6F9-F74A-A9B3-AD51034A5536}" type="pres">
      <dgm:prSet presAssocID="{33C3C9C2-D67F-0B45-8D47-FC76498B8811}" presName="hierRoot4" presStyleCnt="0"/>
      <dgm:spPr/>
    </dgm:pt>
    <dgm:pt modelId="{3C3F23BE-C971-7348-8B75-AA52898D8042}" type="pres">
      <dgm:prSet presAssocID="{33C3C9C2-D67F-0B45-8D47-FC76498B8811}" presName="composite4" presStyleCnt="0"/>
      <dgm:spPr/>
    </dgm:pt>
    <dgm:pt modelId="{74590E3B-F128-894D-89B9-9664B3E08782}" type="pres">
      <dgm:prSet presAssocID="{33C3C9C2-D67F-0B45-8D47-FC76498B8811}" presName="background4" presStyleLbl="node4" presStyleIdx="6" presStyleCnt="10"/>
      <dgm:spPr>
        <a:solidFill>
          <a:schemeClr val="accent5">
            <a:lumMod val="60000"/>
            <a:lumOff val="40000"/>
          </a:schemeClr>
        </a:solidFill>
      </dgm:spPr>
    </dgm:pt>
    <dgm:pt modelId="{A7D7FC0D-3EBB-F04A-936F-6D00857E6CF0}" type="pres">
      <dgm:prSet presAssocID="{33C3C9C2-D67F-0B45-8D47-FC76498B8811}" presName="text4" presStyleLbl="fgAcc4" presStyleIdx="6" presStyleCnt="10" custScaleY="581949">
        <dgm:presLayoutVars>
          <dgm:chPref val="3"/>
        </dgm:presLayoutVars>
      </dgm:prSet>
      <dgm:spPr>
        <a:xfrm>
          <a:off x="8161364" y="2291128"/>
          <a:ext cx="793966" cy="2934005"/>
        </a:xfrm>
        <a:prstGeom prst="roundRect">
          <a:avLst>
            <a:gd name="adj" fmla="val 10000"/>
          </a:avLst>
        </a:prstGeom>
      </dgm:spPr>
    </dgm:pt>
    <dgm:pt modelId="{907C933C-06D1-CA45-89BF-5E48ABE84705}" type="pres">
      <dgm:prSet presAssocID="{33C3C9C2-D67F-0B45-8D47-FC76498B8811}" presName="hierChild5" presStyleCnt="0"/>
      <dgm:spPr/>
    </dgm:pt>
    <dgm:pt modelId="{A7B24D29-19D2-734D-9F88-069CED06B40E}" type="pres">
      <dgm:prSet presAssocID="{1306EDD7-8D02-5542-BE42-D86EF9AFEE38}" presName="Name17" presStyleLbl="parChTrans1D3" presStyleIdx="7" presStyleCnt="10"/>
      <dgm:spPr/>
    </dgm:pt>
    <dgm:pt modelId="{271B7479-91A7-D74A-932E-DFAFE5A57383}" type="pres">
      <dgm:prSet presAssocID="{C5817432-6F22-2A46-9355-E71B70ABAE6B}" presName="hierRoot3" presStyleCnt="0"/>
      <dgm:spPr/>
    </dgm:pt>
    <dgm:pt modelId="{54F98E33-1E84-654C-8ED4-BFFC742BF101}" type="pres">
      <dgm:prSet presAssocID="{C5817432-6F22-2A46-9355-E71B70ABAE6B}" presName="composite3" presStyleCnt="0"/>
      <dgm:spPr/>
    </dgm:pt>
    <dgm:pt modelId="{29963AF3-F472-F743-ABA0-6F1B8600AB26}" type="pres">
      <dgm:prSet presAssocID="{C5817432-6F22-2A46-9355-E71B70ABAE6B}" presName="background3" presStyleLbl="node3" presStyleIdx="7" presStyleCnt="10"/>
      <dgm:spPr>
        <a:xfrm>
          <a:off x="8337291" y="1766414"/>
          <a:ext cx="940197" cy="529780"/>
        </a:xfrm>
        <a:prstGeom prst="roundRect">
          <a:avLst>
            <a:gd name="adj" fmla="val 10000"/>
          </a:avLst>
        </a:prstGeom>
        <a:solidFill>
          <a:schemeClr val="accent5">
            <a:lumMod val="60000"/>
            <a:lumOff val="40000"/>
            <a:alpha val="90000"/>
          </a:schemeClr>
        </a:solidFill>
        <a:ln w="12700" cap="flat" cmpd="sng" algn="ctr">
          <a:solidFill>
            <a:srgbClr val="667AB3">
              <a:lumMod val="60000"/>
              <a:lumOff val="40000"/>
            </a:srgbClr>
          </a:solidFill>
          <a:prstDash val="solid"/>
          <a:miter lim="800000"/>
        </a:ln>
        <a:effectLst/>
      </dgm:spPr>
    </dgm:pt>
    <dgm:pt modelId="{72BBAF1E-F528-8140-862B-F5381FC5A8C1}" type="pres">
      <dgm:prSet presAssocID="{C5817432-6F22-2A46-9355-E71B70ABAE6B}" presName="text3" presStyleLbl="fgAcc3" presStyleIdx="7" presStyleCnt="10" custScaleX="112693">
        <dgm:presLayoutVars>
          <dgm:chPref val="3"/>
        </dgm:presLayoutVars>
      </dgm:prSet>
      <dgm:spPr/>
    </dgm:pt>
    <dgm:pt modelId="{B96976E4-6943-4243-9685-C0DC9B0D70CE}" type="pres">
      <dgm:prSet presAssocID="{C5817432-6F22-2A46-9355-E71B70ABAE6B}" presName="hierChild4" presStyleCnt="0"/>
      <dgm:spPr/>
    </dgm:pt>
    <dgm:pt modelId="{D1FE5F14-8FCE-2446-99B2-CB4A0C6033E6}" type="pres">
      <dgm:prSet presAssocID="{78A9C9F4-56DA-5D48-BC80-25A63B86F410}" presName="Name23" presStyleLbl="parChTrans1D4" presStyleIdx="7" presStyleCnt="10"/>
      <dgm:spPr/>
    </dgm:pt>
    <dgm:pt modelId="{F664D573-94DD-314B-B94E-123C932ECF24}" type="pres">
      <dgm:prSet presAssocID="{62CADF01-142C-C442-8561-CFB48D8DB3D7}" presName="hierRoot4" presStyleCnt="0"/>
      <dgm:spPr/>
    </dgm:pt>
    <dgm:pt modelId="{8B07ABB7-C687-864E-A8B6-5D69C34DF90D}" type="pres">
      <dgm:prSet presAssocID="{62CADF01-142C-C442-8561-CFB48D8DB3D7}" presName="composite4" presStyleCnt="0"/>
      <dgm:spPr/>
    </dgm:pt>
    <dgm:pt modelId="{D7936BA8-5EEA-CD4D-84D8-CEDAA50BCA18}" type="pres">
      <dgm:prSet presAssocID="{62CADF01-142C-C442-8561-CFB48D8DB3D7}" presName="background4" presStyleLbl="node4" presStyleIdx="7" presStyleCnt="10"/>
      <dgm:spPr>
        <a:solidFill>
          <a:schemeClr val="accent5">
            <a:lumMod val="60000"/>
            <a:lumOff val="40000"/>
          </a:schemeClr>
        </a:solidFill>
      </dgm:spPr>
    </dgm:pt>
    <dgm:pt modelId="{36A3BB42-C29C-D74E-A363-D196DF5E6995}" type="pres">
      <dgm:prSet presAssocID="{62CADF01-142C-C442-8561-CFB48D8DB3D7}" presName="text4" presStyleLbl="fgAcc4" presStyleIdx="7" presStyleCnt="10" custScaleY="581949">
        <dgm:presLayoutVars>
          <dgm:chPref val="3"/>
        </dgm:presLayoutVars>
      </dgm:prSet>
      <dgm:spPr/>
    </dgm:pt>
    <dgm:pt modelId="{20F5C168-207D-AB46-B2F4-DBBEA45DEE51}" type="pres">
      <dgm:prSet presAssocID="{62CADF01-142C-C442-8561-CFB48D8DB3D7}" presName="hierChild5" presStyleCnt="0"/>
      <dgm:spPr/>
    </dgm:pt>
    <dgm:pt modelId="{238EE7BE-D84C-FF43-9084-E481018C3820}" type="pres">
      <dgm:prSet presAssocID="{1D4D987C-D797-0E44-872D-CFA361745B74}" presName="Name17" presStyleLbl="parChTrans1D3" presStyleIdx="8" presStyleCnt="10"/>
      <dgm:spPr/>
    </dgm:pt>
    <dgm:pt modelId="{A79F183B-2EB5-F943-B14F-D8C3DD7CCE60}" type="pres">
      <dgm:prSet presAssocID="{73619578-AABF-4E4A-9E91-31367035A282}" presName="hierRoot3" presStyleCnt="0"/>
      <dgm:spPr/>
    </dgm:pt>
    <dgm:pt modelId="{4B0012F5-CC04-C849-8A78-1CE0B6371907}" type="pres">
      <dgm:prSet presAssocID="{73619578-AABF-4E4A-9E91-31367035A282}" presName="composite3" presStyleCnt="0"/>
      <dgm:spPr/>
    </dgm:pt>
    <dgm:pt modelId="{9F250A1C-BBAE-8F4D-BF7B-F71054202787}" type="pres">
      <dgm:prSet presAssocID="{73619578-AABF-4E4A-9E91-31367035A282}" presName="background3" presStyleLbl="node3" presStyleIdx="8" presStyleCnt="10"/>
      <dgm:spPr>
        <a:xfrm>
          <a:off x="9462888" y="1766414"/>
          <a:ext cx="1029984" cy="529780"/>
        </a:xfrm>
        <a:prstGeom prst="roundRect">
          <a:avLst>
            <a:gd name="adj" fmla="val 10000"/>
          </a:avLst>
        </a:prstGeom>
        <a:solidFill>
          <a:schemeClr val="accent5">
            <a:lumMod val="60000"/>
            <a:lumOff val="40000"/>
            <a:alpha val="90000"/>
          </a:schemeClr>
        </a:solidFill>
        <a:ln w="12700" cap="flat" cmpd="sng" algn="ctr">
          <a:solidFill>
            <a:srgbClr val="667AB3">
              <a:lumMod val="60000"/>
              <a:lumOff val="40000"/>
            </a:srgbClr>
          </a:solidFill>
          <a:prstDash val="solid"/>
          <a:miter lim="800000"/>
        </a:ln>
        <a:effectLst/>
      </dgm:spPr>
    </dgm:pt>
    <dgm:pt modelId="{873D8DA9-4AF8-6F46-B1A3-7FD00F32E8F2}" type="pres">
      <dgm:prSet presAssocID="{73619578-AABF-4E4A-9E91-31367035A282}" presName="text3" presStyleLbl="fgAcc3" presStyleIdx="8" presStyleCnt="10" custScaleX="123455">
        <dgm:presLayoutVars>
          <dgm:chPref val="3"/>
        </dgm:presLayoutVars>
      </dgm:prSet>
      <dgm:spPr/>
    </dgm:pt>
    <dgm:pt modelId="{DCEA03D5-79DB-A642-9A6F-93218BBADE29}" type="pres">
      <dgm:prSet presAssocID="{73619578-AABF-4E4A-9E91-31367035A282}" presName="hierChild4" presStyleCnt="0"/>
      <dgm:spPr/>
    </dgm:pt>
    <dgm:pt modelId="{5C39A3E3-1E81-C64B-85E7-BB125B0AA873}" type="pres">
      <dgm:prSet presAssocID="{8BBDAF8A-F7A0-5648-BBC1-CC9F6C750DED}" presName="Name23" presStyleLbl="parChTrans1D4" presStyleIdx="8" presStyleCnt="10"/>
      <dgm:spPr/>
    </dgm:pt>
    <dgm:pt modelId="{89A40CD7-7FED-A941-9E33-AD075B54B1D8}" type="pres">
      <dgm:prSet presAssocID="{8A4595E1-7A96-3F4B-9AC8-F0DAD8A43D5E}" presName="hierRoot4" presStyleCnt="0"/>
      <dgm:spPr/>
    </dgm:pt>
    <dgm:pt modelId="{4345BEE6-1323-C34A-8849-A1CC2F18156F}" type="pres">
      <dgm:prSet presAssocID="{8A4595E1-7A96-3F4B-9AC8-F0DAD8A43D5E}" presName="composite4" presStyleCnt="0"/>
      <dgm:spPr/>
    </dgm:pt>
    <dgm:pt modelId="{8D0AE934-F28F-3A42-A474-6AB73EBB338E}" type="pres">
      <dgm:prSet presAssocID="{8A4595E1-7A96-3F4B-9AC8-F0DAD8A43D5E}" presName="background4" presStyleLbl="node4" presStyleIdx="8" presStyleCnt="10"/>
      <dgm:spPr>
        <a:solidFill>
          <a:schemeClr val="accent5">
            <a:lumMod val="60000"/>
            <a:lumOff val="40000"/>
          </a:schemeClr>
        </a:solidFill>
      </dgm:spPr>
    </dgm:pt>
    <dgm:pt modelId="{38742771-20A9-2E4C-AC03-ED5904507749}" type="pres">
      <dgm:prSet presAssocID="{8A4595E1-7A96-3F4B-9AC8-F0DAD8A43D5E}" presName="text4" presStyleLbl="fgAcc4" presStyleIdx="8" presStyleCnt="10" custScaleX="151207" custScaleY="581949">
        <dgm:presLayoutVars>
          <dgm:chPref val="3"/>
        </dgm:presLayoutVars>
      </dgm:prSet>
      <dgm:spPr/>
    </dgm:pt>
    <dgm:pt modelId="{61DC5F78-B7A2-734E-A315-4B62D52CEAD1}" type="pres">
      <dgm:prSet presAssocID="{8A4595E1-7A96-3F4B-9AC8-F0DAD8A43D5E}" presName="hierChild5" presStyleCnt="0"/>
      <dgm:spPr/>
    </dgm:pt>
    <dgm:pt modelId="{081DB49F-22C9-F145-AFC5-62E6F772F4A6}" type="pres">
      <dgm:prSet presAssocID="{D8F555DB-B555-0147-A296-4DCD80D431EC}" presName="Name17" presStyleLbl="parChTrans1D3" presStyleIdx="9" presStyleCnt="10"/>
      <dgm:spPr/>
    </dgm:pt>
    <dgm:pt modelId="{F01977F4-343D-5047-B68F-AC3F348D56D8}" type="pres">
      <dgm:prSet presAssocID="{3F3E3548-D1D4-C347-8ED2-2EEC2E788F95}" presName="hierRoot3" presStyleCnt="0"/>
      <dgm:spPr/>
    </dgm:pt>
    <dgm:pt modelId="{B09B6AEE-4880-C845-A710-72EECA43EA37}" type="pres">
      <dgm:prSet presAssocID="{3F3E3548-D1D4-C347-8ED2-2EEC2E788F95}" presName="composite3" presStyleCnt="0"/>
      <dgm:spPr/>
    </dgm:pt>
    <dgm:pt modelId="{1D032F63-1EAD-3B4B-81E3-0B9EA55CD28A}" type="pres">
      <dgm:prSet presAssocID="{3F3E3548-D1D4-C347-8ED2-2EEC2E788F95}" presName="background3" presStyleLbl="node3" presStyleIdx="9" presStyleCnt="10"/>
      <dgm:spPr>
        <a:xfrm>
          <a:off x="10815298" y="1766414"/>
          <a:ext cx="979609" cy="529780"/>
        </a:xfrm>
        <a:prstGeom prst="roundRect">
          <a:avLst>
            <a:gd name="adj" fmla="val 10000"/>
          </a:avLst>
        </a:prstGeom>
        <a:solidFill>
          <a:schemeClr val="accent5">
            <a:lumMod val="60000"/>
            <a:lumOff val="40000"/>
            <a:alpha val="90000"/>
          </a:schemeClr>
        </a:solidFill>
        <a:ln w="12700" cap="flat" cmpd="sng" algn="ctr">
          <a:solidFill>
            <a:srgbClr val="667AB3">
              <a:lumMod val="60000"/>
              <a:lumOff val="40000"/>
            </a:srgbClr>
          </a:solidFill>
          <a:prstDash val="solid"/>
          <a:miter lim="800000"/>
        </a:ln>
        <a:effectLst/>
      </dgm:spPr>
    </dgm:pt>
    <dgm:pt modelId="{55CB0F7C-BB3B-5C40-BFBE-8E1164035E36}" type="pres">
      <dgm:prSet presAssocID="{3F3E3548-D1D4-C347-8ED2-2EEC2E788F95}" presName="text3" presStyleLbl="fgAcc3" presStyleIdx="9" presStyleCnt="10" custScaleX="117417">
        <dgm:presLayoutVars>
          <dgm:chPref val="3"/>
        </dgm:presLayoutVars>
      </dgm:prSet>
      <dgm:spPr>
        <a:xfrm>
          <a:off x="10907998" y="1854479"/>
          <a:ext cx="979609" cy="529780"/>
        </a:xfrm>
        <a:prstGeom prst="roundRect">
          <a:avLst>
            <a:gd name="adj" fmla="val 10000"/>
          </a:avLst>
        </a:prstGeom>
      </dgm:spPr>
    </dgm:pt>
    <dgm:pt modelId="{C05277E7-C8ED-4648-9D20-E7FE8A9C6E8C}" type="pres">
      <dgm:prSet presAssocID="{3F3E3548-D1D4-C347-8ED2-2EEC2E788F95}" presName="hierChild4" presStyleCnt="0"/>
      <dgm:spPr/>
    </dgm:pt>
    <dgm:pt modelId="{6FD25C98-61DD-6446-B61B-8FD597C16E09}" type="pres">
      <dgm:prSet presAssocID="{974DD94B-9257-4A41-8144-F1299252CF72}" presName="Name23" presStyleLbl="parChTrans1D4" presStyleIdx="9" presStyleCnt="10"/>
      <dgm:spPr/>
    </dgm:pt>
    <dgm:pt modelId="{351BBBFF-2ED4-0C4B-9956-CC2E69B1C79B}" type="pres">
      <dgm:prSet presAssocID="{6D578D93-94F2-DA41-83F1-2D82C8B88027}" presName="hierRoot4" presStyleCnt="0"/>
      <dgm:spPr/>
    </dgm:pt>
    <dgm:pt modelId="{FF282958-76B9-9948-B69F-99E8DEC78B8D}" type="pres">
      <dgm:prSet presAssocID="{6D578D93-94F2-DA41-83F1-2D82C8B88027}" presName="composite4" presStyleCnt="0"/>
      <dgm:spPr/>
    </dgm:pt>
    <dgm:pt modelId="{1BF612D8-3152-9C48-9EFC-6FE45E7F00B5}" type="pres">
      <dgm:prSet presAssocID="{6D578D93-94F2-DA41-83F1-2D82C8B88027}" presName="background4" presStyleLbl="node4" presStyleIdx="9" presStyleCnt="10"/>
      <dgm:spPr>
        <a:solidFill>
          <a:schemeClr val="accent5">
            <a:lumMod val="60000"/>
            <a:lumOff val="40000"/>
          </a:schemeClr>
        </a:solidFill>
      </dgm:spPr>
    </dgm:pt>
    <dgm:pt modelId="{0E710799-4D9D-414C-B169-6721A567D7D4}" type="pres">
      <dgm:prSet presAssocID="{6D578D93-94F2-DA41-83F1-2D82C8B88027}" presName="text4" presStyleLbl="fgAcc4" presStyleIdx="9" presStyleCnt="10" custScaleX="151162" custScaleY="581949">
        <dgm:presLayoutVars>
          <dgm:chPref val="3"/>
        </dgm:presLayoutVars>
      </dgm:prSet>
      <dgm:spPr/>
    </dgm:pt>
    <dgm:pt modelId="{86A40613-9CB3-E84F-B569-E75FFD3CF0C5}" type="pres">
      <dgm:prSet presAssocID="{6D578D93-94F2-DA41-83F1-2D82C8B88027}" presName="hierChild5" presStyleCnt="0"/>
      <dgm:spPr/>
    </dgm:pt>
  </dgm:ptLst>
  <dgm:cxnLst>
    <dgm:cxn modelId="{0A42DC04-E4A2-7747-9547-DF29B3E9CFBA}" srcId="{0EFBEED9-14FD-B84E-BCF7-EC976EDD9220}" destId="{58DC2402-273E-184E-A177-2F3D3C6A0A7C}" srcOrd="1" destOrd="0" parTransId="{5F68C6A3-64BB-CE41-AA79-CFBB71E92D13}" sibTransId="{64FDD3A1-8348-D34A-82A0-5AA3F3A28CA2}"/>
    <dgm:cxn modelId="{8B350306-4DE8-E948-8600-3F4B3E29A0AC}" type="presOf" srcId="{5B4A43FF-B5DF-3B40-B3CE-8F502C2CF782}" destId="{CFACCEA3-615B-2747-867A-F169A8469CBA}" srcOrd="0" destOrd="0" presId="urn:microsoft.com/office/officeart/2005/8/layout/hierarchy1#1"/>
    <dgm:cxn modelId="{E5B1140B-D3CF-054C-B30A-6ACEF69E47DE}" type="presOf" srcId="{974DD94B-9257-4A41-8144-F1299252CF72}" destId="{6FD25C98-61DD-6446-B61B-8FD597C16E09}" srcOrd="0" destOrd="0" presId="urn:microsoft.com/office/officeart/2005/8/layout/hierarchy1#1"/>
    <dgm:cxn modelId="{F265B00F-ED68-0140-901F-5EB830384AC3}" srcId="{FC0B743F-4CF7-E043-9147-28AF0AA6458E}" destId="{3F3E3548-D1D4-C347-8ED2-2EEC2E788F95}" srcOrd="4" destOrd="0" parTransId="{D8F555DB-B555-0147-A296-4DCD80D431EC}" sibTransId="{93789B2D-E29D-9448-B49B-E9AD68AE3D21}"/>
    <dgm:cxn modelId="{01E9CB0F-90B8-9643-BD1D-5EA92CC42E84}" type="presOf" srcId="{1290B9E4-31E2-714B-AF00-E24D31BD0A44}" destId="{7AE369F6-3E56-E24D-B82D-F577766915B9}" srcOrd="0" destOrd="0" presId="urn:microsoft.com/office/officeart/2005/8/layout/hierarchy1#1"/>
    <dgm:cxn modelId="{FCEB5510-C3F2-9D4F-9E23-6FB6A54BC94B}" srcId="{94EEBBAD-27EF-C440-9C0C-7B855DE78144}" destId="{2116DE28-7F55-1243-96A0-DF774A6CE6EC}" srcOrd="0" destOrd="0" parTransId="{32447184-14C7-6244-A727-F2C645C3DA33}" sibTransId="{AFD38955-3249-4049-B76E-D1FB1F152DAB}"/>
    <dgm:cxn modelId="{89CE3612-1079-6E4A-84EB-432B081D5C60}" type="presOf" srcId="{1306EDD7-8D02-5542-BE42-D86EF9AFEE38}" destId="{A7B24D29-19D2-734D-9F88-069CED06B40E}" srcOrd="0" destOrd="0" presId="urn:microsoft.com/office/officeart/2005/8/layout/hierarchy1#1"/>
    <dgm:cxn modelId="{C6B32916-CC19-174D-A710-D7B78EAD6907}" type="presOf" srcId="{23CBD623-3C42-4045-93DF-F9346471D365}" destId="{28CEE385-34CB-2341-BA99-605298BF3098}" srcOrd="0" destOrd="0" presId="urn:microsoft.com/office/officeart/2005/8/layout/hierarchy1#1"/>
    <dgm:cxn modelId="{DDE32C20-C5CC-9F41-9D82-D4A340FA4AEA}" srcId="{0EFBEED9-14FD-B84E-BCF7-EC976EDD9220}" destId="{4ECC2193-6CA3-A546-A7DC-6EC64DCACE44}" srcOrd="2" destOrd="0" parTransId="{D350B086-FCDB-FE46-973E-4C66D5974F2D}" sibTransId="{BA07DA97-B5DA-244A-882C-20100800BDF6}"/>
    <dgm:cxn modelId="{243AED28-6726-CA4F-9093-6CBF090BDF5B}" type="presOf" srcId="{962BE203-E5B8-4C47-BE61-24A47DAD0036}" destId="{10F17935-0A92-DF45-9FB0-93E22C45C94F}" srcOrd="0" destOrd="0" presId="urn:microsoft.com/office/officeart/2005/8/layout/hierarchy1#1"/>
    <dgm:cxn modelId="{6B54AD2B-A33C-0943-8BCA-7B93CC1F4580}" srcId="{E356B01D-D39C-784D-934A-E7562BCEB760}" destId="{451D6685-9383-224A-917E-4EF571A95296}" srcOrd="0" destOrd="0" parTransId="{7FF40306-3D86-DD46-9680-AAEF2CCF2C90}" sibTransId="{B908D709-3DE9-8C4C-A8BD-AA8FA225EA7A}"/>
    <dgm:cxn modelId="{9CC8262C-FBD0-9240-B56D-BD6B13FE4413}" type="presOf" srcId="{77739EC9-C840-9347-BDB6-D2653ED9EB2A}" destId="{B3AED9A7-00A5-0844-B764-65C265308647}" srcOrd="0" destOrd="0" presId="urn:microsoft.com/office/officeart/2005/8/layout/hierarchy1#1"/>
    <dgm:cxn modelId="{E89FB92E-C7EA-8348-A647-99F91948258E}" srcId="{FC0B743F-4CF7-E043-9147-28AF0AA6458E}" destId="{94EEBBAD-27EF-C440-9C0C-7B855DE78144}" srcOrd="0" destOrd="0" parTransId="{B1B0E2FB-C545-1D4A-A846-1F9128E008EC}" sibTransId="{6CFA920B-8A1C-8F40-95A8-DBE48C0E0344}"/>
    <dgm:cxn modelId="{4EDC1431-A407-3348-80F5-A9DB00BE5651}" type="presOf" srcId="{2116DE28-7F55-1243-96A0-DF774A6CE6EC}" destId="{28E66324-A064-B94D-8845-382C9632E36C}" srcOrd="0" destOrd="0" presId="urn:microsoft.com/office/officeart/2005/8/layout/hierarchy1#1"/>
    <dgm:cxn modelId="{8E3B3F31-FA2A-CB4C-9C26-3582D74C0A5A}" type="presOf" srcId="{6D7809F8-520D-4542-B998-50081A060086}" destId="{B2FE777D-A90A-6B42-A111-9B53BCF21F5B}" srcOrd="0" destOrd="0" presId="urn:microsoft.com/office/officeart/2005/8/layout/hierarchy1#1"/>
    <dgm:cxn modelId="{04D7963A-ABFB-A94F-8FC8-CDDF21AAD5CB}" type="presOf" srcId="{94EEBBAD-27EF-C440-9C0C-7B855DE78144}" destId="{2EB8D344-1708-C840-97AC-E6A2B8BDAE1B}" srcOrd="0" destOrd="0" presId="urn:microsoft.com/office/officeart/2005/8/layout/hierarchy1#1"/>
    <dgm:cxn modelId="{E117F23F-B6AB-5540-9568-1ADAFCD75BC1}" type="presOf" srcId="{D350B086-FCDB-FE46-973E-4C66D5974F2D}" destId="{05B7D4B6-E1B0-7C41-BEE2-CD9D092C6E51}" srcOrd="0" destOrd="0" presId="urn:microsoft.com/office/officeart/2005/8/layout/hierarchy1#1"/>
    <dgm:cxn modelId="{B4561D5B-5274-F845-9B57-8DF59B2D5A84}" srcId="{962BE203-E5B8-4C47-BE61-24A47DAD0036}" destId="{33C3C9C2-D67F-0B45-8D47-FC76498B8811}" srcOrd="0" destOrd="0" parTransId="{4F8864B2-465F-A349-A30C-9E491D794F45}" sibTransId="{869F3396-4C4C-794B-BC0D-F76529C5D96A}"/>
    <dgm:cxn modelId="{7D359F5D-CE58-724B-98B4-B012A9BEC377}" type="presOf" srcId="{61A583CC-18F6-2440-874B-B7561F3AD560}" destId="{88492A7D-53F2-A54A-82FA-0C5DA8E83BDA}" srcOrd="0" destOrd="0" presId="urn:microsoft.com/office/officeart/2005/8/layout/hierarchy1#1"/>
    <dgm:cxn modelId="{2276BF5F-0268-1348-B739-072C56AC0274}" type="presOf" srcId="{8BBDAF8A-F7A0-5648-BBC1-CC9F6C750DED}" destId="{5C39A3E3-1E81-C64B-85E7-BB125B0AA873}" srcOrd="0" destOrd="0" presId="urn:microsoft.com/office/officeart/2005/8/layout/hierarchy1#1"/>
    <dgm:cxn modelId="{9710F343-6200-0C48-86C9-AD320C859C70}" srcId="{FC0B743F-4CF7-E043-9147-28AF0AA6458E}" destId="{C5817432-6F22-2A46-9355-E71B70ABAE6B}" srcOrd="2" destOrd="0" parTransId="{1306EDD7-8D02-5542-BE42-D86EF9AFEE38}" sibTransId="{D41E48AD-68CD-824E-87AF-BD7DA7346D44}"/>
    <dgm:cxn modelId="{862BF948-09D1-0049-A7B9-8D02A4A92C9B}" srcId="{0EFBEED9-14FD-B84E-BCF7-EC976EDD9220}" destId="{E356B01D-D39C-784D-934A-E7562BCEB760}" srcOrd="3" destOrd="0" parTransId="{6951D1E5-83ED-7D4D-A403-6C96EE1544F2}" sibTransId="{53A99946-2A78-904F-9741-79FE167DCBD8}"/>
    <dgm:cxn modelId="{7467F449-A580-C14B-AC17-32094BDAE9B4}" type="presOf" srcId="{4F8864B2-465F-A349-A30C-9E491D794F45}" destId="{43A03E71-9FAA-0241-8749-6E431B6DD71A}" srcOrd="0" destOrd="0" presId="urn:microsoft.com/office/officeart/2005/8/layout/hierarchy1#1"/>
    <dgm:cxn modelId="{D20CFB4B-7743-1C49-A0F7-42F8BB4BC204}" type="presOf" srcId="{D8F555DB-B555-0147-A296-4DCD80D431EC}" destId="{081DB49F-22C9-F145-AFC5-62E6F772F4A6}" srcOrd="0" destOrd="0" presId="urn:microsoft.com/office/officeart/2005/8/layout/hierarchy1#1"/>
    <dgm:cxn modelId="{D7C5386E-BDB3-CF40-8238-AD8B4F77A99A}" type="presOf" srcId="{62CADF01-142C-C442-8561-CFB48D8DB3D7}" destId="{36A3BB42-C29C-D74E-A363-D196DF5E6995}" srcOrd="0" destOrd="0" presId="urn:microsoft.com/office/officeart/2005/8/layout/hierarchy1#1"/>
    <dgm:cxn modelId="{5D2BD870-7555-774F-AE19-2FE864E1027F}" type="presOf" srcId="{445B193B-1EE6-5B48-9323-24EAF567B0FA}" destId="{DCA5EAE3-97A8-6248-BE67-8FB3A62C9716}" srcOrd="0" destOrd="0" presId="urn:microsoft.com/office/officeart/2005/8/layout/hierarchy1#1"/>
    <dgm:cxn modelId="{550FA671-F5C7-0941-84E1-7CB77350495D}" type="presOf" srcId="{78A9C9F4-56DA-5D48-BC80-25A63B86F410}" destId="{D1FE5F14-8FCE-2446-99B2-CB4A0C6033E6}" srcOrd="0" destOrd="0" presId="urn:microsoft.com/office/officeart/2005/8/layout/hierarchy1#1"/>
    <dgm:cxn modelId="{2E816057-7E16-1843-9DC6-FEEF2DD33CA4}" srcId="{C5817432-6F22-2A46-9355-E71B70ABAE6B}" destId="{62CADF01-142C-C442-8561-CFB48D8DB3D7}" srcOrd="0" destOrd="0" parTransId="{78A9C9F4-56DA-5D48-BC80-25A63B86F410}" sibTransId="{989E93EB-EAFD-C74B-82CE-D276BFCD198B}"/>
    <dgm:cxn modelId="{B855DF79-E2E8-194E-A6F6-E45D1DDD72CE}" type="presOf" srcId="{785BE711-10A8-F745-87E8-29C6FB1F45DA}" destId="{6A6E11CE-A0B2-D845-8D18-68AA08267E09}" srcOrd="0" destOrd="0" presId="urn:microsoft.com/office/officeart/2005/8/layout/hierarchy1#1"/>
    <dgm:cxn modelId="{3183747B-46FB-BA4A-94F4-80EF4136F707}" srcId="{FC0B743F-4CF7-E043-9147-28AF0AA6458E}" destId="{73619578-AABF-4E4A-9E91-31367035A282}" srcOrd="3" destOrd="0" parTransId="{1D4D987C-D797-0E44-872D-CFA361745B74}" sibTransId="{F0F77637-C4A8-3345-BD41-19C7BAA6F54C}"/>
    <dgm:cxn modelId="{CF79F57B-A459-174B-A4B7-997E32E05709}" type="presOf" srcId="{4ECC2193-6CA3-A546-A7DC-6EC64DCACE44}" destId="{F0E3B609-1585-6C41-BD5E-2091C4E1AF85}" srcOrd="0" destOrd="0" presId="urn:microsoft.com/office/officeart/2005/8/layout/hierarchy1#1"/>
    <dgm:cxn modelId="{548E4C80-CFFF-284B-B65D-5B6D9D7B843E}" srcId="{2EEB1454-A3C9-0E41-9793-34428352CFBF}" destId="{0EFBEED9-14FD-B84E-BCF7-EC976EDD9220}" srcOrd="0" destOrd="0" parTransId="{ED9C3F59-3317-6746-B394-3B0C43A4C43C}" sibTransId="{1687F5B1-4824-F545-A3EF-AA4832C7DEB3}"/>
    <dgm:cxn modelId="{4526B484-C4A8-5E42-937A-3DA9CBF87864}" type="presOf" srcId="{0EFBEED9-14FD-B84E-BCF7-EC976EDD9220}" destId="{5C934BFF-2B32-3546-A8F9-861CFA31B516}" srcOrd="0" destOrd="0" presId="urn:microsoft.com/office/officeart/2005/8/layout/hierarchy1#1"/>
    <dgm:cxn modelId="{2CF6CC87-6C2B-8643-AF3D-5C5315605509}" srcId="{1290B9E4-31E2-714B-AF00-E24D31BD0A44}" destId="{F5CA6252-5548-804B-B9BC-1563E7607B06}" srcOrd="0" destOrd="0" parTransId="{5C304F8F-E61C-1941-B54E-FF9F0C0FD0FE}" sibTransId="{291E0E20-3A8A-FC44-BF97-7C9FCF92BA27}"/>
    <dgm:cxn modelId="{DD01CD88-844C-1C49-8FD9-9D1D527E1221}" type="presOf" srcId="{2EEB1454-A3C9-0E41-9793-34428352CFBF}" destId="{89432697-4073-0749-9B46-D825476B7A0B}" srcOrd="0" destOrd="0" presId="urn:microsoft.com/office/officeart/2005/8/layout/hierarchy1#1"/>
    <dgm:cxn modelId="{F48DF390-FF28-9745-BBF6-31FB6AAA71EF}" type="presOf" srcId="{FC0B743F-4CF7-E043-9147-28AF0AA6458E}" destId="{19CE0678-91DA-014A-BCAC-328B2CE58B6B}" srcOrd="0" destOrd="0" presId="urn:microsoft.com/office/officeart/2005/8/layout/hierarchy1#1"/>
    <dgm:cxn modelId="{87547C92-245D-304D-A8BD-AE581BB5C5F0}" type="presOf" srcId="{3F3E3548-D1D4-C347-8ED2-2EEC2E788F95}" destId="{55CB0F7C-BB3B-5C40-BFBE-8E1164035E36}" srcOrd="0" destOrd="0" presId="urn:microsoft.com/office/officeart/2005/8/layout/hierarchy1#1"/>
    <dgm:cxn modelId="{073A0E95-DFCD-9941-8985-C073D192138C}" type="presOf" srcId="{F5CA6252-5548-804B-B9BC-1563E7607B06}" destId="{C91C88DA-FA20-364D-8D25-FB83D20AE8C6}" srcOrd="0" destOrd="0" presId="urn:microsoft.com/office/officeart/2005/8/layout/hierarchy1#1"/>
    <dgm:cxn modelId="{73F96E98-CD2F-6C40-A273-1102E947E140}" type="presOf" srcId="{32447184-14C7-6244-A727-F2C645C3DA33}" destId="{9018607E-A9A8-0647-8DFA-ACA6AB61BCD3}" srcOrd="0" destOrd="0" presId="urn:microsoft.com/office/officeart/2005/8/layout/hierarchy1#1"/>
    <dgm:cxn modelId="{CAE36A99-513E-6243-87AE-47F0281F812A}" type="presOf" srcId="{7FF40306-3D86-DD46-9680-AAEF2CCF2C90}" destId="{785B3B41-B988-0448-B678-67FCAB41A61B}" srcOrd="0" destOrd="0" presId="urn:microsoft.com/office/officeart/2005/8/layout/hierarchy1#1"/>
    <dgm:cxn modelId="{F057EE9B-DE08-F546-B148-3E32F3CE577F}" srcId="{2EEB1454-A3C9-0E41-9793-34428352CFBF}" destId="{FC0B743F-4CF7-E043-9147-28AF0AA6458E}" srcOrd="1" destOrd="0" parTransId="{23CBD623-3C42-4045-93DF-F9346471D365}" sibTransId="{B10D29D4-1FF6-3A48-913A-F55311B765E6}"/>
    <dgm:cxn modelId="{90684E9F-77C0-C64F-A401-49E8564A78E8}" type="presOf" srcId="{1D4D987C-D797-0E44-872D-CFA361745B74}" destId="{238EE7BE-D84C-FF43-9084-E481018C3820}" srcOrd="0" destOrd="0" presId="urn:microsoft.com/office/officeart/2005/8/layout/hierarchy1#1"/>
    <dgm:cxn modelId="{FA30DEA1-A04A-D241-B863-8A30DA5018DF}" type="presOf" srcId="{B1B0E2FB-C545-1D4A-A846-1F9128E008EC}" destId="{49CE03B1-4B2B-F44B-B9E3-67A7F254A233}" srcOrd="0" destOrd="0" presId="urn:microsoft.com/office/officeart/2005/8/layout/hierarchy1#1"/>
    <dgm:cxn modelId="{34258CA6-49B2-534F-817C-60CC56E533A2}" type="presOf" srcId="{58DC2402-273E-184E-A177-2F3D3C6A0A7C}" destId="{F8B853CF-A2A9-434C-ADD1-0046FDD4B52B}" srcOrd="0" destOrd="0" presId="urn:microsoft.com/office/officeart/2005/8/layout/hierarchy1#1"/>
    <dgm:cxn modelId="{66852FAB-291D-CB46-8FC9-FF229E61525D}" type="presOf" srcId="{451D6685-9383-224A-917E-4EF571A95296}" destId="{ADAC5CC0-8700-3648-B7B7-1798B9D3CF7D}" srcOrd="0" destOrd="0" presId="urn:microsoft.com/office/officeart/2005/8/layout/hierarchy1#1"/>
    <dgm:cxn modelId="{ED4D53B6-2414-5444-9497-1F6899A1D54F}" srcId="{4ECC2193-6CA3-A546-A7DC-6EC64DCACE44}" destId="{785BE711-10A8-F745-87E8-29C6FB1F45DA}" srcOrd="0" destOrd="0" parTransId="{445B193B-1EE6-5B48-9323-24EAF567B0FA}" sibTransId="{176E1D8D-6F6E-1D40-96A5-93BD69FFF0C8}"/>
    <dgm:cxn modelId="{79ACB3B7-3E09-7D4F-83F9-98903B4430F2}" type="presOf" srcId="{6951D1E5-83ED-7D4D-A403-6C96EE1544F2}" destId="{7F507F57-FD4C-0F41-AFD3-12AC08AEBB17}" srcOrd="0" destOrd="0" presId="urn:microsoft.com/office/officeart/2005/8/layout/hierarchy1#1"/>
    <dgm:cxn modelId="{3AAAA5BB-7BBB-5B4E-AFD3-ACCD29429688}" type="presOf" srcId="{5F68C6A3-64BB-CE41-AA79-CFBB71E92D13}" destId="{9359DA8E-890E-D44F-8173-7CF211AD8ADF}" srcOrd="0" destOrd="0" presId="urn:microsoft.com/office/officeart/2005/8/layout/hierarchy1#1"/>
    <dgm:cxn modelId="{943C29BD-20CC-5546-97C0-275EDD8F6E2A}" srcId="{73619578-AABF-4E4A-9E91-31367035A282}" destId="{8A4595E1-7A96-3F4B-9AC8-F0DAD8A43D5E}" srcOrd="0" destOrd="0" parTransId="{8BBDAF8A-F7A0-5648-BBC1-CC9F6C750DED}" sibTransId="{60BF03E6-4AA6-3146-980E-65EBA5CD7252}"/>
    <dgm:cxn modelId="{77E895BD-E82E-B047-BA08-CF759659BD18}" srcId="{58DC2402-273E-184E-A177-2F3D3C6A0A7C}" destId="{E38FD531-F4B7-134C-90D9-F5FE9DA7858B}" srcOrd="0" destOrd="0" parTransId="{0D5B977A-2B5E-294B-99D8-FA2964F1915D}" sibTransId="{E97B6B61-B0BF-DE4F-8E34-3039706D7B68}"/>
    <dgm:cxn modelId="{6FCF54C8-7F2C-FD41-9615-BC1372F10385}" type="presOf" srcId="{E3AAFFB1-C216-0A4C-B4B0-E66AA30D6EFE}" destId="{2A0908C8-3067-2042-BEE0-47247E267690}" srcOrd="0" destOrd="0" presId="urn:microsoft.com/office/officeart/2005/8/layout/hierarchy1#1"/>
    <dgm:cxn modelId="{034F99CC-D755-B84C-BA18-2534CF2CD818}" srcId="{50A60E05-98CD-1643-A231-1DD2C0B9C5E8}" destId="{5B4A43FF-B5DF-3B40-B3CE-8F502C2CF782}" srcOrd="0" destOrd="0" parTransId="{E3AAFFB1-C216-0A4C-B4B0-E66AA30D6EFE}" sibTransId="{DA45EFC5-F3D6-A845-8EC3-928EF3A2E40A}"/>
    <dgm:cxn modelId="{2422F0D1-BD9E-D34A-8DEE-FD0363E3C3F7}" srcId="{0EFBEED9-14FD-B84E-BCF7-EC976EDD9220}" destId="{50A60E05-98CD-1643-A231-1DD2C0B9C5E8}" srcOrd="4" destOrd="0" parTransId="{932E6F8D-AEA7-2A4B-AE85-C16C6F7AC145}" sibTransId="{0C230E91-516D-3F43-9098-9A7AF472F066}"/>
    <dgm:cxn modelId="{F49FC6D7-C4D0-1948-9C1F-E28EF6664B16}" srcId="{FC0B743F-4CF7-E043-9147-28AF0AA6458E}" destId="{962BE203-E5B8-4C47-BE61-24A47DAD0036}" srcOrd="1" destOrd="0" parTransId="{77739EC9-C840-9347-BDB6-D2653ED9EB2A}" sibTransId="{FE839FBD-8B7F-8D41-B0E4-5680D701AB9A}"/>
    <dgm:cxn modelId="{74EE53D9-3D5D-D74E-80AC-F1E12E80D30B}" type="presOf" srcId="{6D578D93-94F2-DA41-83F1-2D82C8B88027}" destId="{0E710799-4D9D-414C-B169-6721A567D7D4}" srcOrd="0" destOrd="0" presId="urn:microsoft.com/office/officeart/2005/8/layout/hierarchy1#1"/>
    <dgm:cxn modelId="{DEAEADD9-9B9C-2043-82DB-FC69BB4B8479}" type="presOf" srcId="{5C304F8F-E61C-1941-B54E-FF9F0C0FD0FE}" destId="{81A7369C-7C9D-1C46-AFD6-4076FCE128AE}" srcOrd="0" destOrd="0" presId="urn:microsoft.com/office/officeart/2005/8/layout/hierarchy1#1"/>
    <dgm:cxn modelId="{4E1F23DA-C827-9B45-BDD4-7BDB37A33C02}" type="presOf" srcId="{33C3C9C2-D67F-0B45-8D47-FC76498B8811}" destId="{A7D7FC0D-3EBB-F04A-936F-6D00857E6CF0}" srcOrd="0" destOrd="0" presId="urn:microsoft.com/office/officeart/2005/8/layout/hierarchy1#1"/>
    <dgm:cxn modelId="{C028AADA-5412-654A-8A02-DDBB74F7CA8B}" type="presOf" srcId="{8A4595E1-7A96-3F4B-9AC8-F0DAD8A43D5E}" destId="{38742771-20A9-2E4C-AC03-ED5904507749}" srcOrd="0" destOrd="0" presId="urn:microsoft.com/office/officeart/2005/8/layout/hierarchy1#1"/>
    <dgm:cxn modelId="{691A03DE-BC13-3743-8D7A-12A777B4EEDA}" srcId="{0EFBEED9-14FD-B84E-BCF7-EC976EDD9220}" destId="{1290B9E4-31E2-714B-AF00-E24D31BD0A44}" srcOrd="0" destOrd="0" parTransId="{61A583CC-18F6-2440-874B-B7561F3AD560}" sibTransId="{DFC49423-1981-9547-8DC3-A8391EF8D065}"/>
    <dgm:cxn modelId="{65E817DE-9D82-5D4B-819F-EE02057EB80C}" type="presOf" srcId="{73619578-AABF-4E4A-9E91-31367035A282}" destId="{873D8DA9-4AF8-6F46-B1A3-7FD00F32E8F2}" srcOrd="0" destOrd="0" presId="urn:microsoft.com/office/officeart/2005/8/layout/hierarchy1#1"/>
    <dgm:cxn modelId="{2B5022E3-0D08-584B-8AF7-1C84D57ED110}" type="presOf" srcId="{C5817432-6F22-2A46-9355-E71B70ABAE6B}" destId="{72BBAF1E-F528-8140-862B-F5381FC5A8C1}" srcOrd="0" destOrd="0" presId="urn:microsoft.com/office/officeart/2005/8/layout/hierarchy1#1"/>
    <dgm:cxn modelId="{980344E7-D04B-9F48-8DBA-23753E1638F9}" type="presOf" srcId="{50A60E05-98CD-1643-A231-1DD2C0B9C5E8}" destId="{3FE913F8-C8C7-3A49-A394-772966992C26}" srcOrd="0" destOrd="0" presId="urn:microsoft.com/office/officeart/2005/8/layout/hierarchy1#1"/>
    <dgm:cxn modelId="{A77E86F2-3BDB-C54F-A7DF-D80D12215394}" type="presOf" srcId="{E38FD531-F4B7-134C-90D9-F5FE9DA7858B}" destId="{99E214C5-37CE-FB4A-9EC2-8E5396E92757}" srcOrd="0" destOrd="0" presId="urn:microsoft.com/office/officeart/2005/8/layout/hierarchy1#1"/>
    <dgm:cxn modelId="{8A689AF3-3442-E545-8350-06EBB42FE33C}" type="presOf" srcId="{E356B01D-D39C-784D-934A-E7562BCEB760}" destId="{25A9A123-E9F5-744F-A8C2-010259074AFD}" srcOrd="0" destOrd="0" presId="urn:microsoft.com/office/officeart/2005/8/layout/hierarchy1#1"/>
    <dgm:cxn modelId="{FB8132F4-3FA4-8049-8761-80CF8BF4EC31}" srcId="{6D7809F8-520D-4542-B998-50081A060086}" destId="{2EEB1454-A3C9-0E41-9793-34428352CFBF}" srcOrd="0" destOrd="0" parTransId="{64ADD9F9-A9F2-AD48-B299-F72FF5479BDF}" sibTransId="{2FBE1460-8FC1-C448-99FE-5A9956409638}"/>
    <dgm:cxn modelId="{3E7EBBF5-D113-C54D-9FE3-81A1390A926E}" type="presOf" srcId="{0D5B977A-2B5E-294B-99D8-FA2964F1915D}" destId="{9D990122-54E6-9B4D-9732-3EC73C3ED7A9}" srcOrd="0" destOrd="0" presId="urn:microsoft.com/office/officeart/2005/8/layout/hierarchy1#1"/>
    <dgm:cxn modelId="{A45311F7-0864-E743-9DB6-1FA0A0FA370E}" type="presOf" srcId="{932E6F8D-AEA7-2A4B-AE85-C16C6F7AC145}" destId="{065FE762-9A9E-8142-9A32-A2158A2DE6B3}" srcOrd="0" destOrd="0" presId="urn:microsoft.com/office/officeart/2005/8/layout/hierarchy1#1"/>
    <dgm:cxn modelId="{AE3E91F9-7BFF-E84D-9D06-2503B9F0C47F}" type="presOf" srcId="{ED9C3F59-3317-6746-B394-3B0C43A4C43C}" destId="{3211C32F-121C-0F4B-BCA0-D810766E2B4C}" srcOrd="0" destOrd="0" presId="urn:microsoft.com/office/officeart/2005/8/layout/hierarchy1#1"/>
    <dgm:cxn modelId="{1E7EE6FF-2B70-244F-88B0-772F726FE8E4}" srcId="{3F3E3548-D1D4-C347-8ED2-2EEC2E788F95}" destId="{6D578D93-94F2-DA41-83F1-2D82C8B88027}" srcOrd="0" destOrd="0" parTransId="{974DD94B-9257-4A41-8144-F1299252CF72}" sibTransId="{8CAB2B0C-92B0-234D-B76A-FC0AA16D6F7A}"/>
    <dgm:cxn modelId="{CD41D884-9452-124D-AC79-0F7C56BFBB70}" type="presParOf" srcId="{B2FE777D-A90A-6B42-A111-9B53BCF21F5B}" destId="{D6C607B2-25FF-BC47-B946-757A52215D47}" srcOrd="0" destOrd="0" presId="urn:microsoft.com/office/officeart/2005/8/layout/hierarchy1#1"/>
    <dgm:cxn modelId="{DC794981-CF80-D74C-A771-E8FD007E1AA0}" type="presParOf" srcId="{D6C607B2-25FF-BC47-B946-757A52215D47}" destId="{D431E5CD-401B-314E-A00E-A6ADEDCBD1E8}" srcOrd="0" destOrd="0" presId="urn:microsoft.com/office/officeart/2005/8/layout/hierarchy1#1"/>
    <dgm:cxn modelId="{4F53AF28-263D-454B-9B84-603516A96B5E}" type="presParOf" srcId="{D431E5CD-401B-314E-A00E-A6ADEDCBD1E8}" destId="{E8184913-6576-9B42-9104-9592BB81AE8A}" srcOrd="0" destOrd="0" presId="urn:microsoft.com/office/officeart/2005/8/layout/hierarchy1#1"/>
    <dgm:cxn modelId="{BF6EFBD7-3097-A845-8326-A1A82903D03B}" type="presParOf" srcId="{D431E5CD-401B-314E-A00E-A6ADEDCBD1E8}" destId="{89432697-4073-0749-9B46-D825476B7A0B}" srcOrd="1" destOrd="0" presId="urn:microsoft.com/office/officeart/2005/8/layout/hierarchy1#1"/>
    <dgm:cxn modelId="{92CC7058-B9B1-5244-9CE4-38464781A01E}" type="presParOf" srcId="{D6C607B2-25FF-BC47-B946-757A52215D47}" destId="{45CCA276-8FD0-F44A-87B6-08A229A64DF9}" srcOrd="1" destOrd="0" presId="urn:microsoft.com/office/officeart/2005/8/layout/hierarchy1#1"/>
    <dgm:cxn modelId="{34A26BF1-F57A-E249-A549-E35D6A00BECB}" type="presParOf" srcId="{45CCA276-8FD0-F44A-87B6-08A229A64DF9}" destId="{3211C32F-121C-0F4B-BCA0-D810766E2B4C}" srcOrd="0" destOrd="0" presId="urn:microsoft.com/office/officeart/2005/8/layout/hierarchy1#1"/>
    <dgm:cxn modelId="{AD7F854D-96D2-C246-9702-5B9471360319}" type="presParOf" srcId="{45CCA276-8FD0-F44A-87B6-08A229A64DF9}" destId="{5B843B50-94EC-0244-9F1D-5E649E04046C}" srcOrd="1" destOrd="0" presId="urn:microsoft.com/office/officeart/2005/8/layout/hierarchy1#1"/>
    <dgm:cxn modelId="{FEB4CD3C-1188-B74F-80F9-5F90000A7FB7}" type="presParOf" srcId="{5B843B50-94EC-0244-9F1D-5E649E04046C}" destId="{445F5A8B-5827-8047-A41A-C4C33CC2F89B}" srcOrd="0" destOrd="0" presId="urn:microsoft.com/office/officeart/2005/8/layout/hierarchy1#1"/>
    <dgm:cxn modelId="{4632C498-73AD-1C44-A212-CFAC2626C02B}" type="presParOf" srcId="{445F5A8B-5827-8047-A41A-C4C33CC2F89B}" destId="{6160FEE8-33EF-794B-8F6E-BAF1E28D8E86}" srcOrd="0" destOrd="0" presId="urn:microsoft.com/office/officeart/2005/8/layout/hierarchy1#1"/>
    <dgm:cxn modelId="{D91B6983-4C52-B941-8894-002BFA4F5074}" type="presParOf" srcId="{445F5A8B-5827-8047-A41A-C4C33CC2F89B}" destId="{5C934BFF-2B32-3546-A8F9-861CFA31B516}" srcOrd="1" destOrd="0" presId="urn:microsoft.com/office/officeart/2005/8/layout/hierarchy1#1"/>
    <dgm:cxn modelId="{EC9F56B4-0F70-CE43-819F-1566EAE7F2DD}" type="presParOf" srcId="{5B843B50-94EC-0244-9F1D-5E649E04046C}" destId="{8AB87AA4-C4C9-B243-88CE-68208039C668}" srcOrd="1" destOrd="0" presId="urn:microsoft.com/office/officeart/2005/8/layout/hierarchy1#1"/>
    <dgm:cxn modelId="{68CDE04C-DBAC-FA40-B238-121973FE5585}" type="presParOf" srcId="{8AB87AA4-C4C9-B243-88CE-68208039C668}" destId="{88492A7D-53F2-A54A-82FA-0C5DA8E83BDA}" srcOrd="0" destOrd="0" presId="urn:microsoft.com/office/officeart/2005/8/layout/hierarchy1#1"/>
    <dgm:cxn modelId="{152EDE4B-1AFC-D040-B8F2-F2725D4C508C}" type="presParOf" srcId="{8AB87AA4-C4C9-B243-88CE-68208039C668}" destId="{6499295F-9B01-2D42-ACCA-BD80B132A8D4}" srcOrd="1" destOrd="0" presId="urn:microsoft.com/office/officeart/2005/8/layout/hierarchy1#1"/>
    <dgm:cxn modelId="{CBD01A3A-B2E2-AA48-B8F8-4D4819D42F3D}" type="presParOf" srcId="{6499295F-9B01-2D42-ACCA-BD80B132A8D4}" destId="{C08F04ED-C6D1-E140-82F5-1894953D8C5F}" srcOrd="0" destOrd="0" presId="urn:microsoft.com/office/officeart/2005/8/layout/hierarchy1#1"/>
    <dgm:cxn modelId="{501EB1A1-5F46-F841-82F6-B9AA37E95DF3}" type="presParOf" srcId="{C08F04ED-C6D1-E140-82F5-1894953D8C5F}" destId="{16D7A03F-B428-834C-9D7B-2D101CD11A45}" srcOrd="0" destOrd="0" presId="urn:microsoft.com/office/officeart/2005/8/layout/hierarchy1#1"/>
    <dgm:cxn modelId="{C27E4C29-8303-8844-9CF8-1449B11751EA}" type="presParOf" srcId="{C08F04ED-C6D1-E140-82F5-1894953D8C5F}" destId="{7AE369F6-3E56-E24D-B82D-F577766915B9}" srcOrd="1" destOrd="0" presId="urn:microsoft.com/office/officeart/2005/8/layout/hierarchy1#1"/>
    <dgm:cxn modelId="{E7042548-D32B-B646-B9ED-45BDF112FCC3}" type="presParOf" srcId="{6499295F-9B01-2D42-ACCA-BD80B132A8D4}" destId="{D5B7C457-D7E3-404D-B0BA-48B53544948D}" srcOrd="1" destOrd="0" presId="urn:microsoft.com/office/officeart/2005/8/layout/hierarchy1#1"/>
    <dgm:cxn modelId="{B4561CA5-52B8-A544-B0BC-EC71FA0F84B1}" type="presParOf" srcId="{D5B7C457-D7E3-404D-B0BA-48B53544948D}" destId="{81A7369C-7C9D-1C46-AFD6-4076FCE128AE}" srcOrd="0" destOrd="0" presId="urn:microsoft.com/office/officeart/2005/8/layout/hierarchy1#1"/>
    <dgm:cxn modelId="{DF594D08-2634-0A4F-8311-50AA771AF17F}" type="presParOf" srcId="{D5B7C457-D7E3-404D-B0BA-48B53544948D}" destId="{93AC4A1E-45C7-4642-B76C-BC232FD2D2D4}" srcOrd="1" destOrd="0" presId="urn:microsoft.com/office/officeart/2005/8/layout/hierarchy1#1"/>
    <dgm:cxn modelId="{C5E7E3F0-7203-9B4D-A663-830BE046A290}" type="presParOf" srcId="{93AC4A1E-45C7-4642-B76C-BC232FD2D2D4}" destId="{85438CDB-4EED-A341-9F16-DF81E6E2DAB8}" srcOrd="0" destOrd="0" presId="urn:microsoft.com/office/officeart/2005/8/layout/hierarchy1#1"/>
    <dgm:cxn modelId="{831F4820-7CFA-6342-A373-0D6ED27B7226}" type="presParOf" srcId="{85438CDB-4EED-A341-9F16-DF81E6E2DAB8}" destId="{2E9FE2F5-368A-E449-B906-B2D103A74371}" srcOrd="0" destOrd="0" presId="urn:microsoft.com/office/officeart/2005/8/layout/hierarchy1#1"/>
    <dgm:cxn modelId="{B3AE870F-1AD7-A64B-9BC8-CC2D8D0E14D5}" type="presParOf" srcId="{85438CDB-4EED-A341-9F16-DF81E6E2DAB8}" destId="{C91C88DA-FA20-364D-8D25-FB83D20AE8C6}" srcOrd="1" destOrd="0" presId="urn:microsoft.com/office/officeart/2005/8/layout/hierarchy1#1"/>
    <dgm:cxn modelId="{E9B59C73-6856-DD4D-A448-6346644FFC21}" type="presParOf" srcId="{93AC4A1E-45C7-4642-B76C-BC232FD2D2D4}" destId="{CC50E09A-57FC-4746-888F-D6DBF2A90178}" srcOrd="1" destOrd="0" presId="urn:microsoft.com/office/officeart/2005/8/layout/hierarchy1#1"/>
    <dgm:cxn modelId="{48FE4C21-5D34-6D47-9166-D26A4FCDF52D}" type="presParOf" srcId="{8AB87AA4-C4C9-B243-88CE-68208039C668}" destId="{9359DA8E-890E-D44F-8173-7CF211AD8ADF}" srcOrd="2" destOrd="0" presId="urn:microsoft.com/office/officeart/2005/8/layout/hierarchy1#1"/>
    <dgm:cxn modelId="{39A68FCD-DB17-0B42-9166-AD0659FF6763}" type="presParOf" srcId="{8AB87AA4-C4C9-B243-88CE-68208039C668}" destId="{EE891D82-2FCE-AC44-8B00-6B4841EDD072}" srcOrd="3" destOrd="0" presId="urn:microsoft.com/office/officeart/2005/8/layout/hierarchy1#1"/>
    <dgm:cxn modelId="{213B20BC-E520-B645-A916-A360AF68E713}" type="presParOf" srcId="{EE891D82-2FCE-AC44-8B00-6B4841EDD072}" destId="{BF1E14D8-8631-2D47-BA99-47F52DE10970}" srcOrd="0" destOrd="0" presId="urn:microsoft.com/office/officeart/2005/8/layout/hierarchy1#1"/>
    <dgm:cxn modelId="{584424CE-DEE2-7946-82B2-0810D9396FE7}" type="presParOf" srcId="{BF1E14D8-8631-2D47-BA99-47F52DE10970}" destId="{5184D6DE-000C-0540-B0BA-D40BDD449807}" srcOrd="0" destOrd="0" presId="urn:microsoft.com/office/officeart/2005/8/layout/hierarchy1#1"/>
    <dgm:cxn modelId="{E35B8457-F765-4745-94C1-D3F753CE8932}" type="presParOf" srcId="{BF1E14D8-8631-2D47-BA99-47F52DE10970}" destId="{F8B853CF-A2A9-434C-ADD1-0046FDD4B52B}" srcOrd="1" destOrd="0" presId="urn:microsoft.com/office/officeart/2005/8/layout/hierarchy1#1"/>
    <dgm:cxn modelId="{1D832E25-E6BE-8842-B99D-F9DD85691BD6}" type="presParOf" srcId="{EE891D82-2FCE-AC44-8B00-6B4841EDD072}" destId="{53B76263-091C-684D-9384-62583DD4784C}" srcOrd="1" destOrd="0" presId="urn:microsoft.com/office/officeart/2005/8/layout/hierarchy1#1"/>
    <dgm:cxn modelId="{70213DBE-15DB-194C-909C-731D1CFBD0B9}" type="presParOf" srcId="{53B76263-091C-684D-9384-62583DD4784C}" destId="{9D990122-54E6-9B4D-9732-3EC73C3ED7A9}" srcOrd="0" destOrd="0" presId="urn:microsoft.com/office/officeart/2005/8/layout/hierarchy1#1"/>
    <dgm:cxn modelId="{8223809A-F8B7-B74E-B983-B9A39A5EB8B4}" type="presParOf" srcId="{53B76263-091C-684D-9384-62583DD4784C}" destId="{33FE3D2B-864E-5041-8F59-687F844DB6C4}" srcOrd="1" destOrd="0" presId="urn:microsoft.com/office/officeart/2005/8/layout/hierarchy1#1"/>
    <dgm:cxn modelId="{DE75C7F7-AE76-6C46-B66B-E92FAB559507}" type="presParOf" srcId="{33FE3D2B-864E-5041-8F59-687F844DB6C4}" destId="{5AC1DB03-664F-9A4F-BC23-7150E1717006}" srcOrd="0" destOrd="0" presId="urn:microsoft.com/office/officeart/2005/8/layout/hierarchy1#1"/>
    <dgm:cxn modelId="{0495CABD-9E98-6B47-B01F-14DEAA08080E}" type="presParOf" srcId="{5AC1DB03-664F-9A4F-BC23-7150E1717006}" destId="{982B825B-3BE1-FE4F-9DB0-57FC3E0DE8F0}" srcOrd="0" destOrd="0" presId="urn:microsoft.com/office/officeart/2005/8/layout/hierarchy1#1"/>
    <dgm:cxn modelId="{A63FD94A-CD69-0449-B56A-26644F89CC30}" type="presParOf" srcId="{5AC1DB03-664F-9A4F-BC23-7150E1717006}" destId="{99E214C5-37CE-FB4A-9EC2-8E5396E92757}" srcOrd="1" destOrd="0" presId="urn:microsoft.com/office/officeart/2005/8/layout/hierarchy1#1"/>
    <dgm:cxn modelId="{3DC0B3D1-1212-B148-BE33-CC9883AB2189}" type="presParOf" srcId="{33FE3D2B-864E-5041-8F59-687F844DB6C4}" destId="{B7E557D0-F05A-9C4B-939B-1DA67E34CD34}" srcOrd="1" destOrd="0" presId="urn:microsoft.com/office/officeart/2005/8/layout/hierarchy1#1"/>
    <dgm:cxn modelId="{CC9EA136-32CC-304E-8D4E-D9FBD1DD980E}" type="presParOf" srcId="{8AB87AA4-C4C9-B243-88CE-68208039C668}" destId="{05B7D4B6-E1B0-7C41-BEE2-CD9D092C6E51}" srcOrd="4" destOrd="0" presId="urn:microsoft.com/office/officeart/2005/8/layout/hierarchy1#1"/>
    <dgm:cxn modelId="{B5CE09CC-3F59-CD48-A759-84C65FAEE2F6}" type="presParOf" srcId="{8AB87AA4-C4C9-B243-88CE-68208039C668}" destId="{6D1FF501-AD07-344B-A921-51E0DC207BDD}" srcOrd="5" destOrd="0" presId="urn:microsoft.com/office/officeart/2005/8/layout/hierarchy1#1"/>
    <dgm:cxn modelId="{328BFCA4-9520-794E-B2E1-AB50D0EDFAD4}" type="presParOf" srcId="{6D1FF501-AD07-344B-A921-51E0DC207BDD}" destId="{0C031DE0-0640-7647-9E58-B2991689FC4B}" srcOrd="0" destOrd="0" presId="urn:microsoft.com/office/officeart/2005/8/layout/hierarchy1#1"/>
    <dgm:cxn modelId="{744A2722-E8AA-3D45-9A59-666F8E621B32}" type="presParOf" srcId="{0C031DE0-0640-7647-9E58-B2991689FC4B}" destId="{3C2265ED-A541-904F-AD8B-45C276C3804C}" srcOrd="0" destOrd="0" presId="urn:microsoft.com/office/officeart/2005/8/layout/hierarchy1#1"/>
    <dgm:cxn modelId="{B8FD13E1-443F-364B-A9D8-84552F8592F2}" type="presParOf" srcId="{0C031DE0-0640-7647-9E58-B2991689FC4B}" destId="{F0E3B609-1585-6C41-BD5E-2091C4E1AF85}" srcOrd="1" destOrd="0" presId="urn:microsoft.com/office/officeart/2005/8/layout/hierarchy1#1"/>
    <dgm:cxn modelId="{DAF2A7F1-E9C9-2541-8198-37103B69F1EF}" type="presParOf" srcId="{6D1FF501-AD07-344B-A921-51E0DC207BDD}" destId="{E4CB6A57-C16B-0A4A-8286-F62BCCC657E3}" srcOrd="1" destOrd="0" presId="urn:microsoft.com/office/officeart/2005/8/layout/hierarchy1#1"/>
    <dgm:cxn modelId="{E03255CF-D8A5-4446-8D9A-6C451A3FC71B}" type="presParOf" srcId="{E4CB6A57-C16B-0A4A-8286-F62BCCC657E3}" destId="{DCA5EAE3-97A8-6248-BE67-8FB3A62C9716}" srcOrd="0" destOrd="0" presId="urn:microsoft.com/office/officeart/2005/8/layout/hierarchy1#1"/>
    <dgm:cxn modelId="{788E09CE-975D-0744-9197-5E7685E1D0C4}" type="presParOf" srcId="{E4CB6A57-C16B-0A4A-8286-F62BCCC657E3}" destId="{4F03942C-DB53-B841-BFAF-6DEB131A573E}" srcOrd="1" destOrd="0" presId="urn:microsoft.com/office/officeart/2005/8/layout/hierarchy1#1"/>
    <dgm:cxn modelId="{B63C89A1-0ADB-764D-BB4B-BA5988CE4D30}" type="presParOf" srcId="{4F03942C-DB53-B841-BFAF-6DEB131A573E}" destId="{6269E948-2029-6848-A7DF-AC6999FBCB02}" srcOrd="0" destOrd="0" presId="urn:microsoft.com/office/officeart/2005/8/layout/hierarchy1#1"/>
    <dgm:cxn modelId="{36398C18-E462-7C41-A1FA-4BE93A156988}" type="presParOf" srcId="{6269E948-2029-6848-A7DF-AC6999FBCB02}" destId="{04B1F445-A390-0249-B528-1D8635307E7F}" srcOrd="0" destOrd="0" presId="urn:microsoft.com/office/officeart/2005/8/layout/hierarchy1#1"/>
    <dgm:cxn modelId="{EA408DFE-E2C5-6E42-8BB4-BB206188AB92}" type="presParOf" srcId="{6269E948-2029-6848-A7DF-AC6999FBCB02}" destId="{6A6E11CE-A0B2-D845-8D18-68AA08267E09}" srcOrd="1" destOrd="0" presId="urn:microsoft.com/office/officeart/2005/8/layout/hierarchy1#1"/>
    <dgm:cxn modelId="{E0308ADC-99C7-AB44-8086-27CA77ACF7C8}" type="presParOf" srcId="{4F03942C-DB53-B841-BFAF-6DEB131A573E}" destId="{DBBE02D8-2807-4A4A-9429-A6F5380F0A00}" srcOrd="1" destOrd="0" presId="urn:microsoft.com/office/officeart/2005/8/layout/hierarchy1#1"/>
    <dgm:cxn modelId="{F4B1008F-335D-474C-A02D-96D47602F8A1}" type="presParOf" srcId="{8AB87AA4-C4C9-B243-88CE-68208039C668}" destId="{7F507F57-FD4C-0F41-AFD3-12AC08AEBB17}" srcOrd="6" destOrd="0" presId="urn:microsoft.com/office/officeart/2005/8/layout/hierarchy1#1"/>
    <dgm:cxn modelId="{61BC7CE6-91C0-FA41-899E-B1F10228B158}" type="presParOf" srcId="{8AB87AA4-C4C9-B243-88CE-68208039C668}" destId="{4063ACFC-4420-C24E-BDFB-0554E01E43B1}" srcOrd="7" destOrd="0" presId="urn:microsoft.com/office/officeart/2005/8/layout/hierarchy1#1"/>
    <dgm:cxn modelId="{A7F5032D-97BE-614D-8F76-7618526BD496}" type="presParOf" srcId="{4063ACFC-4420-C24E-BDFB-0554E01E43B1}" destId="{397ECFFA-0F94-7043-B991-9C7C856A1AF8}" srcOrd="0" destOrd="0" presId="urn:microsoft.com/office/officeart/2005/8/layout/hierarchy1#1"/>
    <dgm:cxn modelId="{748402C5-7AA5-D14B-ACAF-F79BE56310E4}" type="presParOf" srcId="{397ECFFA-0F94-7043-B991-9C7C856A1AF8}" destId="{A9FBAF3A-D5CF-E449-ABF0-32FDA583FF2A}" srcOrd="0" destOrd="0" presId="urn:microsoft.com/office/officeart/2005/8/layout/hierarchy1#1"/>
    <dgm:cxn modelId="{C86A97A8-2DD8-8948-BC64-4551E142FC9E}" type="presParOf" srcId="{397ECFFA-0F94-7043-B991-9C7C856A1AF8}" destId="{25A9A123-E9F5-744F-A8C2-010259074AFD}" srcOrd="1" destOrd="0" presId="urn:microsoft.com/office/officeart/2005/8/layout/hierarchy1#1"/>
    <dgm:cxn modelId="{552CB14C-D8FD-E047-AE0E-0836AE860F62}" type="presParOf" srcId="{4063ACFC-4420-C24E-BDFB-0554E01E43B1}" destId="{839D5018-F367-4240-817B-A786D2D0A728}" srcOrd="1" destOrd="0" presId="urn:microsoft.com/office/officeart/2005/8/layout/hierarchy1#1"/>
    <dgm:cxn modelId="{70F18713-6A12-4740-92C5-D2321882DB21}" type="presParOf" srcId="{839D5018-F367-4240-817B-A786D2D0A728}" destId="{785B3B41-B988-0448-B678-67FCAB41A61B}" srcOrd="0" destOrd="0" presId="urn:microsoft.com/office/officeart/2005/8/layout/hierarchy1#1"/>
    <dgm:cxn modelId="{5F1C28B5-00CE-F54D-9017-5085EB68D25B}" type="presParOf" srcId="{839D5018-F367-4240-817B-A786D2D0A728}" destId="{35297841-E946-F448-B676-1C0F2A707E9B}" srcOrd="1" destOrd="0" presId="urn:microsoft.com/office/officeart/2005/8/layout/hierarchy1#1"/>
    <dgm:cxn modelId="{4BC1C72C-146E-0E40-8D9D-FC3150A5C49A}" type="presParOf" srcId="{35297841-E946-F448-B676-1C0F2A707E9B}" destId="{C2C83F26-D12B-3840-B048-DACBB919BC76}" srcOrd="0" destOrd="0" presId="urn:microsoft.com/office/officeart/2005/8/layout/hierarchy1#1"/>
    <dgm:cxn modelId="{4A50A196-FEE4-8B41-AE99-8C8EB7521148}" type="presParOf" srcId="{C2C83F26-D12B-3840-B048-DACBB919BC76}" destId="{D27ADEA6-2D07-DA4C-809D-3784567362F6}" srcOrd="0" destOrd="0" presId="urn:microsoft.com/office/officeart/2005/8/layout/hierarchy1#1"/>
    <dgm:cxn modelId="{40249CE9-EB2E-7C41-BA3E-DFE5138C9E7E}" type="presParOf" srcId="{C2C83F26-D12B-3840-B048-DACBB919BC76}" destId="{ADAC5CC0-8700-3648-B7B7-1798B9D3CF7D}" srcOrd="1" destOrd="0" presId="urn:microsoft.com/office/officeart/2005/8/layout/hierarchy1#1"/>
    <dgm:cxn modelId="{451BCD4B-466B-4A43-A190-897AAE2EF8DD}" type="presParOf" srcId="{35297841-E946-F448-B676-1C0F2A707E9B}" destId="{7E5CCD95-D253-CF43-9571-4CAD43567E36}" srcOrd="1" destOrd="0" presId="urn:microsoft.com/office/officeart/2005/8/layout/hierarchy1#1"/>
    <dgm:cxn modelId="{E619122E-8986-7249-AA91-EB9A63393859}" type="presParOf" srcId="{8AB87AA4-C4C9-B243-88CE-68208039C668}" destId="{065FE762-9A9E-8142-9A32-A2158A2DE6B3}" srcOrd="8" destOrd="0" presId="urn:microsoft.com/office/officeart/2005/8/layout/hierarchy1#1"/>
    <dgm:cxn modelId="{5CEC6029-2FF1-4B4F-9DA9-FEC284CC9DBA}" type="presParOf" srcId="{8AB87AA4-C4C9-B243-88CE-68208039C668}" destId="{F39117CE-6077-3248-B658-37767AE9BBDA}" srcOrd="9" destOrd="0" presId="urn:microsoft.com/office/officeart/2005/8/layout/hierarchy1#1"/>
    <dgm:cxn modelId="{ACFCE095-9DBE-9045-889A-A52300EF6CD7}" type="presParOf" srcId="{F39117CE-6077-3248-B658-37767AE9BBDA}" destId="{D84CC990-830C-1441-9DE3-90437D2E2CF4}" srcOrd="0" destOrd="0" presId="urn:microsoft.com/office/officeart/2005/8/layout/hierarchy1#1"/>
    <dgm:cxn modelId="{A09DE59B-40A6-D147-96E4-9DB4AD1CA302}" type="presParOf" srcId="{D84CC990-830C-1441-9DE3-90437D2E2CF4}" destId="{093F5D6F-E7D4-454D-A840-1A3AB3234FAF}" srcOrd="0" destOrd="0" presId="urn:microsoft.com/office/officeart/2005/8/layout/hierarchy1#1"/>
    <dgm:cxn modelId="{433964BD-42DC-3546-8DF7-0638C6248420}" type="presParOf" srcId="{D84CC990-830C-1441-9DE3-90437D2E2CF4}" destId="{3FE913F8-C8C7-3A49-A394-772966992C26}" srcOrd="1" destOrd="0" presId="urn:microsoft.com/office/officeart/2005/8/layout/hierarchy1#1"/>
    <dgm:cxn modelId="{D6FA8B69-E709-A446-B4F7-FB8B4279D6C2}" type="presParOf" srcId="{F39117CE-6077-3248-B658-37767AE9BBDA}" destId="{583D48BC-4722-6D4A-9C24-7F5BAC1D184D}" srcOrd="1" destOrd="0" presId="urn:microsoft.com/office/officeart/2005/8/layout/hierarchy1#1"/>
    <dgm:cxn modelId="{C6BF4711-AFEF-0D49-8460-6B900BC995F2}" type="presParOf" srcId="{583D48BC-4722-6D4A-9C24-7F5BAC1D184D}" destId="{2A0908C8-3067-2042-BEE0-47247E267690}" srcOrd="0" destOrd="0" presId="urn:microsoft.com/office/officeart/2005/8/layout/hierarchy1#1"/>
    <dgm:cxn modelId="{445BA1C1-7091-2245-9786-BCB11C050BD8}" type="presParOf" srcId="{583D48BC-4722-6D4A-9C24-7F5BAC1D184D}" destId="{7C79999B-6218-B746-863F-CAF44488DB27}" srcOrd="1" destOrd="0" presId="urn:microsoft.com/office/officeart/2005/8/layout/hierarchy1#1"/>
    <dgm:cxn modelId="{779C6518-5F6A-0C42-81CC-931D79785DE9}" type="presParOf" srcId="{7C79999B-6218-B746-863F-CAF44488DB27}" destId="{E6AD8DBC-0EB7-E143-AA83-8E0AA7938D44}" srcOrd="0" destOrd="0" presId="urn:microsoft.com/office/officeart/2005/8/layout/hierarchy1#1"/>
    <dgm:cxn modelId="{0F712FDA-0181-E840-9F0F-381AA4764378}" type="presParOf" srcId="{E6AD8DBC-0EB7-E143-AA83-8E0AA7938D44}" destId="{78DAB352-0C38-B648-B731-BA6D7ED80E4E}" srcOrd="0" destOrd="0" presId="urn:microsoft.com/office/officeart/2005/8/layout/hierarchy1#1"/>
    <dgm:cxn modelId="{A8482932-035E-FE4F-956B-BC573A2EC1F7}" type="presParOf" srcId="{E6AD8DBC-0EB7-E143-AA83-8E0AA7938D44}" destId="{CFACCEA3-615B-2747-867A-F169A8469CBA}" srcOrd="1" destOrd="0" presId="urn:microsoft.com/office/officeart/2005/8/layout/hierarchy1#1"/>
    <dgm:cxn modelId="{AF7557AD-0E56-E54A-986E-01FC7F3688AA}" type="presParOf" srcId="{7C79999B-6218-B746-863F-CAF44488DB27}" destId="{03434A7A-2DE9-AB46-825E-30AACB33C46E}" srcOrd="1" destOrd="0" presId="urn:microsoft.com/office/officeart/2005/8/layout/hierarchy1#1"/>
    <dgm:cxn modelId="{95D0F832-722C-2342-A310-7B770F0D5BA3}" type="presParOf" srcId="{45CCA276-8FD0-F44A-87B6-08A229A64DF9}" destId="{28CEE385-34CB-2341-BA99-605298BF3098}" srcOrd="2" destOrd="0" presId="urn:microsoft.com/office/officeart/2005/8/layout/hierarchy1#1"/>
    <dgm:cxn modelId="{E747C395-F754-3645-804E-D8016A9AE038}" type="presParOf" srcId="{45CCA276-8FD0-F44A-87B6-08A229A64DF9}" destId="{6934348C-42AE-DB41-9857-C71B03944C86}" srcOrd="3" destOrd="0" presId="urn:microsoft.com/office/officeart/2005/8/layout/hierarchy1#1"/>
    <dgm:cxn modelId="{BA74831B-F895-F44F-9982-702F17F7CF2A}" type="presParOf" srcId="{6934348C-42AE-DB41-9857-C71B03944C86}" destId="{F015F983-4AD8-B142-9648-DBB427342A2E}" srcOrd="0" destOrd="0" presId="urn:microsoft.com/office/officeart/2005/8/layout/hierarchy1#1"/>
    <dgm:cxn modelId="{38176C54-0AA9-1644-B3C7-7EEAC35CAC96}" type="presParOf" srcId="{F015F983-4AD8-B142-9648-DBB427342A2E}" destId="{9D0A9AAA-BD87-AC44-A8A8-92466320982F}" srcOrd="0" destOrd="0" presId="urn:microsoft.com/office/officeart/2005/8/layout/hierarchy1#1"/>
    <dgm:cxn modelId="{C88E5A79-3D8F-8647-A178-434361DDAD3D}" type="presParOf" srcId="{F015F983-4AD8-B142-9648-DBB427342A2E}" destId="{19CE0678-91DA-014A-BCAC-328B2CE58B6B}" srcOrd="1" destOrd="0" presId="urn:microsoft.com/office/officeart/2005/8/layout/hierarchy1#1"/>
    <dgm:cxn modelId="{4495B464-C817-9743-8337-32985551CD4B}" type="presParOf" srcId="{6934348C-42AE-DB41-9857-C71B03944C86}" destId="{68918955-C614-E740-A292-41AA9C57C95F}" srcOrd="1" destOrd="0" presId="urn:microsoft.com/office/officeart/2005/8/layout/hierarchy1#1"/>
    <dgm:cxn modelId="{3415FEFF-3836-964B-BE0E-E91480584AD0}" type="presParOf" srcId="{68918955-C614-E740-A292-41AA9C57C95F}" destId="{49CE03B1-4B2B-F44B-B9E3-67A7F254A233}" srcOrd="0" destOrd="0" presId="urn:microsoft.com/office/officeart/2005/8/layout/hierarchy1#1"/>
    <dgm:cxn modelId="{633D90D0-4313-5E43-907E-A3C58D8DE916}" type="presParOf" srcId="{68918955-C614-E740-A292-41AA9C57C95F}" destId="{6901F8F7-C8B0-0943-B793-34246C3DDD5D}" srcOrd="1" destOrd="0" presId="urn:microsoft.com/office/officeart/2005/8/layout/hierarchy1#1"/>
    <dgm:cxn modelId="{317C9C8F-34C2-D943-899D-D8EB502C9CB5}" type="presParOf" srcId="{6901F8F7-C8B0-0943-B793-34246C3DDD5D}" destId="{DBE1F378-BC70-964A-A56E-2730EE5A89BA}" srcOrd="0" destOrd="0" presId="urn:microsoft.com/office/officeart/2005/8/layout/hierarchy1#1"/>
    <dgm:cxn modelId="{B2CE9BE4-55D9-904E-A9D8-A1A320849295}" type="presParOf" srcId="{DBE1F378-BC70-964A-A56E-2730EE5A89BA}" destId="{B901F53C-038B-8D48-87F2-30FB17BEF780}" srcOrd="0" destOrd="0" presId="urn:microsoft.com/office/officeart/2005/8/layout/hierarchy1#1"/>
    <dgm:cxn modelId="{F5F7831D-E50B-5641-A2F7-F96C69A11240}" type="presParOf" srcId="{DBE1F378-BC70-964A-A56E-2730EE5A89BA}" destId="{2EB8D344-1708-C840-97AC-E6A2B8BDAE1B}" srcOrd="1" destOrd="0" presId="urn:microsoft.com/office/officeart/2005/8/layout/hierarchy1#1"/>
    <dgm:cxn modelId="{33A259D7-0F96-A84C-B6A0-42CE342DCE1A}" type="presParOf" srcId="{6901F8F7-C8B0-0943-B793-34246C3DDD5D}" destId="{247E0333-06C5-4744-85CC-8D4E75248223}" srcOrd="1" destOrd="0" presId="urn:microsoft.com/office/officeart/2005/8/layout/hierarchy1#1"/>
    <dgm:cxn modelId="{783F9C8E-4348-2749-A634-FB257C91AE94}" type="presParOf" srcId="{247E0333-06C5-4744-85CC-8D4E75248223}" destId="{9018607E-A9A8-0647-8DFA-ACA6AB61BCD3}" srcOrd="0" destOrd="0" presId="urn:microsoft.com/office/officeart/2005/8/layout/hierarchy1#1"/>
    <dgm:cxn modelId="{65AA30D4-26CD-9548-A75F-CF06438C78BE}" type="presParOf" srcId="{247E0333-06C5-4744-85CC-8D4E75248223}" destId="{9ACCDFF5-D048-9F4F-B9FF-E2E9DC6647AF}" srcOrd="1" destOrd="0" presId="urn:microsoft.com/office/officeart/2005/8/layout/hierarchy1#1"/>
    <dgm:cxn modelId="{6A85CE6E-A0F7-144C-963A-6138A8EDC67F}" type="presParOf" srcId="{9ACCDFF5-D048-9F4F-B9FF-E2E9DC6647AF}" destId="{6B7D7F8E-34DD-804D-A8BB-EBFC4F0BBF38}" srcOrd="0" destOrd="0" presId="urn:microsoft.com/office/officeart/2005/8/layout/hierarchy1#1"/>
    <dgm:cxn modelId="{57FA65FA-7E09-4E41-9957-B72847A8BB4F}" type="presParOf" srcId="{6B7D7F8E-34DD-804D-A8BB-EBFC4F0BBF38}" destId="{4A80C282-B802-5048-A9FC-95D7C18876CC}" srcOrd="0" destOrd="0" presId="urn:microsoft.com/office/officeart/2005/8/layout/hierarchy1#1"/>
    <dgm:cxn modelId="{5C0388C0-ADB6-044E-B175-9C2F7E6390B1}" type="presParOf" srcId="{6B7D7F8E-34DD-804D-A8BB-EBFC4F0BBF38}" destId="{28E66324-A064-B94D-8845-382C9632E36C}" srcOrd="1" destOrd="0" presId="urn:microsoft.com/office/officeart/2005/8/layout/hierarchy1#1"/>
    <dgm:cxn modelId="{33AE6E3E-FA77-AA46-85AF-31DDA70AF63E}" type="presParOf" srcId="{9ACCDFF5-D048-9F4F-B9FF-E2E9DC6647AF}" destId="{46790F33-4BB0-D84A-820B-F7E19E609A67}" srcOrd="1" destOrd="0" presId="urn:microsoft.com/office/officeart/2005/8/layout/hierarchy1#1"/>
    <dgm:cxn modelId="{65DDFAC5-A29E-6544-BE79-17B5CF565EF7}" type="presParOf" srcId="{68918955-C614-E740-A292-41AA9C57C95F}" destId="{B3AED9A7-00A5-0844-B764-65C265308647}" srcOrd="2" destOrd="0" presId="urn:microsoft.com/office/officeart/2005/8/layout/hierarchy1#1"/>
    <dgm:cxn modelId="{9F9EF9AA-B66E-D144-A86B-D028F4F17D08}" type="presParOf" srcId="{68918955-C614-E740-A292-41AA9C57C95F}" destId="{DFC4A81C-E49D-1048-8782-74292F6E9811}" srcOrd="3" destOrd="0" presId="urn:microsoft.com/office/officeart/2005/8/layout/hierarchy1#1"/>
    <dgm:cxn modelId="{4E9BF437-09BF-754F-B97A-1B1512B36926}" type="presParOf" srcId="{DFC4A81C-E49D-1048-8782-74292F6E9811}" destId="{A63084F1-BA00-C543-AAC6-C570F9AB4627}" srcOrd="0" destOrd="0" presId="urn:microsoft.com/office/officeart/2005/8/layout/hierarchy1#1"/>
    <dgm:cxn modelId="{D83FEDB4-0471-BC48-B749-22692919BB77}" type="presParOf" srcId="{A63084F1-BA00-C543-AAC6-C570F9AB4627}" destId="{CE23E9AA-CE64-114C-9EFB-A1A04CCD0E6A}" srcOrd="0" destOrd="0" presId="urn:microsoft.com/office/officeart/2005/8/layout/hierarchy1#1"/>
    <dgm:cxn modelId="{2632AA80-2B5F-D84A-B4CD-7CCCF4611F53}" type="presParOf" srcId="{A63084F1-BA00-C543-AAC6-C570F9AB4627}" destId="{10F17935-0A92-DF45-9FB0-93E22C45C94F}" srcOrd="1" destOrd="0" presId="urn:microsoft.com/office/officeart/2005/8/layout/hierarchy1#1"/>
    <dgm:cxn modelId="{CB12AC28-D317-0441-8145-CA40A5033CDB}" type="presParOf" srcId="{DFC4A81C-E49D-1048-8782-74292F6E9811}" destId="{17F41FF5-3997-1442-95C2-35D9AE5CCC0E}" srcOrd="1" destOrd="0" presId="urn:microsoft.com/office/officeart/2005/8/layout/hierarchy1#1"/>
    <dgm:cxn modelId="{3D53E968-D2C2-5040-AB5A-4A7EAA9E5AD2}" type="presParOf" srcId="{17F41FF5-3997-1442-95C2-35D9AE5CCC0E}" destId="{43A03E71-9FAA-0241-8749-6E431B6DD71A}" srcOrd="0" destOrd="0" presId="urn:microsoft.com/office/officeart/2005/8/layout/hierarchy1#1"/>
    <dgm:cxn modelId="{03F710CC-3825-C848-8238-0638AABFB94D}" type="presParOf" srcId="{17F41FF5-3997-1442-95C2-35D9AE5CCC0E}" destId="{4ED89147-F6F9-F74A-A9B3-AD51034A5536}" srcOrd="1" destOrd="0" presId="urn:microsoft.com/office/officeart/2005/8/layout/hierarchy1#1"/>
    <dgm:cxn modelId="{EADBA4FD-D125-124E-B61F-EA50E05CC515}" type="presParOf" srcId="{4ED89147-F6F9-F74A-A9B3-AD51034A5536}" destId="{3C3F23BE-C971-7348-8B75-AA52898D8042}" srcOrd="0" destOrd="0" presId="urn:microsoft.com/office/officeart/2005/8/layout/hierarchy1#1"/>
    <dgm:cxn modelId="{1247CB46-BE68-C742-94D6-1DBA1BC9B620}" type="presParOf" srcId="{3C3F23BE-C971-7348-8B75-AA52898D8042}" destId="{74590E3B-F128-894D-89B9-9664B3E08782}" srcOrd="0" destOrd="0" presId="urn:microsoft.com/office/officeart/2005/8/layout/hierarchy1#1"/>
    <dgm:cxn modelId="{A4EFBB1B-0954-0344-80CA-8F72B36B42DF}" type="presParOf" srcId="{3C3F23BE-C971-7348-8B75-AA52898D8042}" destId="{A7D7FC0D-3EBB-F04A-936F-6D00857E6CF0}" srcOrd="1" destOrd="0" presId="urn:microsoft.com/office/officeart/2005/8/layout/hierarchy1#1"/>
    <dgm:cxn modelId="{48D7C5F0-8BD6-754B-B0E4-EF7D22C3EA32}" type="presParOf" srcId="{4ED89147-F6F9-F74A-A9B3-AD51034A5536}" destId="{907C933C-06D1-CA45-89BF-5E48ABE84705}" srcOrd="1" destOrd="0" presId="urn:microsoft.com/office/officeart/2005/8/layout/hierarchy1#1"/>
    <dgm:cxn modelId="{2DCD2010-E38A-4544-88F8-4407B0458BAF}" type="presParOf" srcId="{68918955-C614-E740-A292-41AA9C57C95F}" destId="{A7B24D29-19D2-734D-9F88-069CED06B40E}" srcOrd="4" destOrd="0" presId="urn:microsoft.com/office/officeart/2005/8/layout/hierarchy1#1"/>
    <dgm:cxn modelId="{22A62D02-A16C-144E-A312-353152C5DEBD}" type="presParOf" srcId="{68918955-C614-E740-A292-41AA9C57C95F}" destId="{271B7479-91A7-D74A-932E-DFAFE5A57383}" srcOrd="5" destOrd="0" presId="urn:microsoft.com/office/officeart/2005/8/layout/hierarchy1#1"/>
    <dgm:cxn modelId="{FF43C195-CC14-A140-87FD-B7992F17519E}" type="presParOf" srcId="{271B7479-91A7-D74A-932E-DFAFE5A57383}" destId="{54F98E33-1E84-654C-8ED4-BFFC742BF101}" srcOrd="0" destOrd="0" presId="urn:microsoft.com/office/officeart/2005/8/layout/hierarchy1#1"/>
    <dgm:cxn modelId="{920A7A17-E6C3-5843-8FB5-903D12DCF024}" type="presParOf" srcId="{54F98E33-1E84-654C-8ED4-BFFC742BF101}" destId="{29963AF3-F472-F743-ABA0-6F1B8600AB26}" srcOrd="0" destOrd="0" presId="urn:microsoft.com/office/officeart/2005/8/layout/hierarchy1#1"/>
    <dgm:cxn modelId="{44E559A4-52F8-5D44-9A91-5346D325CD50}" type="presParOf" srcId="{54F98E33-1E84-654C-8ED4-BFFC742BF101}" destId="{72BBAF1E-F528-8140-862B-F5381FC5A8C1}" srcOrd="1" destOrd="0" presId="urn:microsoft.com/office/officeart/2005/8/layout/hierarchy1#1"/>
    <dgm:cxn modelId="{06B35C41-C119-0B42-931F-E0AEF1A11818}" type="presParOf" srcId="{271B7479-91A7-D74A-932E-DFAFE5A57383}" destId="{B96976E4-6943-4243-9685-C0DC9B0D70CE}" srcOrd="1" destOrd="0" presId="urn:microsoft.com/office/officeart/2005/8/layout/hierarchy1#1"/>
    <dgm:cxn modelId="{A9B711E7-13A0-FD44-A67A-4B13F3DB624E}" type="presParOf" srcId="{B96976E4-6943-4243-9685-C0DC9B0D70CE}" destId="{D1FE5F14-8FCE-2446-99B2-CB4A0C6033E6}" srcOrd="0" destOrd="0" presId="urn:microsoft.com/office/officeart/2005/8/layout/hierarchy1#1"/>
    <dgm:cxn modelId="{6A9B476B-7DF5-9F44-A10F-6E7704214B4E}" type="presParOf" srcId="{B96976E4-6943-4243-9685-C0DC9B0D70CE}" destId="{F664D573-94DD-314B-B94E-123C932ECF24}" srcOrd="1" destOrd="0" presId="urn:microsoft.com/office/officeart/2005/8/layout/hierarchy1#1"/>
    <dgm:cxn modelId="{E411DF73-4C1D-994C-A3AD-CC2AAE872312}" type="presParOf" srcId="{F664D573-94DD-314B-B94E-123C932ECF24}" destId="{8B07ABB7-C687-864E-A8B6-5D69C34DF90D}" srcOrd="0" destOrd="0" presId="urn:microsoft.com/office/officeart/2005/8/layout/hierarchy1#1"/>
    <dgm:cxn modelId="{14CA4EC6-7299-DF4F-87A6-33B062D8D513}" type="presParOf" srcId="{8B07ABB7-C687-864E-A8B6-5D69C34DF90D}" destId="{D7936BA8-5EEA-CD4D-84D8-CEDAA50BCA18}" srcOrd="0" destOrd="0" presId="urn:microsoft.com/office/officeart/2005/8/layout/hierarchy1#1"/>
    <dgm:cxn modelId="{97CF9993-0B2D-1744-BDC3-1B428A5402B8}" type="presParOf" srcId="{8B07ABB7-C687-864E-A8B6-5D69C34DF90D}" destId="{36A3BB42-C29C-D74E-A363-D196DF5E6995}" srcOrd="1" destOrd="0" presId="urn:microsoft.com/office/officeart/2005/8/layout/hierarchy1#1"/>
    <dgm:cxn modelId="{A05D1C15-17C5-E840-9EF9-6FA138FE2F3C}" type="presParOf" srcId="{F664D573-94DD-314B-B94E-123C932ECF24}" destId="{20F5C168-207D-AB46-B2F4-DBBEA45DEE51}" srcOrd="1" destOrd="0" presId="urn:microsoft.com/office/officeart/2005/8/layout/hierarchy1#1"/>
    <dgm:cxn modelId="{072A5034-0156-EE4E-8EF2-43554A6607B5}" type="presParOf" srcId="{68918955-C614-E740-A292-41AA9C57C95F}" destId="{238EE7BE-D84C-FF43-9084-E481018C3820}" srcOrd="6" destOrd="0" presId="urn:microsoft.com/office/officeart/2005/8/layout/hierarchy1#1"/>
    <dgm:cxn modelId="{F0B71319-9FCF-3E42-AA47-6E324A363E8A}" type="presParOf" srcId="{68918955-C614-E740-A292-41AA9C57C95F}" destId="{A79F183B-2EB5-F943-B14F-D8C3DD7CCE60}" srcOrd="7" destOrd="0" presId="urn:microsoft.com/office/officeart/2005/8/layout/hierarchy1#1"/>
    <dgm:cxn modelId="{DDE7A806-7F33-8F4F-B776-F0E5F65F4C42}" type="presParOf" srcId="{A79F183B-2EB5-F943-B14F-D8C3DD7CCE60}" destId="{4B0012F5-CC04-C849-8A78-1CE0B6371907}" srcOrd="0" destOrd="0" presId="urn:microsoft.com/office/officeart/2005/8/layout/hierarchy1#1"/>
    <dgm:cxn modelId="{F0563CB6-EA8C-3E4F-A4CD-58B3CCE76F20}" type="presParOf" srcId="{4B0012F5-CC04-C849-8A78-1CE0B6371907}" destId="{9F250A1C-BBAE-8F4D-BF7B-F71054202787}" srcOrd="0" destOrd="0" presId="urn:microsoft.com/office/officeart/2005/8/layout/hierarchy1#1"/>
    <dgm:cxn modelId="{16AC37DA-16B9-974B-8C23-B570BF14D149}" type="presParOf" srcId="{4B0012F5-CC04-C849-8A78-1CE0B6371907}" destId="{873D8DA9-4AF8-6F46-B1A3-7FD00F32E8F2}" srcOrd="1" destOrd="0" presId="urn:microsoft.com/office/officeart/2005/8/layout/hierarchy1#1"/>
    <dgm:cxn modelId="{1F7A549B-279D-AB48-9307-7A1EAC2BA637}" type="presParOf" srcId="{A79F183B-2EB5-F943-B14F-D8C3DD7CCE60}" destId="{DCEA03D5-79DB-A642-9A6F-93218BBADE29}" srcOrd="1" destOrd="0" presId="urn:microsoft.com/office/officeart/2005/8/layout/hierarchy1#1"/>
    <dgm:cxn modelId="{8012E586-C424-2D44-9EF8-71580F59C4B3}" type="presParOf" srcId="{DCEA03D5-79DB-A642-9A6F-93218BBADE29}" destId="{5C39A3E3-1E81-C64B-85E7-BB125B0AA873}" srcOrd="0" destOrd="0" presId="urn:microsoft.com/office/officeart/2005/8/layout/hierarchy1#1"/>
    <dgm:cxn modelId="{7654E06E-B7F8-8743-B647-2790B3F47FBC}" type="presParOf" srcId="{DCEA03D5-79DB-A642-9A6F-93218BBADE29}" destId="{89A40CD7-7FED-A941-9E33-AD075B54B1D8}" srcOrd="1" destOrd="0" presId="urn:microsoft.com/office/officeart/2005/8/layout/hierarchy1#1"/>
    <dgm:cxn modelId="{90A20096-07C6-1142-840F-942E83F497C8}" type="presParOf" srcId="{89A40CD7-7FED-A941-9E33-AD075B54B1D8}" destId="{4345BEE6-1323-C34A-8849-A1CC2F18156F}" srcOrd="0" destOrd="0" presId="urn:microsoft.com/office/officeart/2005/8/layout/hierarchy1#1"/>
    <dgm:cxn modelId="{607D18FD-A676-7145-80DD-10E123768369}" type="presParOf" srcId="{4345BEE6-1323-C34A-8849-A1CC2F18156F}" destId="{8D0AE934-F28F-3A42-A474-6AB73EBB338E}" srcOrd="0" destOrd="0" presId="urn:microsoft.com/office/officeart/2005/8/layout/hierarchy1#1"/>
    <dgm:cxn modelId="{85EDA1FF-3FEC-BE42-BACD-A36DD5503BA6}" type="presParOf" srcId="{4345BEE6-1323-C34A-8849-A1CC2F18156F}" destId="{38742771-20A9-2E4C-AC03-ED5904507749}" srcOrd="1" destOrd="0" presId="urn:microsoft.com/office/officeart/2005/8/layout/hierarchy1#1"/>
    <dgm:cxn modelId="{968CFF6F-BB95-F941-A1CC-781C9174A75C}" type="presParOf" srcId="{89A40CD7-7FED-A941-9E33-AD075B54B1D8}" destId="{61DC5F78-B7A2-734E-A315-4B62D52CEAD1}" srcOrd="1" destOrd="0" presId="urn:microsoft.com/office/officeart/2005/8/layout/hierarchy1#1"/>
    <dgm:cxn modelId="{946863C9-2296-EB42-802A-3A7CE9B4D862}" type="presParOf" srcId="{68918955-C614-E740-A292-41AA9C57C95F}" destId="{081DB49F-22C9-F145-AFC5-62E6F772F4A6}" srcOrd="8" destOrd="0" presId="urn:microsoft.com/office/officeart/2005/8/layout/hierarchy1#1"/>
    <dgm:cxn modelId="{1AABD45D-542D-CA40-B262-C0BE253591F9}" type="presParOf" srcId="{68918955-C614-E740-A292-41AA9C57C95F}" destId="{F01977F4-343D-5047-B68F-AC3F348D56D8}" srcOrd="9" destOrd="0" presId="urn:microsoft.com/office/officeart/2005/8/layout/hierarchy1#1"/>
    <dgm:cxn modelId="{967D6AC6-4660-4E45-BB7F-C74DF196A56E}" type="presParOf" srcId="{F01977F4-343D-5047-B68F-AC3F348D56D8}" destId="{B09B6AEE-4880-C845-A710-72EECA43EA37}" srcOrd="0" destOrd="0" presId="urn:microsoft.com/office/officeart/2005/8/layout/hierarchy1#1"/>
    <dgm:cxn modelId="{7FDF10C0-2944-8345-A1B9-6EA663160606}" type="presParOf" srcId="{B09B6AEE-4880-C845-A710-72EECA43EA37}" destId="{1D032F63-1EAD-3B4B-81E3-0B9EA55CD28A}" srcOrd="0" destOrd="0" presId="urn:microsoft.com/office/officeart/2005/8/layout/hierarchy1#1"/>
    <dgm:cxn modelId="{2C04BF8B-EB27-5949-BAEE-487F35EA5987}" type="presParOf" srcId="{B09B6AEE-4880-C845-A710-72EECA43EA37}" destId="{55CB0F7C-BB3B-5C40-BFBE-8E1164035E36}" srcOrd="1" destOrd="0" presId="urn:microsoft.com/office/officeart/2005/8/layout/hierarchy1#1"/>
    <dgm:cxn modelId="{2A6FA28F-5EB1-764F-836E-0368CAD9EAE3}" type="presParOf" srcId="{F01977F4-343D-5047-B68F-AC3F348D56D8}" destId="{C05277E7-C8ED-4648-9D20-E7FE8A9C6E8C}" srcOrd="1" destOrd="0" presId="urn:microsoft.com/office/officeart/2005/8/layout/hierarchy1#1"/>
    <dgm:cxn modelId="{3C78CE60-ED34-8C43-AB9D-285580308381}" type="presParOf" srcId="{C05277E7-C8ED-4648-9D20-E7FE8A9C6E8C}" destId="{6FD25C98-61DD-6446-B61B-8FD597C16E09}" srcOrd="0" destOrd="0" presId="urn:microsoft.com/office/officeart/2005/8/layout/hierarchy1#1"/>
    <dgm:cxn modelId="{9B4AF41D-14D2-2546-9E8F-6B629FDA25A5}" type="presParOf" srcId="{C05277E7-C8ED-4648-9D20-E7FE8A9C6E8C}" destId="{351BBBFF-2ED4-0C4B-9956-CC2E69B1C79B}" srcOrd="1" destOrd="0" presId="urn:microsoft.com/office/officeart/2005/8/layout/hierarchy1#1"/>
    <dgm:cxn modelId="{89F7B686-BAE1-9A46-81F6-982FE9D90273}" type="presParOf" srcId="{351BBBFF-2ED4-0C4B-9956-CC2E69B1C79B}" destId="{FF282958-76B9-9948-B69F-99E8DEC78B8D}" srcOrd="0" destOrd="0" presId="urn:microsoft.com/office/officeart/2005/8/layout/hierarchy1#1"/>
    <dgm:cxn modelId="{53E8F8DB-959C-6D4C-8A01-E2F5B9456B64}" type="presParOf" srcId="{FF282958-76B9-9948-B69F-99E8DEC78B8D}" destId="{1BF612D8-3152-9C48-9EFC-6FE45E7F00B5}" srcOrd="0" destOrd="0" presId="urn:microsoft.com/office/officeart/2005/8/layout/hierarchy1#1"/>
    <dgm:cxn modelId="{576F257A-7378-1947-9B3C-4DD69C0142A1}" type="presParOf" srcId="{FF282958-76B9-9948-B69F-99E8DEC78B8D}" destId="{0E710799-4D9D-414C-B169-6721A567D7D4}" srcOrd="1" destOrd="0" presId="urn:microsoft.com/office/officeart/2005/8/layout/hierarchy1#1"/>
    <dgm:cxn modelId="{FE91FAC8-2B61-0647-A1C0-E25442696B2D}" type="presParOf" srcId="{351BBBFF-2ED4-0C4B-9956-CC2E69B1C79B}" destId="{86A40613-9CB3-E84F-B569-E75FFD3CF0C5}" srcOrd="1" destOrd="0" presId="urn:microsoft.com/office/officeart/2005/8/layout/hierarchy1#1"/>
  </dgm:cxnLst>
  <dgm:bg>
    <a:noFill/>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104456" cy="3744416"/>
        <a:chOff x="0" y="0"/>
        <a:chExt cx="4104456" cy="3744416"/>
      </a:xfrm>
    </dsp:grpSpPr>
    <dsp:sp modelId="{339F9593-7052-4DAB-8598-D1A1AABA8F2F}">
      <dsp:nvSpPr>
        <dsp:cNvPr id="5" name="空心弧 4"/>
        <dsp:cNvSpPr/>
      </dsp:nvSpPr>
      <dsp:spPr bwMode="white">
        <a:xfrm>
          <a:off x="321046" y="402530"/>
          <a:ext cx="3462364" cy="3462364"/>
        </a:xfrm>
        <a:prstGeom prst="blockArc">
          <a:avLst>
            <a:gd name="adj1" fmla="val 16199999"/>
            <a:gd name="adj2" fmla="val 1800000"/>
            <a:gd name="adj3" fmla="val 3962"/>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a:off x="321046" y="402530"/>
        <a:ext cx="3462364" cy="3462364"/>
      </dsp:txXfrm>
    </dsp:sp>
    <dsp:sp modelId="{25FD3752-D38E-4168-8589-953A414D280D}">
      <dsp:nvSpPr>
        <dsp:cNvPr id="7" name="空心弧 6"/>
        <dsp:cNvSpPr/>
      </dsp:nvSpPr>
      <dsp:spPr bwMode="white">
        <a:xfrm>
          <a:off x="321046" y="402530"/>
          <a:ext cx="3462364" cy="3462364"/>
        </a:xfrm>
        <a:prstGeom prst="blockArc">
          <a:avLst>
            <a:gd name="adj1" fmla="val 1800000"/>
            <a:gd name="adj2" fmla="val 9000000"/>
            <a:gd name="adj3" fmla="val 3962"/>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a:off x="321046" y="402530"/>
        <a:ext cx="3462364" cy="3462364"/>
      </dsp:txXfrm>
    </dsp:sp>
    <dsp:sp modelId="{DFA894CC-2271-4669-AD06-A8F9B85D2080}">
      <dsp:nvSpPr>
        <dsp:cNvPr id="9" name="空心弧 8"/>
        <dsp:cNvSpPr/>
      </dsp:nvSpPr>
      <dsp:spPr bwMode="white">
        <a:xfrm>
          <a:off x="321046" y="402530"/>
          <a:ext cx="3462364" cy="3462364"/>
        </a:xfrm>
        <a:prstGeom prst="blockArc">
          <a:avLst>
            <a:gd name="adj1" fmla="val 9000000"/>
            <a:gd name="adj2" fmla="val 16199999"/>
            <a:gd name="adj3" fmla="val 3962"/>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Xfrm>
        <a:off x="321046" y="402530"/>
        <a:ext cx="3462364" cy="3462364"/>
      </dsp:txXfrm>
    </dsp:sp>
    <dsp:sp modelId="{AF45673D-BABD-4429-8B05-4913C755C8A7}">
      <dsp:nvSpPr>
        <dsp:cNvPr id="3" name="椭圆 2"/>
        <dsp:cNvSpPr/>
      </dsp:nvSpPr>
      <dsp:spPr bwMode="white">
        <a:xfrm>
          <a:off x="1295592" y="1377077"/>
          <a:ext cx="1513271" cy="1513271"/>
        </a:xfrm>
        <a:prstGeom prst="ellipse">
          <a:avLst/>
        </a:prstGeom>
      </dsp:spPr>
      <dsp:style>
        <a:lnRef idx="2">
          <a:schemeClr val="lt1"/>
        </a:lnRef>
        <a:fillRef idx="1">
          <a:schemeClr val="accent1"/>
        </a:fillRef>
        <a:effectRef idx="0">
          <a:scrgbClr r="0" g="0" b="0"/>
        </a:effectRef>
        <a:fontRef idx="minor">
          <a:schemeClr val="lt1"/>
        </a:fontRef>
      </dsp:style>
      <dsp:txBody>
        <a:bodyPr lIns="30480" tIns="30480" rIns="30480"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三个</a:t>
          </a:r>
          <a:endParaRPr lang="en-US" altLang="zh-CN"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lvl="0">
            <a:lnSpc>
              <a:spcPct val="100000"/>
            </a:lnSpc>
            <a:spcBef>
              <a:spcPct val="0"/>
            </a:spcBef>
            <a:spcAft>
              <a:spcPct val="35000"/>
            </a:spcAft>
          </a:pPr>
          <a:r>
            <a:rPr lang="zh-CN" altLang="en-US" sz="24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分等级</a:t>
          </a:r>
        </a:p>
      </dsp:txBody>
      <dsp:txXfrm>
        <a:off x="1295592" y="1377077"/>
        <a:ext cx="1513271" cy="1513271"/>
      </dsp:txXfrm>
    </dsp:sp>
    <dsp:sp modelId="{A130C076-90CF-4570-8FDD-5D79D7B26CCF}">
      <dsp:nvSpPr>
        <dsp:cNvPr id="4" name="椭圆 3"/>
        <dsp:cNvSpPr/>
      </dsp:nvSpPr>
      <dsp:spPr bwMode="white">
        <a:xfrm>
          <a:off x="1522583" y="0"/>
          <a:ext cx="1059290" cy="1059290"/>
        </a:xfrm>
        <a:prstGeom prst="ellipse">
          <a:avLst/>
        </a:prstGeom>
      </dsp:spPr>
      <dsp:style>
        <a:lnRef idx="2">
          <a:schemeClr val="lt1"/>
        </a:lnRef>
        <a:fillRef idx="1">
          <a:schemeClr val="accent2"/>
        </a:fillRef>
        <a:effectRef idx="0">
          <a:scrgbClr r="0" g="0" b="0"/>
        </a:effectRef>
        <a:fontRef idx="minor">
          <a:schemeClr val="lt1"/>
        </a:fontRef>
      </dsp:style>
      <dsp:txBody>
        <a:bodyPr lIns="22860" tIns="22860" rIns="22860" bIns="2286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信息系统</a:t>
          </a:r>
        </a:p>
      </dsp:txBody>
      <dsp:txXfrm>
        <a:off x="1522583" y="0"/>
        <a:ext cx="1059290" cy="1059290"/>
      </dsp:txXfrm>
    </dsp:sp>
    <dsp:sp modelId="{538A1AF4-F455-4745-A446-4C4F17C6550F}">
      <dsp:nvSpPr>
        <dsp:cNvPr id="6" name="椭圆 5"/>
        <dsp:cNvSpPr/>
      </dsp:nvSpPr>
      <dsp:spPr bwMode="white">
        <a:xfrm>
          <a:off x="2911746" y="2406101"/>
          <a:ext cx="1059290" cy="1059290"/>
        </a:xfrm>
        <a:prstGeom prst="ellipse">
          <a:avLst/>
        </a:prstGeom>
      </dsp:spPr>
      <dsp:style>
        <a:lnRef idx="2">
          <a:schemeClr val="lt1"/>
        </a:lnRef>
        <a:fillRef idx="1">
          <a:schemeClr val="accent3"/>
        </a:fillRef>
        <a:effectRef idx="0">
          <a:scrgbClr r="0" g="0" b="0"/>
        </a:effectRef>
        <a:fontRef idx="minor">
          <a:schemeClr val="lt1"/>
        </a:fontRef>
      </dsp:style>
      <dsp:txBody>
        <a:bodyPr lIns="22860" tIns="22860" rIns="22860" bIns="2286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安全产品</a:t>
          </a:r>
        </a:p>
      </dsp:txBody>
      <dsp:txXfrm>
        <a:off x="2911746" y="2406101"/>
        <a:ext cx="1059290" cy="1059290"/>
      </dsp:txXfrm>
    </dsp:sp>
    <dsp:sp modelId="{14AA6C5A-96C5-4FF9-8A33-60A7AB4EF955}">
      <dsp:nvSpPr>
        <dsp:cNvPr id="8" name="椭圆 7"/>
        <dsp:cNvSpPr/>
      </dsp:nvSpPr>
      <dsp:spPr bwMode="white">
        <a:xfrm>
          <a:off x="133420" y="2406101"/>
          <a:ext cx="1059290" cy="1059290"/>
        </a:xfrm>
        <a:prstGeom prst="ellipse">
          <a:avLst/>
        </a:prstGeom>
      </dsp:spPr>
      <dsp:style>
        <a:lnRef idx="2">
          <a:schemeClr val="lt1"/>
        </a:lnRef>
        <a:fillRef idx="1">
          <a:schemeClr val="accent4"/>
        </a:fillRef>
        <a:effectRef idx="0">
          <a:scrgbClr r="0" g="0" b="0"/>
        </a:effectRef>
        <a:fontRef idx="minor">
          <a:schemeClr val="lt1"/>
        </a:fontRef>
      </dsp:style>
      <dsp:txBody>
        <a:bodyPr lIns="22860" tIns="22860" rIns="22860" bIns="2286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nSpc>
              <a:spcPct val="100000"/>
            </a:lnSpc>
            <a:spcBef>
              <a:spcPct val="0"/>
            </a:spcBef>
            <a:spcAft>
              <a:spcPct val="35000"/>
            </a:spcAft>
          </a:pPr>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安全事件</a:t>
          </a:r>
        </a:p>
      </dsp:txBody>
      <dsp:txXfrm>
        <a:off x="133420" y="2406101"/>
        <a:ext cx="1059290" cy="105929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2034837" cy="5962409"/>
        <a:chOff x="0" y="0"/>
        <a:chExt cx="12034837" cy="5962409"/>
      </a:xfrm>
    </dsp:grpSpPr>
    <dsp:sp modelId="{3211C32F-121C-0F4B-BCA0-D810766E2B4C}">
      <dsp:nvSpPr>
        <dsp:cNvPr id="5" name="任意多边形 4"/>
        <dsp:cNvSpPr/>
      </dsp:nvSpPr>
      <dsp:spPr bwMode="white">
        <a:xfrm>
          <a:off x="2947191" y="974923"/>
          <a:ext cx="2936981" cy="239274"/>
        </a:xfrm>
        <a:custGeom>
          <a:avLst/>
          <a:gdLst/>
          <a:ahLst/>
          <a:cxnLst/>
          <a:pathLst>
            <a:path w="4625" h="377">
              <a:moveTo>
                <a:pt x="4625" y="0"/>
              </a:moveTo>
              <a:lnTo>
                <a:pt x="4625" y="117"/>
              </a:lnTo>
              <a:lnTo>
                <a:pt x="0" y="117"/>
              </a:lnTo>
              <a:lnTo>
                <a:pt x="0" y="377"/>
              </a:lnTo>
            </a:path>
          </a:pathLst>
        </a:custGeom>
      </dsp:spPr>
      <dsp:style>
        <a:lnRef idx="2">
          <a:schemeClr val="accent2"/>
        </a:lnRef>
        <a:fillRef idx="0">
          <a:schemeClr val="accent3">
            <a:tint val="90000"/>
          </a:schemeClr>
        </a:fillRef>
        <a:effectRef idx="0">
          <a:scrgbClr r="0" g="0" b="0"/>
        </a:effectRef>
        <a:fontRef idx="minor"/>
      </dsp:style>
      <dsp:txXfrm>
        <a:off x="2947191" y="974923"/>
        <a:ext cx="2936981" cy="239274"/>
      </dsp:txXfrm>
    </dsp:sp>
    <dsp:sp modelId="{88492A7D-53F2-A54A-82FA-0C5DA8E83BDA}">
      <dsp:nvSpPr>
        <dsp:cNvPr id="8" name="任意多边形 7"/>
        <dsp:cNvSpPr/>
      </dsp:nvSpPr>
      <dsp:spPr bwMode="white">
        <a:xfrm>
          <a:off x="587462" y="1736624"/>
          <a:ext cx="2359728" cy="239274"/>
        </a:xfrm>
        <a:custGeom>
          <a:avLst/>
          <a:gdLst/>
          <a:ahLst/>
          <a:cxnLst/>
          <a:pathLst>
            <a:path w="3716" h="377">
              <a:moveTo>
                <a:pt x="3716" y="0"/>
              </a:moveTo>
              <a:lnTo>
                <a:pt x="3716" y="117"/>
              </a:lnTo>
              <a:lnTo>
                <a:pt x="0" y="117"/>
              </a:lnTo>
              <a:lnTo>
                <a:pt x="0" y="377"/>
              </a:lnTo>
            </a:path>
          </a:pathLst>
        </a:custGeom>
      </dsp:spPr>
      <dsp:style>
        <a:lnRef idx="2">
          <a:schemeClr val="accent3"/>
        </a:lnRef>
        <a:fillRef idx="0">
          <a:schemeClr val="accent4">
            <a:tint val="70000"/>
          </a:schemeClr>
        </a:fillRef>
        <a:effectRef idx="0">
          <a:scrgbClr r="0" g="0" b="0"/>
        </a:effectRef>
        <a:fontRef idx="minor"/>
      </dsp:style>
      <dsp:txXfrm>
        <a:off x="587462" y="1736624"/>
        <a:ext cx="2359728" cy="239274"/>
      </dsp:txXfrm>
    </dsp:sp>
    <dsp:sp modelId="{81A7369C-7C9D-1C46-AFD6-4076FCE128AE}">
      <dsp:nvSpPr>
        <dsp:cNvPr id="11" name="任意多边形 10"/>
        <dsp:cNvSpPr/>
      </dsp:nvSpPr>
      <dsp:spPr bwMode="white">
        <a:xfrm>
          <a:off x="587462" y="2498325"/>
          <a:ext cx="0" cy="239274"/>
        </a:xfrm>
        <a:custGeom>
          <a:avLst/>
          <a:gdLst/>
          <a:ahLst/>
          <a:cxnLst/>
          <a:pathLst>
            <a:path h="377">
              <a:moveTo>
                <a:pt x="0" y="0"/>
              </a:moveTo>
              <a:lnTo>
                <a:pt x="0" y="117"/>
              </a:lnTo>
              <a:lnTo>
                <a:pt x="0" y="117"/>
              </a:lnTo>
              <a:lnTo>
                <a:pt x="0" y="377"/>
              </a:lnTo>
            </a:path>
          </a:pathLst>
        </a:custGeom>
      </dsp:spPr>
      <dsp:style>
        <a:lnRef idx="2">
          <a:schemeClr val="accent4"/>
        </a:lnRef>
        <a:fillRef idx="0">
          <a:schemeClr val="accent5">
            <a:tint val="50000"/>
          </a:schemeClr>
        </a:fillRef>
        <a:effectRef idx="0">
          <a:scrgbClr r="0" g="0" b="0"/>
        </a:effectRef>
        <a:fontRef idx="minor"/>
      </dsp:style>
      <dsp:txXfrm>
        <a:off x="587462" y="2498325"/>
        <a:ext cx="0" cy="239274"/>
      </dsp:txXfrm>
    </dsp:sp>
    <dsp:sp modelId="{9359DA8E-890E-D44F-8173-7CF211AD8ADF}">
      <dsp:nvSpPr>
        <dsp:cNvPr id="14" name="任意多边形 13"/>
        <dsp:cNvSpPr/>
      </dsp:nvSpPr>
      <dsp:spPr bwMode="white">
        <a:xfrm>
          <a:off x="1769111" y="1736624"/>
          <a:ext cx="1178080" cy="239274"/>
        </a:xfrm>
        <a:custGeom>
          <a:avLst/>
          <a:gdLst/>
          <a:ahLst/>
          <a:cxnLst/>
          <a:pathLst>
            <a:path w="1855" h="377">
              <a:moveTo>
                <a:pt x="1855" y="0"/>
              </a:moveTo>
              <a:lnTo>
                <a:pt x="1855" y="117"/>
              </a:lnTo>
              <a:lnTo>
                <a:pt x="0" y="117"/>
              </a:lnTo>
              <a:lnTo>
                <a:pt x="0" y="377"/>
              </a:lnTo>
            </a:path>
          </a:pathLst>
        </a:custGeom>
      </dsp:spPr>
      <dsp:style>
        <a:lnRef idx="2">
          <a:schemeClr val="accent3"/>
        </a:lnRef>
        <a:fillRef idx="0">
          <a:schemeClr val="accent4">
            <a:tint val="70000"/>
          </a:schemeClr>
        </a:fillRef>
        <a:effectRef idx="0">
          <a:scrgbClr r="0" g="0" b="0"/>
        </a:effectRef>
        <a:fontRef idx="minor"/>
      </dsp:style>
      <dsp:txXfrm>
        <a:off x="1769111" y="1736624"/>
        <a:ext cx="1178080" cy="239274"/>
      </dsp:txXfrm>
    </dsp:sp>
    <dsp:sp modelId="{9D990122-54E6-9B4D-9732-3EC73C3ED7A9}">
      <dsp:nvSpPr>
        <dsp:cNvPr id="17" name="任意多边形 16"/>
        <dsp:cNvSpPr/>
      </dsp:nvSpPr>
      <dsp:spPr bwMode="white">
        <a:xfrm>
          <a:off x="1769111" y="2498325"/>
          <a:ext cx="0" cy="239274"/>
        </a:xfrm>
        <a:custGeom>
          <a:avLst/>
          <a:gdLst/>
          <a:ahLst/>
          <a:cxnLst/>
          <a:pathLst>
            <a:path h="377">
              <a:moveTo>
                <a:pt x="0" y="0"/>
              </a:moveTo>
              <a:lnTo>
                <a:pt x="0" y="117"/>
              </a:lnTo>
              <a:lnTo>
                <a:pt x="0" y="117"/>
              </a:lnTo>
              <a:lnTo>
                <a:pt x="0" y="377"/>
              </a:lnTo>
            </a:path>
          </a:pathLst>
        </a:custGeom>
      </dsp:spPr>
      <dsp:style>
        <a:lnRef idx="2">
          <a:schemeClr val="accent4"/>
        </a:lnRef>
        <a:fillRef idx="0">
          <a:schemeClr val="accent5">
            <a:tint val="50000"/>
          </a:schemeClr>
        </a:fillRef>
        <a:effectRef idx="0">
          <a:scrgbClr r="0" g="0" b="0"/>
        </a:effectRef>
        <a:fontRef idx="minor"/>
      </dsp:style>
      <dsp:txXfrm>
        <a:off x="1769111" y="2498325"/>
        <a:ext cx="0" cy="239274"/>
      </dsp:txXfrm>
    </dsp:sp>
    <dsp:sp modelId="{05B7D4B6-E1B0-7C41-BEE2-CD9D092C6E51}">
      <dsp:nvSpPr>
        <dsp:cNvPr id="20" name="任意多边形 19"/>
        <dsp:cNvSpPr/>
      </dsp:nvSpPr>
      <dsp:spPr bwMode="white">
        <a:xfrm>
          <a:off x="2947191" y="1736624"/>
          <a:ext cx="2544" cy="239274"/>
        </a:xfrm>
        <a:custGeom>
          <a:avLst/>
          <a:gdLst/>
          <a:ahLst/>
          <a:cxnLst/>
          <a:pathLst>
            <a:path w="4" h="377">
              <a:moveTo>
                <a:pt x="0" y="0"/>
              </a:moveTo>
              <a:lnTo>
                <a:pt x="0" y="117"/>
              </a:lnTo>
              <a:lnTo>
                <a:pt x="4" y="117"/>
              </a:lnTo>
              <a:lnTo>
                <a:pt x="4" y="377"/>
              </a:lnTo>
            </a:path>
          </a:pathLst>
        </a:custGeom>
      </dsp:spPr>
      <dsp:style>
        <a:lnRef idx="2">
          <a:schemeClr val="accent3"/>
        </a:lnRef>
        <a:fillRef idx="0">
          <a:schemeClr val="accent4">
            <a:tint val="70000"/>
          </a:schemeClr>
        </a:fillRef>
        <a:effectRef idx="0">
          <a:scrgbClr r="0" g="0" b="0"/>
        </a:effectRef>
        <a:fontRef idx="minor"/>
      </dsp:style>
      <dsp:txXfrm>
        <a:off x="2947191" y="1736624"/>
        <a:ext cx="2544" cy="239274"/>
      </dsp:txXfrm>
    </dsp:sp>
    <dsp:sp modelId="{DCA5EAE3-97A8-6248-BE67-8FB3A62C9716}">
      <dsp:nvSpPr>
        <dsp:cNvPr id="23" name="任意多边形 22"/>
        <dsp:cNvSpPr/>
      </dsp:nvSpPr>
      <dsp:spPr bwMode="white">
        <a:xfrm>
          <a:off x="2949735" y="2498325"/>
          <a:ext cx="0" cy="239274"/>
        </a:xfrm>
        <a:custGeom>
          <a:avLst/>
          <a:gdLst/>
          <a:ahLst/>
          <a:cxnLst/>
          <a:pathLst>
            <a:path h="377">
              <a:moveTo>
                <a:pt x="0" y="0"/>
              </a:moveTo>
              <a:lnTo>
                <a:pt x="0" y="117"/>
              </a:lnTo>
              <a:lnTo>
                <a:pt x="0" y="117"/>
              </a:lnTo>
              <a:lnTo>
                <a:pt x="0" y="377"/>
              </a:lnTo>
            </a:path>
          </a:pathLst>
        </a:custGeom>
      </dsp:spPr>
      <dsp:style>
        <a:lnRef idx="2">
          <a:schemeClr val="accent4"/>
        </a:lnRef>
        <a:fillRef idx="0">
          <a:schemeClr val="accent5">
            <a:tint val="50000"/>
          </a:schemeClr>
        </a:fillRef>
        <a:effectRef idx="0">
          <a:scrgbClr r="0" g="0" b="0"/>
        </a:effectRef>
        <a:fontRef idx="minor"/>
      </dsp:style>
      <dsp:txXfrm>
        <a:off x="2949735" y="2498325"/>
        <a:ext cx="0" cy="239274"/>
      </dsp:txXfrm>
    </dsp:sp>
    <dsp:sp modelId="{7F507F57-FD4C-0F41-AFD3-12AC08AEBB17}">
      <dsp:nvSpPr>
        <dsp:cNvPr id="26" name="任意多边形 25"/>
        <dsp:cNvSpPr/>
      </dsp:nvSpPr>
      <dsp:spPr bwMode="white">
        <a:xfrm>
          <a:off x="2947191" y="1736624"/>
          <a:ext cx="1194863" cy="239274"/>
        </a:xfrm>
        <a:custGeom>
          <a:avLst/>
          <a:gdLst/>
          <a:ahLst/>
          <a:cxnLst/>
          <a:pathLst>
            <a:path w="1882" h="377">
              <a:moveTo>
                <a:pt x="0" y="0"/>
              </a:moveTo>
              <a:lnTo>
                <a:pt x="0" y="117"/>
              </a:lnTo>
              <a:lnTo>
                <a:pt x="1882" y="117"/>
              </a:lnTo>
              <a:lnTo>
                <a:pt x="1882" y="377"/>
              </a:lnTo>
            </a:path>
          </a:pathLst>
        </a:custGeom>
      </dsp:spPr>
      <dsp:style>
        <a:lnRef idx="2">
          <a:schemeClr val="accent3"/>
        </a:lnRef>
        <a:fillRef idx="0">
          <a:schemeClr val="accent4">
            <a:tint val="70000"/>
          </a:schemeClr>
        </a:fillRef>
        <a:effectRef idx="0">
          <a:scrgbClr r="0" g="0" b="0"/>
        </a:effectRef>
        <a:fontRef idx="minor"/>
      </dsp:style>
      <dsp:txXfrm>
        <a:off x="2947191" y="1736624"/>
        <a:ext cx="1194863" cy="239274"/>
      </dsp:txXfrm>
    </dsp:sp>
    <dsp:sp modelId="{785B3B41-B988-0448-B678-67FCAB41A61B}">
      <dsp:nvSpPr>
        <dsp:cNvPr id="29" name="任意多边形 28"/>
        <dsp:cNvSpPr/>
      </dsp:nvSpPr>
      <dsp:spPr bwMode="white">
        <a:xfrm>
          <a:off x="4142054" y="2498325"/>
          <a:ext cx="0" cy="239274"/>
        </a:xfrm>
        <a:custGeom>
          <a:avLst/>
          <a:gdLst/>
          <a:ahLst/>
          <a:cxnLst/>
          <a:pathLst>
            <a:path h="377">
              <a:moveTo>
                <a:pt x="0" y="0"/>
              </a:moveTo>
              <a:lnTo>
                <a:pt x="0" y="377"/>
              </a:lnTo>
            </a:path>
          </a:pathLst>
        </a:custGeom>
      </dsp:spPr>
      <dsp:style>
        <a:lnRef idx="2">
          <a:schemeClr val="accent4"/>
        </a:lnRef>
        <a:fillRef idx="0">
          <a:schemeClr val="accent5">
            <a:tint val="50000"/>
          </a:schemeClr>
        </a:fillRef>
        <a:effectRef idx="0">
          <a:scrgbClr r="0" g="0" b="0"/>
        </a:effectRef>
        <a:fontRef idx="minor"/>
      </dsp:style>
      <dsp:txXfrm>
        <a:off x="4142054" y="2498325"/>
        <a:ext cx="0" cy="239274"/>
      </dsp:txXfrm>
    </dsp:sp>
    <dsp:sp modelId="{065FE762-9A9E-8142-9A32-A2158A2DE6B3}">
      <dsp:nvSpPr>
        <dsp:cNvPr id="32" name="任意多边形 31"/>
        <dsp:cNvSpPr/>
      </dsp:nvSpPr>
      <dsp:spPr bwMode="white">
        <a:xfrm>
          <a:off x="2947191" y="1736624"/>
          <a:ext cx="2359757" cy="239274"/>
        </a:xfrm>
        <a:custGeom>
          <a:avLst/>
          <a:gdLst/>
          <a:ahLst/>
          <a:cxnLst/>
          <a:pathLst>
            <a:path w="3716" h="377">
              <a:moveTo>
                <a:pt x="0" y="0"/>
              </a:moveTo>
              <a:lnTo>
                <a:pt x="0" y="117"/>
              </a:lnTo>
              <a:lnTo>
                <a:pt x="3716" y="117"/>
              </a:lnTo>
              <a:lnTo>
                <a:pt x="3716" y="377"/>
              </a:lnTo>
            </a:path>
          </a:pathLst>
        </a:custGeom>
      </dsp:spPr>
      <dsp:style>
        <a:lnRef idx="2">
          <a:schemeClr val="accent3"/>
        </a:lnRef>
        <a:fillRef idx="0">
          <a:schemeClr val="accent4">
            <a:tint val="70000"/>
          </a:schemeClr>
        </a:fillRef>
        <a:effectRef idx="0">
          <a:scrgbClr r="0" g="0" b="0"/>
        </a:effectRef>
        <a:fontRef idx="minor"/>
      </dsp:style>
      <dsp:txXfrm>
        <a:off x="2947191" y="1736624"/>
        <a:ext cx="2359757" cy="239274"/>
      </dsp:txXfrm>
    </dsp:sp>
    <dsp:sp modelId="{2A0908C8-3067-2042-BEE0-47247E267690}">
      <dsp:nvSpPr>
        <dsp:cNvPr id="35" name="任意多边形 34"/>
        <dsp:cNvSpPr/>
      </dsp:nvSpPr>
      <dsp:spPr bwMode="white">
        <a:xfrm>
          <a:off x="5306948" y="2498325"/>
          <a:ext cx="0" cy="239274"/>
        </a:xfrm>
        <a:custGeom>
          <a:avLst/>
          <a:gdLst/>
          <a:ahLst/>
          <a:cxnLst/>
          <a:pathLst>
            <a:path h="377">
              <a:moveTo>
                <a:pt x="0" y="0"/>
              </a:moveTo>
              <a:lnTo>
                <a:pt x="0" y="117"/>
              </a:lnTo>
              <a:lnTo>
                <a:pt x="0" y="117"/>
              </a:lnTo>
              <a:lnTo>
                <a:pt x="0" y="377"/>
              </a:lnTo>
            </a:path>
          </a:pathLst>
        </a:custGeom>
      </dsp:spPr>
      <dsp:style>
        <a:lnRef idx="2">
          <a:schemeClr val="accent4"/>
        </a:lnRef>
        <a:fillRef idx="0">
          <a:schemeClr val="accent5">
            <a:tint val="50000"/>
          </a:schemeClr>
        </a:fillRef>
        <a:effectRef idx="0">
          <a:scrgbClr r="0" g="0" b="0"/>
        </a:effectRef>
        <a:fontRef idx="minor"/>
      </dsp:style>
      <dsp:txXfrm>
        <a:off x="5306948" y="2498325"/>
        <a:ext cx="0" cy="239274"/>
      </dsp:txXfrm>
    </dsp:sp>
    <dsp:sp modelId="{28CEE385-34CB-2341-BA99-605298BF3098}">
      <dsp:nvSpPr>
        <dsp:cNvPr id="38" name="任意多边形 37"/>
        <dsp:cNvSpPr/>
      </dsp:nvSpPr>
      <dsp:spPr bwMode="white">
        <a:xfrm>
          <a:off x="5884172" y="974923"/>
          <a:ext cx="2994662" cy="239274"/>
        </a:xfrm>
        <a:custGeom>
          <a:avLst/>
          <a:gdLst/>
          <a:ahLst/>
          <a:cxnLst/>
          <a:pathLst>
            <a:path w="4716" h="377">
              <a:moveTo>
                <a:pt x="0" y="0"/>
              </a:moveTo>
              <a:lnTo>
                <a:pt x="0" y="117"/>
              </a:lnTo>
              <a:lnTo>
                <a:pt x="4716" y="117"/>
              </a:lnTo>
              <a:lnTo>
                <a:pt x="4716" y="377"/>
              </a:lnTo>
            </a:path>
          </a:pathLst>
        </a:custGeom>
      </dsp:spPr>
      <dsp:style>
        <a:lnRef idx="2">
          <a:schemeClr val="accent2"/>
        </a:lnRef>
        <a:fillRef idx="0">
          <a:schemeClr val="accent3">
            <a:tint val="90000"/>
          </a:schemeClr>
        </a:fillRef>
        <a:effectRef idx="0">
          <a:scrgbClr r="0" g="0" b="0"/>
        </a:effectRef>
        <a:fontRef idx="minor"/>
      </dsp:style>
      <dsp:txXfrm>
        <a:off x="5884172" y="974923"/>
        <a:ext cx="2994662" cy="239274"/>
      </dsp:txXfrm>
    </dsp:sp>
    <dsp:sp modelId="{49CE03B1-4B2B-F44B-B9E3-67A7F254A233}">
      <dsp:nvSpPr>
        <dsp:cNvPr id="41" name="任意多边形 40"/>
        <dsp:cNvSpPr/>
      </dsp:nvSpPr>
      <dsp:spPr bwMode="white">
        <a:xfrm>
          <a:off x="6411421" y="1736624"/>
          <a:ext cx="2467412" cy="239274"/>
        </a:xfrm>
        <a:custGeom>
          <a:avLst/>
          <a:gdLst/>
          <a:ahLst/>
          <a:cxnLst/>
          <a:pathLst>
            <a:path w="3886" h="377">
              <a:moveTo>
                <a:pt x="3886" y="0"/>
              </a:moveTo>
              <a:lnTo>
                <a:pt x="3886" y="117"/>
              </a:lnTo>
              <a:lnTo>
                <a:pt x="0" y="117"/>
              </a:lnTo>
              <a:lnTo>
                <a:pt x="0" y="377"/>
              </a:lnTo>
            </a:path>
          </a:pathLst>
        </a:custGeom>
      </dsp:spPr>
      <dsp:style>
        <a:lnRef idx="2">
          <a:schemeClr val="accent3"/>
        </a:lnRef>
        <a:fillRef idx="0">
          <a:schemeClr val="accent4">
            <a:tint val="70000"/>
          </a:schemeClr>
        </a:fillRef>
        <a:effectRef idx="0">
          <a:scrgbClr r="0" g="0" b="0"/>
        </a:effectRef>
        <a:fontRef idx="minor"/>
      </dsp:style>
      <dsp:txXfrm>
        <a:off x="6411421" y="1736624"/>
        <a:ext cx="2467412" cy="239274"/>
      </dsp:txXfrm>
    </dsp:sp>
    <dsp:sp modelId="{9018607E-A9A8-0647-8DFA-ACA6AB61BCD3}">
      <dsp:nvSpPr>
        <dsp:cNvPr id="44" name="任意多边形 43"/>
        <dsp:cNvSpPr/>
      </dsp:nvSpPr>
      <dsp:spPr bwMode="white">
        <a:xfrm>
          <a:off x="6411421" y="2498325"/>
          <a:ext cx="0" cy="239274"/>
        </a:xfrm>
        <a:custGeom>
          <a:avLst/>
          <a:gdLst/>
          <a:ahLst/>
          <a:cxnLst/>
          <a:pathLst>
            <a:path h="377">
              <a:moveTo>
                <a:pt x="0" y="0"/>
              </a:moveTo>
              <a:lnTo>
                <a:pt x="0" y="377"/>
              </a:lnTo>
            </a:path>
          </a:pathLst>
        </a:custGeom>
      </dsp:spPr>
      <dsp:style>
        <a:lnRef idx="2">
          <a:schemeClr val="accent4"/>
        </a:lnRef>
        <a:fillRef idx="0">
          <a:schemeClr val="accent5">
            <a:tint val="50000"/>
          </a:schemeClr>
        </a:fillRef>
        <a:effectRef idx="0">
          <a:scrgbClr r="0" g="0" b="0"/>
        </a:effectRef>
        <a:fontRef idx="minor"/>
      </dsp:style>
      <dsp:txXfrm>
        <a:off x="6411421" y="2498325"/>
        <a:ext cx="0" cy="239274"/>
      </dsp:txXfrm>
    </dsp:sp>
    <dsp:sp modelId="{B3AED9A7-00A5-0844-B764-65C265308647}">
      <dsp:nvSpPr>
        <dsp:cNvPr id="47" name="任意多边形 46"/>
        <dsp:cNvSpPr/>
      </dsp:nvSpPr>
      <dsp:spPr bwMode="white">
        <a:xfrm>
          <a:off x="7542489" y="1736624"/>
          <a:ext cx="1336344" cy="239274"/>
        </a:xfrm>
        <a:custGeom>
          <a:avLst/>
          <a:gdLst/>
          <a:ahLst/>
          <a:cxnLst/>
          <a:pathLst>
            <a:path w="2104" h="377">
              <a:moveTo>
                <a:pt x="2104" y="0"/>
              </a:moveTo>
              <a:lnTo>
                <a:pt x="2104" y="117"/>
              </a:lnTo>
              <a:lnTo>
                <a:pt x="0" y="117"/>
              </a:lnTo>
              <a:lnTo>
                <a:pt x="0" y="377"/>
              </a:lnTo>
            </a:path>
          </a:pathLst>
        </a:custGeom>
      </dsp:spPr>
      <dsp:style>
        <a:lnRef idx="2">
          <a:schemeClr val="accent3"/>
        </a:lnRef>
        <a:fillRef idx="0">
          <a:schemeClr val="accent4">
            <a:tint val="70000"/>
          </a:schemeClr>
        </a:fillRef>
        <a:effectRef idx="0">
          <a:scrgbClr r="0" g="0" b="0"/>
        </a:effectRef>
        <a:fontRef idx="minor"/>
      </dsp:style>
      <dsp:txXfrm>
        <a:off x="7542489" y="1736624"/>
        <a:ext cx="1336344" cy="239274"/>
      </dsp:txXfrm>
    </dsp:sp>
    <dsp:sp modelId="{43A03E71-9FAA-0241-8749-6E431B6DD71A}">
      <dsp:nvSpPr>
        <dsp:cNvPr id="50" name="任意多边形 49"/>
        <dsp:cNvSpPr/>
      </dsp:nvSpPr>
      <dsp:spPr bwMode="white">
        <a:xfrm>
          <a:off x="7542489" y="2498325"/>
          <a:ext cx="0" cy="239274"/>
        </a:xfrm>
        <a:custGeom>
          <a:avLst/>
          <a:gdLst/>
          <a:ahLst/>
          <a:cxnLst/>
          <a:pathLst>
            <a:path h="377">
              <a:moveTo>
                <a:pt x="0" y="0"/>
              </a:moveTo>
              <a:lnTo>
                <a:pt x="0" y="117"/>
              </a:lnTo>
              <a:lnTo>
                <a:pt x="0" y="117"/>
              </a:lnTo>
              <a:lnTo>
                <a:pt x="0" y="377"/>
              </a:lnTo>
            </a:path>
          </a:pathLst>
        </a:custGeom>
      </dsp:spPr>
      <dsp:style>
        <a:lnRef idx="2">
          <a:schemeClr val="accent4"/>
        </a:lnRef>
        <a:fillRef idx="0">
          <a:schemeClr val="accent5">
            <a:tint val="50000"/>
          </a:schemeClr>
        </a:fillRef>
        <a:effectRef idx="0">
          <a:scrgbClr r="0" g="0" b="0"/>
        </a:effectRef>
        <a:fontRef idx="minor"/>
      </dsp:style>
      <dsp:txXfrm>
        <a:off x="7542489" y="2498325"/>
        <a:ext cx="0" cy="239274"/>
      </dsp:txXfrm>
    </dsp:sp>
    <dsp:sp modelId="{A7B24D29-19D2-734D-9F88-069CED06B40E}">
      <dsp:nvSpPr>
        <dsp:cNvPr id="53" name="任意多边形 52"/>
        <dsp:cNvSpPr/>
      </dsp:nvSpPr>
      <dsp:spPr bwMode="white">
        <a:xfrm>
          <a:off x="8678764" y="1736624"/>
          <a:ext cx="200069" cy="239274"/>
        </a:xfrm>
        <a:custGeom>
          <a:avLst/>
          <a:gdLst/>
          <a:ahLst/>
          <a:cxnLst/>
          <a:pathLst>
            <a:path w="315" h="377">
              <a:moveTo>
                <a:pt x="315" y="0"/>
              </a:moveTo>
              <a:lnTo>
                <a:pt x="315" y="117"/>
              </a:lnTo>
              <a:lnTo>
                <a:pt x="0" y="117"/>
              </a:lnTo>
              <a:lnTo>
                <a:pt x="0" y="377"/>
              </a:lnTo>
            </a:path>
          </a:pathLst>
        </a:custGeom>
      </dsp:spPr>
      <dsp:style>
        <a:lnRef idx="2">
          <a:schemeClr val="accent3"/>
        </a:lnRef>
        <a:fillRef idx="0">
          <a:schemeClr val="accent4">
            <a:tint val="70000"/>
          </a:schemeClr>
        </a:fillRef>
        <a:effectRef idx="0">
          <a:scrgbClr r="0" g="0" b="0"/>
        </a:effectRef>
        <a:fontRef idx="minor"/>
      </dsp:style>
      <dsp:txXfrm>
        <a:off x="8678764" y="1736624"/>
        <a:ext cx="200069" cy="239274"/>
      </dsp:txXfrm>
    </dsp:sp>
    <dsp:sp modelId="{D1FE5F14-8FCE-2446-99B2-CB4A0C6033E6}">
      <dsp:nvSpPr>
        <dsp:cNvPr id="56" name="任意多边形 55"/>
        <dsp:cNvSpPr/>
      </dsp:nvSpPr>
      <dsp:spPr bwMode="white">
        <a:xfrm>
          <a:off x="8678764" y="2498325"/>
          <a:ext cx="0" cy="239274"/>
        </a:xfrm>
        <a:custGeom>
          <a:avLst/>
          <a:gdLst/>
          <a:ahLst/>
          <a:cxnLst/>
          <a:pathLst>
            <a:path h="377">
              <a:moveTo>
                <a:pt x="0" y="0"/>
              </a:moveTo>
              <a:lnTo>
                <a:pt x="0" y="377"/>
              </a:lnTo>
            </a:path>
          </a:pathLst>
        </a:custGeom>
      </dsp:spPr>
      <dsp:style>
        <a:lnRef idx="2">
          <a:schemeClr val="accent4"/>
        </a:lnRef>
        <a:fillRef idx="0">
          <a:schemeClr val="accent5">
            <a:tint val="50000"/>
          </a:schemeClr>
        </a:fillRef>
        <a:effectRef idx="0">
          <a:scrgbClr r="0" g="0" b="0"/>
        </a:effectRef>
        <a:fontRef idx="minor"/>
      </dsp:style>
      <dsp:txXfrm>
        <a:off x="8678764" y="2498325"/>
        <a:ext cx="0" cy="239274"/>
      </dsp:txXfrm>
    </dsp:sp>
    <dsp:sp modelId="{238EE7BE-D84C-FF43-9084-E481018C3820}">
      <dsp:nvSpPr>
        <dsp:cNvPr id="59" name="任意多边形 58"/>
        <dsp:cNvSpPr/>
      </dsp:nvSpPr>
      <dsp:spPr bwMode="white">
        <a:xfrm>
          <a:off x="8878833" y="1736624"/>
          <a:ext cx="1016121" cy="239274"/>
        </a:xfrm>
        <a:custGeom>
          <a:avLst/>
          <a:gdLst/>
          <a:ahLst/>
          <a:cxnLst/>
          <a:pathLst>
            <a:path w="1600" h="377">
              <a:moveTo>
                <a:pt x="0" y="0"/>
              </a:moveTo>
              <a:lnTo>
                <a:pt x="0" y="117"/>
              </a:lnTo>
              <a:lnTo>
                <a:pt x="1600" y="117"/>
              </a:lnTo>
              <a:lnTo>
                <a:pt x="1600" y="377"/>
              </a:lnTo>
            </a:path>
          </a:pathLst>
        </a:custGeom>
      </dsp:spPr>
      <dsp:style>
        <a:lnRef idx="2">
          <a:schemeClr val="accent3"/>
        </a:lnRef>
        <a:fillRef idx="0">
          <a:schemeClr val="accent4">
            <a:tint val="70000"/>
          </a:schemeClr>
        </a:fillRef>
        <a:effectRef idx="0">
          <a:scrgbClr r="0" g="0" b="0"/>
        </a:effectRef>
        <a:fontRef idx="minor"/>
      </dsp:style>
      <dsp:txXfrm>
        <a:off x="8878833" y="1736624"/>
        <a:ext cx="1016121" cy="239274"/>
      </dsp:txXfrm>
    </dsp:sp>
    <dsp:sp modelId="{5C39A3E3-1E81-C64B-85E7-BB125B0AA873}">
      <dsp:nvSpPr>
        <dsp:cNvPr id="62" name="任意多边形 61"/>
        <dsp:cNvSpPr/>
      </dsp:nvSpPr>
      <dsp:spPr bwMode="white">
        <a:xfrm>
          <a:off x="9894955" y="2498325"/>
          <a:ext cx="0" cy="239274"/>
        </a:xfrm>
        <a:custGeom>
          <a:avLst/>
          <a:gdLst/>
          <a:ahLst/>
          <a:cxnLst/>
          <a:pathLst>
            <a:path h="377">
              <a:moveTo>
                <a:pt x="0" y="0"/>
              </a:moveTo>
              <a:lnTo>
                <a:pt x="0" y="117"/>
              </a:lnTo>
              <a:lnTo>
                <a:pt x="0" y="117"/>
              </a:lnTo>
              <a:lnTo>
                <a:pt x="0" y="377"/>
              </a:lnTo>
            </a:path>
          </a:pathLst>
        </a:custGeom>
      </dsp:spPr>
      <dsp:style>
        <a:lnRef idx="2">
          <a:schemeClr val="accent4"/>
        </a:lnRef>
        <a:fillRef idx="0">
          <a:schemeClr val="accent5">
            <a:tint val="50000"/>
          </a:schemeClr>
        </a:fillRef>
        <a:effectRef idx="0">
          <a:scrgbClr r="0" g="0" b="0"/>
        </a:effectRef>
        <a:fontRef idx="minor"/>
      </dsp:style>
      <dsp:txXfrm>
        <a:off x="9894955" y="2498325"/>
        <a:ext cx="0" cy="239274"/>
      </dsp:txXfrm>
    </dsp:sp>
    <dsp:sp modelId="{081DB49F-22C9-F145-AFC5-62E6F772F4A6}">
      <dsp:nvSpPr>
        <dsp:cNvPr id="65" name="任意多边形 64"/>
        <dsp:cNvSpPr/>
      </dsp:nvSpPr>
      <dsp:spPr bwMode="white">
        <a:xfrm>
          <a:off x="8878833" y="1736624"/>
          <a:ext cx="2442771" cy="239274"/>
        </a:xfrm>
        <a:custGeom>
          <a:avLst/>
          <a:gdLst/>
          <a:ahLst/>
          <a:cxnLst/>
          <a:pathLst>
            <a:path w="3847" h="377">
              <a:moveTo>
                <a:pt x="0" y="0"/>
              </a:moveTo>
              <a:lnTo>
                <a:pt x="0" y="117"/>
              </a:lnTo>
              <a:lnTo>
                <a:pt x="3847" y="117"/>
              </a:lnTo>
              <a:lnTo>
                <a:pt x="3847" y="377"/>
              </a:lnTo>
            </a:path>
          </a:pathLst>
        </a:custGeom>
      </dsp:spPr>
      <dsp:style>
        <a:lnRef idx="2">
          <a:schemeClr val="accent3"/>
        </a:lnRef>
        <a:fillRef idx="0">
          <a:schemeClr val="accent4">
            <a:tint val="70000"/>
          </a:schemeClr>
        </a:fillRef>
        <a:effectRef idx="0">
          <a:scrgbClr r="0" g="0" b="0"/>
        </a:effectRef>
        <a:fontRef idx="minor"/>
      </dsp:style>
      <dsp:txXfrm>
        <a:off x="8878833" y="1736624"/>
        <a:ext cx="2442771" cy="239274"/>
      </dsp:txXfrm>
    </dsp:sp>
    <dsp:sp modelId="{6FD25C98-61DD-6446-B61B-8FD597C16E09}">
      <dsp:nvSpPr>
        <dsp:cNvPr id="68" name="任意多边形 67"/>
        <dsp:cNvSpPr/>
      </dsp:nvSpPr>
      <dsp:spPr bwMode="white">
        <a:xfrm>
          <a:off x="11321605" y="2498325"/>
          <a:ext cx="0" cy="239274"/>
        </a:xfrm>
        <a:custGeom>
          <a:avLst/>
          <a:gdLst/>
          <a:ahLst/>
          <a:cxnLst/>
          <a:pathLst>
            <a:path h="377">
              <a:moveTo>
                <a:pt x="0" y="0"/>
              </a:moveTo>
              <a:lnTo>
                <a:pt x="0" y="377"/>
              </a:lnTo>
            </a:path>
          </a:pathLst>
        </a:custGeom>
      </dsp:spPr>
      <dsp:style>
        <a:lnRef idx="2">
          <a:schemeClr val="accent4"/>
        </a:lnRef>
        <a:fillRef idx="0">
          <a:schemeClr val="accent5">
            <a:tint val="50000"/>
          </a:schemeClr>
        </a:fillRef>
        <a:effectRef idx="0">
          <a:scrgbClr r="0" g="0" b="0"/>
        </a:effectRef>
        <a:fontRef idx="minor"/>
      </dsp:style>
      <dsp:txXfrm>
        <a:off x="11321605" y="2498325"/>
        <a:ext cx="0" cy="239274"/>
      </dsp:txXfrm>
    </dsp:sp>
    <dsp:sp modelId="{E8184913-6576-9B42-9104-9592BB81AE8A}">
      <dsp:nvSpPr>
        <dsp:cNvPr id="3" name="圆角矩形 2"/>
        <dsp:cNvSpPr/>
      </dsp:nvSpPr>
      <dsp:spPr bwMode="white">
        <a:xfrm>
          <a:off x="4277253" y="67254"/>
          <a:ext cx="3213837" cy="90766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Xfrm>
        <a:off x="4277253" y="67254"/>
        <a:ext cx="3213837" cy="907669"/>
      </dsp:txXfrm>
    </dsp:sp>
    <dsp:sp modelId="{89432697-4073-0749-9B46-D825476B7A0B}">
      <dsp:nvSpPr>
        <dsp:cNvPr id="4" name="圆角矩形 3"/>
        <dsp:cNvSpPr/>
      </dsp:nvSpPr>
      <dsp:spPr bwMode="white">
        <a:xfrm>
          <a:off x="4368666" y="154097"/>
          <a:ext cx="3213837" cy="907669"/>
        </a:xfrm>
        <a:prstGeom prst="roundRect">
          <a:avLst>
            <a:gd name="adj" fmla="val 10000"/>
          </a:avLst>
        </a:prstGeom>
        <a:solidFill>
          <a:srgbClr val="FFFFFF">
            <a:alpha val="90000"/>
            <a:hueOff val="0"/>
            <a:satOff val="0"/>
            <a:lumOff val="0"/>
            <a:alphaOff val="0"/>
          </a:srgbClr>
        </a:solidFill>
        <a:ln w="12700" cap="flat" cmpd="sng" algn="ctr">
          <a:solidFill>
            <a:srgbClr val="E77817">
              <a:hueOff val="0"/>
              <a:satOff val="0"/>
              <a:lumOff val="0"/>
              <a:alphaOff val="0"/>
            </a:srgbClr>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vert="horz" wrap="square" lIns="118110" tIns="118110" rIns="118110" bIns="118110" numCol="1" spcCol="1270" anchor="ctr" anchorCtr="0" forceAA="0"/>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marL="0" lvl="0" indent="0" algn="ctr" defTabSz="1377950">
            <a:lnSpc>
              <a:spcPct val="90000"/>
            </a:lnSpc>
            <a:spcBef>
              <a:spcPct val="0"/>
            </a:spcBef>
            <a:spcAft>
              <a:spcPct val="35000"/>
            </a:spcAft>
            <a:buNone/>
          </a:pPr>
          <a:r>
            <a:rPr lang="zh-CN" altLang="en-US" sz="1600" b="1" kern="1200" dirty="0">
              <a:solidFill>
                <a:srgbClr val="000000">
                  <a:hueOff val="0"/>
                  <a:satOff val="0"/>
                  <a:lumOff val="0"/>
                  <a:alphaOff val="0"/>
                </a:srgbClr>
              </a:solidFill>
              <a:latin typeface="Arial" panose="020B0604020202020204"/>
              <a:ea typeface="微软雅黑" panose="020B0503020204020204" pitchFamily="34" charset="-122"/>
              <a:cs typeface="+mn-cs"/>
            </a:rPr>
            <a:t>网络安全等级保护基本要求</a:t>
          </a:r>
          <a:endParaRPr lang="en-US" altLang="zh-CN" sz="1600" b="1"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indent="0" algn="ctr" defTabSz="1377950">
            <a:lnSpc>
              <a:spcPct val="90000"/>
            </a:lnSpc>
            <a:spcBef>
              <a:spcPct val="0"/>
            </a:spcBef>
            <a:spcAft>
              <a:spcPct val="35000"/>
            </a:spcAft>
            <a:buNone/>
          </a:pPr>
          <a:r>
            <a:rPr lang="zh-CN" altLang="en-US" sz="1600" b="1" kern="1200" dirty="0">
              <a:solidFill>
                <a:srgbClr val="000000">
                  <a:hueOff val="0"/>
                  <a:satOff val="0"/>
                  <a:lumOff val="0"/>
                  <a:alphaOff val="0"/>
                </a:srgbClr>
              </a:solidFill>
              <a:latin typeface="Arial" panose="020B0604020202020204"/>
              <a:ea typeface="微软雅黑" panose="020B0503020204020204" pitchFamily="34" charset="-122"/>
              <a:cs typeface="+mn-cs"/>
            </a:rPr>
            <a:t>（安全通用要求）</a:t>
          </a:r>
          <a:endParaRPr>
            <a:solidFill>
              <a:schemeClr val="dk1"/>
            </a:solidFill>
          </a:endParaRPr>
        </a:p>
      </dsp:txBody>
      <dsp:txXfrm>
        <a:off x="4368666" y="154097"/>
        <a:ext cx="3213837" cy="907669"/>
      </dsp:txXfrm>
    </dsp:sp>
    <dsp:sp modelId="{6160FEE8-33EF-794B-8F6E-BAF1E28D8E86}">
      <dsp:nvSpPr>
        <dsp:cNvPr id="6" name="圆角矩形 5"/>
        <dsp:cNvSpPr/>
      </dsp:nvSpPr>
      <dsp:spPr bwMode="white">
        <a:xfrm>
          <a:off x="1681072" y="1214197"/>
          <a:ext cx="2532239" cy="522427"/>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Xfrm>
        <a:off x="1681072" y="1214197"/>
        <a:ext cx="2532239" cy="522427"/>
      </dsp:txXfrm>
    </dsp:sp>
    <dsp:sp modelId="{5C934BFF-2B32-3546-A8F9-861CFA31B516}">
      <dsp:nvSpPr>
        <dsp:cNvPr id="7" name="圆角矩形 6"/>
        <dsp:cNvSpPr/>
      </dsp:nvSpPr>
      <dsp:spPr bwMode="white">
        <a:xfrm>
          <a:off x="1772485" y="1301040"/>
          <a:ext cx="2532239" cy="522427"/>
        </a:xfrm>
        <a:prstGeom prst="roundRect">
          <a:avLst>
            <a:gd name="adj" fmla="val 10000"/>
          </a:avLst>
        </a:prstGeom>
        <a:solidFill>
          <a:srgbClr val="FFFFFF">
            <a:alpha val="90000"/>
            <a:hueOff val="0"/>
            <a:satOff val="0"/>
            <a:lumOff val="0"/>
            <a:alphaOff val="0"/>
          </a:srgbClr>
        </a:solidFill>
        <a:ln w="12700" cap="flat" cmpd="sng" algn="ctr">
          <a:solidFill>
            <a:srgbClr val="E77817">
              <a:hueOff val="0"/>
              <a:satOff val="0"/>
              <a:lumOff val="0"/>
              <a:alphaOff val="0"/>
            </a:srgbClr>
          </a:solidFill>
          <a:prstDash val="solid"/>
          <a:miter lim="800000"/>
        </a:ln>
        <a:effectLst/>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vert="horz" wrap="square" lIns="118110" tIns="118110" rIns="118110" bIns="118110" numCol="1" spcCol="1270" anchor="ctr" anchorCtr="0" forceAA="0"/>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marL="0" lvl="0" indent="0" algn="ctr" defTabSz="1377950">
            <a:lnSpc>
              <a:spcPct val="90000"/>
            </a:lnSpc>
            <a:spcBef>
              <a:spcPct val="0"/>
            </a:spcBef>
            <a:spcAft>
              <a:spcPct val="35000"/>
            </a:spcAft>
            <a:buNone/>
          </a:pPr>
          <a:r>
            <a:rPr lang="zh-CN" altLang="en-US" sz="1400" b="1" kern="1200" dirty="0">
              <a:solidFill>
                <a:srgbClr val="000000">
                  <a:hueOff val="0"/>
                  <a:satOff val="0"/>
                  <a:lumOff val="0"/>
                  <a:alphaOff val="0"/>
                </a:srgbClr>
              </a:solidFill>
              <a:latin typeface="Arial" panose="020B0604020202020204"/>
              <a:ea typeface="微软雅黑" panose="020B0503020204020204" pitchFamily="34" charset="-122"/>
              <a:cs typeface="+mn-cs"/>
            </a:rPr>
            <a:t>技术要求</a:t>
          </a:r>
          <a:endParaRPr>
            <a:solidFill>
              <a:schemeClr val="dk1"/>
            </a:solidFill>
          </a:endParaRPr>
        </a:p>
      </dsp:txBody>
      <dsp:txXfrm>
        <a:off x="1772485" y="1301040"/>
        <a:ext cx="2532239" cy="522427"/>
      </dsp:txXfrm>
    </dsp:sp>
    <dsp:sp modelId="{16D7A03F-B428-834C-9D7B-2D101CD11A45}">
      <dsp:nvSpPr>
        <dsp:cNvPr id="9" name="圆角矩形 8"/>
        <dsp:cNvSpPr/>
      </dsp:nvSpPr>
      <dsp:spPr bwMode="white">
        <a:xfrm>
          <a:off x="124152" y="1975898"/>
          <a:ext cx="926620" cy="522427"/>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124152" y="1975898"/>
        <a:ext cx="926620" cy="522427"/>
      </dsp:txXfrm>
    </dsp:sp>
    <dsp:sp modelId="{7AE369F6-3E56-E24D-B82D-F577766915B9}">
      <dsp:nvSpPr>
        <dsp:cNvPr id="10" name="圆角矩形 9"/>
        <dsp:cNvSpPr/>
      </dsp:nvSpPr>
      <dsp:spPr bwMode="white">
        <a:xfrm>
          <a:off x="215566" y="2062741"/>
          <a:ext cx="926620" cy="522427"/>
        </a:xfrm>
        <a:prstGeom prst="roundRect">
          <a:avLst>
            <a:gd name="adj" fmla="val 10000"/>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sz="1000" dirty="0">
              <a:solidFill>
                <a:schemeClr val="dk1"/>
              </a:solidFill>
            </a:rPr>
            <a:t>安全物理环境</a:t>
          </a:r>
          <a:endParaRPr>
            <a:solidFill>
              <a:schemeClr val="dk1"/>
            </a:solidFill>
          </a:endParaRPr>
        </a:p>
      </dsp:txBody>
      <dsp:txXfrm>
        <a:off x="215566" y="2062741"/>
        <a:ext cx="926620" cy="522427"/>
      </dsp:txXfrm>
    </dsp:sp>
    <dsp:sp modelId="{2E9FE2F5-368A-E449-B906-B2D103A74371}">
      <dsp:nvSpPr>
        <dsp:cNvPr id="12" name="圆角矩形 11"/>
        <dsp:cNvSpPr/>
      </dsp:nvSpPr>
      <dsp:spPr bwMode="white">
        <a:xfrm>
          <a:off x="0" y="2737599"/>
          <a:ext cx="1174925" cy="3070714"/>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0" y="2737599"/>
        <a:ext cx="1174925" cy="3070714"/>
      </dsp:txXfrm>
    </dsp:sp>
    <dsp:sp modelId="{C91C88DA-FA20-364D-8D25-FB83D20AE8C6}">
      <dsp:nvSpPr>
        <dsp:cNvPr id="13" name="圆角矩形 12"/>
        <dsp:cNvSpPr/>
      </dsp:nvSpPr>
      <dsp:spPr bwMode="white">
        <a:xfrm>
          <a:off x="91413" y="2824441"/>
          <a:ext cx="1174925" cy="3070714"/>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物理位置选择</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物理访问控制</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防盗窃和防破坏</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防雷击</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防火</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防水和防潮</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防静电</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温湿度控制</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电力供应</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电磁防护</a:t>
          </a:r>
          <a:endParaRPr>
            <a:solidFill>
              <a:schemeClr val="dk1"/>
            </a:solidFill>
          </a:endParaRPr>
        </a:p>
      </dsp:txBody>
      <dsp:txXfrm>
        <a:off x="91413" y="2824441"/>
        <a:ext cx="1174925" cy="3070714"/>
      </dsp:txXfrm>
    </dsp:sp>
    <dsp:sp modelId="{5184D6DE-000C-0540-B0BA-D40BDD449807}">
      <dsp:nvSpPr>
        <dsp:cNvPr id="15" name="圆角矩形 14"/>
        <dsp:cNvSpPr/>
      </dsp:nvSpPr>
      <dsp:spPr bwMode="white">
        <a:xfrm>
          <a:off x="1262020" y="1975898"/>
          <a:ext cx="1014182" cy="522427"/>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1262020" y="1975898"/>
        <a:ext cx="1014182" cy="522427"/>
      </dsp:txXfrm>
    </dsp:sp>
    <dsp:sp modelId="{F8B853CF-A2A9-434C-ADD1-0046FDD4B52B}">
      <dsp:nvSpPr>
        <dsp:cNvPr id="16" name="圆角矩形 15"/>
        <dsp:cNvSpPr/>
      </dsp:nvSpPr>
      <dsp:spPr bwMode="white">
        <a:xfrm>
          <a:off x="1353433" y="2062741"/>
          <a:ext cx="1014182" cy="522427"/>
        </a:xfrm>
        <a:prstGeom prst="roundRect">
          <a:avLst>
            <a:gd name="adj" fmla="val 10000"/>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安全通信网络</a:t>
          </a:r>
          <a:endParaRPr>
            <a:solidFill>
              <a:schemeClr val="dk1"/>
            </a:solidFill>
          </a:endParaRPr>
        </a:p>
      </dsp:txBody>
      <dsp:txXfrm>
        <a:off x="1353433" y="2062741"/>
        <a:ext cx="1014182" cy="522427"/>
      </dsp:txXfrm>
    </dsp:sp>
    <dsp:sp modelId="{982B825B-3BE1-FE4F-9DB0-57FC3E0DE8F0}">
      <dsp:nvSpPr>
        <dsp:cNvPr id="18" name="圆角矩形 17"/>
        <dsp:cNvSpPr/>
      </dsp:nvSpPr>
      <dsp:spPr bwMode="white">
        <a:xfrm>
          <a:off x="1357751" y="2737599"/>
          <a:ext cx="822719" cy="3070714"/>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1357751" y="2737599"/>
        <a:ext cx="822719" cy="3070714"/>
      </dsp:txXfrm>
    </dsp:sp>
    <dsp:sp modelId="{99E214C5-37CE-FB4A-9EC2-8E5396E92757}">
      <dsp:nvSpPr>
        <dsp:cNvPr id="19" name="圆角矩形 18"/>
        <dsp:cNvSpPr/>
      </dsp:nvSpPr>
      <dsp:spPr bwMode="white">
        <a:xfrm>
          <a:off x="1449165" y="2824441"/>
          <a:ext cx="822719" cy="3070714"/>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网络架构</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通信传输</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可信验证</a:t>
          </a:r>
          <a:endParaRPr>
            <a:solidFill>
              <a:schemeClr val="dk1"/>
            </a:solidFill>
          </a:endParaRPr>
        </a:p>
      </dsp:txBody>
      <dsp:txXfrm>
        <a:off x="1449165" y="2824441"/>
        <a:ext cx="822719" cy="3070714"/>
      </dsp:txXfrm>
    </dsp:sp>
    <dsp:sp modelId="{3C2265ED-A541-904F-AD8B-45C276C3804C}">
      <dsp:nvSpPr>
        <dsp:cNvPr id="21" name="圆角矩形 20"/>
        <dsp:cNvSpPr/>
      </dsp:nvSpPr>
      <dsp:spPr bwMode="white">
        <a:xfrm>
          <a:off x="2459028" y="1975898"/>
          <a:ext cx="981413" cy="522427"/>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2459028" y="1975898"/>
        <a:ext cx="981413" cy="522427"/>
      </dsp:txXfrm>
    </dsp:sp>
    <dsp:sp modelId="{F0E3B609-1585-6C41-BD5E-2091C4E1AF85}">
      <dsp:nvSpPr>
        <dsp:cNvPr id="22" name="对角圆角矩形 21"/>
        <dsp:cNvSpPr/>
      </dsp:nvSpPr>
      <dsp:spPr bwMode="white">
        <a:xfrm>
          <a:off x="2550442" y="2062741"/>
          <a:ext cx="981413" cy="522427"/>
        </a:xfrm>
        <a:prstGeom prst="round2DiagRect">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安全区域边界</a:t>
          </a:r>
          <a:endParaRPr>
            <a:solidFill>
              <a:schemeClr val="dk1"/>
            </a:solidFill>
          </a:endParaRPr>
        </a:p>
      </dsp:txBody>
      <dsp:txXfrm>
        <a:off x="2550442" y="2062741"/>
        <a:ext cx="981413" cy="522427"/>
      </dsp:txXfrm>
    </dsp:sp>
    <dsp:sp modelId="{04B1F445-A390-0249-B528-1D8635307E7F}">
      <dsp:nvSpPr>
        <dsp:cNvPr id="24" name="圆角矩形 23"/>
        <dsp:cNvSpPr/>
      </dsp:nvSpPr>
      <dsp:spPr bwMode="white">
        <a:xfrm>
          <a:off x="2428469" y="2737599"/>
          <a:ext cx="1042533" cy="3069042"/>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2428469" y="2737599"/>
        <a:ext cx="1042533" cy="3069042"/>
      </dsp:txXfrm>
    </dsp:sp>
    <dsp:sp modelId="{6A6E11CE-A0B2-D845-8D18-68AA08267E09}">
      <dsp:nvSpPr>
        <dsp:cNvPr id="25" name="圆角矩形 24"/>
        <dsp:cNvSpPr/>
      </dsp:nvSpPr>
      <dsp:spPr bwMode="white">
        <a:xfrm>
          <a:off x="2519882" y="2824441"/>
          <a:ext cx="1042533" cy="3069042"/>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边界防护</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访问控制</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入侵防范</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恶意代码和垃圾邮件防范</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安全审计</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可信验证</a:t>
          </a:r>
          <a:endParaRPr>
            <a:solidFill>
              <a:schemeClr val="dk1"/>
            </a:solidFill>
          </a:endParaRPr>
        </a:p>
      </dsp:txBody>
      <dsp:txXfrm>
        <a:off x="2519882" y="2824441"/>
        <a:ext cx="1042533" cy="3069042"/>
      </dsp:txXfrm>
    </dsp:sp>
    <dsp:sp modelId="{A9FBAF3A-D5CF-E449-ABF0-32FDA583FF2A}">
      <dsp:nvSpPr>
        <dsp:cNvPr id="27" name="圆角矩形 26"/>
        <dsp:cNvSpPr/>
      </dsp:nvSpPr>
      <dsp:spPr bwMode="white">
        <a:xfrm>
          <a:off x="3623268" y="1975898"/>
          <a:ext cx="1037572" cy="522427"/>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3623268" y="1975898"/>
        <a:ext cx="1037572" cy="522427"/>
      </dsp:txXfrm>
    </dsp:sp>
    <dsp:sp modelId="{25A9A123-E9F5-744F-A8C2-010259074AFD}">
      <dsp:nvSpPr>
        <dsp:cNvPr id="28" name="圆角矩形 27"/>
        <dsp:cNvSpPr/>
      </dsp:nvSpPr>
      <dsp:spPr bwMode="white">
        <a:xfrm>
          <a:off x="3714681" y="2062741"/>
          <a:ext cx="1037572" cy="522427"/>
        </a:xfrm>
        <a:prstGeom prst="roundRect">
          <a:avLst>
            <a:gd name="adj" fmla="val 10000"/>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安全计算环境</a:t>
          </a:r>
          <a:endParaRPr>
            <a:solidFill>
              <a:schemeClr val="dk1"/>
            </a:solidFill>
          </a:endParaRPr>
        </a:p>
      </dsp:txBody>
      <dsp:txXfrm>
        <a:off x="3714681" y="2062741"/>
        <a:ext cx="1037572" cy="522427"/>
      </dsp:txXfrm>
    </dsp:sp>
    <dsp:sp modelId="{D27ADEA6-2D07-DA4C-809D-3784567362F6}">
      <dsp:nvSpPr>
        <dsp:cNvPr id="30" name="圆角矩形 29"/>
        <dsp:cNvSpPr/>
      </dsp:nvSpPr>
      <dsp:spPr bwMode="white">
        <a:xfrm>
          <a:off x="3658328" y="2737599"/>
          <a:ext cx="967452" cy="3069042"/>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3658328" y="2737599"/>
        <a:ext cx="967452" cy="3069042"/>
      </dsp:txXfrm>
    </dsp:sp>
    <dsp:sp modelId="{ADAC5CC0-8700-3648-B7B7-1798B9D3CF7D}">
      <dsp:nvSpPr>
        <dsp:cNvPr id="31" name="圆角矩形 30"/>
        <dsp:cNvSpPr/>
      </dsp:nvSpPr>
      <dsp:spPr bwMode="white">
        <a:xfrm>
          <a:off x="3749741" y="2824441"/>
          <a:ext cx="967452" cy="3069042"/>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身份鉴别</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访问控制</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安全审计</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入侵防范</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恶意代码防范</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可信验证</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数据完整性</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数据保密性</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数据备份恢复</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剩余信息保护</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个人信息安全</a:t>
          </a:r>
          <a:endParaRPr>
            <a:solidFill>
              <a:schemeClr val="dk1"/>
            </a:solidFill>
          </a:endParaRPr>
        </a:p>
      </dsp:txBody>
      <dsp:txXfrm>
        <a:off x="3749741" y="2824441"/>
        <a:ext cx="967452" cy="3069042"/>
      </dsp:txXfrm>
    </dsp:sp>
    <dsp:sp modelId="{093F5D6F-E7D4-454D-A840-1A3AB3234FAF}">
      <dsp:nvSpPr>
        <dsp:cNvPr id="33" name="圆角矩形 32"/>
        <dsp:cNvSpPr/>
      </dsp:nvSpPr>
      <dsp:spPr bwMode="white">
        <a:xfrm>
          <a:off x="4843667" y="1975898"/>
          <a:ext cx="926563" cy="522427"/>
        </a:xfrm>
        <a:prstGeom prst="roundRect">
          <a:avLst>
            <a:gd name="adj" fmla="val 10000"/>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4843667" y="1975898"/>
        <a:ext cx="926563" cy="522427"/>
      </dsp:txXfrm>
    </dsp:sp>
    <dsp:sp modelId="{3FE913F8-C8C7-3A49-A394-772966992C26}">
      <dsp:nvSpPr>
        <dsp:cNvPr id="34" name="圆角矩形 33"/>
        <dsp:cNvSpPr/>
      </dsp:nvSpPr>
      <dsp:spPr bwMode="white">
        <a:xfrm>
          <a:off x="4935080" y="2062741"/>
          <a:ext cx="926563" cy="522427"/>
        </a:xfrm>
        <a:prstGeom prst="roundRect">
          <a:avLst>
            <a:gd name="adj" fmla="val 10000"/>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安全管理中心</a:t>
          </a:r>
          <a:endParaRPr>
            <a:solidFill>
              <a:schemeClr val="dk1"/>
            </a:solidFill>
          </a:endParaRPr>
        </a:p>
      </dsp:txBody>
      <dsp:txXfrm>
        <a:off x="4935080" y="2062741"/>
        <a:ext cx="926563" cy="522427"/>
      </dsp:txXfrm>
    </dsp:sp>
    <dsp:sp modelId="{78DAB352-0C38-B648-B731-BA6D7ED80E4E}">
      <dsp:nvSpPr>
        <dsp:cNvPr id="36" name="圆角矩形 35"/>
        <dsp:cNvSpPr/>
      </dsp:nvSpPr>
      <dsp:spPr bwMode="white">
        <a:xfrm>
          <a:off x="4895588" y="2737599"/>
          <a:ext cx="822719" cy="3040256"/>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4895588" y="2737599"/>
        <a:ext cx="822719" cy="3040256"/>
      </dsp:txXfrm>
    </dsp:sp>
    <dsp:sp modelId="{CFACCEA3-615B-2747-867A-F169A8469CBA}">
      <dsp:nvSpPr>
        <dsp:cNvPr id="37" name="圆角矩形 36"/>
        <dsp:cNvSpPr/>
      </dsp:nvSpPr>
      <dsp:spPr bwMode="white">
        <a:xfrm>
          <a:off x="4987002" y="2824441"/>
          <a:ext cx="822719" cy="3040256"/>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系统管理</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审计管理</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安全管理</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集中管控</a:t>
          </a:r>
          <a:endParaRPr>
            <a:solidFill>
              <a:schemeClr val="dk1"/>
            </a:solidFill>
          </a:endParaRPr>
        </a:p>
      </dsp:txBody>
      <dsp:txXfrm>
        <a:off x="4987002" y="2824441"/>
        <a:ext cx="822719" cy="3040256"/>
      </dsp:txXfrm>
    </dsp:sp>
    <dsp:sp modelId="{9D0A9AAA-BD87-AC44-A8A8-92466320982F}">
      <dsp:nvSpPr>
        <dsp:cNvPr id="39" name="圆角矩形 38"/>
        <dsp:cNvSpPr/>
      </dsp:nvSpPr>
      <dsp:spPr bwMode="white">
        <a:xfrm>
          <a:off x="7670395" y="1214197"/>
          <a:ext cx="2416877" cy="522427"/>
        </a:xfrm>
        <a:prstGeom prst="roundRect">
          <a:avLst>
            <a:gd name="adj" fmla="val 10000"/>
          </a:avLst>
        </a:prstGeom>
        <a:solidFill>
          <a:schemeClr val="accent5">
            <a:lumMod val="60000"/>
            <a:lumOff val="40000"/>
          </a:schemeClr>
        </a:solidFill>
        <a:ln>
          <a:solidFill>
            <a:schemeClr val="accent5">
              <a:lumMod val="60000"/>
              <a:lumOff val="40000"/>
            </a:schemeClr>
          </a:solidFill>
        </a:ln>
      </dsp:spPr>
      <dsp:style>
        <a:lnRef idx="2">
          <a:schemeClr val="lt1"/>
        </a:lnRef>
        <a:fillRef idx="1">
          <a:schemeClr val="accent2">
            <a:hueOff val="0"/>
            <a:satOff val="0"/>
            <a:lumOff val="0"/>
            <a:alpha val="100000"/>
          </a:schemeClr>
        </a:fillRef>
        <a:effectRef idx="0">
          <a:scrgbClr r="0" g="0" b="0"/>
        </a:effectRef>
        <a:fontRef idx="minor">
          <a:schemeClr val="lt1"/>
        </a:fontRef>
      </dsp:style>
      <dsp:txXfrm>
        <a:off x="7670395" y="1214197"/>
        <a:ext cx="2416877" cy="522427"/>
      </dsp:txXfrm>
    </dsp:sp>
    <dsp:sp modelId="{19CE0678-91DA-014A-BCAC-328B2CE58B6B}">
      <dsp:nvSpPr>
        <dsp:cNvPr id="40" name="圆角矩形 39"/>
        <dsp:cNvSpPr/>
      </dsp:nvSpPr>
      <dsp:spPr bwMode="white">
        <a:xfrm>
          <a:off x="7761808" y="1301040"/>
          <a:ext cx="2416877" cy="522427"/>
        </a:xfrm>
        <a:prstGeom prst="roundRect">
          <a:avLst>
            <a:gd name="adj" fmla="val 10000"/>
          </a:avLst>
        </a:prstGeom>
        <a:ln>
          <a:solidFill>
            <a:schemeClr val="accent5">
              <a:lumMod val="60000"/>
              <a:lumOff val="40000"/>
            </a:schemeClr>
          </a:solidFill>
        </a:ln>
      </dsp:spPr>
      <dsp:style>
        <a:lnRef idx="2">
          <a:schemeClr val="accent2">
            <a:hueOff val="0"/>
            <a:satOff val="0"/>
            <a:lumOff val="0"/>
            <a:alpha val="100000"/>
          </a:schemeClr>
        </a:lnRef>
        <a:fillRef idx="1">
          <a:schemeClr val="lt1">
            <a:alpha val="90000"/>
          </a:schemeClr>
        </a:fillRef>
        <a:effectRef idx="0">
          <a:scrgbClr r="0" g="0" b="0"/>
        </a:effectRef>
        <a:fontRef idx="minor"/>
      </dsp:style>
      <dsp:txBody>
        <a:bodyPr lIns="53340" tIns="53340" rIns="53340" bIns="5334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sz="1400" b="1" dirty="0">
              <a:solidFill>
                <a:schemeClr val="dk1"/>
              </a:solidFill>
            </a:rPr>
            <a:t>管理要求</a:t>
          </a:r>
          <a:endParaRPr>
            <a:solidFill>
              <a:schemeClr val="dk1"/>
            </a:solidFill>
          </a:endParaRPr>
        </a:p>
      </dsp:txBody>
      <dsp:txXfrm>
        <a:off x="7761808" y="1301040"/>
        <a:ext cx="2416877" cy="522427"/>
      </dsp:txXfrm>
    </dsp:sp>
    <dsp:sp modelId="{B901F53C-038B-8D48-87F2-30FB17BEF780}">
      <dsp:nvSpPr>
        <dsp:cNvPr id="42" name="圆角矩形 41"/>
        <dsp:cNvSpPr/>
      </dsp:nvSpPr>
      <dsp:spPr bwMode="white">
        <a:xfrm>
          <a:off x="5953056" y="1975898"/>
          <a:ext cx="916731" cy="522427"/>
        </a:xfrm>
        <a:prstGeom prst="roundRect">
          <a:avLst>
            <a:gd name="adj" fmla="val 10000"/>
          </a:avLst>
        </a:prstGeom>
        <a:solidFill>
          <a:schemeClr val="accent5">
            <a:lumMod val="60000"/>
            <a:lumOff val="40000"/>
          </a:schemeClr>
        </a:solidFill>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5953056" y="1975898"/>
        <a:ext cx="916731" cy="522427"/>
      </dsp:txXfrm>
    </dsp:sp>
    <dsp:sp modelId="{2EB8D344-1708-C840-97AC-E6A2B8BDAE1B}">
      <dsp:nvSpPr>
        <dsp:cNvPr id="43" name="圆角矩形 42"/>
        <dsp:cNvSpPr/>
      </dsp:nvSpPr>
      <dsp:spPr bwMode="white">
        <a:xfrm>
          <a:off x="6044469" y="2062741"/>
          <a:ext cx="916731" cy="522427"/>
        </a:xfrm>
        <a:prstGeom prst="roundRect">
          <a:avLst>
            <a:gd name="adj" fmla="val 10000"/>
          </a:avLst>
        </a:prstGeom>
        <a:ln>
          <a:solidFill>
            <a:schemeClr val="accent5">
              <a:lumMod val="60000"/>
              <a:lumOff val="40000"/>
            </a:schemeClr>
          </a:solidFill>
        </a:ln>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安全管理制度</a:t>
          </a:r>
          <a:endParaRPr>
            <a:solidFill>
              <a:schemeClr val="dk1"/>
            </a:solidFill>
          </a:endParaRPr>
        </a:p>
      </dsp:txBody>
      <dsp:txXfrm>
        <a:off x="6044469" y="2062741"/>
        <a:ext cx="916731" cy="522427"/>
      </dsp:txXfrm>
    </dsp:sp>
    <dsp:sp modelId="{4A80C282-B802-5048-A9FC-95D7C18876CC}">
      <dsp:nvSpPr>
        <dsp:cNvPr id="45" name="圆角矩形 44"/>
        <dsp:cNvSpPr/>
      </dsp:nvSpPr>
      <dsp:spPr bwMode="white">
        <a:xfrm>
          <a:off x="6000062" y="2737599"/>
          <a:ext cx="822719" cy="3040256"/>
        </a:xfrm>
        <a:prstGeom prst="roundRect">
          <a:avLst>
            <a:gd name="adj" fmla="val 10000"/>
          </a:avLst>
        </a:prstGeom>
        <a:solidFill>
          <a:schemeClr val="accent5">
            <a:lumMod val="60000"/>
            <a:lumOff val="40000"/>
          </a:schemeClr>
        </a:solidFill>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6000062" y="2737599"/>
        <a:ext cx="822719" cy="3040256"/>
      </dsp:txXfrm>
    </dsp:sp>
    <dsp:sp modelId="{28E66324-A064-B94D-8845-382C9632E36C}">
      <dsp:nvSpPr>
        <dsp:cNvPr id="46" name="圆角矩形 45"/>
        <dsp:cNvSpPr/>
      </dsp:nvSpPr>
      <dsp:spPr bwMode="white">
        <a:xfrm>
          <a:off x="6091475" y="2824441"/>
          <a:ext cx="822719" cy="3040256"/>
        </a:xfrm>
        <a:prstGeom prst="roundRect">
          <a:avLst>
            <a:gd name="adj" fmla="val 10000"/>
          </a:avLst>
        </a:prstGeom>
        <a:ln>
          <a:solidFill>
            <a:schemeClr val="accent5">
              <a:lumMod val="60000"/>
              <a:lumOff val="40000"/>
            </a:schemeClr>
          </a:solidFill>
        </a:ln>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安全策略</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管理制度</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制定发布</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评审和修订</a:t>
          </a:r>
          <a:endParaRPr>
            <a:solidFill>
              <a:schemeClr val="dk1"/>
            </a:solidFill>
          </a:endParaRPr>
        </a:p>
      </dsp:txBody>
      <dsp:txXfrm>
        <a:off x="6091475" y="2824441"/>
        <a:ext cx="822719" cy="3040256"/>
      </dsp:txXfrm>
    </dsp:sp>
    <dsp:sp modelId="{CE23E9AA-CE64-114C-9EFB-A1A04CCD0E6A}">
      <dsp:nvSpPr>
        <dsp:cNvPr id="48" name="圆角矩形 47"/>
        <dsp:cNvSpPr/>
      </dsp:nvSpPr>
      <dsp:spPr bwMode="white">
        <a:xfrm>
          <a:off x="7052613" y="1975898"/>
          <a:ext cx="979751" cy="522427"/>
        </a:xfrm>
        <a:prstGeom prst="roundRect">
          <a:avLst>
            <a:gd name="adj" fmla="val 10000"/>
          </a:avLst>
        </a:prstGeom>
        <a:solidFill>
          <a:schemeClr val="accent5">
            <a:lumMod val="60000"/>
            <a:lumOff val="40000"/>
          </a:schemeClr>
        </a:solidFill>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7052613" y="1975898"/>
        <a:ext cx="979751" cy="522427"/>
      </dsp:txXfrm>
    </dsp:sp>
    <dsp:sp modelId="{10F17935-0A92-DF45-9FB0-93E22C45C94F}">
      <dsp:nvSpPr>
        <dsp:cNvPr id="49" name="圆角矩形 48"/>
        <dsp:cNvSpPr/>
      </dsp:nvSpPr>
      <dsp:spPr bwMode="white">
        <a:xfrm>
          <a:off x="7144026" y="2062741"/>
          <a:ext cx="979751" cy="522427"/>
        </a:xfrm>
        <a:prstGeom prst="roundRect">
          <a:avLst>
            <a:gd name="adj" fmla="val 10000"/>
          </a:avLst>
        </a:prstGeom>
        <a:solidFill>
          <a:srgbClr val="FFFFFF">
            <a:alpha val="90000"/>
            <a:hueOff val="0"/>
            <a:satOff val="0"/>
            <a:lumOff val="0"/>
            <a:alphaOff val="0"/>
          </a:srgbClr>
        </a:solidFill>
        <a:ln w="12700" cap="flat" cmpd="sng" algn="ctr">
          <a:solidFill>
            <a:srgbClr val="667AB3">
              <a:lumMod val="60000"/>
              <a:lumOff val="40000"/>
            </a:srgbClr>
          </a:solidFill>
          <a:prstDash val="solid"/>
          <a:miter lim="800000"/>
        </a:ln>
        <a:effectLst/>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vert="horz" wrap="square" lIns="38100" tIns="38100" rIns="38100" bIns="38100" numCol="1" spcCol="1270" anchor="ctr" anchorCtr="0" forceAA="0"/>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marL="0" lvl="0" indent="0" algn="ctr" defTabSz="44450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安全管理机构</a:t>
          </a:r>
          <a:endParaRPr>
            <a:solidFill>
              <a:schemeClr val="dk1"/>
            </a:solidFill>
          </a:endParaRPr>
        </a:p>
      </dsp:txBody>
      <dsp:txXfrm>
        <a:off x="7144026" y="2062741"/>
        <a:ext cx="979751" cy="522427"/>
      </dsp:txXfrm>
    </dsp:sp>
    <dsp:sp modelId="{74590E3B-F128-894D-89B9-9664B3E08782}">
      <dsp:nvSpPr>
        <dsp:cNvPr id="51" name="圆角矩形 50"/>
        <dsp:cNvSpPr/>
      </dsp:nvSpPr>
      <dsp:spPr bwMode="white">
        <a:xfrm>
          <a:off x="7131129" y="2737599"/>
          <a:ext cx="822719" cy="3040256"/>
        </a:xfrm>
        <a:prstGeom prst="roundRect">
          <a:avLst>
            <a:gd name="adj" fmla="val 10000"/>
          </a:avLst>
        </a:prstGeom>
        <a:solidFill>
          <a:schemeClr val="accent5">
            <a:lumMod val="60000"/>
            <a:lumOff val="40000"/>
          </a:schemeClr>
        </a:solidFill>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7131129" y="2737599"/>
        <a:ext cx="822719" cy="3040256"/>
      </dsp:txXfrm>
    </dsp:sp>
    <dsp:sp modelId="{A7D7FC0D-3EBB-F04A-936F-6D00857E6CF0}">
      <dsp:nvSpPr>
        <dsp:cNvPr id="52" name="圆角矩形 51"/>
        <dsp:cNvSpPr/>
      </dsp:nvSpPr>
      <dsp:spPr bwMode="white">
        <a:xfrm>
          <a:off x="7222543" y="2824441"/>
          <a:ext cx="822719" cy="3040256"/>
        </a:xfrm>
        <a:prstGeom prst="roundRect">
          <a:avLst>
            <a:gd name="adj" fmla="val 10000"/>
          </a:avLst>
        </a:prstGeom>
        <a:solidFill>
          <a:srgbClr val="FFFFFF">
            <a:alpha val="90000"/>
            <a:hueOff val="0"/>
            <a:satOff val="0"/>
            <a:lumOff val="0"/>
            <a:alphaOff val="0"/>
          </a:srgbClr>
        </a:solidFill>
        <a:ln w="12700" cap="flat" cmpd="sng" algn="ctr">
          <a:solidFill>
            <a:srgbClr val="3BB3C2">
              <a:hueOff val="0"/>
              <a:satOff val="0"/>
              <a:lumOff val="0"/>
              <a:alphaOff val="0"/>
            </a:srgbClr>
          </a:solidFill>
          <a:prstDash val="solid"/>
          <a:miter lim="800000"/>
        </a:ln>
        <a:effectLst/>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vert="horz" wrap="square" lIns="34290" tIns="34290" rIns="34290" bIns="34290" numCol="1" spcCol="1270" anchor="t" anchorCtr="0" forceAA="0"/>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岗位设置</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人员配置</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授权和审批</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沟通和合作</a:t>
          </a:r>
          <a:endParaRPr lang="en-US" altLang="zh-CN" sz="1000" kern="1200" dirty="0">
            <a:solidFill>
              <a:srgbClr val="000000">
                <a:hueOff val="0"/>
                <a:satOff val="0"/>
                <a:lumOff val="0"/>
                <a:alphaOff val="0"/>
              </a:srgbClr>
            </a:solidFill>
            <a:latin typeface="Arial" panose="020B0604020202020204"/>
            <a:ea typeface="微软雅黑" panose="020B0503020204020204" pitchFamily="34" charset="-122"/>
            <a:cs typeface="+mn-cs"/>
          </a:endParaRPr>
        </a:p>
        <a:p>
          <a:pPr marL="0" lvl="0" algn="l" defTabSz="40005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审核和检查</a:t>
          </a:r>
          <a:endParaRPr>
            <a:solidFill>
              <a:schemeClr val="dk1"/>
            </a:solidFill>
          </a:endParaRPr>
        </a:p>
      </dsp:txBody>
      <dsp:txXfrm>
        <a:off x="7222543" y="2824441"/>
        <a:ext cx="822719" cy="3040256"/>
      </dsp:txXfrm>
    </dsp:sp>
    <dsp:sp modelId="{29963AF3-F472-F743-ABA0-6F1B8600AB26}">
      <dsp:nvSpPr>
        <dsp:cNvPr id="54" name="圆角矩形 53"/>
        <dsp:cNvSpPr/>
      </dsp:nvSpPr>
      <dsp:spPr bwMode="white">
        <a:xfrm>
          <a:off x="8215191" y="1975898"/>
          <a:ext cx="927147" cy="522427"/>
        </a:xfrm>
        <a:prstGeom prst="roundRect">
          <a:avLst>
            <a:gd name="adj" fmla="val 10000"/>
          </a:avLst>
        </a:prstGeom>
        <a:solidFill>
          <a:schemeClr val="accent5">
            <a:lumMod val="60000"/>
            <a:lumOff val="40000"/>
            <a:alpha val="90000"/>
          </a:schemeClr>
        </a:solidFill>
        <a:ln w="12700" cap="flat" cmpd="sng" algn="ctr">
          <a:solidFill>
            <a:srgbClr val="667AB3">
              <a:lumMod val="60000"/>
              <a:lumOff val="40000"/>
            </a:srgbClr>
          </a:solidFill>
          <a:prstDash val="solid"/>
          <a:miter lim="800000"/>
        </a:ln>
        <a:effectLst/>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8215191" y="1975898"/>
        <a:ext cx="927147" cy="522427"/>
      </dsp:txXfrm>
    </dsp:sp>
    <dsp:sp modelId="{72BBAF1E-F528-8140-862B-F5381FC5A8C1}">
      <dsp:nvSpPr>
        <dsp:cNvPr id="55" name="圆角矩形 54"/>
        <dsp:cNvSpPr/>
      </dsp:nvSpPr>
      <dsp:spPr bwMode="white">
        <a:xfrm>
          <a:off x="8306604" y="2062741"/>
          <a:ext cx="927147" cy="522427"/>
        </a:xfrm>
        <a:prstGeom prst="roundRect">
          <a:avLst>
            <a:gd name="adj" fmla="val 10000"/>
          </a:avLst>
        </a:prstGeom>
        <a:ln>
          <a:solidFill>
            <a:schemeClr val="accent5">
              <a:lumMod val="60000"/>
              <a:lumOff val="40000"/>
            </a:schemeClr>
          </a:solidFill>
        </a:ln>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安全管理人员</a:t>
          </a:r>
          <a:endParaRPr>
            <a:solidFill>
              <a:schemeClr val="dk1"/>
            </a:solidFill>
          </a:endParaRPr>
        </a:p>
      </dsp:txBody>
      <dsp:txXfrm>
        <a:off x="8306604" y="2062741"/>
        <a:ext cx="927147" cy="522427"/>
      </dsp:txXfrm>
    </dsp:sp>
    <dsp:sp modelId="{D7936BA8-5EEA-CD4D-84D8-CEDAA50BCA18}">
      <dsp:nvSpPr>
        <dsp:cNvPr id="57" name="圆角矩形 56"/>
        <dsp:cNvSpPr/>
      </dsp:nvSpPr>
      <dsp:spPr bwMode="white">
        <a:xfrm>
          <a:off x="8267405" y="2737599"/>
          <a:ext cx="822719" cy="3040256"/>
        </a:xfrm>
        <a:prstGeom prst="roundRect">
          <a:avLst>
            <a:gd name="adj" fmla="val 10000"/>
          </a:avLst>
        </a:prstGeom>
        <a:solidFill>
          <a:schemeClr val="accent5">
            <a:lumMod val="60000"/>
            <a:lumOff val="40000"/>
          </a:schemeClr>
        </a:solidFill>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8267405" y="2737599"/>
        <a:ext cx="822719" cy="3040256"/>
      </dsp:txXfrm>
    </dsp:sp>
    <dsp:sp modelId="{36A3BB42-C29C-D74E-A363-D196DF5E6995}">
      <dsp:nvSpPr>
        <dsp:cNvPr id="58" name="圆角矩形 57"/>
        <dsp:cNvSpPr/>
      </dsp:nvSpPr>
      <dsp:spPr bwMode="white">
        <a:xfrm>
          <a:off x="8358818" y="2824441"/>
          <a:ext cx="822719" cy="3040256"/>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人员录用</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人员离岗</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安全意识教育和培训</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外部人员访问管理</a:t>
          </a:r>
          <a:endParaRPr lang="en-US" altLang="zh-CN" sz="1000" dirty="0">
            <a:solidFill>
              <a:schemeClr val="dk1"/>
            </a:solidFill>
          </a:endParaRPr>
        </a:p>
        <a:p>
          <a:pPr lvl="0" algn="ctr">
            <a:lnSpc>
              <a:spcPct val="100000"/>
            </a:lnSpc>
            <a:spcBef>
              <a:spcPct val="0"/>
            </a:spcBef>
            <a:spcAft>
              <a:spcPct val="35000"/>
            </a:spcAft>
          </a:pPr>
          <a:endParaRPr lang="zh-CN" altLang="en-US" sz="1000" dirty="0">
            <a:solidFill>
              <a:schemeClr val="dk1"/>
            </a:solidFill>
          </a:endParaRPr>
        </a:p>
      </dsp:txBody>
      <dsp:txXfrm>
        <a:off x="8358818" y="2824441"/>
        <a:ext cx="822719" cy="3040256"/>
      </dsp:txXfrm>
    </dsp:sp>
    <dsp:sp modelId="{9F250A1C-BBAE-8F4D-BF7B-F71054202787}">
      <dsp:nvSpPr>
        <dsp:cNvPr id="60" name="圆角矩形 59"/>
        <dsp:cNvSpPr/>
      </dsp:nvSpPr>
      <dsp:spPr bwMode="white">
        <a:xfrm>
          <a:off x="9387111" y="1975898"/>
          <a:ext cx="1015688" cy="522427"/>
        </a:xfrm>
        <a:prstGeom prst="roundRect">
          <a:avLst>
            <a:gd name="adj" fmla="val 10000"/>
          </a:avLst>
        </a:prstGeom>
        <a:solidFill>
          <a:schemeClr val="accent5">
            <a:lumMod val="60000"/>
            <a:lumOff val="40000"/>
            <a:alpha val="90000"/>
          </a:schemeClr>
        </a:solidFill>
        <a:ln w="12700" cap="flat" cmpd="sng" algn="ctr">
          <a:solidFill>
            <a:srgbClr val="667AB3">
              <a:lumMod val="60000"/>
              <a:lumOff val="40000"/>
            </a:srgbClr>
          </a:solidFill>
          <a:prstDash val="solid"/>
          <a:miter lim="800000"/>
        </a:ln>
        <a:effectLst/>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9387111" y="1975898"/>
        <a:ext cx="1015688" cy="522427"/>
      </dsp:txXfrm>
    </dsp:sp>
    <dsp:sp modelId="{873D8DA9-4AF8-6F46-B1A3-7FD00F32E8F2}">
      <dsp:nvSpPr>
        <dsp:cNvPr id="61" name="圆角矩形 60"/>
        <dsp:cNvSpPr/>
      </dsp:nvSpPr>
      <dsp:spPr bwMode="white">
        <a:xfrm>
          <a:off x="9478524" y="2062741"/>
          <a:ext cx="1015688" cy="522427"/>
        </a:xfrm>
        <a:prstGeom prst="roundRect">
          <a:avLst>
            <a:gd name="adj" fmla="val 10000"/>
          </a:avLst>
        </a:prstGeom>
        <a:ln>
          <a:solidFill>
            <a:schemeClr val="accent5">
              <a:lumMod val="60000"/>
              <a:lumOff val="40000"/>
            </a:schemeClr>
          </a:solidFill>
        </a:ln>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45719" tIns="45719" rIns="45719" bIns="45719"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r>
            <a:rPr lang="zh-CN" altLang="en-US" dirty="0">
              <a:solidFill>
                <a:schemeClr val="dk1"/>
              </a:solidFill>
            </a:rPr>
            <a:t>安全建设管理</a:t>
          </a:r>
          <a:endParaRPr>
            <a:solidFill>
              <a:schemeClr val="dk1"/>
            </a:solidFill>
          </a:endParaRPr>
        </a:p>
      </dsp:txBody>
      <dsp:txXfrm>
        <a:off x="9478524" y="2062741"/>
        <a:ext cx="1015688" cy="522427"/>
      </dsp:txXfrm>
    </dsp:sp>
    <dsp:sp modelId="{8D0AE934-F28F-3A42-A474-6AB73EBB338E}">
      <dsp:nvSpPr>
        <dsp:cNvPr id="63" name="圆角矩形 62"/>
        <dsp:cNvSpPr/>
      </dsp:nvSpPr>
      <dsp:spPr bwMode="white">
        <a:xfrm>
          <a:off x="9272950" y="2737599"/>
          <a:ext cx="1244009" cy="3040256"/>
        </a:xfrm>
        <a:prstGeom prst="roundRect">
          <a:avLst>
            <a:gd name="adj" fmla="val 10000"/>
          </a:avLst>
        </a:prstGeom>
        <a:solidFill>
          <a:schemeClr val="accent5">
            <a:lumMod val="60000"/>
            <a:lumOff val="40000"/>
          </a:schemeClr>
        </a:solidFill>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9272950" y="2737599"/>
        <a:ext cx="1244009" cy="3040256"/>
      </dsp:txXfrm>
    </dsp:sp>
    <dsp:sp modelId="{38742771-20A9-2E4C-AC03-ED5904507749}">
      <dsp:nvSpPr>
        <dsp:cNvPr id="64" name="圆角矩形 63"/>
        <dsp:cNvSpPr/>
      </dsp:nvSpPr>
      <dsp:spPr bwMode="white">
        <a:xfrm>
          <a:off x="9364363" y="2824441"/>
          <a:ext cx="1244009" cy="3040256"/>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8100" tIns="38100" rIns="38100" bIns="38100" anchor="t"/>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1000" dirty="0">
              <a:solidFill>
                <a:schemeClr val="dk1"/>
              </a:solidFill>
            </a:rPr>
            <a:t>定级和备案</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安全方案设计</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产品采购和使用</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自行软件开发</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外包软件开发</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工程实施</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测试验收</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系统交付</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等级测评</a:t>
          </a:r>
          <a:endParaRPr lang="en-US" altLang="zh-CN" sz="1000" dirty="0">
            <a:solidFill>
              <a:schemeClr val="dk1"/>
            </a:solidFill>
          </a:endParaRPr>
        </a:p>
        <a:p>
          <a:pPr lvl="0" algn="l">
            <a:lnSpc>
              <a:spcPct val="100000"/>
            </a:lnSpc>
            <a:spcBef>
              <a:spcPct val="0"/>
            </a:spcBef>
            <a:spcAft>
              <a:spcPct val="35000"/>
            </a:spcAft>
          </a:pPr>
          <a:r>
            <a:rPr lang="zh-CN" altLang="en-US" sz="1000" dirty="0">
              <a:solidFill>
                <a:schemeClr val="dk1"/>
              </a:solidFill>
            </a:rPr>
            <a:t>服务供应商选择</a:t>
          </a:r>
          <a:endParaRPr>
            <a:solidFill>
              <a:schemeClr val="dk1"/>
            </a:solidFill>
          </a:endParaRPr>
        </a:p>
      </dsp:txBody>
      <dsp:txXfrm>
        <a:off x="9364363" y="2824441"/>
        <a:ext cx="1244009" cy="3040256"/>
      </dsp:txXfrm>
    </dsp:sp>
    <dsp:sp modelId="{1D032F63-1EAD-3B4B-81E3-0B9EA55CD28A}">
      <dsp:nvSpPr>
        <dsp:cNvPr id="66" name="圆角矩形 65"/>
        <dsp:cNvSpPr/>
      </dsp:nvSpPr>
      <dsp:spPr bwMode="white">
        <a:xfrm>
          <a:off x="10838599" y="1975898"/>
          <a:ext cx="966012" cy="522427"/>
        </a:xfrm>
        <a:prstGeom prst="roundRect">
          <a:avLst>
            <a:gd name="adj" fmla="val 10000"/>
          </a:avLst>
        </a:prstGeom>
        <a:solidFill>
          <a:schemeClr val="accent5">
            <a:lumMod val="60000"/>
            <a:lumOff val="40000"/>
            <a:alpha val="90000"/>
          </a:schemeClr>
        </a:solidFill>
        <a:ln w="12700" cap="flat" cmpd="sng" algn="ctr">
          <a:solidFill>
            <a:srgbClr val="667AB3">
              <a:lumMod val="60000"/>
              <a:lumOff val="40000"/>
            </a:srgbClr>
          </a:solidFill>
          <a:prstDash val="solid"/>
          <a:miter lim="800000"/>
        </a:ln>
        <a:effectLst/>
      </dsp:spPr>
      <dsp:style>
        <a:lnRef idx="2">
          <a:schemeClr val="lt1"/>
        </a:lnRef>
        <a:fillRef idx="1">
          <a:schemeClr val="accent3">
            <a:hueOff val="0"/>
            <a:satOff val="0"/>
            <a:lumOff val="0"/>
            <a:alpha val="100000"/>
          </a:schemeClr>
        </a:fillRef>
        <a:effectRef idx="0">
          <a:scrgbClr r="0" g="0" b="0"/>
        </a:effectRef>
        <a:fontRef idx="minor">
          <a:schemeClr val="lt1"/>
        </a:fontRef>
      </dsp:style>
      <dsp:txXfrm>
        <a:off x="10838599" y="1975898"/>
        <a:ext cx="966012" cy="522427"/>
      </dsp:txXfrm>
    </dsp:sp>
    <dsp:sp modelId="{55CB0F7C-BB3B-5C40-BFBE-8E1164035E36}">
      <dsp:nvSpPr>
        <dsp:cNvPr id="67" name="圆角矩形 66"/>
        <dsp:cNvSpPr/>
      </dsp:nvSpPr>
      <dsp:spPr bwMode="white">
        <a:xfrm>
          <a:off x="10930012" y="2062741"/>
          <a:ext cx="966012" cy="522427"/>
        </a:xfrm>
        <a:prstGeom prst="roundRect">
          <a:avLst>
            <a:gd name="adj" fmla="val 10000"/>
          </a:avLst>
        </a:prstGeom>
        <a:solidFill>
          <a:srgbClr val="FFFFFF">
            <a:alpha val="90000"/>
            <a:hueOff val="0"/>
            <a:satOff val="0"/>
            <a:lumOff val="0"/>
            <a:alphaOff val="0"/>
          </a:srgbClr>
        </a:solidFill>
        <a:ln w="12700" cap="flat" cmpd="sng" algn="ctr">
          <a:solidFill>
            <a:srgbClr val="667AB3">
              <a:lumMod val="60000"/>
              <a:lumOff val="40000"/>
            </a:srgbClr>
          </a:solidFill>
          <a:prstDash val="solid"/>
          <a:miter lim="800000"/>
        </a:ln>
        <a:effectLst/>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vert="horz" wrap="square" lIns="38100" tIns="38100" rIns="38100" bIns="38100" numCol="1" spcCol="1270" anchor="ctr" anchorCtr="0" forceAA="0"/>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marL="0" lvl="0" indent="0" algn="ctr" defTabSz="444500">
            <a:lnSpc>
              <a:spcPct val="90000"/>
            </a:lnSpc>
            <a:spcBef>
              <a:spcPct val="0"/>
            </a:spcBef>
            <a:spcAft>
              <a:spcPct val="35000"/>
            </a:spcAft>
            <a:buNone/>
          </a:pPr>
          <a:r>
            <a:rPr lang="zh-CN" altLang="en-US" sz="1000" kern="1200" dirty="0">
              <a:solidFill>
                <a:srgbClr val="000000">
                  <a:hueOff val="0"/>
                  <a:satOff val="0"/>
                  <a:lumOff val="0"/>
                  <a:alphaOff val="0"/>
                </a:srgbClr>
              </a:solidFill>
              <a:latin typeface="Arial" panose="020B0604020202020204"/>
              <a:ea typeface="微软雅黑" panose="020B0503020204020204" pitchFamily="34" charset="-122"/>
              <a:cs typeface="+mn-cs"/>
            </a:rPr>
            <a:t>安全运维管理</a:t>
          </a:r>
          <a:endParaRPr>
            <a:solidFill>
              <a:schemeClr val="dk1"/>
            </a:solidFill>
          </a:endParaRPr>
        </a:p>
      </dsp:txBody>
      <dsp:txXfrm>
        <a:off x="10930012" y="2062741"/>
        <a:ext cx="966012" cy="522427"/>
      </dsp:txXfrm>
    </dsp:sp>
    <dsp:sp modelId="{1BF612D8-3152-9C48-9EFC-6FE45E7F00B5}">
      <dsp:nvSpPr>
        <dsp:cNvPr id="69" name="圆角矩形 68"/>
        <dsp:cNvSpPr/>
      </dsp:nvSpPr>
      <dsp:spPr bwMode="white">
        <a:xfrm>
          <a:off x="10699785" y="2737599"/>
          <a:ext cx="1243638" cy="3040256"/>
        </a:xfrm>
        <a:prstGeom prst="roundRect">
          <a:avLst>
            <a:gd name="adj" fmla="val 10000"/>
          </a:avLst>
        </a:prstGeom>
        <a:solidFill>
          <a:schemeClr val="accent5">
            <a:lumMod val="60000"/>
            <a:lumOff val="40000"/>
          </a:schemeClr>
        </a:solidFill>
      </dsp:spPr>
      <dsp:style>
        <a:lnRef idx="2">
          <a:schemeClr val="lt1"/>
        </a:lnRef>
        <a:fillRef idx="1">
          <a:schemeClr val="accent4">
            <a:hueOff val="0"/>
            <a:satOff val="0"/>
            <a:lumOff val="0"/>
            <a:alpha val="100000"/>
          </a:schemeClr>
        </a:fillRef>
        <a:effectRef idx="0">
          <a:scrgbClr r="0" g="0" b="0"/>
        </a:effectRef>
        <a:fontRef idx="minor">
          <a:schemeClr val="lt1"/>
        </a:fontRef>
      </dsp:style>
      <dsp:txXfrm>
        <a:off x="10699785" y="2737599"/>
        <a:ext cx="1243638" cy="3040256"/>
      </dsp:txXfrm>
    </dsp:sp>
    <dsp:sp modelId="{0E710799-4D9D-414C-B169-6721A567D7D4}">
      <dsp:nvSpPr>
        <dsp:cNvPr id="70" name="圆角矩形 69"/>
        <dsp:cNvSpPr/>
      </dsp:nvSpPr>
      <dsp:spPr bwMode="white">
        <a:xfrm>
          <a:off x="10791199" y="2824441"/>
          <a:ext cx="1243638" cy="3040256"/>
        </a:xfrm>
        <a:prstGeom prst="roundRect">
          <a:avLst>
            <a:gd name="adj" fmla="val 10000"/>
          </a:avLst>
        </a:prstGeom>
      </dsp:spPr>
      <dsp:style>
        <a:lnRef idx="2">
          <a:schemeClr val="accent4">
            <a:hueOff val="0"/>
            <a:satOff val="0"/>
            <a:lumOff val="0"/>
            <a:alpha val="100000"/>
          </a:schemeClr>
        </a:lnRef>
        <a:fillRef idx="1">
          <a:schemeClr val="lt1">
            <a:alpha val="90000"/>
          </a:schemeClr>
        </a:fillRef>
        <a:effectRef idx="0">
          <a:scrgbClr r="0" g="0" b="0"/>
        </a:effectRef>
        <a:fontRef idx="minor"/>
      </dsp:style>
      <dsp:txBody>
        <a:bodyPr lIns="30480" tIns="30480" rIns="30480" bIns="3048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gn="l">
            <a:lnSpc>
              <a:spcPct val="100000"/>
            </a:lnSpc>
            <a:spcBef>
              <a:spcPct val="0"/>
            </a:spcBef>
            <a:spcAft>
              <a:spcPct val="35000"/>
            </a:spcAft>
          </a:pPr>
          <a:r>
            <a:rPr lang="zh-CN" altLang="en-US" sz="800" dirty="0">
              <a:solidFill>
                <a:schemeClr val="dk1"/>
              </a:solidFill>
            </a:rPr>
            <a:t>环境管理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资产管理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介质管理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设备维护管理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漏洞和风险管理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网络和系统安全管理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恶意代码防范管理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配置管理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密码管理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变更管理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备份与恢复管理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安全事件处置</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应急预案管理</a:t>
          </a:r>
          <a:endParaRPr lang="en-US" altLang="zh-CN" sz="800" dirty="0">
            <a:solidFill>
              <a:schemeClr val="dk1"/>
            </a:solidFill>
          </a:endParaRPr>
        </a:p>
        <a:p>
          <a:pPr lvl="0" algn="l">
            <a:lnSpc>
              <a:spcPct val="100000"/>
            </a:lnSpc>
            <a:spcBef>
              <a:spcPct val="0"/>
            </a:spcBef>
            <a:spcAft>
              <a:spcPct val="35000"/>
            </a:spcAft>
          </a:pPr>
          <a:r>
            <a:rPr lang="zh-CN" altLang="en-US" sz="800" dirty="0">
              <a:solidFill>
                <a:schemeClr val="dk1"/>
              </a:solidFill>
            </a:rPr>
            <a:t>外包运维管理</a:t>
          </a:r>
          <a:endParaRPr lang="en-US" altLang="zh-CN" sz="800" dirty="0">
            <a:solidFill>
              <a:schemeClr val="dk1"/>
            </a:solidFill>
          </a:endParaRPr>
        </a:p>
      </dsp:txBody>
      <dsp:txXfrm>
        <a:off x="10791199" y="2824441"/>
        <a:ext cx="1243638" cy="3040256"/>
      </dsp:txXfrm>
    </dsp:sp>
  </dsp:spTree>
</dsp:drawing>
</file>

<file path=ppt/diagrams/layout1.xml><?xml version="1.0" encoding="utf-8"?>
<dgm:layoutDef xmlns:dgm="http://schemas.openxmlformats.org/drawingml/2006/diagram" xmlns:a="http://schemas.openxmlformats.org/drawingml/2006/main" uniqueId="urn:microsoft.com/office/officeart/2005/8/layout/radial6#1">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4AEB5BA-070A-40AD-B51A-9065833611A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846723C-6EBA-48B0-A322-3094C15F2C6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23600A-C154-41C3-8030-6BEECF35162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B3D6FF-7EB3-4CDF-A3FE-3FE06AD83DB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a:solidFill>
              <a:srgbClr val="000000">
                <a:alpha val="100000"/>
              </a:srgbClr>
            </a:solidFill>
            <a:miter lim="800000"/>
          </a:ln>
        </p:spPr>
      </p:sp>
      <p:sp>
        <p:nvSpPr>
          <p:cNvPr id="35843" name="备注占位符 2"/>
          <p:cNvSpPr>
            <a:spLocks noGrp="1"/>
          </p:cNvSpPr>
          <p:nvPr>
            <p:ph type="body" idx="1"/>
          </p:nvPr>
        </p:nvSpPr>
        <p:spPr>
          <a:noFill/>
          <a:ln>
            <a:noFill/>
          </a:ln>
        </p:spPr>
        <p:txBody>
          <a:bodyPr wrap="square" lIns="91440" tIns="45720" rIns="91440" bIns="45720" anchor="t"/>
          <a:lstStyle/>
          <a:p>
            <a:pPr lvl="0"/>
            <a:endParaRPr lang="zh-CN" altLang="zh-CN" dirty="0"/>
          </a:p>
        </p:txBody>
      </p:sp>
      <p:sp>
        <p:nvSpPr>
          <p:cNvPr id="35844"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fld id="{9A0DB2DC-4C9A-4742-B13C-FB6460FD3503}" type="slidenum">
              <a:rPr lang="zh-CN" altLang="en-US" sz="1200" b="0" dirty="0">
                <a:ea typeface="宋体" panose="02010600030101010101" pitchFamily="2" charset="-122"/>
              </a:rPr>
            </a:fld>
            <a:endParaRPr lang="zh-CN" altLang="en-US" sz="1200" b="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440C82D-2687-4AEF-B221-55CB30CBFBD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CC81A-4912-40B6-A30F-57B53E5A011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云计算、大数据、物联网、人工智能、移动</a:t>
            </a:r>
            <a:r>
              <a:rPr lang="zh-CN" altLang="en-US"/>
              <a:t>互联网</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一些常见的关键信息基础设施：</a:t>
            </a:r>
            <a:endParaRPr lang="zh-CN" altLang="en-US"/>
          </a:p>
          <a:p>
            <a:r>
              <a:rPr lang="zh-CN" altLang="en-US"/>
              <a:t>电力系统：包括发电厂、变电站、输电网、配电网等。</a:t>
            </a:r>
            <a:endParaRPr lang="zh-CN" altLang="en-US"/>
          </a:p>
          <a:p>
            <a:r>
              <a:rPr lang="zh-CN" altLang="en-US"/>
              <a:t>通信系统：包括固定电话、移动电话、互联网、广播电视等。</a:t>
            </a:r>
            <a:endParaRPr lang="zh-CN" altLang="en-US"/>
          </a:p>
          <a:p>
            <a:r>
              <a:rPr lang="zh-CN" altLang="en-US"/>
              <a:t>金融系统：包括银行、证券、期货、保险等。</a:t>
            </a:r>
            <a:endParaRPr lang="zh-CN" altLang="en-US"/>
          </a:p>
          <a:p>
            <a:r>
              <a:rPr lang="zh-CN" altLang="en-US"/>
              <a:t>水利系统：包括水库、水闸、堤防等。</a:t>
            </a:r>
            <a:endParaRPr lang="zh-CN" altLang="en-US"/>
          </a:p>
          <a:p>
            <a:r>
              <a:rPr lang="zh-CN" altLang="en-US"/>
              <a:t>交通运输系统：包括公路、铁路、航空、港口等。</a:t>
            </a:r>
            <a:endParaRPr lang="zh-CN" altLang="en-US"/>
          </a:p>
          <a:p>
            <a:r>
              <a:rPr lang="zh-CN" altLang="en-US"/>
              <a:t>公共服务：包括医疗卫生、教育、政府机构等。</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误区一：系统已上云或托管，就不用做等保</a:t>
            </a:r>
            <a:endParaRPr lang="zh-CN" altLang="en-US"/>
          </a:p>
          <a:p>
            <a:endParaRPr lang="zh-CN" altLang="en-US"/>
          </a:p>
          <a:p>
            <a:r>
              <a:rPr lang="zh-CN" altLang="en-US"/>
              <a:t>系统责任主体是属于网络运营者自己，需要承担相应的网络安全责任。</a:t>
            </a:r>
            <a:endParaRPr lang="zh-CN" altLang="en-US"/>
          </a:p>
          <a:p>
            <a:endParaRPr lang="zh-CN" altLang="en-US"/>
          </a:p>
          <a:p>
            <a:r>
              <a:rPr lang="zh-CN" altLang="en-US"/>
              <a:t>误区二：系统定级越低越好</a:t>
            </a:r>
            <a:endParaRPr lang="zh-CN" altLang="en-US"/>
          </a:p>
          <a:p>
            <a:endParaRPr lang="zh-CN" altLang="en-US"/>
          </a:p>
          <a:p>
            <a:r>
              <a:rPr lang="zh-CN" altLang="en-US"/>
              <a:t>系统定级需要合理，安全责任没有履行到位会被处罚。</a:t>
            </a:r>
            <a:endParaRPr lang="zh-CN" altLang="en-US"/>
          </a:p>
          <a:p>
            <a:endParaRPr lang="zh-CN" altLang="en-US"/>
          </a:p>
          <a:p>
            <a:r>
              <a:rPr lang="zh-CN" altLang="en-US"/>
              <a:t>误区三：等保工作做测评就可以</a:t>
            </a:r>
            <a:endParaRPr lang="zh-CN" altLang="en-US"/>
          </a:p>
          <a:p>
            <a:endParaRPr lang="zh-CN" altLang="en-US"/>
          </a:p>
          <a:p>
            <a:r>
              <a:rPr lang="zh-CN" altLang="en-US"/>
              <a:t>测评只是等级保护工作中的一项。</a:t>
            </a:r>
            <a:endParaRPr lang="zh-CN" altLang="en-US"/>
          </a:p>
          <a:p>
            <a:endParaRPr lang="zh-CN" altLang="en-US"/>
          </a:p>
          <a:p>
            <a:r>
              <a:rPr lang="zh-CN" altLang="en-US"/>
              <a:t>误区四：等保测评做过一次就可以了</a:t>
            </a:r>
            <a:endParaRPr lang="zh-CN" altLang="en-US"/>
          </a:p>
          <a:p>
            <a:endParaRPr lang="zh-CN" altLang="en-US"/>
          </a:p>
          <a:p>
            <a:r>
              <a:rPr lang="zh-CN" altLang="en-US"/>
              <a:t>等保工作需要根据具体的行业规定需求安排合理的评测时间。</a:t>
            </a:r>
            <a:endParaRPr lang="zh-CN" altLang="en-US"/>
          </a:p>
          <a:p>
            <a:endParaRPr lang="zh-CN" altLang="en-US"/>
          </a:p>
          <a:p>
            <a:r>
              <a:rPr lang="zh-CN" altLang="en-US"/>
              <a:t>误区五：系统在内网，不需要做等保</a:t>
            </a:r>
            <a:endParaRPr lang="zh-CN" altLang="en-US"/>
          </a:p>
          <a:p>
            <a:endParaRPr lang="zh-CN" altLang="en-US"/>
          </a:p>
          <a:p>
            <a:r>
              <a:rPr lang="zh-CN" altLang="en-US"/>
              <a:t>所有非涉密系统都属于等级保护范畴。</a:t>
            </a:r>
            <a:endParaRPr lang="zh-CN" altLang="en-US"/>
          </a:p>
          <a:p>
            <a:endParaRPr lang="zh-CN" altLang="en-US"/>
          </a:p>
          <a:p>
            <a:r>
              <a:rPr lang="zh-CN" altLang="en-US"/>
              <a:t>误区六：单位整体做一个等保测评</a:t>
            </a:r>
            <a:endParaRPr lang="zh-CN" altLang="en-US"/>
          </a:p>
          <a:p>
            <a:endParaRPr lang="zh-CN" altLang="en-US"/>
          </a:p>
          <a:p>
            <a:r>
              <a:rPr lang="zh-CN" altLang="en-US"/>
              <a:t>等保测评是按照信息系统来的，而不是单位</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目前国内主要的等保测评机构有以下几家：</a:t>
            </a:r>
            <a:endParaRPr lang="zh-CN" altLang="en-US"/>
          </a:p>
          <a:p>
            <a:r>
              <a:rPr lang="zh-CN" altLang="en-US"/>
              <a:t>中国信息安全测评中心（CIS）</a:t>
            </a:r>
            <a:endParaRPr lang="zh-CN" altLang="en-US"/>
          </a:p>
          <a:p>
            <a:r>
              <a:rPr lang="zh-CN" altLang="en-US"/>
              <a:t>中国电子技术标准化研究院（CESI）</a:t>
            </a:r>
            <a:endParaRPr lang="zh-CN" altLang="en-US"/>
          </a:p>
          <a:p>
            <a:r>
              <a:rPr lang="zh-CN" altLang="en-US"/>
              <a:t>国家信息安全漏洞库评估中心（CNVD）</a:t>
            </a:r>
            <a:endParaRPr lang="zh-CN" altLang="en-US"/>
          </a:p>
          <a:p>
            <a:r>
              <a:rPr lang="zh-CN" altLang="en-US"/>
              <a:t>国家加密管理局密码测评中心（CMVP）</a:t>
            </a:r>
            <a:endParaRPr lang="zh-CN" altLang="en-US"/>
          </a:p>
          <a:p>
            <a:r>
              <a:rPr lang="zh-CN" altLang="en-US"/>
              <a:t>中国民用航空局信息安全测评中心</a:t>
            </a:r>
            <a:endParaRPr lang="zh-CN" altLang="en-US"/>
          </a:p>
          <a:p>
            <a:r>
              <a:rPr lang="zh-CN" altLang="en-US"/>
              <a:t>中国船级社信息技术安全评估中心</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HIS是医院信息系统（Hospital Information System），主要用于管理医院的业务流程和信息化管理，包括医生、护士、病人等各方面的信息管理。</a:t>
            </a:r>
            <a:endParaRPr lang="zh-CN" altLang="en-US"/>
          </a:p>
          <a:p>
            <a:r>
              <a:rPr lang="zh-CN" altLang="en-US"/>
              <a:t>LIS是实验室信息系统（Laboratory Information System），主要用于管理医疗实验室的各项业务和信息化管理，如检查项目管理、样本管理、结果分析等。</a:t>
            </a:r>
            <a:endParaRPr lang="zh-CN" altLang="en-US"/>
          </a:p>
          <a:p>
            <a:r>
              <a:rPr lang="zh-CN" altLang="en-US"/>
              <a:t>PACS是影像存储和传输系统（Picture Archiving and Communication System），主要用于医学影像的数字化存储、传输、处理和分析。</a:t>
            </a:r>
            <a:endParaRPr lang="zh-CN" altLang="en-US"/>
          </a:p>
          <a:p>
            <a:r>
              <a:rPr lang="zh-CN" altLang="en-US"/>
              <a:t>EMR是电子病历（Electronic Medical Record），是指将纸质病历转化为电子化形式，方便医生查看和管理患者的病历信息。门户网站则是医院信息门户网站，提供医院的相关信息、服务和业务流程等，方便病人、医生、护士等用户进行查询和使用。</a:t>
            </a:r>
            <a:endParaRPr lang="zh-CN" altLang="en-US"/>
          </a:p>
          <a:p>
            <a:r>
              <a:rPr lang="zh-CN" altLang="en-US"/>
              <a:t>门户网站是指提供各种网络服务、信息和资源的网站，类似于一个入口或大门，用户可以通过门户网站访问新闻、财经、娱乐、科技等多种信息内容，并且可以进行在线购物、社交、游戏等多种互动活动。门户网站通常具有较高的流量和广告收入，是互联网行业的重要组成部分。一些著名的门户网站包括：新浪、搜狐、网易等。</a:t>
            </a:r>
            <a:endParaRPr lang="zh-CN" altLang="en-US"/>
          </a:p>
          <a:p>
            <a:r>
              <a:rPr lang="zh-CN" altLang="en-US"/>
              <a:t>OA系统是办公自动化系统（Office Automation System），主要用于医院行政管理和办公流程的自动化处理，包括文件管理、会议管理、公文处理等。</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B3D6FF-7EB3-4CDF-A3FE-3FE06AD83DB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FB3D6FF-7EB3-4CDF-A3FE-3FE06AD83DB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B3D6FF-7EB3-4CDF-A3FE-3FE06AD83DB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B3D6FF-7EB3-4CDF-A3FE-3FE06AD83DB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F4DA30-AA03-4F72-96B9-33D624FA8F4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B3D6FF-7EB3-4CDF-A3FE-3FE06AD83DB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FB3D6FF-7EB3-4CDF-A3FE-3FE06AD83DB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AV（Antivirus）反病毒软件</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5"/>
          </p:nvPr>
        </p:nvSpPr>
        <p:spPr/>
        <p:txBody>
          <a:bodyPr/>
          <a:lstStyle/>
          <a:p>
            <a:fld id="{DFB3D6FF-7EB3-4CDF-A3FE-3FE06AD83DB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a:blip r:embed="rId2"/>
          <a:stretch>
            <a:fillRect/>
          </a:stretch>
        </a:blipFill>
        <a:effectLst/>
      </p:bgPr>
    </p:bg>
    <p:spTree>
      <p:nvGrpSpPr>
        <p:cNvPr id="1" name=""/>
        <p:cNvGrpSpPr/>
        <p:nvPr/>
      </p:nvGrpSpPr>
      <p:grpSpPr>
        <a:xfrm>
          <a:off x="0" y="0"/>
          <a:ext cx="0" cy="0"/>
          <a:chOff x="0" y="0"/>
          <a:chExt cx="0" cy="0"/>
        </a:xfrm>
      </p:grpSpPr>
      <p:pic>
        <p:nvPicPr>
          <p:cNvPr id="7" name="Picture 2" descr="서식1"/>
          <p:cNvPicPr>
            <a:picLocks noChangeArrowheads="1"/>
          </p:cNvPicPr>
          <p:nvPr userDrawn="1"/>
        </p:nvPicPr>
        <p:blipFill>
          <a:blip r:embed="rId3"/>
          <a:srcRect/>
          <a:stretch>
            <a:fillRect/>
          </a:stretch>
        </p:blipFill>
        <p:spPr bwMode="auto">
          <a:xfrm>
            <a:off x="0" y="-152400"/>
            <a:ext cx="12204700" cy="6873875"/>
          </a:xfrm>
          <a:prstGeom prst="rect">
            <a:avLst/>
          </a:prstGeom>
          <a:noFill/>
          <a:ln w="9525">
            <a:noFill/>
            <a:miter lim="800000"/>
            <a:headEnd/>
            <a:tailEnd/>
          </a:ln>
        </p:spPr>
      </p:pic>
      <p:sp>
        <p:nvSpPr>
          <p:cNvPr id="2" name="标题 1"/>
          <p:cNvSpPr>
            <a:spLocks noGrp="1"/>
          </p:cNvSpPr>
          <p:nvPr>
            <p:ph type="ctrTitle"/>
          </p:nvPr>
        </p:nvSpPr>
        <p:spPr>
          <a:xfrm>
            <a:off x="1343472" y="115888"/>
            <a:ext cx="9829800" cy="2387600"/>
          </a:xfrm>
        </p:spPr>
        <p:txBody>
          <a:bodyPr anchor="b"/>
          <a:lstStyle>
            <a:lvl1pPr algn="ctr">
              <a:defRPr sz="600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686372" y="2956719"/>
            <a:ext cx="9144000" cy="1655762"/>
          </a:xfrm>
        </p:spPr>
        <p:txBody>
          <a:bodyPr>
            <a:normAutofit/>
          </a:bodyPr>
          <a:lstStyle>
            <a:lvl1pPr marL="0" indent="0" algn="ctr">
              <a:buNone/>
              <a:defRPr sz="3200">
                <a:solidFill>
                  <a:schemeClr val="bg1"/>
                </a:solidFill>
                <a:latin typeface="华文细黑" panose="02010600040101010101" pitchFamily="2" charset="-122"/>
                <a:ea typeface="华文细黑" panose="020106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5" name="页脚占位符 4"/>
          <p:cNvSpPr>
            <a:spLocks noGrp="1"/>
          </p:cNvSpPr>
          <p:nvPr>
            <p:ph type="ftr" sz="quarter" idx="11"/>
          </p:nvPr>
        </p:nvSpPr>
        <p:spPr/>
        <p:txBody>
          <a:bodyPr/>
          <a:lstStyle>
            <a:lvl1pPr>
              <a:defRPr>
                <a:solidFill>
                  <a:schemeClr val="bg1"/>
                </a:solidFill>
              </a:defRPr>
            </a:lvl1pPr>
          </a:lstStyle>
          <a:p>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10515600" cy="1325563"/>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华文细黑" panose="02010600040101010101" pitchFamily="2" charset="-122"/>
                <a:ea typeface="华文细黑" panose="02010600040101010101" pitchFamily="2" charset="-122"/>
              </a:defRPr>
            </a:lvl1pPr>
            <a:lvl2pPr>
              <a:defRPr>
                <a:latin typeface="华文细黑" panose="02010600040101010101" pitchFamily="2" charset="-122"/>
                <a:ea typeface="华文细黑" panose="02010600040101010101" pitchFamily="2" charset="-122"/>
              </a:defRPr>
            </a:lvl2pPr>
            <a:lvl3pPr>
              <a:defRPr>
                <a:latin typeface="华文细黑" panose="02010600040101010101" pitchFamily="2" charset="-122"/>
                <a:ea typeface="华文细黑" panose="02010600040101010101" pitchFamily="2" charset="-122"/>
              </a:defRPr>
            </a:lvl3pPr>
            <a:lvl4pPr>
              <a:defRPr>
                <a:latin typeface="华文细黑" panose="02010600040101010101" pitchFamily="2" charset="-122"/>
                <a:ea typeface="华文细黑" panose="02010600040101010101" pitchFamily="2" charset="-122"/>
              </a:defRPr>
            </a:lvl4pPr>
            <a:lvl5pPr>
              <a:defRPr>
                <a:latin typeface="华文细黑" panose="02010600040101010101" pitchFamily="2" charset="-122"/>
                <a:ea typeface="华文细黑" panose="02010600040101010101" pitchFamily="2"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210F40C2-FE83-47D7-A037-AF832E6E4B2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10F40C2-FE83-47D7-A037-AF832E6E4B2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07368" y="0"/>
            <a:ext cx="10515600" cy="1325563"/>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10F40C2-FE83-47D7-A037-AF832E6E4B2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10F40C2-FE83-47D7-A037-AF832E6E4B2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09600" y="1142984"/>
            <a:ext cx="5384800" cy="49831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142984"/>
            <a:ext cx="5384800" cy="49831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标题 1"/>
          <p:cNvSpPr>
            <a:spLocks noGrp="1"/>
          </p:cNvSpPr>
          <p:nvPr>
            <p:ph type="title"/>
          </p:nvPr>
        </p:nvSpPr>
        <p:spPr>
          <a:xfrm>
            <a:off x="190459" y="357166"/>
            <a:ext cx="11811083" cy="642942"/>
          </a:xfrm>
        </p:spPr>
        <p:txBody>
          <a:bodyPr>
            <a:normAutofit/>
          </a:bodyPr>
          <a:lstStyle>
            <a:lvl1pPr algn="l">
              <a:defRPr sz="2600"/>
            </a:lvl1pPr>
          </a:lstStyle>
          <a:p>
            <a:r>
              <a:rPr lang="zh-CN" altLang="en-US"/>
              <a:t>单击此处编辑母版标题样式</a:t>
            </a:r>
            <a:endParaRPr lang="zh-CN" altLang="en-US" dirty="0"/>
          </a:p>
        </p:txBody>
      </p:sp>
      <p:sp>
        <p:nvSpPr>
          <p:cNvPr id="2" name="日期占位符 1"/>
          <p:cNvSpPr>
            <a:spLocks noGrp="1"/>
          </p:cNvSpPr>
          <p:nvPr>
            <p:ph type="dt" sz="half" idx="10"/>
          </p:nvPr>
        </p:nvSpPr>
        <p:spPr>
          <a:xfrm>
            <a:off x="190500" y="6324600"/>
            <a:ext cx="2844800" cy="184150"/>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a:blip r:embed="rId2"/>
          <a:stretch>
            <a:fillRect/>
          </a:stretch>
        </a:blipFill>
        <a:effectLst/>
      </p:bgPr>
    </p:bg>
    <p:spTree>
      <p:nvGrpSpPr>
        <p:cNvPr id="1" name=""/>
        <p:cNvGrpSpPr/>
        <p:nvPr/>
      </p:nvGrpSpPr>
      <p:grpSpPr>
        <a:xfrm>
          <a:off x="0" y="0"/>
          <a:ext cx="0" cy="0"/>
          <a:chOff x="0" y="0"/>
          <a:chExt cx="0" cy="0"/>
        </a:xfrm>
      </p:grpSpPr>
      <p:pic>
        <p:nvPicPr>
          <p:cNvPr id="7" name="Picture 2" descr="서식1"/>
          <p:cNvPicPr>
            <a:picLocks noChangeArrowheads="1"/>
          </p:cNvPicPr>
          <p:nvPr userDrawn="1"/>
        </p:nvPicPr>
        <p:blipFill>
          <a:blip r:embed="rId3"/>
          <a:srcRect/>
          <a:stretch>
            <a:fillRect/>
          </a:stretch>
        </p:blipFill>
        <p:spPr bwMode="auto">
          <a:xfrm>
            <a:off x="0" y="-152400"/>
            <a:ext cx="12204700" cy="6873875"/>
          </a:xfrm>
          <a:prstGeom prst="rect">
            <a:avLst/>
          </a:prstGeom>
          <a:noFill/>
          <a:ln w="9525">
            <a:noFill/>
            <a:miter lim="800000"/>
            <a:headEnd/>
            <a:tailEnd/>
          </a:ln>
        </p:spPr>
      </p:pic>
      <p:sp>
        <p:nvSpPr>
          <p:cNvPr id="2" name="标题 1"/>
          <p:cNvSpPr>
            <a:spLocks noGrp="1"/>
          </p:cNvSpPr>
          <p:nvPr>
            <p:ph type="ctrTitle"/>
          </p:nvPr>
        </p:nvSpPr>
        <p:spPr>
          <a:xfrm>
            <a:off x="1343472" y="115888"/>
            <a:ext cx="9829800" cy="2387600"/>
          </a:xfrm>
        </p:spPr>
        <p:txBody>
          <a:bodyPr anchor="b"/>
          <a:lstStyle>
            <a:lvl1pPr algn="ctr">
              <a:defRPr sz="600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686372" y="2956719"/>
            <a:ext cx="9144000" cy="1655762"/>
          </a:xfrm>
        </p:spPr>
        <p:txBody>
          <a:bodyPr>
            <a:normAutofit/>
          </a:bodyPr>
          <a:lstStyle>
            <a:lvl1pPr marL="0" indent="0" algn="ctr">
              <a:buNone/>
              <a:defRPr sz="3200">
                <a:solidFill>
                  <a:schemeClr val="bg1"/>
                </a:solidFill>
                <a:latin typeface="华文细黑" panose="02010600040101010101" pitchFamily="2" charset="-122"/>
                <a:ea typeface="华文细黑" panose="020106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5" name="页脚占位符 4"/>
          <p:cNvSpPr>
            <a:spLocks noGrp="1"/>
          </p:cNvSpPr>
          <p:nvPr>
            <p:ph type="ftr" sz="quarter" idx="11"/>
          </p:nvPr>
        </p:nvSpPr>
        <p:spPr/>
        <p:txBody>
          <a:bodyPr/>
          <a:lstStyle>
            <a:lvl1pPr>
              <a:defRPr>
                <a:solidFill>
                  <a:schemeClr val="bg1"/>
                </a:solidFill>
              </a:defRPr>
            </a:lvl1pPr>
          </a:lstStyle>
          <a:p>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10515600" cy="1325563"/>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华文细黑" panose="02010600040101010101" pitchFamily="2" charset="-122"/>
                <a:ea typeface="华文细黑" panose="02010600040101010101" pitchFamily="2" charset="-122"/>
              </a:defRPr>
            </a:lvl1pPr>
            <a:lvl2pPr>
              <a:defRPr>
                <a:latin typeface="华文细黑" panose="02010600040101010101" pitchFamily="2" charset="-122"/>
                <a:ea typeface="华文细黑" panose="02010600040101010101" pitchFamily="2" charset="-122"/>
              </a:defRPr>
            </a:lvl2pPr>
            <a:lvl3pPr>
              <a:defRPr>
                <a:latin typeface="华文细黑" panose="02010600040101010101" pitchFamily="2" charset="-122"/>
                <a:ea typeface="华文细黑" panose="02010600040101010101" pitchFamily="2" charset="-122"/>
              </a:defRPr>
            </a:lvl3pPr>
            <a:lvl4pPr>
              <a:defRPr>
                <a:latin typeface="华文细黑" panose="02010600040101010101" pitchFamily="2" charset="-122"/>
                <a:ea typeface="华文细黑" panose="02010600040101010101" pitchFamily="2" charset="-122"/>
              </a:defRPr>
            </a:lvl4pPr>
            <a:lvl5pPr>
              <a:defRPr>
                <a:latin typeface="华文细黑" panose="02010600040101010101" pitchFamily="2" charset="-122"/>
                <a:ea typeface="华文细黑" panose="02010600040101010101" pitchFamily="2"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页脚占位符 4"/>
          <p:cNvSpPr>
            <a:spLocks noGrp="1"/>
          </p:cNvSpPr>
          <p:nvPr>
            <p:ph type="ftr" sz="quarter" idx="11"/>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210F40C2-FE83-47D7-A037-AF832E6E4B2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10F40C2-FE83-47D7-A037-AF832E6E4B2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07368" y="0"/>
            <a:ext cx="10515600" cy="1325563"/>
          </a:xfrm>
        </p:spPr>
        <p:txBody>
          <a:bodyPr/>
          <a:lstStyle>
            <a:lvl1pPr>
              <a:defRPr>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10F40C2-FE83-47D7-A037-AF832E6E4B2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10F40C2-FE83-47D7-A037-AF832E6E4B2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E4291F4-0324-4E45-B059-2A77458ED3B8}" type="slidenum">
              <a:rPr lang="zh-CN" altLang="en-US" smtClean="0"/>
            </a:fld>
            <a:endParaRPr lang="zh-CN" altLang="en-US"/>
          </a:p>
        </p:txBody>
      </p:sp>
      <p:pic>
        <p:nvPicPr>
          <p:cNvPr id="8" name="图片 7" descr="WechatIMG102"/>
          <p:cNvPicPr>
            <a:picLocks noChangeAspect="1"/>
          </p:cNvPicPr>
          <p:nvPr userDrawn="1"/>
        </p:nvPicPr>
        <p:blipFill>
          <a:blip r:embed="rId2"/>
          <a:stretch>
            <a:fillRect/>
          </a:stretch>
        </p:blipFill>
        <p:spPr>
          <a:xfrm>
            <a:off x="10420985" y="114300"/>
            <a:ext cx="1619885" cy="565150"/>
          </a:xfrm>
          <a:prstGeom prst="rect">
            <a:avLst/>
          </a:prstGeom>
        </p:spPr>
      </p:pic>
      <p:pic>
        <p:nvPicPr>
          <p:cNvPr id="9" name="图片 8" descr="图层2"/>
          <p:cNvPicPr>
            <a:picLocks noChangeAspect="1"/>
          </p:cNvPicPr>
          <p:nvPr userDrawn="1"/>
        </p:nvPicPr>
        <p:blipFill>
          <a:blip r:embed="rId3">
            <a:grayscl/>
            <a:lum bright="70000" contrast="-70000"/>
          </a:blip>
          <a:stretch>
            <a:fillRect/>
          </a:stretch>
        </p:blipFill>
        <p:spPr>
          <a:xfrm>
            <a:off x="-22225" y="4653136"/>
            <a:ext cx="12231370" cy="2242329"/>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E4291F4-0324-4E45-B059-2A77458ED3B8}" type="slidenum">
              <a:rPr lang="zh-CN" altLang="en-US" smtClean="0"/>
            </a:fld>
            <a:endParaRPr lang="zh-CN" altLang="en-US"/>
          </a:p>
        </p:txBody>
      </p:sp>
      <p:pic>
        <p:nvPicPr>
          <p:cNvPr id="6" name="图片 5" descr="WechatIMG103"/>
          <p:cNvPicPr>
            <a:picLocks noChangeAspect="1"/>
          </p:cNvPicPr>
          <p:nvPr userDrawn="1"/>
        </p:nvPicPr>
        <p:blipFill>
          <a:blip r:embed="rId2"/>
          <a:stretch>
            <a:fillRect/>
          </a:stretch>
        </p:blipFill>
        <p:spPr>
          <a:xfrm>
            <a:off x="231140" y="145415"/>
            <a:ext cx="1971040" cy="58801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AE4291F4-0324-4E45-B059-2A77458ED3B8}" type="slidenum">
              <a:rPr lang="zh-CN" altLang="en-US" smtClean="0"/>
            </a:fld>
            <a:endParaRPr lang="zh-CN" altLang="en-US"/>
          </a:p>
        </p:txBody>
      </p:sp>
      <p:pic>
        <p:nvPicPr>
          <p:cNvPr id="5" name="图片 4" descr="图层1"/>
          <p:cNvPicPr>
            <a:picLocks noChangeAspect="1"/>
          </p:cNvPicPr>
          <p:nvPr userDrawn="1"/>
        </p:nvPicPr>
        <p:blipFill>
          <a:blip r:embed="rId2">
            <a:grayscl/>
            <a:lum bright="70000" contrast="-70000"/>
          </a:blip>
          <a:stretch>
            <a:fillRect/>
          </a:stretch>
        </p:blipFill>
        <p:spPr>
          <a:xfrm>
            <a:off x="-22225" y="3890645"/>
            <a:ext cx="12232640" cy="2960370"/>
          </a:xfrm>
          <a:prstGeom prst="rect">
            <a:avLst/>
          </a:prstGeom>
        </p:spPr>
      </p:pic>
      <p:pic>
        <p:nvPicPr>
          <p:cNvPr id="6" name="图片 5" descr="WechatIMG102"/>
          <p:cNvPicPr>
            <a:picLocks noChangeAspect="1"/>
          </p:cNvPicPr>
          <p:nvPr userDrawn="1"/>
        </p:nvPicPr>
        <p:blipFill>
          <a:blip r:embed="rId3"/>
          <a:stretch>
            <a:fillRect/>
          </a:stretch>
        </p:blipFill>
        <p:spPr>
          <a:xfrm>
            <a:off x="10420985" y="114300"/>
            <a:ext cx="1619885" cy="56515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4291F4-0324-4E45-B059-2A77458ED3B8}"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40006" y="1681163"/>
            <a:ext cx="5157543" cy="823913"/>
          </a:xfrm>
        </p:spPr>
        <p:txBody>
          <a:bodyPr anchor="b">
            <a:normAutofit/>
          </a:bodyPr>
          <a:lstStyle>
            <a:lvl1pPr marL="0" indent="0">
              <a:buNone/>
              <a:defRPr sz="24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006" y="2505075"/>
            <a:ext cx="5157543" cy="368458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20" y="1681163"/>
            <a:ext cx="5182950" cy="823913"/>
          </a:xfrm>
        </p:spPr>
        <p:txBody>
          <a:bodyPr anchor="b">
            <a:normAutofit/>
          </a:bodyPr>
          <a:lstStyle>
            <a:lvl1pPr marL="0" indent="0">
              <a:buNone/>
              <a:defRPr sz="24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20" y="2505075"/>
            <a:ext cx="5182950" cy="368458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E4291F4-0324-4E45-B059-2A77458ED3B8}" type="slidenum">
              <a:rPr lang="zh-CN" altLang="en-US" smtClean="0"/>
            </a:fld>
            <a:endParaRPr lang="zh-CN" altLang="en-US"/>
          </a:p>
        </p:txBody>
      </p:sp>
      <p:sp>
        <p:nvSpPr>
          <p:cNvPr id="10" name="标题 9"/>
          <p:cNvSpPr>
            <a:spLocks noGrp="1"/>
          </p:cNvSpPr>
          <p:nvPr>
            <p:ph type="title"/>
          </p:nvPr>
        </p:nvSpPr>
        <p:spPr>
          <a:xfrm>
            <a:off x="838419" y="365125"/>
            <a:ext cx="9992927" cy="1149351"/>
          </a:xfrm>
        </p:spPr>
        <p:txBody>
          <a:bodyPr/>
          <a:lstStyle/>
          <a:p>
            <a:r>
              <a:rPr lang="zh-CN" altLang="en-US"/>
              <a:t>单击此处编辑母版标题样式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DE29EC66-C0BD-4BA8-9B52-05D76A65A5F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E4291F4-0324-4E45-B059-2A77458ED3B8}" type="slidenum">
              <a:rPr lang="zh-CN" altLang="en-US" smtClean="0"/>
            </a:fld>
            <a:endParaRPr lang="zh-CN" altLang="en-US"/>
          </a:p>
        </p:txBody>
      </p:sp>
      <p:sp>
        <p:nvSpPr>
          <p:cNvPr id="7" name="内容占位符 6"/>
          <p:cNvSpPr>
            <a:spLocks noGrp="1"/>
          </p:cNvSpPr>
          <p:nvPr>
            <p:ph sz="quarter" idx="13"/>
          </p:nvPr>
        </p:nvSpPr>
        <p:spPr>
          <a:xfrm>
            <a:off x="838419" y="914400"/>
            <a:ext cx="10515163" cy="53054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jpe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image" Target="../media/image1.jpeg"/><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7"/>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07368" y="-35928"/>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F40C2-FE83-47D7-A037-AF832E6E4B2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a:blip r:embed="rId6"/>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07368" y="-35928"/>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F40C2-FE83-47D7-A037-AF832E6E4B2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txStyles>
    <p:title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C68D38-F17F-4571-9866-784F756BFB7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0F40C2-FE83-47D7-A037-AF832E6E4B2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tags" Target="../tags/tag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5.xml"/><Relationship Id="rId6" Type="http://schemas.openxmlformats.org/officeDocument/2006/relationships/tags" Target="../tags/tag4.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tags" Target="../tags/tag7.xml"/><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9.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3.xml"/><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9.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0.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1.xml"/><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2.xml"/><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3.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8.xml"/><Relationship Id="rId2" Type="http://schemas.openxmlformats.org/officeDocument/2006/relationships/tags" Target="../tags/tag24.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7.xml"/><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3.xml"/><Relationship Id="rId3" Type="http://schemas.openxmlformats.org/officeDocument/2006/relationships/tags" Target="../tags/tag35.xml"/><Relationship Id="rId2" Type="http://schemas.openxmlformats.org/officeDocument/2006/relationships/image" Target="../media/image22.png"/><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tags" Target="../tags/tag36.xml"/><Relationship Id="rId1"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6" Type="http://schemas.openxmlformats.org/officeDocument/2006/relationships/slideLayout" Target="../slideLayouts/slideLayout13.xml"/><Relationship Id="rId25" Type="http://schemas.openxmlformats.org/officeDocument/2006/relationships/tags" Target="../tags/tag62.xml"/><Relationship Id="rId24" Type="http://schemas.openxmlformats.org/officeDocument/2006/relationships/tags" Target="../tags/tag61.xml"/><Relationship Id="rId23" Type="http://schemas.openxmlformats.org/officeDocument/2006/relationships/tags" Target="../tags/tag60.xml"/><Relationship Id="rId22" Type="http://schemas.openxmlformats.org/officeDocument/2006/relationships/tags" Target="../tags/tag59.xml"/><Relationship Id="rId21" Type="http://schemas.openxmlformats.org/officeDocument/2006/relationships/tags" Target="../tags/tag58.xml"/><Relationship Id="rId20" Type="http://schemas.openxmlformats.org/officeDocument/2006/relationships/tags" Target="../tags/tag57.xml"/><Relationship Id="rId2" Type="http://schemas.openxmlformats.org/officeDocument/2006/relationships/tags" Target="../tags/tag39.xml"/><Relationship Id="rId19" Type="http://schemas.openxmlformats.org/officeDocument/2006/relationships/tags" Target="../tags/tag56.xml"/><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63.xml"/><Relationship Id="rId1" Type="http://schemas.openxmlformats.org/officeDocument/2006/relationships/image" Target="../media/image24.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tags" Target="../tags/tag64.xml"/></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tags" Target="../tags/tag65.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66.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6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68.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69.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70.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7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8.xml"/><Relationship Id="rId1" Type="http://schemas.openxmlformats.org/officeDocument/2006/relationships/tags" Target="../tags/tag72.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8.xml"/><Relationship Id="rId2" Type="http://schemas.openxmlformats.org/officeDocument/2006/relationships/tags" Target="../tags/tag73.xml"/><Relationship Id="rId1" Type="http://schemas.openxmlformats.org/officeDocument/2006/relationships/image" Target="../media/image25.png"/></Relationships>
</file>

<file path=ppt/slides/_rels/slide49.xml.rels><?xml version="1.0" encoding="UTF-8" standalone="yes"?>
<Relationships xmlns="http://schemas.openxmlformats.org/package/2006/relationships"><Relationship Id="rId9" Type="http://schemas.openxmlformats.org/officeDocument/2006/relationships/image" Target="../media/image34.jpe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0" Type="http://schemas.openxmlformats.org/officeDocument/2006/relationships/slideLayout" Target="../slideLayouts/slideLayout18.xml"/><Relationship Id="rId2" Type="http://schemas.openxmlformats.org/officeDocument/2006/relationships/image" Target="../media/image27.png"/><Relationship Id="rId19" Type="http://schemas.openxmlformats.org/officeDocument/2006/relationships/tags" Target="../tags/tag74.xml"/><Relationship Id="rId18" Type="http://schemas.openxmlformats.org/officeDocument/2006/relationships/image" Target="../media/image43.png"/><Relationship Id="rId17" Type="http://schemas.openxmlformats.org/officeDocument/2006/relationships/image" Target="../media/image42.png"/><Relationship Id="rId16" Type="http://schemas.openxmlformats.org/officeDocument/2006/relationships/image" Target="../media/image41.png"/><Relationship Id="rId15" Type="http://schemas.openxmlformats.org/officeDocument/2006/relationships/image" Target="../media/image40.png"/><Relationship Id="rId14" Type="http://schemas.openxmlformats.org/officeDocument/2006/relationships/image" Target="../media/image39.png"/><Relationship Id="rId13" Type="http://schemas.openxmlformats.org/officeDocument/2006/relationships/image" Target="../media/image38.png"/><Relationship Id="rId12" Type="http://schemas.openxmlformats.org/officeDocument/2006/relationships/image" Target="../media/image37.png"/><Relationship Id="rId11" Type="http://schemas.openxmlformats.org/officeDocument/2006/relationships/image" Target="../media/image36.png"/><Relationship Id="rId10" Type="http://schemas.openxmlformats.org/officeDocument/2006/relationships/image" Target="../media/image35.png"/><Relationship Id="rId1" Type="http://schemas.openxmlformats.org/officeDocument/2006/relationships/image" Target="../media/image26.png"/></Relationships>
</file>

<file path=ppt/slides/_rels/slide50.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7.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7.png"/><Relationship Id="rId22" Type="http://schemas.openxmlformats.org/officeDocument/2006/relationships/notesSlide" Target="../notesSlides/notesSlide22.xml"/><Relationship Id="rId21" Type="http://schemas.openxmlformats.org/officeDocument/2006/relationships/slideLayout" Target="../slideLayouts/slideLayout18.xml"/><Relationship Id="rId20" Type="http://schemas.openxmlformats.org/officeDocument/2006/relationships/tags" Target="../tags/tag75.xml"/><Relationship Id="rId2" Type="http://schemas.openxmlformats.org/officeDocument/2006/relationships/image" Target="../media/image26.png"/><Relationship Id="rId19" Type="http://schemas.openxmlformats.org/officeDocument/2006/relationships/image" Target="../media/image43.png"/><Relationship Id="rId18" Type="http://schemas.openxmlformats.org/officeDocument/2006/relationships/image" Target="../media/image42.png"/><Relationship Id="rId17" Type="http://schemas.openxmlformats.org/officeDocument/2006/relationships/image" Target="../media/image41.png"/><Relationship Id="rId16" Type="http://schemas.openxmlformats.org/officeDocument/2006/relationships/image" Target="../media/image40.png"/><Relationship Id="rId15" Type="http://schemas.openxmlformats.org/officeDocument/2006/relationships/image" Target="../media/image39.png"/><Relationship Id="rId14" Type="http://schemas.openxmlformats.org/officeDocument/2006/relationships/image" Target="../media/image38.png"/><Relationship Id="rId13" Type="http://schemas.openxmlformats.org/officeDocument/2006/relationships/image" Target="../media/image44.png"/><Relationship Id="rId12" Type="http://schemas.openxmlformats.org/officeDocument/2006/relationships/image" Target="../media/image36.png"/><Relationship Id="rId11" Type="http://schemas.openxmlformats.org/officeDocument/2006/relationships/image" Target="../media/image35.png"/><Relationship Id="rId10" Type="http://schemas.openxmlformats.org/officeDocument/2006/relationships/image" Target="../media/image34.jpeg"/><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8.xml"/><Relationship Id="rId1" Type="http://schemas.openxmlformats.org/officeDocument/2006/relationships/tags" Target="../tags/tag76.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文本框 3"/>
          <p:cNvSpPr txBox="1"/>
          <p:nvPr/>
        </p:nvSpPr>
        <p:spPr>
          <a:xfrm>
            <a:off x="1559496" y="2636912"/>
            <a:ext cx="8505190" cy="1014730"/>
          </a:xfrm>
          <a:prstGeom prst="rect">
            <a:avLst/>
          </a:prstGeom>
          <a:noFill/>
        </p:spPr>
        <p:txBody>
          <a:bodyPr vert="horz" wrap="none" rtlCol="0" anchor="t">
            <a:noAutofit/>
            <a:scene3d>
              <a:camera prst="orthographicFront"/>
              <a:lightRig rig="threePt" dir="t"/>
            </a:scene3d>
          </a:bodyPr>
          <a:lstStyle/>
          <a:p>
            <a:pPr lvl="0" algn="ctr">
              <a:buClrTx/>
              <a:buSzTx/>
              <a:buFontTx/>
            </a:pPr>
            <a:r>
              <a:rPr lang="zh-CN" altLang="en-US" sz="6000" b="1" cap="all"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Arial" panose="020B0604020202020204" pitchFamily="34" charset="0"/>
                <a:sym typeface="+mn-ea"/>
              </a:rPr>
              <a:t>网络安全等级保护介绍</a:t>
            </a:r>
            <a:endParaRPr lang="zh-CN" altLang="en-US" sz="6000" b="1" cap="all"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Arial" panose="020B0604020202020204" pitchFamily="34" charset="0"/>
              <a:sym typeface="+mn-ea"/>
            </a:endParaRPr>
          </a:p>
        </p:txBody>
      </p:sp>
      <p:pic>
        <p:nvPicPr>
          <p:cNvPr id="4" name="图片 3" descr="WechatIMG103"/>
          <p:cNvPicPr>
            <a:picLocks noChangeAspect="1"/>
          </p:cNvPicPr>
          <p:nvPr/>
        </p:nvPicPr>
        <p:blipFill>
          <a:blip r:embed="rId1"/>
          <a:stretch>
            <a:fillRect/>
          </a:stretch>
        </p:blipFill>
        <p:spPr>
          <a:xfrm>
            <a:off x="263352" y="260648"/>
            <a:ext cx="1971040" cy="588010"/>
          </a:xfrm>
          <a:prstGeom prst="rect">
            <a:avLst/>
          </a:prstGeom>
        </p:spPr>
      </p:pic>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decel="70000" fill="hold" grpId="0" nodeType="withEffect">
                                  <p:stCondLst>
                                    <p:cond delay="0"/>
                                  </p:stCondLst>
                                  <p:iterate type="lt">
                                    <p:tmPct val="10000"/>
                                  </p:iterate>
                                  <p:childTnLst>
                                    <p:set>
                                      <p:cBhvr>
                                        <p:cTn id="6" dur="855" fill="hold">
                                          <p:stCondLst>
                                            <p:cond delay="1"/>
                                          </p:stCondLst>
                                        </p:cTn>
                                        <p:tgtEl>
                                          <p:spTgt spid="6"/>
                                        </p:tgtEl>
                                        <p:attrNameLst>
                                          <p:attrName>style.visibility</p:attrName>
                                        </p:attrNameLst>
                                      </p:cBhvr>
                                      <p:to>
                                        <p:strVal val="visible"/>
                                      </p:to>
                                    </p:set>
                                    <p:anim to="" calcmode="lin" valueType="num">
                                      <p:cBhvr>
                                        <p:cTn id="7" dur="1" fill="hold">
                                          <p:stCondLst>
                                            <p:cond delay="0"/>
                                          </p:stCondLst>
                                        </p:cTn>
                                        <p:tgtEl>
                                          <p:spTgt spid="6"/>
                                        </p:tgtEl>
                                        <p:attrNameLst>
                                          <p:attrName>ppt_x</p:attrName>
                                        </p:attrNameLst>
                                      </p:cBhvr>
                                      <p:tavLst>
                                        <p:tav tm="0">
                                          <p:val>
                                            <p:strVal val="#ppt_x"/>
                                          </p:val>
                                        </p:tav>
                                        <p:tav tm="100000">
                                          <p:val>
                                            <p:strVal val="#ppt_x+0.15*sin(rand(0-360)+0)+2"/>
                                          </p:val>
                                        </p:tav>
                                      </p:tavLst>
                                    </p:anim>
                                    <p:anim to="" calcmode="lin" valueType="num">
                                      <p:cBhvr>
                                        <p:cTn id="8" dur="1" fill="hold">
                                          <p:stCondLst>
                                            <p:cond delay="0"/>
                                          </p:stCondLst>
                                        </p:cTn>
                                        <p:tgtEl>
                                          <p:spTgt spid="6"/>
                                        </p:tgtEl>
                                        <p:attrNameLst>
                                          <p:attrName>ppt_y</p:attrName>
                                        </p:attrNameLst>
                                      </p:cBhvr>
                                      <p:tavLst>
                                        <p:tav tm="0">
                                          <p:val>
                                            <p:strVal val="#ppt_y"/>
                                          </p:val>
                                        </p:tav>
                                        <p:tav tm="100000">
                                          <p:val>
                                            <p:strVal val="#ppt_y+0.15*sin(rand(0-360)+0)+2"/>
                                          </p:val>
                                        </p:tav>
                                      </p:tavLst>
                                    </p:anim>
                                    <p:anim to="" calcmode="lin" valueType="num">
                                      <p:cBhvr>
                                        <p:cTn id="9" dur="998" fill="hold">
                                          <p:stCondLst>
                                            <p:cond delay="2"/>
                                          </p:stCondLst>
                                        </p:cTn>
                                        <p:tgtEl>
                                          <p:spTgt spid="6"/>
                                        </p:tgtEl>
                                        <p:attrNameLst>
                                          <p:attrName>style.opacity</p:attrName>
                                        </p:attrNameLst>
                                      </p:cBhvr>
                                      <p:tavLst>
                                        <p:tav tm="0">
                                          <p:val>
                                            <p:fltVal val="0"/>
                                          </p:val>
                                        </p:tav>
                                        <p:tav tm="100000">
                                          <p:val>
                                            <p:fltVal val="1"/>
                                          </p:val>
                                        </p:tav>
                                      </p:tavLst>
                                    </p:anim>
                                    <p:animScale>
                                      <p:cBhvr>
                                        <p:cTn id="10" dur="998" fill="hold">
                                          <p:stCondLst>
                                            <p:cond delay="1"/>
                                          </p:stCondLst>
                                        </p:cTn>
                                        <p:tgtEl>
                                          <p:spTgt spid="6"/>
                                        </p:tgtEl>
                                      </p:cBhvr>
                                      <p:from x="500000" y="500000"/>
                                      <p:to x="100000" y="100000"/>
                                    </p:animScale>
                                    <p:anim to="" calcmode="lin" valueType="num">
                                      <p:cBhvr>
                                        <p:cTn id="11" dur="714" fill="hold">
                                          <p:stCondLst>
                                            <p:cond delay="286"/>
                                          </p:stCondLst>
                                        </p:cTn>
                                        <p:tgtEl>
                                          <p:spTgt spid="6"/>
                                        </p:tgtEl>
                                        <p:attrNameLst>
                                          <p:attrName>ppt_x</p:attrName>
                                        </p:attrNameLst>
                                      </p:cBhvr>
                                      <p:tavLst>
                                        <p:tav tm="0">
                                          <p:val>
                                            <p:strVal val="ppt_x-2"/>
                                          </p:val>
                                        </p:tav>
                                        <p:tav tm="100000">
                                          <p:val>
                                            <p:strVal val="#ppt_x"/>
                                          </p:val>
                                        </p:tav>
                                      </p:tavLst>
                                    </p:anim>
                                    <p:anim to="" calcmode="lin" valueType="num">
                                      <p:cBhvr>
                                        <p:cTn id="12" dur="714" fill="hold">
                                          <p:stCondLst>
                                            <p:cond delay="286"/>
                                          </p:stCondLst>
                                        </p:cTn>
                                        <p:tgtEl>
                                          <p:spTgt spid="6"/>
                                        </p:tgtEl>
                                        <p:attrNameLst>
                                          <p:attrName>ppt_y</p:attrName>
                                        </p:attrNameLst>
                                      </p:cBhvr>
                                      <p:tavLst>
                                        <p:tav tm="0">
                                          <p:val>
                                            <p:strVal val="ppt_y-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49464" y="2689288"/>
            <a:ext cx="3233171" cy="2021497"/>
            <a:chOff x="1055440" y="2906252"/>
            <a:chExt cx="2290660" cy="1432205"/>
          </a:xfrm>
        </p:grpSpPr>
        <p:grpSp>
          <p:nvGrpSpPr>
            <p:cNvPr id="72" name="组合 71"/>
            <p:cNvGrpSpPr/>
            <p:nvPr/>
          </p:nvGrpSpPr>
          <p:grpSpPr>
            <a:xfrm>
              <a:off x="1582579" y="3060862"/>
              <a:ext cx="1277595" cy="1277595"/>
              <a:chOff x="1677608" y="2996952"/>
              <a:chExt cx="1395643" cy="1395643"/>
            </a:xfrm>
          </p:grpSpPr>
          <p:sp>
            <p:nvSpPr>
              <p:cNvPr id="73"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74" name="Oval 29"/>
              <p:cNvSpPr>
                <a:spLocks noChangeAspect="1"/>
              </p:cNvSpPr>
              <p:nvPr/>
            </p:nvSpPr>
            <p:spPr>
              <a:xfrm>
                <a:off x="1850114" y="3169458"/>
                <a:ext cx="1050630" cy="1050630"/>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75" name="标题 4"/>
            <p:cNvSpPr txBox="1"/>
            <p:nvPr/>
          </p:nvSpPr>
          <p:spPr>
            <a:xfrm>
              <a:off x="1816436" y="3553975"/>
              <a:ext cx="809879" cy="27651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主要内容</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2626315" y="2906252"/>
              <a:ext cx="311401" cy="307477"/>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7" name="椭圆 76"/>
            <p:cNvSpPr/>
            <p:nvPr/>
          </p:nvSpPr>
          <p:spPr>
            <a:xfrm>
              <a:off x="2995116" y="3309437"/>
              <a:ext cx="350984" cy="390219"/>
            </a:xfrm>
            <a:prstGeom prst="ellipse">
              <a:avLst/>
            </a:prstGeom>
            <a:solidFill>
              <a:schemeClr val="tx2">
                <a:lumMod val="60000"/>
                <a:lumOff val="4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8" name="椭圆 77"/>
            <p:cNvSpPr/>
            <p:nvPr/>
          </p:nvSpPr>
          <p:spPr>
            <a:xfrm>
              <a:off x="1055440" y="3509963"/>
              <a:ext cx="379388" cy="379388"/>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9" name="椭圆 78"/>
            <p:cNvSpPr/>
            <p:nvPr/>
          </p:nvSpPr>
          <p:spPr>
            <a:xfrm>
              <a:off x="1361104" y="3889351"/>
              <a:ext cx="221474" cy="221474"/>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0" name="椭圆 79"/>
            <p:cNvSpPr/>
            <p:nvPr/>
          </p:nvSpPr>
          <p:spPr>
            <a:xfrm>
              <a:off x="1445957" y="3334077"/>
              <a:ext cx="130332" cy="130332"/>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92" name="圆角矩形 191"/>
          <p:cNvSpPr/>
          <p:nvPr/>
        </p:nvSpPr>
        <p:spPr>
          <a:xfrm>
            <a:off x="5591944" y="3501008"/>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193" name="组合 192"/>
          <p:cNvGrpSpPr/>
          <p:nvPr/>
        </p:nvGrpSpPr>
        <p:grpSpPr>
          <a:xfrm>
            <a:off x="4439816" y="3429000"/>
            <a:ext cx="834872" cy="768824"/>
            <a:chOff x="1677608" y="2996952"/>
            <a:chExt cx="1395643" cy="1395643"/>
          </a:xfrm>
        </p:grpSpPr>
        <p:sp>
          <p:nvSpPr>
            <p:cNvPr id="194"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195"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196" name="文本框 9"/>
          <p:cNvSpPr txBox="1"/>
          <p:nvPr/>
        </p:nvSpPr>
        <p:spPr>
          <a:xfrm>
            <a:off x="5746178" y="3590091"/>
            <a:ext cx="2063479" cy="419735"/>
          </a:xfrm>
          <a:prstGeom prst="rect">
            <a:avLst/>
          </a:prstGeom>
          <a:noFill/>
        </p:spPr>
        <p:txBody>
          <a:bodyPr wrap="square" lIns="51422" tIns="25711" rIns="51422" bIns="25711" rtlCol="0">
            <a:spAutoFit/>
          </a:bodyPr>
          <a:lstStyle/>
          <a:p>
            <a:pPr marL="0" lvl="1" algn="ctr"/>
            <a:r>
              <a:rPr lang="zh-CN" altLang="en-US" sz="2400" b="1" dirty="0">
                <a:solidFill>
                  <a:srgbClr val="1C76CE"/>
                </a:solidFill>
                <a:latin typeface="微软雅黑" panose="020B0503020204020204" pitchFamily="34" charset="-122"/>
                <a:ea typeface="微软雅黑" panose="020B0503020204020204" pitchFamily="34" charset="-122"/>
              </a:rPr>
              <a:t>测评介绍</a:t>
            </a:r>
            <a:endParaRPr lang="zh-CN" altLang="en-US" sz="2400" b="1" dirty="0">
              <a:solidFill>
                <a:srgbClr val="1C76CE"/>
              </a:solidFill>
              <a:latin typeface="微软雅黑" panose="020B0503020204020204" pitchFamily="34" charset="-122"/>
              <a:ea typeface="微软雅黑" panose="020B0503020204020204" pitchFamily="34" charset="-122"/>
            </a:endParaRPr>
          </a:p>
        </p:txBody>
      </p:sp>
      <p:sp>
        <p:nvSpPr>
          <p:cNvPr id="199" name="圆角矩形 198"/>
          <p:cNvSpPr/>
          <p:nvPr/>
        </p:nvSpPr>
        <p:spPr>
          <a:xfrm>
            <a:off x="5591944" y="1534721"/>
            <a:ext cx="2381066" cy="569078"/>
          </a:xfrm>
          <a:prstGeom prst="roundRect">
            <a:avLst>
              <a:gd name="adj" fmla="val 50000"/>
            </a:avLst>
          </a:prstGeom>
          <a:solidFill>
            <a:srgbClr val="C00000"/>
          </a:soli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0" name="组合 199"/>
          <p:cNvGrpSpPr/>
          <p:nvPr/>
        </p:nvGrpSpPr>
        <p:grpSpPr>
          <a:xfrm>
            <a:off x="4469041" y="1412776"/>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
        <p:nvSpPr>
          <p:cNvPr id="206" name="圆角矩形 205"/>
          <p:cNvSpPr/>
          <p:nvPr/>
        </p:nvSpPr>
        <p:spPr>
          <a:xfrm>
            <a:off x="5591944" y="2499882"/>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7" name="组合 206"/>
          <p:cNvGrpSpPr/>
          <p:nvPr/>
        </p:nvGrpSpPr>
        <p:grpSpPr>
          <a:xfrm>
            <a:off x="4439816" y="2420888"/>
            <a:ext cx="834871" cy="768824"/>
            <a:chOff x="1677608" y="2996952"/>
            <a:chExt cx="1395643" cy="1395643"/>
          </a:xfrm>
        </p:grpSpPr>
        <p:sp>
          <p:nvSpPr>
            <p:cNvPr id="208"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209" name="Oval 29"/>
            <p:cNvSpPr>
              <a:spLocks noChangeAspect="1"/>
            </p:cNvSpPr>
            <p:nvPr/>
          </p:nvSpPr>
          <p:spPr>
            <a:xfrm>
              <a:off x="1918358" y="3216153"/>
              <a:ext cx="910867" cy="910866"/>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10" name="文本框 9"/>
          <p:cNvSpPr txBox="1"/>
          <p:nvPr/>
        </p:nvSpPr>
        <p:spPr>
          <a:xfrm>
            <a:off x="5591810" y="2595245"/>
            <a:ext cx="2515870" cy="419735"/>
          </a:xfrm>
          <a:prstGeom prst="rect">
            <a:avLst/>
          </a:prstGeom>
          <a:noFill/>
        </p:spPr>
        <p:txBody>
          <a:bodyPr wrap="square" lIns="51422" tIns="25711" rIns="51422" bIns="25711" rtlCol="0">
            <a:spAutoFit/>
          </a:bodyPr>
          <a:lstStyle/>
          <a:p>
            <a:pPr marL="0" lvl="1" algn="ctr"/>
            <a:r>
              <a:rPr lang="zh-CN" altLang="en-US" sz="2400" b="1" dirty="0">
                <a:solidFill>
                  <a:srgbClr val="1C76CE"/>
                </a:solidFill>
                <a:latin typeface="微软雅黑" panose="020B0503020204020204" pitchFamily="34" charset="-122"/>
                <a:ea typeface="微软雅黑" panose="020B0503020204020204" pitchFamily="34" charset="-122"/>
              </a:rPr>
              <a:t>等保必要性</a:t>
            </a:r>
            <a:endParaRPr lang="zh-CN" altLang="en-US" sz="2400" b="1" dirty="0">
              <a:solidFill>
                <a:srgbClr val="1C76CE"/>
              </a:solidFill>
              <a:latin typeface="微软雅黑" panose="020B0503020204020204" pitchFamily="34" charset="-122"/>
              <a:ea typeface="微软雅黑" panose="020B0503020204020204" pitchFamily="34" charset="-122"/>
            </a:endParaRPr>
          </a:p>
        </p:txBody>
      </p:sp>
      <p:sp>
        <p:nvSpPr>
          <p:cNvPr id="226" name="TextBox 225"/>
          <p:cNvSpPr txBox="1"/>
          <p:nvPr>
            <p:custDataLst>
              <p:tags r:id="rId1"/>
            </p:custDataLst>
          </p:nvPr>
        </p:nvSpPr>
        <p:spPr>
          <a:xfrm>
            <a:off x="13181169" y="6986517"/>
            <a:ext cx="704039" cy="300082"/>
          </a:xfrm>
          <a:prstGeom prst="rect">
            <a:avLst/>
          </a:prstGeom>
          <a:noFill/>
        </p:spPr>
        <p:txBody>
          <a:bodyPr wrap="none" rtlCol="0">
            <a:spAutoFit/>
          </a:bodyPr>
          <a:lstStyle/>
          <a:p>
            <a:r>
              <a:rPr lang="zh-CN" altLang="en-US" sz="1350" dirty="0"/>
              <a:t>延时符</a:t>
            </a:r>
            <a:endParaRPr lang="zh-CN" altLang="en-US" sz="1350" dirty="0"/>
          </a:p>
        </p:txBody>
      </p:sp>
      <p:sp>
        <p:nvSpPr>
          <p:cNvPr id="2" name="矩形 1"/>
          <p:cNvSpPr/>
          <p:nvPr/>
        </p:nvSpPr>
        <p:spPr>
          <a:xfrm>
            <a:off x="6091412" y="1588427"/>
            <a:ext cx="1402080" cy="460375"/>
          </a:xfrm>
          <a:prstGeom prst="rect">
            <a:avLst/>
          </a:prstGeom>
        </p:spPr>
        <p:txBody>
          <a:bodyPr wrap="none">
            <a:spAutoFit/>
          </a:bodyPr>
          <a:lstStyle/>
          <a:p>
            <a:pPr marL="0" lvl="1" algn="ctr"/>
            <a:r>
              <a:rPr lang="zh-CN" altLang="en-US" sz="2400" b="1" dirty="0">
                <a:solidFill>
                  <a:schemeClr val="bg1"/>
                </a:solidFill>
                <a:latin typeface="微软雅黑" panose="020B0503020204020204" pitchFamily="34" charset="-122"/>
                <a:ea typeface="微软雅黑" panose="020B0503020204020204" pitchFamily="34" charset="-122"/>
              </a:rPr>
              <a:t>等保介绍</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4" name="圆角矩形 191"/>
          <p:cNvSpPr/>
          <p:nvPr/>
        </p:nvSpPr>
        <p:spPr>
          <a:xfrm>
            <a:off x="5585190" y="4413848"/>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sp>
        <p:nvSpPr>
          <p:cNvPr id="35" name="KSO_Shape"/>
          <p:cNvSpPr/>
          <p:nvPr/>
        </p:nvSpPr>
        <p:spPr bwMode="auto">
          <a:xfrm>
            <a:off x="4660464" y="4495476"/>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grpSp>
        <p:nvGrpSpPr>
          <p:cNvPr id="36" name="组合 35"/>
          <p:cNvGrpSpPr/>
          <p:nvPr/>
        </p:nvGrpSpPr>
        <p:grpSpPr>
          <a:xfrm>
            <a:off x="4429906" y="4341840"/>
            <a:ext cx="834872" cy="768824"/>
            <a:chOff x="1677608" y="2996952"/>
            <a:chExt cx="1395643" cy="1395643"/>
          </a:xfrm>
        </p:grpSpPr>
        <p:sp>
          <p:nvSpPr>
            <p:cNvPr id="37"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44"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45" name="文本框 9"/>
          <p:cNvSpPr txBox="1"/>
          <p:nvPr/>
        </p:nvSpPr>
        <p:spPr>
          <a:xfrm>
            <a:off x="5736268" y="4488072"/>
            <a:ext cx="2063479" cy="421256"/>
          </a:xfrm>
          <a:prstGeom prst="rect">
            <a:avLst/>
          </a:prstGeom>
          <a:noFill/>
        </p:spPr>
        <p:txBody>
          <a:bodyPr wrap="square" lIns="51422" tIns="25711" rIns="51422" bIns="25711" rtlCol="0">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解决方案</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46" name="KSO_Shape"/>
          <p:cNvSpPr/>
          <p:nvPr/>
        </p:nvSpPr>
        <p:spPr bwMode="auto">
          <a:xfrm>
            <a:off x="4645929" y="5480324"/>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vert="horz" wrap="square" lIns="91440" tIns="45720" rIns="91440" bIns="45720" numCol="1" anchor="t" anchorCtr="0" compatLnSpc="1">
            <a:normAutofit lnSpcReduction="10000"/>
          </a:bodyPr>
          <a:lstStyle/>
          <a:p>
            <a:pPr marL="342900" marR="0" lvl="0" indent="-342900" algn="l" defTabSz="914400" rtl="0" eaLnBrk="1" fontAlgn="base" latinLnBrk="0" hangingPunct="1">
              <a:lnSpc>
                <a:spcPct val="130000"/>
              </a:lnSpc>
              <a:spcBef>
                <a:spcPct val="2000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三个分等级</a:t>
            </a:r>
            <a:endParaRPr kumimoji="0" lang="zh-CN" altLang="en-US" sz="24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4" name="内容占位符 3"/>
          <p:cNvSpPr>
            <a:spLocks noGrp="1"/>
          </p:cNvSpPr>
          <p:nvPr>
            <p:ph sz="half" idx="2"/>
          </p:nvPr>
        </p:nvSpPr>
        <p:spPr/>
        <p:txBody>
          <a:bodyPr vert="horz" wrap="square" lIns="91440" tIns="45720" rIns="91440" bIns="45720" numCol="1" anchor="t" anchorCtr="0" compatLnSpc="1">
            <a:normAutofit lnSpcReduction="10000"/>
          </a:bodyPr>
          <a:lstStyle/>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等级保护的定义：</a:t>
            </a:r>
            <a:endParaRPr kumimoji="0" lang="en-US" altLang="zh-CN"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     是指对国家秘密信息、法人或其他组织及公民专有信息以及公开信息和存储、传输、处理这些信息的</a:t>
            </a:r>
            <a:r>
              <a:rPr kumimoji="0" lang="zh-CN" altLang="en-US" sz="2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信息系统</a:t>
            </a: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分等级实行安全保护，对信息系统中使用的</a:t>
            </a:r>
            <a:r>
              <a:rPr kumimoji="0" lang="zh-CN" altLang="en-US" sz="2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安全产品</a:t>
            </a: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实行按等级管理，对信息系统中发生的信息</a:t>
            </a:r>
            <a:r>
              <a:rPr kumimoji="0" lang="zh-CN" altLang="en-US" sz="2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安全事件</a:t>
            </a: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分等级进行响应、处置。等级保护，即</a:t>
            </a:r>
            <a:r>
              <a:rPr kumimoji="0" lang="zh-CN" altLang="en-US" sz="2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分等级保护</a:t>
            </a: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分等级监管</a:t>
            </a: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base" latinLnBrk="0" hangingPunct="1">
              <a:lnSpc>
                <a:spcPct val="130000"/>
              </a:lnSpc>
              <a:spcBef>
                <a:spcPct val="2000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系统重要程度有多高，安全保护就应当有多强，既不能保护不足，也不能过度保护。</a:t>
            </a:r>
            <a:endParaRPr kumimoji="0" lang="zh-CN" altLang="en-US" sz="20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graphicFrame>
        <p:nvGraphicFramePr>
          <p:cNvPr id="5" name="内容占位符 4"/>
          <p:cNvGraphicFramePr/>
          <p:nvPr/>
        </p:nvGraphicFramePr>
        <p:xfrm>
          <a:off x="1775520" y="1988840"/>
          <a:ext cx="4104456" cy="374441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normAutofit/>
          </a:bodyPr>
          <a:lstStyle/>
          <a:p>
            <a:r>
              <a:rPr lang="zh-CN" altLang="en-US" sz="2800" b="1" dirty="0"/>
              <a:t>等级保护发展</a:t>
            </a:r>
            <a:r>
              <a:rPr lang="zh-CN" altLang="en-US" sz="2800" b="1" dirty="0">
                <a:solidFill>
                  <a:schemeClr val="tx1"/>
                </a:solidFill>
                <a:effectLst>
                  <a:outerShdw blurRad="38100" dist="19050" dir="2700000" algn="tl" rotWithShape="0">
                    <a:schemeClr val="dk1">
                      <a:alpha val="40000"/>
                    </a:schemeClr>
                  </a:outerShdw>
                </a:effectLst>
              </a:rPr>
              <a:t>历程</a:t>
            </a:r>
            <a:r>
              <a:rPr lang="zh-CN" altLang="en-US" sz="2800" b="1" dirty="0"/>
              <a:t>   等保</a:t>
            </a:r>
            <a:r>
              <a:rPr lang="en-US" altLang="zh-CN" sz="2800" b="1" dirty="0"/>
              <a:t>1.0</a:t>
            </a:r>
            <a:endParaRPr lang="zh-CN" altLang="en-US" sz="2800" b="1" dirty="0"/>
          </a:p>
        </p:txBody>
      </p:sp>
      <p:sp>
        <p:nvSpPr>
          <p:cNvPr id="36" name="TextBox 60"/>
          <p:cNvSpPr txBox="1"/>
          <p:nvPr/>
        </p:nvSpPr>
        <p:spPr>
          <a:xfrm>
            <a:off x="1421951" y="1800967"/>
            <a:ext cx="1338828" cy="438582"/>
          </a:xfrm>
          <a:prstGeom prst="rect">
            <a:avLst/>
          </a:prstGeom>
          <a:noFill/>
        </p:spPr>
        <p:txBody>
          <a:bodyPr wrap="none" rtlCol="0">
            <a:spAutoFit/>
          </a:bodyPr>
          <a:lstStyle/>
          <a:p>
            <a:pPr defTabSz="1143000"/>
            <a:r>
              <a:rPr lang="zh-CN" altLang="en-US" sz="2250" dirty="0">
                <a:solidFill>
                  <a:srgbClr val="414455"/>
                </a:solidFill>
                <a:latin typeface="Calibri" panose="020F0502020204030204"/>
                <a:ea typeface="微软雅黑" panose="020B0503020204020204" pitchFamily="34" charset="-122"/>
                <a:cs typeface="+mn-ea"/>
                <a:sym typeface="+mn-lt"/>
              </a:rPr>
              <a:t>发展情况</a:t>
            </a:r>
            <a:endParaRPr lang="zh-CN" altLang="en-US" sz="2250" dirty="0">
              <a:solidFill>
                <a:srgbClr val="414455"/>
              </a:solidFill>
              <a:latin typeface="Calibri" panose="020F0502020204030204"/>
              <a:ea typeface="微软雅黑" panose="020B0503020204020204" pitchFamily="34" charset="-122"/>
              <a:cs typeface="+mn-ea"/>
              <a:sym typeface="+mn-lt"/>
            </a:endParaRPr>
          </a:p>
        </p:txBody>
      </p:sp>
      <p:grpSp>
        <p:nvGrpSpPr>
          <p:cNvPr id="37" name="组合 36"/>
          <p:cNvGrpSpPr/>
          <p:nvPr/>
        </p:nvGrpSpPr>
        <p:grpSpPr>
          <a:xfrm>
            <a:off x="0" y="2011343"/>
            <a:ext cx="12239183" cy="2669018"/>
            <a:chOff x="-340296" y="921296"/>
            <a:chExt cx="9791346" cy="2135215"/>
          </a:xfrm>
        </p:grpSpPr>
        <p:cxnSp>
          <p:nvCxnSpPr>
            <p:cNvPr id="38" name="直接连接符 37"/>
            <p:cNvCxnSpPr/>
            <p:nvPr/>
          </p:nvCxnSpPr>
          <p:spPr>
            <a:xfrm>
              <a:off x="-340296" y="921296"/>
              <a:ext cx="822896" cy="0"/>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623300" y="921296"/>
              <a:ext cx="827750" cy="0"/>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82600" y="928123"/>
              <a:ext cx="0" cy="2112550"/>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82600" y="3050305"/>
              <a:ext cx="2045091"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597416" y="1969556"/>
              <a:ext cx="2025884"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2527691" y="1969432"/>
              <a:ext cx="2044309"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2527691" y="1969556"/>
              <a:ext cx="0" cy="1080749"/>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572000" y="3046251"/>
              <a:ext cx="2025416"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4572000" y="1975762"/>
              <a:ext cx="0" cy="1080749"/>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597416" y="1965502"/>
              <a:ext cx="0" cy="1080749"/>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8623300" y="928123"/>
              <a:ext cx="0" cy="1056275"/>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grpSp>
      <p:sp>
        <p:nvSpPr>
          <p:cNvPr id="49" name="矩形 48"/>
          <p:cNvSpPr/>
          <p:nvPr/>
        </p:nvSpPr>
        <p:spPr>
          <a:xfrm>
            <a:off x="1383223" y="3204613"/>
            <a:ext cx="1875850" cy="3059702"/>
          </a:xfrm>
          <a:prstGeom prst="rect">
            <a:avLst/>
          </a:prstGeom>
          <a:solidFill>
            <a:srgbClr val="F3F3F3"/>
          </a:solidFill>
          <a:ln w="19050">
            <a:solidFill>
              <a:schemeClr val="accent1"/>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50" name="矩形 49"/>
          <p:cNvSpPr/>
          <p:nvPr/>
        </p:nvSpPr>
        <p:spPr>
          <a:xfrm>
            <a:off x="1376113" y="3195527"/>
            <a:ext cx="1882960" cy="6636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a:solidFill>
                <a:srgbClr val="2D2A19"/>
              </a:solidFill>
              <a:latin typeface="Calibri" panose="020F0502020204030204"/>
              <a:ea typeface="微软雅黑" panose="020B0503020204020204" pitchFamily="34" charset="-122"/>
              <a:cs typeface="+mn-ea"/>
              <a:sym typeface="+mn-lt"/>
            </a:endParaRPr>
          </a:p>
        </p:txBody>
      </p:sp>
      <p:sp>
        <p:nvSpPr>
          <p:cNvPr id="51" name="TextBox 62"/>
          <p:cNvSpPr txBox="1"/>
          <p:nvPr/>
        </p:nvSpPr>
        <p:spPr>
          <a:xfrm>
            <a:off x="1513330" y="3204614"/>
            <a:ext cx="1627370" cy="1015663"/>
          </a:xfrm>
          <a:prstGeom prst="rect">
            <a:avLst/>
          </a:prstGeom>
          <a:noFill/>
        </p:spPr>
        <p:txBody>
          <a:bodyPr wrap="none" rtlCol="0">
            <a:spAutoFit/>
          </a:bodyPr>
          <a:lstStyle/>
          <a:p>
            <a:pPr algn="ctr" defTabSz="1143000"/>
            <a:r>
              <a:rPr lang="en-US" altLang="zh-CN" sz="1875" dirty="0">
                <a:solidFill>
                  <a:prstClr val="white"/>
                </a:solidFill>
                <a:latin typeface="Calibri" panose="020F0502020204030204"/>
                <a:cs typeface="+mn-ea"/>
                <a:sym typeface="+mn-lt"/>
              </a:rPr>
              <a:t>1994-2003</a:t>
            </a:r>
            <a:endParaRPr lang="en-US" altLang="zh-CN" sz="1875" dirty="0">
              <a:solidFill>
                <a:prstClr val="white"/>
              </a:solidFill>
              <a:latin typeface="Calibri" panose="020F0502020204030204"/>
              <a:cs typeface="+mn-ea"/>
              <a:sym typeface="+mn-lt"/>
            </a:endParaRPr>
          </a:p>
          <a:p>
            <a:pPr algn="ctr" defTabSz="1143000"/>
            <a:r>
              <a:rPr lang="zh-CN" altLang="en-US" sz="1875" dirty="0">
                <a:solidFill>
                  <a:prstClr val="white"/>
                </a:solidFill>
                <a:latin typeface="Calibri" panose="020F0502020204030204"/>
                <a:cs typeface="+mn-ea"/>
                <a:sym typeface="+mn-lt"/>
              </a:rPr>
              <a:t>政策环境营造</a:t>
            </a:r>
            <a:endParaRPr lang="zh-CN" altLang="en-US" sz="1875" dirty="0">
              <a:solidFill>
                <a:prstClr val="white"/>
              </a:solidFill>
              <a:latin typeface="Calibri" panose="020F0502020204030204"/>
              <a:cs typeface="+mn-ea"/>
              <a:sym typeface="+mn-lt"/>
            </a:endParaRPr>
          </a:p>
          <a:p>
            <a:pPr defTabSz="1143000"/>
            <a:endParaRPr lang="zh-CN" altLang="en-US" sz="2250" dirty="0">
              <a:solidFill>
                <a:prstClr val="white"/>
              </a:solidFill>
              <a:latin typeface="Calibri" panose="020F0502020204030204"/>
              <a:ea typeface="微软雅黑" panose="020B0503020204020204" pitchFamily="34" charset="-122"/>
              <a:cs typeface="+mn-ea"/>
              <a:sym typeface="+mn-lt"/>
            </a:endParaRPr>
          </a:p>
        </p:txBody>
      </p:sp>
      <p:sp>
        <p:nvSpPr>
          <p:cNvPr id="52" name="TextBox 63"/>
          <p:cNvSpPr txBox="1"/>
          <p:nvPr/>
        </p:nvSpPr>
        <p:spPr>
          <a:xfrm>
            <a:off x="1354533" y="3859172"/>
            <a:ext cx="1990170" cy="2400657"/>
          </a:xfrm>
          <a:prstGeom prst="rect">
            <a:avLst/>
          </a:prstGeom>
          <a:noFill/>
        </p:spPr>
        <p:txBody>
          <a:bodyPr wrap="square" rtlCol="0">
            <a:spAutoFit/>
          </a:bodyPr>
          <a:lstStyle/>
          <a:p>
            <a:pPr defTabSz="1143000"/>
            <a:r>
              <a:rPr lang="en-US" altLang="zh-CN" sz="1250" dirty="0">
                <a:solidFill>
                  <a:srgbClr val="414455"/>
                </a:solidFill>
                <a:latin typeface="Calibri" panose="020F0502020204030204"/>
                <a:cs typeface="+mn-ea"/>
                <a:sym typeface="+mn-lt"/>
              </a:rPr>
              <a:t>1994</a:t>
            </a:r>
            <a:r>
              <a:rPr lang="zh-CN" altLang="en-US" sz="1250" dirty="0">
                <a:solidFill>
                  <a:srgbClr val="414455"/>
                </a:solidFill>
                <a:latin typeface="Calibri" panose="020F0502020204030204"/>
                <a:cs typeface="+mn-ea"/>
                <a:sym typeface="+mn-lt"/>
              </a:rPr>
              <a:t>年，国务院颁布</a:t>
            </a:r>
            <a:r>
              <a:rPr lang="en-US" altLang="zh-CN" sz="1250" dirty="0">
                <a:solidFill>
                  <a:srgbClr val="FF0000"/>
                </a:solidFill>
                <a:latin typeface="Calibri" panose="020F0502020204030204"/>
                <a:cs typeface="+mn-ea"/>
                <a:sym typeface="+mn-lt"/>
              </a:rPr>
              <a:t>《</a:t>
            </a:r>
            <a:r>
              <a:rPr lang="zh-CN" altLang="en-US" sz="1250" dirty="0">
                <a:solidFill>
                  <a:srgbClr val="FF0000"/>
                </a:solidFill>
                <a:latin typeface="Calibri" panose="020F0502020204030204"/>
                <a:cs typeface="+mn-ea"/>
                <a:sym typeface="+mn-lt"/>
              </a:rPr>
              <a:t>中华人民共和国计算机信息系统安全保护条例</a:t>
            </a:r>
            <a:r>
              <a:rPr lang="en-US" altLang="zh-CN" sz="1250" dirty="0">
                <a:solidFill>
                  <a:srgbClr val="FF0000"/>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，规定计算机信息系统实行安全等级保护。</a:t>
            </a:r>
            <a:r>
              <a:rPr lang="en-US" altLang="zh-CN" sz="1250" dirty="0">
                <a:solidFill>
                  <a:srgbClr val="414455"/>
                </a:solidFill>
                <a:latin typeface="Calibri" panose="020F0502020204030204"/>
                <a:cs typeface="+mn-ea"/>
                <a:sym typeface="+mn-lt"/>
              </a:rPr>
              <a:t>2003</a:t>
            </a:r>
            <a:r>
              <a:rPr lang="zh-CN" altLang="en-US" sz="1250" dirty="0">
                <a:solidFill>
                  <a:srgbClr val="414455"/>
                </a:solidFill>
                <a:latin typeface="Calibri" panose="020F0502020204030204"/>
                <a:cs typeface="+mn-ea"/>
                <a:sym typeface="+mn-lt"/>
              </a:rPr>
              <a:t>年，中央办公厅、国务院办公厅颁发</a:t>
            </a:r>
            <a:r>
              <a:rPr lang="en-US" altLang="zh-CN" sz="1250" dirty="0">
                <a:solidFill>
                  <a:srgbClr val="414455"/>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国家信息化领导小组关于加强信息安全保障工作的意见</a:t>
            </a:r>
            <a:r>
              <a:rPr lang="en-US" altLang="zh-CN" sz="1250" dirty="0">
                <a:solidFill>
                  <a:srgbClr val="414455"/>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（中办发</a:t>
            </a:r>
            <a:r>
              <a:rPr lang="en-US" altLang="zh-CN" sz="1250" dirty="0">
                <a:solidFill>
                  <a:srgbClr val="414455"/>
                </a:solidFill>
                <a:latin typeface="Calibri" panose="020F0502020204030204"/>
                <a:cs typeface="+mn-ea"/>
                <a:sym typeface="+mn-lt"/>
              </a:rPr>
              <a:t>[2003]27</a:t>
            </a:r>
            <a:r>
              <a:rPr lang="zh-CN" altLang="en-US" sz="1250" dirty="0">
                <a:solidFill>
                  <a:srgbClr val="414455"/>
                </a:solidFill>
                <a:latin typeface="Calibri" panose="020F0502020204030204"/>
                <a:cs typeface="+mn-ea"/>
                <a:sym typeface="+mn-lt"/>
              </a:rPr>
              <a:t>号）</a:t>
            </a:r>
            <a:r>
              <a:rPr lang="zh-CN" altLang="en-US" sz="1250" dirty="0">
                <a:solidFill>
                  <a:srgbClr val="FF0000"/>
                </a:solidFill>
                <a:latin typeface="Calibri" panose="020F0502020204030204"/>
                <a:cs typeface="+mn-ea"/>
                <a:sym typeface="+mn-lt"/>
              </a:rPr>
              <a:t>明确指出</a:t>
            </a:r>
            <a:r>
              <a:rPr lang="zh-CN" altLang="en-US" sz="1250" dirty="0">
                <a:solidFill>
                  <a:srgbClr val="414455"/>
                </a:solidFill>
                <a:latin typeface="Calibri" panose="020F0502020204030204"/>
                <a:cs typeface="+mn-ea"/>
                <a:sym typeface="+mn-lt"/>
              </a:rPr>
              <a:t>“实行信息安全等级保护”。</a:t>
            </a:r>
            <a:endParaRPr lang="zh-CN" altLang="en-US" sz="1250" dirty="0">
              <a:solidFill>
                <a:srgbClr val="414455"/>
              </a:solidFill>
              <a:latin typeface="Calibri" panose="020F0502020204030204"/>
              <a:cs typeface="+mn-ea"/>
              <a:sym typeface="+mn-lt"/>
            </a:endParaRPr>
          </a:p>
        </p:txBody>
      </p:sp>
      <p:sp>
        <p:nvSpPr>
          <p:cNvPr id="53" name="矩形 52"/>
          <p:cNvSpPr/>
          <p:nvPr/>
        </p:nvSpPr>
        <p:spPr>
          <a:xfrm>
            <a:off x="3923246" y="2323669"/>
            <a:ext cx="1875850" cy="2522989"/>
          </a:xfrm>
          <a:prstGeom prst="rect">
            <a:avLst/>
          </a:prstGeom>
          <a:solidFill>
            <a:srgbClr val="F9F9F9"/>
          </a:solidFill>
          <a:ln w="19050">
            <a:solidFill>
              <a:schemeClr val="accent2"/>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54" name="矩形 53"/>
          <p:cNvSpPr/>
          <p:nvPr/>
        </p:nvSpPr>
        <p:spPr>
          <a:xfrm>
            <a:off x="3923246" y="2315758"/>
            <a:ext cx="1882960" cy="642278"/>
          </a:xfrm>
          <a:prstGeom prst="rect">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a:solidFill>
                <a:srgbClr val="2D2A19"/>
              </a:solidFill>
              <a:latin typeface="Calibri" panose="020F0502020204030204"/>
              <a:ea typeface="微软雅黑" panose="020B0503020204020204" pitchFamily="34" charset="-122"/>
              <a:cs typeface="+mn-ea"/>
              <a:sym typeface="+mn-lt"/>
            </a:endParaRPr>
          </a:p>
        </p:txBody>
      </p:sp>
      <p:sp>
        <p:nvSpPr>
          <p:cNvPr id="55" name="TextBox 67"/>
          <p:cNvSpPr txBox="1"/>
          <p:nvPr/>
        </p:nvSpPr>
        <p:spPr>
          <a:xfrm>
            <a:off x="4048851" y="2323670"/>
            <a:ext cx="1627370" cy="669414"/>
          </a:xfrm>
          <a:prstGeom prst="rect">
            <a:avLst/>
          </a:prstGeom>
          <a:noFill/>
        </p:spPr>
        <p:txBody>
          <a:bodyPr wrap="none" rtlCol="0">
            <a:spAutoFit/>
          </a:bodyPr>
          <a:lstStyle/>
          <a:p>
            <a:pPr algn="ctr" defTabSz="1143000"/>
            <a:r>
              <a:rPr lang="en-US" altLang="zh-CN" sz="1875" dirty="0">
                <a:solidFill>
                  <a:prstClr val="white"/>
                </a:solidFill>
                <a:latin typeface="Calibri" panose="020F0502020204030204"/>
                <a:cs typeface="+mn-ea"/>
                <a:sym typeface="+mn-lt"/>
              </a:rPr>
              <a:t>2004-2006</a:t>
            </a:r>
            <a:endParaRPr lang="en-US" altLang="zh-CN" sz="1875" dirty="0">
              <a:solidFill>
                <a:prstClr val="white"/>
              </a:solidFill>
              <a:latin typeface="Calibri" panose="020F0502020204030204"/>
              <a:cs typeface="+mn-ea"/>
              <a:sym typeface="+mn-lt"/>
            </a:endParaRPr>
          </a:p>
          <a:p>
            <a:pPr algn="ctr" defTabSz="1143000"/>
            <a:r>
              <a:rPr lang="zh-CN" altLang="en-US" sz="1875" dirty="0">
                <a:solidFill>
                  <a:prstClr val="white"/>
                </a:solidFill>
                <a:latin typeface="Calibri" panose="020F0502020204030204"/>
                <a:cs typeface="+mn-ea"/>
                <a:sym typeface="+mn-lt"/>
              </a:rPr>
              <a:t>工作开展准备</a:t>
            </a:r>
            <a:endParaRPr lang="zh-CN" altLang="en-US" sz="1875" dirty="0">
              <a:solidFill>
                <a:prstClr val="white"/>
              </a:solidFill>
              <a:latin typeface="Calibri" panose="020F0502020204030204"/>
              <a:cs typeface="+mn-ea"/>
              <a:sym typeface="+mn-lt"/>
            </a:endParaRPr>
          </a:p>
        </p:txBody>
      </p:sp>
      <p:sp>
        <p:nvSpPr>
          <p:cNvPr id="56" name="TextBox 68"/>
          <p:cNvSpPr txBox="1"/>
          <p:nvPr/>
        </p:nvSpPr>
        <p:spPr>
          <a:xfrm>
            <a:off x="3963850" y="3068470"/>
            <a:ext cx="1826993" cy="1708673"/>
          </a:xfrm>
          <a:prstGeom prst="rect">
            <a:avLst/>
          </a:prstGeom>
          <a:noFill/>
        </p:spPr>
        <p:txBody>
          <a:bodyPr wrap="square" rtlCol="0">
            <a:spAutoFit/>
          </a:bodyPr>
          <a:lstStyle/>
          <a:p>
            <a:r>
              <a:rPr lang="en-US" altLang="zh-CN" sz="1315" dirty="0">
                <a:latin typeface="微软雅黑" panose="020B0503020204020204" pitchFamily="34" charset="-122"/>
                <a:ea typeface="微软雅黑" panose="020B0503020204020204" pitchFamily="34" charset="-122"/>
              </a:rPr>
              <a:t>2004-2006</a:t>
            </a:r>
            <a:r>
              <a:rPr lang="zh-CN" altLang="en-US" sz="1315" dirty="0">
                <a:latin typeface="微软雅黑" panose="020B0503020204020204" pitchFamily="34" charset="-122"/>
                <a:ea typeface="微软雅黑" panose="020B0503020204020204" pitchFamily="34" charset="-122"/>
              </a:rPr>
              <a:t>年，公安部联合四部委开展涉及</a:t>
            </a:r>
            <a:r>
              <a:rPr lang="en-US" altLang="zh-CN" sz="1315" dirty="0">
                <a:latin typeface="微软雅黑" panose="020B0503020204020204" pitchFamily="34" charset="-122"/>
                <a:ea typeface="微软雅黑" panose="020B0503020204020204" pitchFamily="34" charset="-122"/>
              </a:rPr>
              <a:t>65117</a:t>
            </a:r>
            <a:r>
              <a:rPr lang="zh-CN" altLang="en-US" sz="1315" dirty="0">
                <a:latin typeface="微软雅黑" panose="020B0503020204020204" pitchFamily="34" charset="-122"/>
                <a:ea typeface="微软雅黑" panose="020B0503020204020204" pitchFamily="34" charset="-122"/>
              </a:rPr>
              <a:t>家单位，共</a:t>
            </a:r>
            <a:r>
              <a:rPr lang="en-US" altLang="zh-CN" sz="1315" dirty="0">
                <a:latin typeface="微软雅黑" panose="020B0503020204020204" pitchFamily="34" charset="-122"/>
                <a:ea typeface="微软雅黑" panose="020B0503020204020204" pitchFamily="34" charset="-122"/>
              </a:rPr>
              <a:t>115319</a:t>
            </a:r>
            <a:r>
              <a:rPr lang="zh-CN" altLang="en-US" sz="1315" dirty="0">
                <a:latin typeface="微软雅黑" panose="020B0503020204020204" pitchFamily="34" charset="-122"/>
                <a:ea typeface="微软雅黑" panose="020B0503020204020204" pitchFamily="34" charset="-122"/>
              </a:rPr>
              <a:t>个信息系统的等级保护基础</a:t>
            </a:r>
            <a:r>
              <a:rPr lang="zh-CN" altLang="en-US" sz="1315" dirty="0">
                <a:solidFill>
                  <a:srgbClr val="FF0000"/>
                </a:solidFill>
                <a:latin typeface="微软雅黑" panose="020B0503020204020204" pitchFamily="34" charset="-122"/>
                <a:ea typeface="微软雅黑" panose="020B0503020204020204" pitchFamily="34" charset="-122"/>
              </a:rPr>
              <a:t>调查</a:t>
            </a:r>
            <a:r>
              <a:rPr lang="zh-CN" altLang="en-US" sz="1315" dirty="0">
                <a:latin typeface="微软雅黑" panose="020B0503020204020204" pitchFamily="34" charset="-122"/>
                <a:ea typeface="微软雅黑" panose="020B0503020204020204" pitchFamily="34" charset="-122"/>
              </a:rPr>
              <a:t>和等级保护</a:t>
            </a:r>
            <a:r>
              <a:rPr lang="zh-CN" altLang="en-US" sz="1315" dirty="0">
                <a:solidFill>
                  <a:srgbClr val="FF0000"/>
                </a:solidFill>
                <a:latin typeface="微软雅黑" panose="020B0503020204020204" pitchFamily="34" charset="-122"/>
                <a:ea typeface="微软雅黑" panose="020B0503020204020204" pitchFamily="34" charset="-122"/>
              </a:rPr>
              <a:t>试点</a:t>
            </a:r>
            <a:r>
              <a:rPr lang="zh-CN" altLang="en-US" sz="1315" dirty="0">
                <a:latin typeface="微软雅黑" panose="020B0503020204020204" pitchFamily="34" charset="-122"/>
                <a:ea typeface="微软雅黑" panose="020B0503020204020204" pitchFamily="34" charset="-122"/>
              </a:rPr>
              <a:t>工作，为全面开展等级保护工作</a:t>
            </a:r>
            <a:r>
              <a:rPr lang="zh-CN" altLang="en-US" sz="1315" dirty="0">
                <a:solidFill>
                  <a:srgbClr val="FF0000"/>
                </a:solidFill>
                <a:latin typeface="微软雅黑" panose="020B0503020204020204" pitchFamily="34" charset="-122"/>
                <a:ea typeface="微软雅黑" panose="020B0503020204020204" pitchFamily="34" charset="-122"/>
              </a:rPr>
              <a:t>奠定基础</a:t>
            </a:r>
            <a:r>
              <a:rPr lang="zh-CN" altLang="en-US" sz="1315" dirty="0">
                <a:latin typeface="微软雅黑" panose="020B0503020204020204" pitchFamily="34" charset="-122"/>
                <a:ea typeface="微软雅黑" panose="020B0503020204020204" pitchFamily="34" charset="-122"/>
              </a:rPr>
              <a:t>。 </a:t>
            </a:r>
            <a:endParaRPr lang="zh-CN" altLang="en-US" sz="1315" dirty="0">
              <a:latin typeface="微软雅黑" panose="020B0503020204020204" pitchFamily="34" charset="-122"/>
              <a:ea typeface="微软雅黑" panose="020B0503020204020204" pitchFamily="34" charset="-122"/>
            </a:endParaRPr>
          </a:p>
        </p:txBody>
      </p:sp>
      <p:sp>
        <p:nvSpPr>
          <p:cNvPr id="57" name="矩形 56"/>
          <p:cNvSpPr/>
          <p:nvPr/>
        </p:nvSpPr>
        <p:spPr>
          <a:xfrm>
            <a:off x="6458030" y="2941718"/>
            <a:ext cx="1875850" cy="3298398"/>
          </a:xfrm>
          <a:prstGeom prst="rect">
            <a:avLst/>
          </a:prstGeom>
          <a:solidFill>
            <a:srgbClr val="F3F3F3"/>
          </a:solidFill>
          <a:ln w="19050">
            <a:solidFill>
              <a:srgbClr val="00B0F0"/>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58" name="矩形 57"/>
          <p:cNvSpPr/>
          <p:nvPr/>
        </p:nvSpPr>
        <p:spPr>
          <a:xfrm>
            <a:off x="6458030" y="2958036"/>
            <a:ext cx="1882960" cy="70762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a:solidFill>
                <a:srgbClr val="2D2A19"/>
              </a:solidFill>
              <a:latin typeface="Calibri" panose="020F0502020204030204"/>
              <a:ea typeface="微软雅黑" panose="020B0503020204020204" pitchFamily="34" charset="-122"/>
              <a:cs typeface="+mn-ea"/>
              <a:sym typeface="+mn-lt"/>
            </a:endParaRPr>
          </a:p>
        </p:txBody>
      </p:sp>
      <p:sp>
        <p:nvSpPr>
          <p:cNvPr id="59" name="TextBox 72"/>
          <p:cNvSpPr txBox="1"/>
          <p:nvPr/>
        </p:nvSpPr>
        <p:spPr>
          <a:xfrm>
            <a:off x="6557006" y="2941717"/>
            <a:ext cx="1627370" cy="669414"/>
          </a:xfrm>
          <a:prstGeom prst="rect">
            <a:avLst/>
          </a:prstGeom>
          <a:noFill/>
        </p:spPr>
        <p:txBody>
          <a:bodyPr wrap="none" rtlCol="0">
            <a:spAutoFit/>
          </a:bodyPr>
          <a:lstStyle/>
          <a:p>
            <a:pPr algn="ctr" defTabSz="1143000"/>
            <a:r>
              <a:rPr lang="en-US" altLang="zh-CN" sz="1875" dirty="0">
                <a:solidFill>
                  <a:prstClr val="white"/>
                </a:solidFill>
                <a:latin typeface="Calibri" panose="020F0502020204030204"/>
                <a:cs typeface="+mn-ea"/>
                <a:sym typeface="+mn-lt"/>
              </a:rPr>
              <a:t>2007-2010</a:t>
            </a:r>
            <a:endParaRPr lang="en-US" altLang="zh-CN" sz="1875" dirty="0">
              <a:solidFill>
                <a:prstClr val="white"/>
              </a:solidFill>
              <a:latin typeface="Calibri" panose="020F0502020204030204"/>
              <a:cs typeface="+mn-ea"/>
              <a:sym typeface="+mn-lt"/>
            </a:endParaRPr>
          </a:p>
          <a:p>
            <a:pPr algn="ctr" defTabSz="1143000"/>
            <a:r>
              <a:rPr lang="zh-CN" altLang="en-US" sz="1875" dirty="0">
                <a:solidFill>
                  <a:prstClr val="white"/>
                </a:solidFill>
                <a:latin typeface="Calibri" panose="020F0502020204030204"/>
                <a:cs typeface="+mn-ea"/>
                <a:sym typeface="+mn-lt"/>
              </a:rPr>
              <a:t>工作正式启动</a:t>
            </a:r>
            <a:endParaRPr lang="zh-CN" altLang="en-US" sz="1875" dirty="0">
              <a:solidFill>
                <a:prstClr val="white"/>
              </a:solidFill>
              <a:latin typeface="Calibri" panose="020F0502020204030204"/>
              <a:cs typeface="+mn-ea"/>
              <a:sym typeface="+mn-lt"/>
            </a:endParaRPr>
          </a:p>
        </p:txBody>
      </p:sp>
      <p:sp>
        <p:nvSpPr>
          <p:cNvPr id="60" name="TextBox 73"/>
          <p:cNvSpPr txBox="1"/>
          <p:nvPr/>
        </p:nvSpPr>
        <p:spPr>
          <a:xfrm>
            <a:off x="6456077" y="3653650"/>
            <a:ext cx="1935178" cy="2400657"/>
          </a:xfrm>
          <a:prstGeom prst="rect">
            <a:avLst/>
          </a:prstGeom>
          <a:noFill/>
        </p:spPr>
        <p:txBody>
          <a:bodyPr wrap="square" rtlCol="0">
            <a:spAutoFit/>
          </a:bodyPr>
          <a:lstStyle/>
          <a:p>
            <a:pPr defTabSz="1143000"/>
            <a:r>
              <a:rPr lang="en-US" altLang="zh-CN" sz="1250" dirty="0">
                <a:solidFill>
                  <a:srgbClr val="414455"/>
                </a:solidFill>
                <a:latin typeface="Calibri" panose="020F0502020204030204"/>
                <a:cs typeface="+mn-ea"/>
                <a:sym typeface="+mn-lt"/>
              </a:rPr>
              <a:t>2007</a:t>
            </a:r>
            <a:r>
              <a:rPr lang="zh-CN" altLang="en-US" sz="1250" dirty="0">
                <a:solidFill>
                  <a:srgbClr val="414455"/>
                </a:solidFill>
                <a:latin typeface="Calibri" panose="020F0502020204030204"/>
                <a:cs typeface="+mn-ea"/>
                <a:sym typeface="+mn-lt"/>
              </a:rPr>
              <a:t>年</a:t>
            </a:r>
            <a:r>
              <a:rPr lang="en-US" altLang="zh-CN" sz="1250" dirty="0">
                <a:solidFill>
                  <a:srgbClr val="414455"/>
                </a:solidFill>
                <a:latin typeface="Calibri" panose="020F0502020204030204"/>
                <a:cs typeface="+mn-ea"/>
                <a:sym typeface="+mn-lt"/>
              </a:rPr>
              <a:t>6</a:t>
            </a:r>
            <a:r>
              <a:rPr lang="zh-CN" altLang="en-US" sz="1250" dirty="0">
                <a:solidFill>
                  <a:srgbClr val="414455"/>
                </a:solidFill>
                <a:latin typeface="Calibri" panose="020F0502020204030204"/>
                <a:cs typeface="+mn-ea"/>
                <a:sym typeface="+mn-lt"/>
              </a:rPr>
              <a:t>月，四部门联合出台</a:t>
            </a:r>
            <a:r>
              <a:rPr lang="en-US" altLang="zh-CN" sz="1250" dirty="0">
                <a:solidFill>
                  <a:srgbClr val="414455"/>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信息安全等级保护管理办法</a:t>
            </a:r>
            <a:r>
              <a:rPr lang="en-US" altLang="zh-CN" sz="1250" dirty="0">
                <a:solidFill>
                  <a:srgbClr val="414455"/>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a:t>
            </a:r>
            <a:r>
              <a:rPr lang="en-US" altLang="zh-CN" sz="1250" dirty="0">
                <a:solidFill>
                  <a:srgbClr val="414455"/>
                </a:solidFill>
                <a:latin typeface="Calibri" panose="020F0502020204030204"/>
                <a:cs typeface="+mn-ea"/>
                <a:sym typeface="+mn-lt"/>
              </a:rPr>
              <a:t>2007</a:t>
            </a:r>
            <a:r>
              <a:rPr lang="zh-CN" altLang="en-US" sz="1250" dirty="0">
                <a:solidFill>
                  <a:srgbClr val="414455"/>
                </a:solidFill>
                <a:latin typeface="Calibri" panose="020F0502020204030204"/>
                <a:cs typeface="+mn-ea"/>
                <a:sym typeface="+mn-lt"/>
              </a:rPr>
              <a:t>年</a:t>
            </a:r>
            <a:r>
              <a:rPr lang="en-US" altLang="zh-CN" sz="1250" dirty="0">
                <a:solidFill>
                  <a:srgbClr val="414455"/>
                </a:solidFill>
                <a:latin typeface="Calibri" panose="020F0502020204030204"/>
                <a:cs typeface="+mn-ea"/>
                <a:sym typeface="+mn-lt"/>
              </a:rPr>
              <a:t>7</a:t>
            </a:r>
            <a:r>
              <a:rPr lang="zh-CN" altLang="en-US" sz="1250" dirty="0">
                <a:solidFill>
                  <a:srgbClr val="414455"/>
                </a:solidFill>
                <a:latin typeface="Calibri" panose="020F0502020204030204"/>
                <a:cs typeface="+mn-ea"/>
                <a:sym typeface="+mn-lt"/>
              </a:rPr>
              <a:t>月，四部门联合颁布</a:t>
            </a:r>
            <a:r>
              <a:rPr lang="en-US" altLang="zh-CN" sz="1250" dirty="0">
                <a:solidFill>
                  <a:srgbClr val="414455"/>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关于开展全国重要信息系统安全等级保护定级工作的通知</a:t>
            </a:r>
            <a:r>
              <a:rPr lang="en-US" altLang="zh-CN" sz="1250" dirty="0">
                <a:solidFill>
                  <a:srgbClr val="414455"/>
                </a:solidFill>
                <a:latin typeface="Calibri" panose="020F0502020204030204"/>
                <a:cs typeface="+mn-ea"/>
                <a:sym typeface="+mn-lt"/>
              </a:rPr>
              <a:t>》</a:t>
            </a:r>
            <a:r>
              <a:rPr lang="zh-CN" altLang="en-US" sz="1250" dirty="0">
                <a:solidFill>
                  <a:srgbClr val="414455"/>
                </a:solidFill>
                <a:latin typeface="Calibri" panose="020F0502020204030204"/>
                <a:cs typeface="+mn-ea"/>
                <a:sym typeface="+mn-lt"/>
              </a:rPr>
              <a:t>。</a:t>
            </a:r>
            <a:r>
              <a:rPr lang="en-US" altLang="zh-CN" sz="1250" dirty="0">
                <a:solidFill>
                  <a:srgbClr val="414455"/>
                </a:solidFill>
                <a:latin typeface="Calibri" panose="020F0502020204030204"/>
                <a:cs typeface="+mn-ea"/>
                <a:sym typeface="+mn-lt"/>
              </a:rPr>
              <a:t>2007</a:t>
            </a:r>
            <a:r>
              <a:rPr lang="zh-CN" altLang="en-US" sz="1250" dirty="0">
                <a:solidFill>
                  <a:srgbClr val="414455"/>
                </a:solidFill>
                <a:latin typeface="Calibri" panose="020F0502020204030204"/>
                <a:cs typeface="+mn-ea"/>
                <a:sym typeface="+mn-lt"/>
              </a:rPr>
              <a:t>年</a:t>
            </a:r>
            <a:r>
              <a:rPr lang="en-US" altLang="zh-CN" sz="1250" dirty="0">
                <a:solidFill>
                  <a:srgbClr val="414455"/>
                </a:solidFill>
                <a:latin typeface="Calibri" panose="020F0502020204030204"/>
                <a:cs typeface="+mn-ea"/>
                <a:sym typeface="+mn-lt"/>
              </a:rPr>
              <a:t>7</a:t>
            </a:r>
            <a:r>
              <a:rPr lang="zh-CN" altLang="en-US" sz="1250" dirty="0">
                <a:solidFill>
                  <a:srgbClr val="414455"/>
                </a:solidFill>
                <a:latin typeface="Calibri" panose="020F0502020204030204"/>
                <a:cs typeface="+mn-ea"/>
                <a:sym typeface="+mn-lt"/>
              </a:rPr>
              <a:t>月</a:t>
            </a:r>
            <a:r>
              <a:rPr lang="en-US" altLang="zh-CN" sz="1250" dirty="0">
                <a:solidFill>
                  <a:srgbClr val="414455"/>
                </a:solidFill>
                <a:latin typeface="Calibri" panose="020F0502020204030204"/>
                <a:cs typeface="+mn-ea"/>
                <a:sym typeface="+mn-lt"/>
              </a:rPr>
              <a:t>20</a:t>
            </a:r>
            <a:r>
              <a:rPr lang="zh-CN" altLang="en-US" sz="1250" dirty="0">
                <a:solidFill>
                  <a:srgbClr val="414455"/>
                </a:solidFill>
                <a:latin typeface="Calibri" panose="020F0502020204030204"/>
                <a:cs typeface="+mn-ea"/>
                <a:sym typeface="+mn-lt"/>
              </a:rPr>
              <a:t>日，召开全国重要信息系统安全等级保护定级工作部署专题电视电话会议，标志着信息安全等级保护制度</a:t>
            </a:r>
            <a:r>
              <a:rPr lang="zh-CN" altLang="en-US" sz="1250" dirty="0">
                <a:solidFill>
                  <a:srgbClr val="FF0000"/>
                </a:solidFill>
                <a:latin typeface="Calibri" panose="020F0502020204030204"/>
                <a:cs typeface="+mn-ea"/>
                <a:sym typeface="+mn-lt"/>
              </a:rPr>
              <a:t>正式开始实施</a:t>
            </a:r>
            <a:r>
              <a:rPr lang="zh-CN" altLang="en-US" sz="1250" dirty="0">
                <a:solidFill>
                  <a:srgbClr val="414455"/>
                </a:solidFill>
                <a:latin typeface="Calibri" panose="020F0502020204030204"/>
                <a:cs typeface="+mn-ea"/>
                <a:sym typeface="+mn-lt"/>
              </a:rPr>
              <a:t>。 </a:t>
            </a:r>
            <a:endParaRPr lang="zh-CN" altLang="en-US" sz="1250" dirty="0">
              <a:solidFill>
                <a:srgbClr val="414455"/>
              </a:solidFill>
              <a:latin typeface="Calibri" panose="020F0502020204030204"/>
              <a:cs typeface="+mn-ea"/>
              <a:sym typeface="+mn-lt"/>
            </a:endParaRPr>
          </a:p>
        </p:txBody>
      </p:sp>
      <p:sp>
        <p:nvSpPr>
          <p:cNvPr id="61" name="矩形 60"/>
          <p:cNvSpPr/>
          <p:nvPr/>
        </p:nvSpPr>
        <p:spPr>
          <a:xfrm>
            <a:off x="9010402" y="2329675"/>
            <a:ext cx="1946138" cy="3664960"/>
          </a:xfrm>
          <a:prstGeom prst="rect">
            <a:avLst/>
          </a:prstGeom>
          <a:solidFill>
            <a:srgbClr val="F3F3F3"/>
          </a:solidFill>
          <a:ln w="19050">
            <a:solidFill>
              <a:srgbClr val="414455"/>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62" name="矩形 61"/>
          <p:cNvSpPr/>
          <p:nvPr/>
        </p:nvSpPr>
        <p:spPr>
          <a:xfrm>
            <a:off x="9010402" y="2329675"/>
            <a:ext cx="1946138" cy="628360"/>
          </a:xfrm>
          <a:prstGeom prst="rect">
            <a:avLst/>
          </a:prstGeom>
          <a:solidFill>
            <a:srgbClr val="414455"/>
          </a:solidFill>
          <a:ln>
            <a:solidFill>
              <a:srgbClr val="41445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a:solidFill>
                <a:srgbClr val="2D2A19"/>
              </a:solidFill>
              <a:latin typeface="Calibri" panose="020F0502020204030204"/>
              <a:ea typeface="微软雅黑" panose="020B0503020204020204" pitchFamily="34" charset="-122"/>
              <a:cs typeface="+mn-ea"/>
              <a:sym typeface="+mn-lt"/>
            </a:endParaRPr>
          </a:p>
        </p:txBody>
      </p:sp>
      <p:sp>
        <p:nvSpPr>
          <p:cNvPr id="63" name="TextBox 77"/>
          <p:cNvSpPr txBox="1"/>
          <p:nvPr/>
        </p:nvSpPr>
        <p:spPr>
          <a:xfrm>
            <a:off x="9224547" y="2323670"/>
            <a:ext cx="1627370" cy="669414"/>
          </a:xfrm>
          <a:prstGeom prst="rect">
            <a:avLst/>
          </a:prstGeom>
          <a:noFill/>
        </p:spPr>
        <p:txBody>
          <a:bodyPr wrap="none" rtlCol="0">
            <a:spAutoFit/>
          </a:bodyPr>
          <a:lstStyle/>
          <a:p>
            <a:pPr algn="ctr" defTabSz="1143000"/>
            <a:r>
              <a:rPr lang="en-US" altLang="zh-CN" sz="1875" dirty="0">
                <a:solidFill>
                  <a:prstClr val="white"/>
                </a:solidFill>
                <a:latin typeface="Calibri" panose="020F0502020204030204"/>
                <a:cs typeface="+mn-ea"/>
                <a:sym typeface="+mn-lt"/>
              </a:rPr>
              <a:t>2010-2016</a:t>
            </a:r>
            <a:endParaRPr lang="en-US" altLang="zh-CN" sz="1875" dirty="0">
              <a:solidFill>
                <a:prstClr val="white"/>
              </a:solidFill>
              <a:latin typeface="Calibri" panose="020F0502020204030204"/>
              <a:cs typeface="+mn-ea"/>
              <a:sym typeface="+mn-lt"/>
            </a:endParaRPr>
          </a:p>
          <a:p>
            <a:pPr algn="ctr" defTabSz="1143000"/>
            <a:r>
              <a:rPr lang="zh-CN" altLang="en-US" sz="1875" dirty="0">
                <a:solidFill>
                  <a:prstClr val="white"/>
                </a:solidFill>
                <a:latin typeface="Calibri" panose="020F0502020204030204"/>
                <a:cs typeface="+mn-ea"/>
                <a:sym typeface="+mn-lt"/>
              </a:rPr>
              <a:t>工作规模推进</a:t>
            </a:r>
            <a:endParaRPr lang="zh-CN" altLang="en-US" sz="1875" dirty="0">
              <a:solidFill>
                <a:prstClr val="white"/>
              </a:solidFill>
              <a:latin typeface="Calibri" panose="020F0502020204030204"/>
              <a:cs typeface="+mn-ea"/>
              <a:sym typeface="+mn-lt"/>
            </a:endParaRPr>
          </a:p>
        </p:txBody>
      </p:sp>
      <p:sp>
        <p:nvSpPr>
          <p:cNvPr id="64" name="TextBox 78"/>
          <p:cNvSpPr txBox="1"/>
          <p:nvPr/>
        </p:nvSpPr>
        <p:spPr>
          <a:xfrm>
            <a:off x="9052417" y="3080375"/>
            <a:ext cx="1971631" cy="2920928"/>
          </a:xfrm>
          <a:prstGeom prst="rect">
            <a:avLst/>
          </a:prstGeom>
          <a:noFill/>
        </p:spPr>
        <p:txBody>
          <a:bodyPr wrap="square" rtlCol="0">
            <a:spAutoFit/>
          </a:bodyPr>
          <a:lstStyle/>
          <a:p>
            <a:r>
              <a:rPr lang="en-US" altLang="zh-CN" sz="1315" dirty="0">
                <a:latin typeface="微软雅黑" panose="020B0503020204020204" pitchFamily="34" charset="-122"/>
                <a:ea typeface="微软雅黑" panose="020B0503020204020204" pitchFamily="34" charset="-122"/>
              </a:rPr>
              <a:t>2010</a:t>
            </a:r>
            <a:r>
              <a:rPr lang="zh-CN" altLang="en-US" sz="1315" dirty="0">
                <a:latin typeface="微软雅黑" panose="020B0503020204020204" pitchFamily="34" charset="-122"/>
                <a:ea typeface="微软雅黑" panose="020B0503020204020204" pitchFamily="34" charset="-122"/>
              </a:rPr>
              <a:t>年</a:t>
            </a:r>
            <a:r>
              <a:rPr lang="en-US" altLang="zh-CN" sz="1315" dirty="0">
                <a:latin typeface="微软雅黑" panose="020B0503020204020204" pitchFamily="34" charset="-122"/>
                <a:ea typeface="微软雅黑" panose="020B0503020204020204" pitchFamily="34" charset="-122"/>
              </a:rPr>
              <a:t>4</a:t>
            </a:r>
            <a:r>
              <a:rPr lang="zh-CN" altLang="en-US" sz="1315" dirty="0">
                <a:latin typeface="微软雅黑" panose="020B0503020204020204" pitchFamily="34" charset="-122"/>
                <a:ea typeface="微软雅黑" panose="020B0503020204020204" pitchFamily="34" charset="-122"/>
              </a:rPr>
              <a:t>月，公安部出台</a:t>
            </a:r>
            <a:r>
              <a:rPr lang="en-US" altLang="zh-CN" sz="1315" dirty="0">
                <a:solidFill>
                  <a:schemeClr val="tx1"/>
                </a:solidFill>
                <a:latin typeface="微软雅黑" panose="020B0503020204020204" pitchFamily="34" charset="-122"/>
                <a:ea typeface="微软雅黑" panose="020B0503020204020204" pitchFamily="34" charset="-122"/>
              </a:rPr>
              <a:t>《</a:t>
            </a:r>
            <a:r>
              <a:rPr lang="zh-CN" altLang="en-US" sz="1315" dirty="0">
                <a:solidFill>
                  <a:schemeClr val="tx1"/>
                </a:solidFill>
                <a:latin typeface="微软雅黑" panose="020B0503020204020204" pitchFamily="34" charset="-122"/>
                <a:ea typeface="微软雅黑" panose="020B0503020204020204" pitchFamily="34" charset="-122"/>
              </a:rPr>
              <a:t>关于推动信息安全等级保护测评体系建设和开展等级测评工作的</a:t>
            </a:r>
            <a:r>
              <a:rPr lang="zh-CN" altLang="en-US" sz="1315" dirty="0">
                <a:solidFill>
                  <a:srgbClr val="FF0000"/>
                </a:solidFill>
                <a:latin typeface="微软雅黑" panose="020B0503020204020204" pitchFamily="34" charset="-122"/>
                <a:ea typeface="微软雅黑" panose="020B0503020204020204" pitchFamily="34" charset="-122"/>
              </a:rPr>
              <a:t>通知</a:t>
            </a:r>
            <a:r>
              <a:rPr lang="en-US" altLang="zh-CN" sz="1315" dirty="0">
                <a:solidFill>
                  <a:schemeClr val="tx1"/>
                </a:solidFill>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，提出等级保护工作的阶段性目标。</a:t>
            </a:r>
            <a:endParaRPr lang="en-US" altLang="zh-CN" sz="1315" dirty="0">
              <a:latin typeface="微软雅黑" panose="020B0503020204020204" pitchFamily="34" charset="-122"/>
              <a:ea typeface="微软雅黑" panose="020B0503020204020204" pitchFamily="34" charset="-122"/>
            </a:endParaRPr>
          </a:p>
          <a:p>
            <a:r>
              <a:rPr lang="en-US" altLang="zh-CN" sz="1315" dirty="0">
                <a:latin typeface="微软雅黑" panose="020B0503020204020204" pitchFamily="34" charset="-122"/>
                <a:ea typeface="微软雅黑" panose="020B0503020204020204" pitchFamily="34" charset="-122"/>
              </a:rPr>
              <a:t>2010</a:t>
            </a:r>
            <a:r>
              <a:rPr lang="zh-CN" altLang="en-US" sz="1315" dirty="0">
                <a:latin typeface="微软雅黑" panose="020B0503020204020204" pitchFamily="34" charset="-122"/>
                <a:ea typeface="微软雅黑" panose="020B0503020204020204" pitchFamily="34" charset="-122"/>
              </a:rPr>
              <a:t>年</a:t>
            </a:r>
            <a:r>
              <a:rPr lang="en-US" altLang="zh-CN" sz="1315" dirty="0">
                <a:latin typeface="微软雅黑" panose="020B0503020204020204" pitchFamily="34" charset="-122"/>
                <a:ea typeface="微软雅黑" panose="020B0503020204020204" pitchFamily="34" charset="-122"/>
              </a:rPr>
              <a:t>12</a:t>
            </a:r>
            <a:r>
              <a:rPr lang="zh-CN" altLang="en-US" sz="1315" dirty="0">
                <a:latin typeface="微软雅黑" panose="020B0503020204020204" pitchFamily="34" charset="-122"/>
                <a:ea typeface="微软雅黑" panose="020B0503020204020204" pitchFamily="34" charset="-122"/>
              </a:rPr>
              <a:t>月，公安部和国务院国有资产监督管理委员会联合出台</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关于进一步推进中央企业信息安全等级保护工作的</a:t>
            </a:r>
            <a:r>
              <a:rPr lang="zh-CN" altLang="en-US" sz="1315" dirty="0">
                <a:solidFill>
                  <a:srgbClr val="FF0000"/>
                </a:solidFill>
                <a:latin typeface="微软雅黑" panose="020B0503020204020204" pitchFamily="34" charset="-122"/>
                <a:ea typeface="微软雅黑" panose="020B0503020204020204" pitchFamily="34" charset="-122"/>
              </a:rPr>
              <a:t>通知</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，要求中央企业贯彻执行等级保护工作。</a:t>
            </a:r>
            <a:endParaRPr lang="zh-CN" altLang="en-US" sz="1315" dirty="0">
              <a:latin typeface="微软雅黑" panose="020B0503020204020204" pitchFamily="34" charset="-122"/>
              <a:ea typeface="微软雅黑" panose="020B0503020204020204" pitchFamily="34" charset="-122"/>
            </a:endParaRPr>
          </a:p>
        </p:txBody>
      </p:sp>
      <p:sp>
        <p:nvSpPr>
          <p:cNvPr id="65" name="椭圆 64"/>
          <p:cNvSpPr/>
          <p:nvPr/>
        </p:nvSpPr>
        <p:spPr>
          <a:xfrm>
            <a:off x="832890" y="1768500"/>
            <a:ext cx="485684" cy="485684"/>
          </a:xfrm>
          <a:prstGeom prst="ellipse">
            <a:avLst/>
          </a:prstGeom>
          <a:solidFill>
            <a:schemeClr val="accent1"/>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3500" dirty="0">
              <a:solidFill>
                <a:prstClr val="white"/>
              </a:solidFill>
              <a:latin typeface="Calibri" panose="020F0502020204030204"/>
              <a:ea typeface="微软雅黑" panose="020B0503020204020204" pitchFamily="34" charset="-122"/>
              <a:cs typeface="+mn-ea"/>
              <a:sym typeface="+mn-lt"/>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500" fill="hold"/>
                                        <p:tgtEl>
                                          <p:spTgt spid="65"/>
                                        </p:tgtEl>
                                        <p:attrNameLst>
                                          <p:attrName>ppt_w</p:attrName>
                                        </p:attrNameLst>
                                      </p:cBhvr>
                                      <p:tavLst>
                                        <p:tav tm="0">
                                          <p:val>
                                            <p:fltVal val="0"/>
                                          </p:val>
                                        </p:tav>
                                        <p:tav tm="100000">
                                          <p:val>
                                            <p:strVal val="#ppt_w"/>
                                          </p:val>
                                        </p:tav>
                                      </p:tavLst>
                                    </p:anim>
                                    <p:anim calcmode="lin" valueType="num">
                                      <p:cBhvr>
                                        <p:cTn id="8" dur="500" fill="hold"/>
                                        <p:tgtEl>
                                          <p:spTgt spid="65"/>
                                        </p:tgtEl>
                                        <p:attrNameLst>
                                          <p:attrName>ppt_h</p:attrName>
                                        </p:attrNameLst>
                                      </p:cBhvr>
                                      <p:tavLst>
                                        <p:tav tm="0">
                                          <p:val>
                                            <p:fltVal val="0"/>
                                          </p:val>
                                        </p:tav>
                                        <p:tav tm="100000">
                                          <p:val>
                                            <p:strVal val="#ppt_h"/>
                                          </p:val>
                                        </p:tav>
                                      </p:tavLst>
                                    </p:anim>
                                    <p:animEffect transition="in" filter="fade">
                                      <p:cBhvr>
                                        <p:cTn id="9" dur="500"/>
                                        <p:tgtEl>
                                          <p:spTgt spid="65"/>
                                        </p:tgtEl>
                                      </p:cBhvr>
                                    </p:animEffect>
                                  </p:childTnLst>
                                </p:cTn>
                              </p:par>
                            </p:childTnLst>
                          </p:cTn>
                        </p:par>
                        <p:par>
                          <p:cTn id="10" fill="hold">
                            <p:stCondLst>
                              <p:cond delay="500"/>
                            </p:stCondLst>
                            <p:childTnLst>
                              <p:par>
                                <p:cTn id="11" presetID="12" presetClass="entr" presetSubtype="8" fill="hold" grpId="0" nodeType="after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p:tgtEl>
                                          <p:spTgt spid="36"/>
                                        </p:tgtEl>
                                        <p:attrNameLst>
                                          <p:attrName>ppt_x</p:attrName>
                                        </p:attrNameLst>
                                      </p:cBhvr>
                                      <p:tavLst>
                                        <p:tav tm="0">
                                          <p:val>
                                            <p:strVal val="#ppt_x-#ppt_w*1.125000"/>
                                          </p:val>
                                        </p:tav>
                                        <p:tav tm="100000">
                                          <p:val>
                                            <p:strVal val="#ppt_x"/>
                                          </p:val>
                                        </p:tav>
                                      </p:tavLst>
                                    </p:anim>
                                    <p:animEffect transition="in" filter="wipe(right)">
                                      <p:cBhvr>
                                        <p:cTn id="14" dur="500"/>
                                        <p:tgtEl>
                                          <p:spTgt spid="36"/>
                                        </p:tgtEl>
                                      </p:cBhvr>
                                    </p:animEffect>
                                  </p:childTnLst>
                                </p:cTn>
                              </p:par>
                            </p:childTnLst>
                          </p:cTn>
                        </p:par>
                        <p:par>
                          <p:cTn id="15" fill="hold">
                            <p:stCondLst>
                              <p:cond delay="1000"/>
                            </p:stCondLst>
                            <p:childTnLst>
                              <p:par>
                                <p:cTn id="16" presetID="18" presetClass="entr" presetSubtype="12"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strips(downLeft)">
                                      <p:cBhvr>
                                        <p:cTn id="18" dur="500"/>
                                        <p:tgtEl>
                                          <p:spTgt spid="49"/>
                                        </p:tgtEl>
                                      </p:cBhvr>
                                    </p:animEffect>
                                  </p:childTnLst>
                                </p:cTn>
                              </p:par>
                              <p:par>
                                <p:cTn id="19" presetID="18" presetClass="entr" presetSubtype="12"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strips(downLeft)">
                                      <p:cBhvr>
                                        <p:cTn id="21" dur="500"/>
                                        <p:tgtEl>
                                          <p:spTgt spid="50"/>
                                        </p:tgtEl>
                                      </p:cBhvr>
                                    </p:animEffect>
                                  </p:childTnLst>
                                </p:cTn>
                              </p:par>
                            </p:childTnLst>
                          </p:cTn>
                        </p:par>
                        <p:par>
                          <p:cTn id="22" fill="hold">
                            <p:stCondLst>
                              <p:cond delay="1500"/>
                            </p:stCondLst>
                            <p:childTnLst>
                              <p:par>
                                <p:cTn id="23" presetID="12" presetClass="entr" presetSubtype="4" fill="hold" grpId="0" nodeType="after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p:tgtEl>
                                          <p:spTgt spid="51"/>
                                        </p:tgtEl>
                                        <p:attrNameLst>
                                          <p:attrName>ppt_y</p:attrName>
                                        </p:attrNameLst>
                                      </p:cBhvr>
                                      <p:tavLst>
                                        <p:tav tm="0">
                                          <p:val>
                                            <p:strVal val="#ppt_y+#ppt_h*1.125000"/>
                                          </p:val>
                                        </p:tav>
                                        <p:tav tm="100000">
                                          <p:val>
                                            <p:strVal val="#ppt_y"/>
                                          </p:val>
                                        </p:tav>
                                      </p:tavLst>
                                    </p:anim>
                                    <p:animEffect transition="in" filter="wipe(up)">
                                      <p:cBhvr>
                                        <p:cTn id="26" dur="500"/>
                                        <p:tgtEl>
                                          <p:spTgt spid="51"/>
                                        </p:tgtEl>
                                      </p:cBhvr>
                                    </p:animEffect>
                                  </p:childTnLst>
                                </p:cTn>
                              </p:par>
                              <p:par>
                                <p:cTn id="27" presetID="12" presetClass="entr" presetSubtype="1"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anim calcmode="lin" valueType="num">
                                      <p:cBhvr additive="base">
                                        <p:cTn id="29" dur="500"/>
                                        <p:tgtEl>
                                          <p:spTgt spid="52"/>
                                        </p:tgtEl>
                                        <p:attrNameLst>
                                          <p:attrName>ppt_y</p:attrName>
                                        </p:attrNameLst>
                                      </p:cBhvr>
                                      <p:tavLst>
                                        <p:tav tm="0">
                                          <p:val>
                                            <p:strVal val="#ppt_y-#ppt_h*1.125000"/>
                                          </p:val>
                                        </p:tav>
                                        <p:tav tm="100000">
                                          <p:val>
                                            <p:strVal val="#ppt_y"/>
                                          </p:val>
                                        </p:tav>
                                      </p:tavLst>
                                    </p:anim>
                                    <p:animEffect transition="in" filter="wipe(down)">
                                      <p:cBhvr>
                                        <p:cTn id="30" dur="500"/>
                                        <p:tgtEl>
                                          <p:spTgt spid="52"/>
                                        </p:tgtEl>
                                      </p:cBhvr>
                                    </p:animEffect>
                                  </p:childTnLst>
                                </p:cTn>
                              </p:par>
                            </p:childTnLst>
                          </p:cTn>
                        </p:par>
                        <p:par>
                          <p:cTn id="31" fill="hold">
                            <p:stCondLst>
                              <p:cond delay="2000"/>
                            </p:stCondLst>
                            <p:childTnLst>
                              <p:par>
                                <p:cTn id="32" presetID="18" presetClass="entr" presetSubtype="12" fill="hold" grpId="0" nodeType="after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strips(downLeft)">
                                      <p:cBhvr>
                                        <p:cTn id="34" dur="500"/>
                                        <p:tgtEl>
                                          <p:spTgt spid="53"/>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strips(downLeft)">
                                      <p:cBhvr>
                                        <p:cTn id="37" dur="500"/>
                                        <p:tgtEl>
                                          <p:spTgt spid="54"/>
                                        </p:tgtEl>
                                      </p:cBhvr>
                                    </p:animEffect>
                                  </p:childTnLst>
                                </p:cTn>
                              </p:par>
                            </p:childTnLst>
                          </p:cTn>
                        </p:par>
                        <p:par>
                          <p:cTn id="38" fill="hold">
                            <p:stCondLst>
                              <p:cond delay="2500"/>
                            </p:stCondLst>
                            <p:childTnLst>
                              <p:par>
                                <p:cTn id="39" presetID="12" presetClass="entr" presetSubtype="4" fill="hold" grpId="0" nodeType="afterEffect">
                                  <p:stCondLst>
                                    <p:cond delay="0"/>
                                  </p:stCondLst>
                                  <p:childTnLst>
                                    <p:set>
                                      <p:cBhvr>
                                        <p:cTn id="40" dur="1" fill="hold">
                                          <p:stCondLst>
                                            <p:cond delay="0"/>
                                          </p:stCondLst>
                                        </p:cTn>
                                        <p:tgtEl>
                                          <p:spTgt spid="55"/>
                                        </p:tgtEl>
                                        <p:attrNameLst>
                                          <p:attrName>style.visibility</p:attrName>
                                        </p:attrNameLst>
                                      </p:cBhvr>
                                      <p:to>
                                        <p:strVal val="visible"/>
                                      </p:to>
                                    </p:set>
                                    <p:anim calcmode="lin" valueType="num">
                                      <p:cBhvr additive="base">
                                        <p:cTn id="41" dur="500"/>
                                        <p:tgtEl>
                                          <p:spTgt spid="55"/>
                                        </p:tgtEl>
                                        <p:attrNameLst>
                                          <p:attrName>ppt_y</p:attrName>
                                        </p:attrNameLst>
                                      </p:cBhvr>
                                      <p:tavLst>
                                        <p:tav tm="0">
                                          <p:val>
                                            <p:strVal val="#ppt_y+#ppt_h*1.125000"/>
                                          </p:val>
                                        </p:tav>
                                        <p:tav tm="100000">
                                          <p:val>
                                            <p:strVal val="#ppt_y"/>
                                          </p:val>
                                        </p:tav>
                                      </p:tavLst>
                                    </p:anim>
                                    <p:animEffect transition="in" filter="wipe(up)">
                                      <p:cBhvr>
                                        <p:cTn id="42" dur="500"/>
                                        <p:tgtEl>
                                          <p:spTgt spid="55"/>
                                        </p:tgtEl>
                                      </p:cBhvr>
                                    </p:animEffect>
                                  </p:childTnLst>
                                </p:cTn>
                              </p:par>
                              <p:par>
                                <p:cTn id="43" presetID="12" presetClass="entr" presetSubtype="1"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anim calcmode="lin" valueType="num">
                                      <p:cBhvr additive="base">
                                        <p:cTn id="45" dur="500"/>
                                        <p:tgtEl>
                                          <p:spTgt spid="56"/>
                                        </p:tgtEl>
                                        <p:attrNameLst>
                                          <p:attrName>ppt_y</p:attrName>
                                        </p:attrNameLst>
                                      </p:cBhvr>
                                      <p:tavLst>
                                        <p:tav tm="0">
                                          <p:val>
                                            <p:strVal val="#ppt_y-#ppt_h*1.125000"/>
                                          </p:val>
                                        </p:tav>
                                        <p:tav tm="100000">
                                          <p:val>
                                            <p:strVal val="#ppt_y"/>
                                          </p:val>
                                        </p:tav>
                                      </p:tavLst>
                                    </p:anim>
                                    <p:animEffect transition="in" filter="wipe(down)">
                                      <p:cBhvr>
                                        <p:cTn id="46" dur="500"/>
                                        <p:tgtEl>
                                          <p:spTgt spid="56"/>
                                        </p:tgtEl>
                                      </p:cBhvr>
                                    </p:animEffect>
                                  </p:childTnLst>
                                </p:cTn>
                              </p:par>
                            </p:childTnLst>
                          </p:cTn>
                        </p:par>
                        <p:par>
                          <p:cTn id="47" fill="hold">
                            <p:stCondLst>
                              <p:cond delay="3000"/>
                            </p:stCondLst>
                            <p:childTnLst>
                              <p:par>
                                <p:cTn id="48" presetID="18" presetClass="entr" presetSubtype="12" fill="hold" grpId="0" nodeType="after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strips(downLeft)">
                                      <p:cBhvr>
                                        <p:cTn id="50" dur="500"/>
                                        <p:tgtEl>
                                          <p:spTgt spid="57"/>
                                        </p:tgtEl>
                                      </p:cBhvr>
                                    </p:animEffect>
                                  </p:childTnLst>
                                </p:cTn>
                              </p:par>
                              <p:par>
                                <p:cTn id="51" presetID="18" presetClass="entr" presetSubtype="12"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strips(downLeft)">
                                      <p:cBhvr>
                                        <p:cTn id="53" dur="500"/>
                                        <p:tgtEl>
                                          <p:spTgt spid="58"/>
                                        </p:tgtEl>
                                      </p:cBhvr>
                                    </p:animEffect>
                                  </p:childTnLst>
                                </p:cTn>
                              </p:par>
                            </p:childTnLst>
                          </p:cTn>
                        </p:par>
                        <p:par>
                          <p:cTn id="54" fill="hold">
                            <p:stCondLst>
                              <p:cond delay="3500"/>
                            </p:stCondLst>
                            <p:childTnLst>
                              <p:par>
                                <p:cTn id="55" presetID="12" presetClass="entr" presetSubtype="4" fill="hold" grpId="0" nodeType="afterEffect">
                                  <p:stCondLst>
                                    <p:cond delay="0"/>
                                  </p:stCondLst>
                                  <p:childTnLst>
                                    <p:set>
                                      <p:cBhvr>
                                        <p:cTn id="56" dur="1" fill="hold">
                                          <p:stCondLst>
                                            <p:cond delay="0"/>
                                          </p:stCondLst>
                                        </p:cTn>
                                        <p:tgtEl>
                                          <p:spTgt spid="59"/>
                                        </p:tgtEl>
                                        <p:attrNameLst>
                                          <p:attrName>style.visibility</p:attrName>
                                        </p:attrNameLst>
                                      </p:cBhvr>
                                      <p:to>
                                        <p:strVal val="visible"/>
                                      </p:to>
                                    </p:set>
                                    <p:anim calcmode="lin" valueType="num">
                                      <p:cBhvr additive="base">
                                        <p:cTn id="57" dur="500"/>
                                        <p:tgtEl>
                                          <p:spTgt spid="59"/>
                                        </p:tgtEl>
                                        <p:attrNameLst>
                                          <p:attrName>ppt_y</p:attrName>
                                        </p:attrNameLst>
                                      </p:cBhvr>
                                      <p:tavLst>
                                        <p:tav tm="0">
                                          <p:val>
                                            <p:strVal val="#ppt_y+#ppt_h*1.125000"/>
                                          </p:val>
                                        </p:tav>
                                        <p:tav tm="100000">
                                          <p:val>
                                            <p:strVal val="#ppt_y"/>
                                          </p:val>
                                        </p:tav>
                                      </p:tavLst>
                                    </p:anim>
                                    <p:animEffect transition="in" filter="wipe(up)">
                                      <p:cBhvr>
                                        <p:cTn id="58" dur="500"/>
                                        <p:tgtEl>
                                          <p:spTgt spid="59"/>
                                        </p:tgtEl>
                                      </p:cBhvr>
                                    </p:animEffect>
                                  </p:childTnLst>
                                </p:cTn>
                              </p:par>
                              <p:par>
                                <p:cTn id="59" presetID="12" presetClass="entr" presetSubtype="1"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anim calcmode="lin" valueType="num">
                                      <p:cBhvr additive="base">
                                        <p:cTn id="61" dur="500"/>
                                        <p:tgtEl>
                                          <p:spTgt spid="60"/>
                                        </p:tgtEl>
                                        <p:attrNameLst>
                                          <p:attrName>ppt_y</p:attrName>
                                        </p:attrNameLst>
                                      </p:cBhvr>
                                      <p:tavLst>
                                        <p:tav tm="0">
                                          <p:val>
                                            <p:strVal val="#ppt_y-#ppt_h*1.125000"/>
                                          </p:val>
                                        </p:tav>
                                        <p:tav tm="100000">
                                          <p:val>
                                            <p:strVal val="#ppt_y"/>
                                          </p:val>
                                        </p:tav>
                                      </p:tavLst>
                                    </p:anim>
                                    <p:animEffect transition="in" filter="wipe(down)">
                                      <p:cBhvr>
                                        <p:cTn id="62" dur="500"/>
                                        <p:tgtEl>
                                          <p:spTgt spid="60"/>
                                        </p:tgtEl>
                                      </p:cBhvr>
                                    </p:animEffect>
                                  </p:childTnLst>
                                </p:cTn>
                              </p:par>
                            </p:childTnLst>
                          </p:cTn>
                        </p:par>
                        <p:par>
                          <p:cTn id="63" fill="hold">
                            <p:stCondLst>
                              <p:cond delay="4000"/>
                            </p:stCondLst>
                            <p:childTnLst>
                              <p:par>
                                <p:cTn id="64" presetID="18" presetClass="entr" presetSubtype="12" fill="hold" grpId="0" nodeType="after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strips(downLeft)">
                                      <p:cBhvr>
                                        <p:cTn id="66" dur="500"/>
                                        <p:tgtEl>
                                          <p:spTgt spid="61"/>
                                        </p:tgtEl>
                                      </p:cBhvr>
                                    </p:animEffect>
                                  </p:childTnLst>
                                </p:cTn>
                              </p:par>
                              <p:par>
                                <p:cTn id="67" presetID="18" presetClass="entr" presetSubtype="12" fill="hold" grpId="0" nodeType="withEffect">
                                  <p:stCondLst>
                                    <p:cond delay="0"/>
                                  </p:stCondLst>
                                  <p:childTnLst>
                                    <p:set>
                                      <p:cBhvr>
                                        <p:cTn id="68" dur="1" fill="hold">
                                          <p:stCondLst>
                                            <p:cond delay="0"/>
                                          </p:stCondLst>
                                        </p:cTn>
                                        <p:tgtEl>
                                          <p:spTgt spid="62"/>
                                        </p:tgtEl>
                                        <p:attrNameLst>
                                          <p:attrName>style.visibility</p:attrName>
                                        </p:attrNameLst>
                                      </p:cBhvr>
                                      <p:to>
                                        <p:strVal val="visible"/>
                                      </p:to>
                                    </p:set>
                                    <p:animEffect transition="in" filter="strips(downLeft)">
                                      <p:cBhvr>
                                        <p:cTn id="69" dur="500"/>
                                        <p:tgtEl>
                                          <p:spTgt spid="62"/>
                                        </p:tgtEl>
                                      </p:cBhvr>
                                    </p:animEffect>
                                  </p:childTnLst>
                                </p:cTn>
                              </p:par>
                            </p:childTnLst>
                          </p:cTn>
                        </p:par>
                        <p:par>
                          <p:cTn id="70" fill="hold">
                            <p:stCondLst>
                              <p:cond delay="4500"/>
                            </p:stCondLst>
                            <p:childTnLst>
                              <p:par>
                                <p:cTn id="71" presetID="12" presetClass="entr" presetSubtype="4" fill="hold" grpId="0" nodeType="afterEffect">
                                  <p:stCondLst>
                                    <p:cond delay="0"/>
                                  </p:stCondLst>
                                  <p:childTnLst>
                                    <p:set>
                                      <p:cBhvr>
                                        <p:cTn id="72" dur="1" fill="hold">
                                          <p:stCondLst>
                                            <p:cond delay="0"/>
                                          </p:stCondLst>
                                        </p:cTn>
                                        <p:tgtEl>
                                          <p:spTgt spid="63"/>
                                        </p:tgtEl>
                                        <p:attrNameLst>
                                          <p:attrName>style.visibility</p:attrName>
                                        </p:attrNameLst>
                                      </p:cBhvr>
                                      <p:to>
                                        <p:strVal val="visible"/>
                                      </p:to>
                                    </p:set>
                                    <p:anim calcmode="lin" valueType="num">
                                      <p:cBhvr additive="base">
                                        <p:cTn id="73" dur="500"/>
                                        <p:tgtEl>
                                          <p:spTgt spid="63"/>
                                        </p:tgtEl>
                                        <p:attrNameLst>
                                          <p:attrName>ppt_y</p:attrName>
                                        </p:attrNameLst>
                                      </p:cBhvr>
                                      <p:tavLst>
                                        <p:tav tm="0">
                                          <p:val>
                                            <p:strVal val="#ppt_y+#ppt_h*1.125000"/>
                                          </p:val>
                                        </p:tav>
                                        <p:tav tm="100000">
                                          <p:val>
                                            <p:strVal val="#ppt_y"/>
                                          </p:val>
                                        </p:tav>
                                      </p:tavLst>
                                    </p:anim>
                                    <p:animEffect transition="in" filter="wipe(up)">
                                      <p:cBhvr>
                                        <p:cTn id="74" dur="500"/>
                                        <p:tgtEl>
                                          <p:spTgt spid="63"/>
                                        </p:tgtEl>
                                      </p:cBhvr>
                                    </p:animEffect>
                                  </p:childTnLst>
                                </p:cTn>
                              </p:par>
                              <p:par>
                                <p:cTn id="75" presetID="12" presetClass="entr" presetSubtype="1" fill="hold" grpId="0" nodeType="withEffect">
                                  <p:stCondLst>
                                    <p:cond delay="0"/>
                                  </p:stCondLst>
                                  <p:childTnLst>
                                    <p:set>
                                      <p:cBhvr>
                                        <p:cTn id="76" dur="1" fill="hold">
                                          <p:stCondLst>
                                            <p:cond delay="0"/>
                                          </p:stCondLst>
                                        </p:cTn>
                                        <p:tgtEl>
                                          <p:spTgt spid="64"/>
                                        </p:tgtEl>
                                        <p:attrNameLst>
                                          <p:attrName>style.visibility</p:attrName>
                                        </p:attrNameLst>
                                      </p:cBhvr>
                                      <p:to>
                                        <p:strVal val="visible"/>
                                      </p:to>
                                    </p:set>
                                    <p:anim calcmode="lin" valueType="num">
                                      <p:cBhvr additive="base">
                                        <p:cTn id="77" dur="500"/>
                                        <p:tgtEl>
                                          <p:spTgt spid="64"/>
                                        </p:tgtEl>
                                        <p:attrNameLst>
                                          <p:attrName>ppt_y</p:attrName>
                                        </p:attrNameLst>
                                      </p:cBhvr>
                                      <p:tavLst>
                                        <p:tav tm="0">
                                          <p:val>
                                            <p:strVal val="#ppt_y-#ppt_h*1.125000"/>
                                          </p:val>
                                        </p:tav>
                                        <p:tav tm="100000">
                                          <p:val>
                                            <p:strVal val="#ppt_y"/>
                                          </p:val>
                                        </p:tav>
                                      </p:tavLst>
                                    </p:anim>
                                    <p:animEffect transition="in" filter="wipe(down)">
                                      <p:cBhvr>
                                        <p:cTn id="78"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9" grpId="0" bldLvl="0" animBg="1"/>
      <p:bldP spid="50" grpId="0" bldLvl="0" animBg="1"/>
      <p:bldP spid="51" grpId="0"/>
      <p:bldP spid="52" grpId="0"/>
      <p:bldP spid="53" grpId="0" bldLvl="0" animBg="1"/>
      <p:bldP spid="54" grpId="0" bldLvl="0" animBg="1"/>
      <p:bldP spid="55" grpId="0"/>
      <p:bldP spid="56" grpId="0"/>
      <p:bldP spid="57" grpId="0" bldLvl="0" animBg="1"/>
      <p:bldP spid="58" grpId="0" bldLvl="0" animBg="1"/>
      <p:bldP spid="59" grpId="0"/>
      <p:bldP spid="60" grpId="0"/>
      <p:bldP spid="61" grpId="0" bldLvl="0" animBg="1"/>
      <p:bldP spid="62" grpId="0" bldLvl="0" animBg="1"/>
      <p:bldP spid="63" grpId="0"/>
      <p:bldP spid="64" grpId="0"/>
      <p:bldP spid="6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82650" y="916940"/>
            <a:ext cx="10515600" cy="624205"/>
          </a:xfrm>
        </p:spPr>
        <p:txBody>
          <a:bodyPr>
            <a:normAutofit/>
          </a:bodyPr>
          <a:lstStyle/>
          <a:p>
            <a:r>
              <a:rPr lang="zh-CN" altLang="en-US" sz="2800" b="1" dirty="0"/>
              <a:t>等级保护发展历程   等保</a:t>
            </a:r>
            <a:r>
              <a:rPr lang="en-US" altLang="zh-CN" sz="2800" b="1" dirty="0"/>
              <a:t>2.0</a:t>
            </a:r>
            <a:endParaRPr lang="zh-CN" altLang="en-US" sz="2800" b="1" dirty="0"/>
          </a:p>
        </p:txBody>
      </p:sp>
      <p:sp>
        <p:nvSpPr>
          <p:cNvPr id="36" name="TextBox 60"/>
          <p:cNvSpPr txBox="1"/>
          <p:nvPr/>
        </p:nvSpPr>
        <p:spPr>
          <a:xfrm>
            <a:off x="1421951" y="1800967"/>
            <a:ext cx="1338828" cy="438582"/>
          </a:xfrm>
          <a:prstGeom prst="rect">
            <a:avLst/>
          </a:prstGeom>
          <a:noFill/>
        </p:spPr>
        <p:txBody>
          <a:bodyPr wrap="none" rtlCol="0">
            <a:spAutoFit/>
          </a:bodyPr>
          <a:lstStyle/>
          <a:p>
            <a:pPr defTabSz="1143000"/>
            <a:r>
              <a:rPr lang="zh-CN" altLang="en-US" sz="2250" dirty="0">
                <a:solidFill>
                  <a:srgbClr val="414455"/>
                </a:solidFill>
                <a:latin typeface="Calibri" panose="020F0502020204030204"/>
                <a:ea typeface="微软雅黑" panose="020B0503020204020204" pitchFamily="34" charset="-122"/>
                <a:cs typeface="+mn-ea"/>
                <a:sym typeface="+mn-lt"/>
              </a:rPr>
              <a:t>发展情况</a:t>
            </a:r>
            <a:endParaRPr lang="zh-CN" altLang="en-US" sz="2250" dirty="0">
              <a:solidFill>
                <a:srgbClr val="414455"/>
              </a:solidFill>
              <a:latin typeface="Calibri" panose="020F0502020204030204"/>
              <a:ea typeface="微软雅黑" panose="020B0503020204020204" pitchFamily="34" charset="-122"/>
              <a:cs typeface="+mn-ea"/>
              <a:sym typeface="+mn-lt"/>
            </a:endParaRPr>
          </a:p>
        </p:txBody>
      </p:sp>
      <p:grpSp>
        <p:nvGrpSpPr>
          <p:cNvPr id="37" name="组合 36"/>
          <p:cNvGrpSpPr/>
          <p:nvPr/>
        </p:nvGrpSpPr>
        <p:grpSpPr>
          <a:xfrm>
            <a:off x="0" y="2011343"/>
            <a:ext cx="12239183" cy="2669018"/>
            <a:chOff x="-340296" y="921296"/>
            <a:chExt cx="9791346" cy="2135215"/>
          </a:xfrm>
        </p:grpSpPr>
        <p:cxnSp>
          <p:nvCxnSpPr>
            <p:cNvPr id="38" name="直接连接符 37"/>
            <p:cNvCxnSpPr/>
            <p:nvPr/>
          </p:nvCxnSpPr>
          <p:spPr>
            <a:xfrm>
              <a:off x="-340296" y="921296"/>
              <a:ext cx="822896" cy="0"/>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8623300" y="921296"/>
              <a:ext cx="827750" cy="0"/>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82600" y="928123"/>
              <a:ext cx="0" cy="2112550"/>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82600" y="3050305"/>
              <a:ext cx="2045091"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597416" y="1969556"/>
              <a:ext cx="2025884"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2527691" y="1969432"/>
              <a:ext cx="2044309"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2527691" y="1969556"/>
              <a:ext cx="0" cy="1080749"/>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572000" y="3046251"/>
              <a:ext cx="2025416" cy="0"/>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V="1">
              <a:off x="4572000" y="1975762"/>
              <a:ext cx="0" cy="1080749"/>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597416" y="1965502"/>
              <a:ext cx="0" cy="1080749"/>
            </a:xfrm>
            <a:prstGeom prst="line">
              <a:avLst/>
            </a:prstGeom>
            <a:ln w="9525">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8623300" y="928123"/>
              <a:ext cx="0" cy="1056275"/>
            </a:xfrm>
            <a:prstGeom prst="line">
              <a:avLst/>
            </a:prstGeom>
            <a:ln>
              <a:solidFill>
                <a:srgbClr val="2D2A19"/>
              </a:solidFill>
              <a:prstDash val="dash"/>
            </a:ln>
          </p:spPr>
          <p:style>
            <a:lnRef idx="1">
              <a:schemeClr val="accent1"/>
            </a:lnRef>
            <a:fillRef idx="0">
              <a:schemeClr val="accent1"/>
            </a:fillRef>
            <a:effectRef idx="0">
              <a:schemeClr val="accent1"/>
            </a:effectRef>
            <a:fontRef idx="minor">
              <a:schemeClr val="tx1"/>
            </a:fontRef>
          </p:style>
        </p:cxnSp>
      </p:grpSp>
      <p:sp>
        <p:nvSpPr>
          <p:cNvPr id="49" name="矩形 48"/>
          <p:cNvSpPr/>
          <p:nvPr/>
        </p:nvSpPr>
        <p:spPr>
          <a:xfrm>
            <a:off x="1309032" y="3375813"/>
            <a:ext cx="2064043" cy="1925464"/>
          </a:xfrm>
          <a:prstGeom prst="rect">
            <a:avLst/>
          </a:prstGeom>
          <a:solidFill>
            <a:srgbClr val="F3F3F3"/>
          </a:solidFill>
          <a:ln w="19050">
            <a:solidFill>
              <a:schemeClr val="accent1"/>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50" name="矩形 49"/>
          <p:cNvSpPr/>
          <p:nvPr/>
        </p:nvSpPr>
        <p:spPr>
          <a:xfrm>
            <a:off x="1301923" y="3375813"/>
            <a:ext cx="2071153" cy="837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a:solidFill>
                <a:srgbClr val="2D2A19"/>
              </a:solidFill>
              <a:latin typeface="Calibri" panose="020F0502020204030204"/>
              <a:ea typeface="微软雅黑" panose="020B0503020204020204" pitchFamily="34" charset="-122"/>
              <a:cs typeface="+mn-ea"/>
              <a:sym typeface="+mn-lt"/>
            </a:endParaRPr>
          </a:p>
        </p:txBody>
      </p:sp>
      <p:sp>
        <p:nvSpPr>
          <p:cNvPr id="51" name="TextBox 62"/>
          <p:cNvSpPr txBox="1"/>
          <p:nvPr/>
        </p:nvSpPr>
        <p:spPr>
          <a:xfrm>
            <a:off x="1373602" y="3574079"/>
            <a:ext cx="2040834" cy="438582"/>
          </a:xfrm>
          <a:prstGeom prst="rect">
            <a:avLst/>
          </a:prstGeom>
          <a:noFill/>
        </p:spPr>
        <p:txBody>
          <a:bodyPr wrap="square" rtlCol="0">
            <a:spAutoFit/>
          </a:bodyPr>
          <a:lstStyle/>
          <a:p>
            <a:pPr defTabSz="1143000"/>
            <a:r>
              <a:rPr lang="zh-CN" altLang="en-US" sz="2250" dirty="0">
                <a:solidFill>
                  <a:prstClr val="white"/>
                </a:solidFill>
                <a:latin typeface="Calibri" panose="020F0502020204030204"/>
                <a:ea typeface="微软雅黑" panose="020B0503020204020204" pitchFamily="34" charset="-122"/>
                <a:cs typeface="+mn-ea"/>
                <a:sym typeface="+mn-lt"/>
              </a:rPr>
              <a:t> 修订等保</a:t>
            </a:r>
            <a:r>
              <a:rPr lang="en-US" altLang="zh-CN" sz="2250" dirty="0">
                <a:solidFill>
                  <a:prstClr val="white"/>
                </a:solidFill>
                <a:latin typeface="Calibri" panose="020F0502020204030204"/>
                <a:ea typeface="微软雅黑" panose="020B0503020204020204" pitchFamily="34" charset="-122"/>
                <a:cs typeface="+mn-ea"/>
                <a:sym typeface="+mn-lt"/>
              </a:rPr>
              <a:t>1.0</a:t>
            </a:r>
            <a:endParaRPr lang="zh-CN" altLang="en-US" sz="2250" dirty="0">
              <a:solidFill>
                <a:prstClr val="white"/>
              </a:solidFill>
              <a:latin typeface="Calibri" panose="020F0502020204030204"/>
              <a:ea typeface="微软雅黑" panose="020B0503020204020204" pitchFamily="34" charset="-122"/>
              <a:cs typeface="+mn-ea"/>
              <a:sym typeface="+mn-lt"/>
            </a:endParaRPr>
          </a:p>
        </p:txBody>
      </p:sp>
      <p:sp>
        <p:nvSpPr>
          <p:cNvPr id="52" name="TextBox 63"/>
          <p:cNvSpPr txBox="1"/>
          <p:nvPr/>
        </p:nvSpPr>
        <p:spPr>
          <a:xfrm>
            <a:off x="1275903" y="4239654"/>
            <a:ext cx="2097173" cy="1054135"/>
          </a:xfrm>
          <a:prstGeom prst="rect">
            <a:avLst/>
          </a:prstGeom>
          <a:noFill/>
        </p:spPr>
        <p:txBody>
          <a:bodyPr wrap="square" rtlCol="0">
            <a:spAutoFit/>
          </a:bodyPr>
          <a:lstStyle/>
          <a:p>
            <a:pPr defTabSz="1143000"/>
            <a:r>
              <a:rPr lang="en-US" altLang="zh-CN" sz="1250" dirty="0">
                <a:solidFill>
                  <a:srgbClr val="414455"/>
                </a:solidFill>
                <a:latin typeface="Calibri" panose="020F0502020204030204"/>
                <a:cs typeface="+mn-ea"/>
                <a:sym typeface="+mn-lt"/>
              </a:rPr>
              <a:t>2016</a:t>
            </a:r>
            <a:r>
              <a:rPr lang="zh-CN" altLang="en-US" sz="1250" dirty="0">
                <a:solidFill>
                  <a:srgbClr val="414455"/>
                </a:solidFill>
                <a:latin typeface="Calibri" panose="020F0502020204030204"/>
                <a:cs typeface="+mn-ea"/>
                <a:sym typeface="+mn-lt"/>
              </a:rPr>
              <a:t>年</a:t>
            </a:r>
            <a:r>
              <a:rPr lang="en-US" altLang="zh-CN" sz="1250" dirty="0">
                <a:solidFill>
                  <a:srgbClr val="414455"/>
                </a:solidFill>
                <a:latin typeface="Calibri" panose="020F0502020204030204"/>
                <a:cs typeface="+mn-ea"/>
                <a:sym typeface="+mn-lt"/>
              </a:rPr>
              <a:t>10</a:t>
            </a:r>
            <a:r>
              <a:rPr lang="zh-CN" altLang="en-US" sz="1250" dirty="0">
                <a:solidFill>
                  <a:srgbClr val="414455"/>
                </a:solidFill>
                <a:latin typeface="Calibri" panose="020F0502020204030204"/>
                <a:cs typeface="+mn-ea"/>
                <a:sym typeface="+mn-lt"/>
              </a:rPr>
              <a:t>月公安部网络安全保卫局组织对原有国家标准 </a:t>
            </a:r>
            <a:r>
              <a:rPr lang="en-US" altLang="zh-CN" sz="1250" dirty="0">
                <a:solidFill>
                  <a:srgbClr val="414455"/>
                </a:solidFill>
                <a:latin typeface="Calibri" panose="020F0502020204030204"/>
                <a:cs typeface="+mn-ea"/>
                <a:sym typeface="+mn-lt"/>
              </a:rPr>
              <a:t>GB/T 22239-2008</a:t>
            </a:r>
            <a:r>
              <a:rPr lang="zh-CN" altLang="en-US" sz="1250" dirty="0">
                <a:solidFill>
                  <a:srgbClr val="414455"/>
                </a:solidFill>
                <a:latin typeface="Calibri" panose="020F0502020204030204"/>
                <a:cs typeface="+mn-ea"/>
                <a:sym typeface="+mn-lt"/>
              </a:rPr>
              <a:t>等系列标</a:t>
            </a:r>
            <a:endParaRPr lang="zh-CN" altLang="en-US" sz="1250" dirty="0">
              <a:solidFill>
                <a:srgbClr val="414455"/>
              </a:solidFill>
              <a:latin typeface="Calibri" panose="020F0502020204030204"/>
              <a:cs typeface="+mn-ea"/>
              <a:sym typeface="+mn-lt"/>
            </a:endParaRPr>
          </a:p>
          <a:p>
            <a:pPr defTabSz="1143000"/>
            <a:r>
              <a:rPr lang="zh-CN" altLang="en-US" sz="1250" dirty="0">
                <a:solidFill>
                  <a:srgbClr val="414455"/>
                </a:solidFill>
                <a:latin typeface="Calibri" panose="020F0502020204030204"/>
                <a:cs typeface="+mn-ea"/>
                <a:sym typeface="+mn-lt"/>
              </a:rPr>
              <a:t>准进行了修订。</a:t>
            </a:r>
            <a:endParaRPr lang="zh-CN" altLang="en-US" sz="1250" dirty="0">
              <a:solidFill>
                <a:srgbClr val="414455"/>
              </a:solidFill>
              <a:latin typeface="Calibri" panose="020F0502020204030204"/>
              <a:cs typeface="+mn-ea"/>
              <a:sym typeface="+mn-lt"/>
            </a:endParaRPr>
          </a:p>
        </p:txBody>
      </p:sp>
      <p:sp>
        <p:nvSpPr>
          <p:cNvPr id="53" name="矩形 52"/>
          <p:cNvSpPr/>
          <p:nvPr/>
        </p:nvSpPr>
        <p:spPr>
          <a:xfrm>
            <a:off x="4585060" y="1541061"/>
            <a:ext cx="2467046" cy="3751539"/>
          </a:xfrm>
          <a:prstGeom prst="rect">
            <a:avLst/>
          </a:prstGeom>
          <a:solidFill>
            <a:srgbClr val="F9F9F9"/>
          </a:solidFill>
          <a:ln w="19050">
            <a:solidFill>
              <a:schemeClr val="accent2"/>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54" name="矩形 53"/>
          <p:cNvSpPr/>
          <p:nvPr/>
        </p:nvSpPr>
        <p:spPr>
          <a:xfrm>
            <a:off x="4585060" y="1541061"/>
            <a:ext cx="2476397" cy="858337"/>
          </a:xfrm>
          <a:prstGeom prst="rect">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r>
              <a:rPr lang="en-US" altLang="zh-CN" sz="2250" dirty="0">
                <a:solidFill>
                  <a:schemeClr val="bg1"/>
                </a:solidFill>
                <a:latin typeface="Calibri" panose="020F0502020204030204"/>
                <a:cs typeface="+mn-ea"/>
                <a:sym typeface="+mn-lt"/>
              </a:rPr>
              <a:t>2.0</a:t>
            </a:r>
            <a:r>
              <a:rPr lang="zh-CN" altLang="en-US" sz="2250" dirty="0">
                <a:solidFill>
                  <a:schemeClr val="bg1"/>
                </a:solidFill>
                <a:latin typeface="Calibri" panose="020F0502020204030204"/>
                <a:cs typeface="+mn-ea"/>
                <a:sym typeface="+mn-lt"/>
              </a:rPr>
              <a:t>系列标准</a:t>
            </a:r>
            <a:endParaRPr lang="en-US" altLang="zh-CN" sz="2250" dirty="0">
              <a:solidFill>
                <a:schemeClr val="bg1"/>
              </a:solidFill>
              <a:latin typeface="Calibri" panose="020F0502020204030204"/>
              <a:cs typeface="+mn-ea"/>
              <a:sym typeface="+mn-lt"/>
            </a:endParaRPr>
          </a:p>
          <a:p>
            <a:pPr algn="ctr" defTabSz="1143000"/>
            <a:r>
              <a:rPr lang="zh-CN" altLang="en-US" sz="2250" dirty="0">
                <a:solidFill>
                  <a:schemeClr val="bg1"/>
                </a:solidFill>
                <a:latin typeface="Calibri" panose="020F0502020204030204"/>
                <a:cs typeface="+mn-ea"/>
                <a:sym typeface="+mn-lt"/>
              </a:rPr>
              <a:t>编制工作</a:t>
            </a:r>
            <a:endParaRPr lang="zh-CN" altLang="en-US" sz="2250" dirty="0">
              <a:solidFill>
                <a:schemeClr val="bg1"/>
              </a:solidFill>
              <a:latin typeface="Calibri" panose="020F0502020204030204"/>
              <a:cs typeface="+mn-ea"/>
              <a:sym typeface="+mn-lt"/>
            </a:endParaRPr>
          </a:p>
        </p:txBody>
      </p:sp>
      <p:sp>
        <p:nvSpPr>
          <p:cNvPr id="56" name="TextBox 68"/>
          <p:cNvSpPr txBox="1"/>
          <p:nvPr/>
        </p:nvSpPr>
        <p:spPr>
          <a:xfrm>
            <a:off x="4625665" y="2378342"/>
            <a:ext cx="2476398" cy="2718886"/>
          </a:xfrm>
          <a:prstGeom prst="rect">
            <a:avLst/>
          </a:prstGeom>
          <a:noFill/>
        </p:spPr>
        <p:txBody>
          <a:bodyPr wrap="square" rtlCol="0">
            <a:spAutoFit/>
          </a:bodyPr>
          <a:lstStyle/>
          <a:p>
            <a:r>
              <a:rPr lang="en-US" altLang="zh-CN" sz="1315" dirty="0">
                <a:latin typeface="微软雅黑" panose="020B0503020204020204" pitchFamily="34" charset="-122"/>
                <a:ea typeface="微软雅黑" panose="020B0503020204020204" pitchFamily="34" charset="-122"/>
              </a:rPr>
              <a:t>2017</a:t>
            </a:r>
            <a:r>
              <a:rPr lang="zh-CN" altLang="en-US" sz="1315" dirty="0">
                <a:latin typeface="微软雅黑" panose="020B0503020204020204" pitchFamily="34" charset="-122"/>
                <a:ea typeface="微软雅黑" panose="020B0503020204020204" pitchFamily="34" charset="-122"/>
              </a:rPr>
              <a:t>年</a:t>
            </a:r>
            <a:r>
              <a:rPr lang="en-US" altLang="zh-CN" sz="1315" dirty="0">
                <a:latin typeface="微软雅黑" panose="020B0503020204020204" pitchFamily="34" charset="-122"/>
                <a:ea typeface="微软雅黑" panose="020B0503020204020204" pitchFamily="34" charset="-122"/>
              </a:rPr>
              <a:t>1</a:t>
            </a:r>
            <a:r>
              <a:rPr lang="zh-CN" altLang="en-US" sz="1315" dirty="0">
                <a:latin typeface="微软雅黑" panose="020B0503020204020204" pitchFamily="34" charset="-122"/>
                <a:ea typeface="微软雅黑" panose="020B0503020204020204" pitchFamily="34" charset="-122"/>
              </a:rPr>
              <a:t>月至</a:t>
            </a:r>
            <a:r>
              <a:rPr lang="en-US" altLang="zh-CN" sz="1315" dirty="0">
                <a:latin typeface="微软雅黑" panose="020B0503020204020204" pitchFamily="34" charset="-122"/>
                <a:ea typeface="微软雅黑" panose="020B0503020204020204" pitchFamily="34" charset="-122"/>
              </a:rPr>
              <a:t>2</a:t>
            </a:r>
            <a:r>
              <a:rPr lang="zh-CN" altLang="en-US" sz="1315" dirty="0">
                <a:latin typeface="微软雅黑" panose="020B0503020204020204" pitchFamily="34" charset="-122"/>
                <a:ea typeface="微软雅黑" panose="020B0503020204020204" pitchFamily="34" charset="-122"/>
              </a:rPr>
              <a:t>月，全国信息安全标准化技术委员会发布</a:t>
            </a:r>
            <a:r>
              <a:rPr lang="en-US" altLang="zh-CN" sz="1315" dirty="0">
                <a:latin typeface="微软雅黑" panose="020B0503020204020204" pitchFamily="34" charset="-122"/>
                <a:ea typeface="微软雅黑" panose="020B0503020204020204" pitchFamily="34" charset="-122"/>
              </a:rPr>
              <a:t>《 </a:t>
            </a:r>
            <a:r>
              <a:rPr lang="zh-CN" altLang="en-US" sz="1315" dirty="0">
                <a:latin typeface="微软雅黑" panose="020B0503020204020204" pitchFamily="34" charset="-122"/>
                <a:ea typeface="微软雅黑" panose="020B0503020204020204" pitchFamily="34" charset="-122"/>
              </a:rPr>
              <a:t>网络安全等级保护基本要求</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系列标准、</a:t>
            </a:r>
            <a:r>
              <a:rPr lang="en-US" altLang="zh-CN" sz="1315" dirty="0">
                <a:latin typeface="微软雅黑" panose="020B0503020204020204" pitchFamily="34" charset="-122"/>
                <a:ea typeface="微软雅黑" panose="020B0503020204020204" pitchFamily="34" charset="-122"/>
              </a:rPr>
              <a:t>《 </a:t>
            </a:r>
            <a:r>
              <a:rPr lang="zh-CN" altLang="en-US" sz="1315" dirty="0">
                <a:latin typeface="微软雅黑" panose="020B0503020204020204" pitchFamily="34" charset="-122"/>
                <a:ea typeface="微软雅黑" panose="020B0503020204020204" pitchFamily="34" charset="-122"/>
              </a:rPr>
              <a:t>网络安全等级保护测评要求 </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系列标准等“</a:t>
            </a:r>
            <a:r>
              <a:rPr lang="zh-CN" altLang="en-US" sz="1315" dirty="0">
                <a:solidFill>
                  <a:srgbClr val="FF0000"/>
                </a:solidFill>
                <a:latin typeface="微软雅黑" panose="020B0503020204020204" pitchFamily="34" charset="-122"/>
                <a:ea typeface="微软雅黑" panose="020B0503020204020204" pitchFamily="34" charset="-122"/>
              </a:rPr>
              <a:t>征求意见稿</a:t>
            </a:r>
            <a:r>
              <a:rPr lang="zh-CN" altLang="en-US" sz="1315" dirty="0">
                <a:latin typeface="微软雅黑" panose="020B0503020204020204" pitchFamily="34" charset="-122"/>
                <a:ea typeface="微软雅黑" panose="020B0503020204020204" pitchFamily="34" charset="-122"/>
              </a:rPr>
              <a:t>”。</a:t>
            </a:r>
            <a:endParaRPr lang="zh-CN" altLang="en-US" sz="1315" dirty="0">
              <a:latin typeface="微软雅黑" panose="020B0503020204020204" pitchFamily="34" charset="-122"/>
              <a:ea typeface="微软雅黑" panose="020B0503020204020204" pitchFamily="34" charset="-122"/>
            </a:endParaRPr>
          </a:p>
          <a:p>
            <a:r>
              <a:rPr lang="en-US" altLang="zh-CN" sz="1315" dirty="0">
                <a:latin typeface="微软雅黑" panose="020B0503020204020204" pitchFamily="34" charset="-122"/>
                <a:ea typeface="微软雅黑" panose="020B0503020204020204" pitchFamily="34" charset="-122"/>
              </a:rPr>
              <a:t>2017</a:t>
            </a:r>
            <a:r>
              <a:rPr lang="zh-CN" altLang="en-US" sz="1315" dirty="0">
                <a:latin typeface="微软雅黑" panose="020B0503020204020204" pitchFamily="34" charset="-122"/>
                <a:ea typeface="微软雅黑" panose="020B0503020204020204" pitchFamily="34" charset="-122"/>
              </a:rPr>
              <a:t>年</a:t>
            </a:r>
            <a:r>
              <a:rPr lang="en-US" altLang="zh-CN" sz="1315" dirty="0">
                <a:latin typeface="微软雅黑" panose="020B0503020204020204" pitchFamily="34" charset="-122"/>
                <a:ea typeface="微软雅黑" panose="020B0503020204020204" pitchFamily="34" charset="-122"/>
              </a:rPr>
              <a:t>5</a:t>
            </a:r>
            <a:r>
              <a:rPr lang="zh-CN" altLang="en-US" sz="1315" dirty="0">
                <a:latin typeface="微软雅黑" panose="020B0503020204020204" pitchFamily="34" charset="-122"/>
                <a:ea typeface="微软雅黑" panose="020B0503020204020204" pitchFamily="34" charset="-122"/>
              </a:rPr>
              <a:t>月，国家公安部发布</a:t>
            </a:r>
            <a:r>
              <a:rPr lang="en-US" altLang="zh-CN" sz="1315" dirty="0">
                <a:latin typeface="微软雅黑" panose="020B0503020204020204" pitchFamily="34" charset="-122"/>
                <a:ea typeface="微软雅黑" panose="020B0503020204020204" pitchFamily="34" charset="-122"/>
              </a:rPr>
              <a:t>《GA/T 1389—2017 </a:t>
            </a:r>
            <a:r>
              <a:rPr lang="zh-CN" altLang="en-US" sz="1315" dirty="0">
                <a:latin typeface="微软雅黑" panose="020B0503020204020204" pitchFamily="34" charset="-122"/>
                <a:ea typeface="微软雅黑" panose="020B0503020204020204" pitchFamily="34" charset="-122"/>
              </a:rPr>
              <a:t>网络安全等级保护定级指南</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a:t>
            </a:r>
            <a:r>
              <a:rPr lang="en-US" altLang="zh-CN" sz="1315" dirty="0">
                <a:latin typeface="微软雅黑" panose="020B0503020204020204" pitchFamily="34" charset="-122"/>
                <a:ea typeface="微软雅黑" panose="020B0503020204020204" pitchFamily="34" charset="-122"/>
              </a:rPr>
              <a:t>《GA/T 1390.2—2017 </a:t>
            </a:r>
            <a:r>
              <a:rPr lang="zh-CN" altLang="en-US" sz="1315" dirty="0">
                <a:latin typeface="微软雅黑" panose="020B0503020204020204" pitchFamily="34" charset="-122"/>
                <a:ea typeface="微软雅黑" panose="020B0503020204020204" pitchFamily="34" charset="-122"/>
              </a:rPr>
              <a:t>网络安全等级保护基本要求 第 </a:t>
            </a:r>
            <a:r>
              <a:rPr lang="en-US" altLang="zh-CN" sz="1315" dirty="0">
                <a:latin typeface="微软雅黑" panose="020B0503020204020204" pitchFamily="34" charset="-122"/>
                <a:ea typeface="微软雅黑" panose="020B0503020204020204" pitchFamily="34" charset="-122"/>
              </a:rPr>
              <a:t>2 </a:t>
            </a:r>
            <a:r>
              <a:rPr lang="zh-CN" altLang="en-US" sz="1315" dirty="0">
                <a:latin typeface="微软雅黑" panose="020B0503020204020204" pitchFamily="34" charset="-122"/>
                <a:ea typeface="微软雅黑" panose="020B0503020204020204" pitchFamily="34" charset="-122"/>
              </a:rPr>
              <a:t>部分：云计算安全扩展要求</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等</a:t>
            </a:r>
            <a:r>
              <a:rPr lang="en-US" altLang="zh-CN" sz="1315" dirty="0">
                <a:solidFill>
                  <a:srgbClr val="FF0000"/>
                </a:solidFill>
                <a:latin typeface="微软雅黑" panose="020B0503020204020204" pitchFamily="34" charset="-122"/>
                <a:ea typeface="微软雅黑" panose="020B0503020204020204" pitchFamily="34" charset="-122"/>
              </a:rPr>
              <a:t>4</a:t>
            </a:r>
            <a:r>
              <a:rPr lang="zh-CN" altLang="en-US" sz="1315" dirty="0">
                <a:solidFill>
                  <a:srgbClr val="FF0000"/>
                </a:solidFill>
                <a:latin typeface="微软雅黑" panose="020B0503020204020204" pitchFamily="34" charset="-122"/>
                <a:ea typeface="微软雅黑" panose="020B0503020204020204" pitchFamily="34" charset="-122"/>
              </a:rPr>
              <a:t>个公共安全行业等级保护标准</a:t>
            </a:r>
            <a:r>
              <a:rPr lang="zh-CN" altLang="en-US" sz="1315" dirty="0">
                <a:latin typeface="微软雅黑" panose="020B0503020204020204" pitchFamily="34" charset="-122"/>
                <a:ea typeface="微软雅黑" panose="020B0503020204020204" pitchFamily="34" charset="-122"/>
              </a:rPr>
              <a:t>。</a:t>
            </a:r>
            <a:endParaRPr lang="zh-CN" altLang="en-US" sz="1315" dirty="0">
              <a:latin typeface="微软雅黑" panose="020B0503020204020204" pitchFamily="34" charset="-122"/>
              <a:ea typeface="微软雅黑" panose="020B0503020204020204" pitchFamily="34" charset="-122"/>
            </a:endParaRPr>
          </a:p>
        </p:txBody>
      </p:sp>
      <p:sp>
        <p:nvSpPr>
          <p:cNvPr id="65" name="椭圆 64"/>
          <p:cNvSpPr/>
          <p:nvPr/>
        </p:nvSpPr>
        <p:spPr>
          <a:xfrm>
            <a:off x="832890" y="1768500"/>
            <a:ext cx="485684" cy="485684"/>
          </a:xfrm>
          <a:prstGeom prst="ellipse">
            <a:avLst/>
          </a:prstGeom>
          <a:solidFill>
            <a:schemeClr val="accent1"/>
          </a:solidFill>
          <a:ln w="38100">
            <a:solidFill>
              <a:schemeClr val="bg1"/>
            </a:solidFill>
          </a:ln>
          <a:effectLst>
            <a:outerShdw blurRad="266700" dist="88900" dir="10800000" algn="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3500" dirty="0">
              <a:solidFill>
                <a:prstClr val="white"/>
              </a:solidFill>
              <a:latin typeface="Calibri" panose="020F0502020204030204"/>
              <a:ea typeface="微软雅黑" panose="020B0503020204020204" pitchFamily="34" charset="-122"/>
              <a:cs typeface="+mn-ea"/>
              <a:sym typeface="+mn-lt"/>
            </a:endParaRPr>
          </a:p>
        </p:txBody>
      </p:sp>
      <p:sp>
        <p:nvSpPr>
          <p:cNvPr id="33" name="矩形 32"/>
          <p:cNvSpPr/>
          <p:nvPr/>
        </p:nvSpPr>
        <p:spPr>
          <a:xfrm>
            <a:off x="8174501" y="2167009"/>
            <a:ext cx="2467046" cy="3131991"/>
          </a:xfrm>
          <a:prstGeom prst="rect">
            <a:avLst/>
          </a:prstGeom>
          <a:solidFill>
            <a:srgbClr val="F9F9F9"/>
          </a:solidFill>
          <a:ln w="19050">
            <a:solidFill>
              <a:schemeClr val="accent5"/>
            </a:solidFill>
          </a:ln>
          <a:effectLst>
            <a:outerShdw blurRad="127000" dist="63500" dir="10800000" algn="r"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143000"/>
            <a:endParaRPr lang="zh-CN" altLang="en-US" sz="2250" dirty="0">
              <a:solidFill>
                <a:srgbClr val="2D2A19"/>
              </a:solidFill>
              <a:latin typeface="Calibri" panose="020F0502020204030204"/>
              <a:ea typeface="微软雅黑" panose="020B0503020204020204" pitchFamily="34" charset="-122"/>
              <a:cs typeface="+mn-ea"/>
              <a:sym typeface="+mn-lt"/>
            </a:endParaRPr>
          </a:p>
        </p:txBody>
      </p:sp>
      <p:sp>
        <p:nvSpPr>
          <p:cNvPr id="34" name="矩形 33"/>
          <p:cNvSpPr/>
          <p:nvPr/>
        </p:nvSpPr>
        <p:spPr>
          <a:xfrm>
            <a:off x="8174501" y="2167009"/>
            <a:ext cx="2476397" cy="858337"/>
          </a:xfrm>
          <a:prstGeom prst="rect">
            <a:avLst/>
          </a:prstGeom>
          <a:ln>
            <a:solidFill>
              <a:schemeClr val="accent5"/>
            </a:solidFill>
          </a:ln>
        </p:spPr>
        <p:style>
          <a:lnRef idx="3">
            <a:schemeClr val="lt1"/>
          </a:lnRef>
          <a:fillRef idx="1">
            <a:schemeClr val="accent5"/>
          </a:fillRef>
          <a:effectRef idx="1">
            <a:schemeClr val="accent5"/>
          </a:effectRef>
          <a:fontRef idx="minor">
            <a:schemeClr val="lt1"/>
          </a:fontRef>
        </p:style>
        <p:txBody>
          <a:bodyPr rtlCol="0" anchor="ctr"/>
          <a:lstStyle/>
          <a:p>
            <a:pPr algn="ctr" defTabSz="1143000"/>
            <a:endParaRPr lang="zh-CN" altLang="en-US" sz="2250">
              <a:solidFill>
                <a:srgbClr val="2D2A19"/>
              </a:solidFill>
              <a:latin typeface="Calibri" panose="020F0502020204030204"/>
              <a:ea typeface="微软雅黑" panose="020B0503020204020204" pitchFamily="34" charset="-122"/>
              <a:cs typeface="+mn-ea"/>
              <a:sym typeface="+mn-lt"/>
            </a:endParaRPr>
          </a:p>
        </p:txBody>
      </p:sp>
      <p:sp>
        <p:nvSpPr>
          <p:cNvPr id="35" name="TextBox 67"/>
          <p:cNvSpPr txBox="1"/>
          <p:nvPr/>
        </p:nvSpPr>
        <p:spPr>
          <a:xfrm>
            <a:off x="8353965" y="2408626"/>
            <a:ext cx="2125073" cy="380873"/>
          </a:xfrm>
          <a:prstGeom prst="rect">
            <a:avLst/>
          </a:prstGeom>
          <a:noFill/>
        </p:spPr>
        <p:txBody>
          <a:bodyPr wrap="square" rtlCol="0">
            <a:spAutoFit/>
          </a:bodyPr>
          <a:lstStyle/>
          <a:p>
            <a:pPr algn="ctr" defTabSz="1143000"/>
            <a:r>
              <a:rPr lang="zh-CN" altLang="en-US" sz="1875" dirty="0">
                <a:solidFill>
                  <a:prstClr val="white"/>
                </a:solidFill>
                <a:latin typeface="Calibri" panose="020F0502020204030204"/>
                <a:cs typeface="+mn-ea"/>
                <a:sym typeface="+mn-lt"/>
              </a:rPr>
              <a:t>等保</a:t>
            </a:r>
            <a:r>
              <a:rPr lang="en-US" altLang="zh-CN" sz="1875" dirty="0">
                <a:solidFill>
                  <a:prstClr val="white"/>
                </a:solidFill>
                <a:latin typeface="Calibri" panose="020F0502020204030204"/>
                <a:cs typeface="+mn-ea"/>
                <a:sym typeface="+mn-lt"/>
              </a:rPr>
              <a:t>2.0</a:t>
            </a:r>
            <a:endParaRPr lang="zh-CN" altLang="en-US" sz="1875" dirty="0">
              <a:solidFill>
                <a:prstClr val="white"/>
              </a:solidFill>
              <a:latin typeface="Calibri" panose="020F0502020204030204"/>
              <a:cs typeface="+mn-ea"/>
              <a:sym typeface="+mn-lt"/>
            </a:endParaRPr>
          </a:p>
        </p:txBody>
      </p:sp>
      <p:sp>
        <p:nvSpPr>
          <p:cNvPr id="66" name="TextBox 68"/>
          <p:cNvSpPr txBox="1"/>
          <p:nvPr/>
        </p:nvSpPr>
        <p:spPr>
          <a:xfrm>
            <a:off x="8215106" y="3004289"/>
            <a:ext cx="2402790" cy="2314801"/>
          </a:xfrm>
          <a:prstGeom prst="rect">
            <a:avLst/>
          </a:prstGeom>
          <a:noFill/>
        </p:spPr>
        <p:txBody>
          <a:bodyPr wrap="square" rtlCol="0">
            <a:spAutoFit/>
          </a:bodyPr>
          <a:lstStyle/>
          <a:p>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网络安全等级保护条例</a:t>
            </a:r>
            <a:r>
              <a:rPr lang="en-US" altLang="zh-CN" sz="1315" dirty="0">
                <a:latin typeface="微软雅黑" panose="020B0503020204020204" pitchFamily="34" charset="-122"/>
                <a:ea typeface="微软雅黑" panose="020B0503020204020204" pitchFamily="34" charset="-122"/>
              </a:rPr>
              <a:t>》</a:t>
            </a:r>
            <a:r>
              <a:rPr lang="zh-CN" altLang="en-US" sz="1315" dirty="0">
                <a:latin typeface="微软雅黑" panose="020B0503020204020204" pitchFamily="34" charset="-122"/>
                <a:ea typeface="微软雅黑" panose="020B0503020204020204" pitchFamily="34" charset="-122"/>
              </a:rPr>
              <a:t>征求意见稿发布。</a:t>
            </a:r>
            <a:r>
              <a:rPr lang="en-US" altLang="zh-CN" sz="1315" dirty="0">
                <a:latin typeface="微软雅黑" panose="020B0503020204020204" pitchFamily="34" charset="-122"/>
                <a:ea typeface="微软雅黑" panose="020B0503020204020204" pitchFamily="34" charset="-122"/>
              </a:rPr>
              <a:t>7</a:t>
            </a:r>
            <a:r>
              <a:rPr lang="zh-CN" altLang="en-US" sz="1315" dirty="0">
                <a:latin typeface="微软雅黑" panose="020B0503020204020204" pitchFamily="34" charset="-122"/>
                <a:ea typeface="微软雅黑" panose="020B0503020204020204" pitchFamily="34" charset="-122"/>
              </a:rPr>
              <a:t>月再次调整分类结构和强化可信计算。充分体现一个中心，三重防御的思想（和</a:t>
            </a:r>
            <a:r>
              <a:rPr lang="en-US" altLang="zh-CN" sz="1315" dirty="0">
                <a:latin typeface="微软雅黑" panose="020B0503020204020204" pitchFamily="34" charset="-122"/>
                <a:ea typeface="微软雅黑" panose="020B0503020204020204" pitchFamily="34" charset="-122"/>
              </a:rPr>
              <a:t>GB/T 25070</a:t>
            </a:r>
            <a:r>
              <a:rPr lang="zh-CN" altLang="en-US" sz="1315" dirty="0">
                <a:latin typeface="微软雅黑" panose="020B0503020204020204" pitchFamily="34" charset="-122"/>
                <a:ea typeface="微软雅黑" panose="020B0503020204020204" pitchFamily="34" charset="-122"/>
              </a:rPr>
              <a:t>保持一致）充分强化可信计算技术使用的要求（和</a:t>
            </a:r>
            <a:r>
              <a:rPr lang="en-US" altLang="zh-CN" sz="1315" dirty="0">
                <a:latin typeface="微软雅黑" panose="020B0503020204020204" pitchFamily="34" charset="-122"/>
                <a:ea typeface="微软雅黑" panose="020B0503020204020204" pitchFamily="34" charset="-122"/>
              </a:rPr>
              <a:t>GB/T 25070</a:t>
            </a:r>
            <a:r>
              <a:rPr lang="zh-CN" altLang="en-US" sz="1315" dirty="0">
                <a:latin typeface="微软雅黑" panose="020B0503020204020204" pitchFamily="34" charset="-122"/>
                <a:ea typeface="微软雅黑" panose="020B0503020204020204" pitchFamily="34" charset="-122"/>
              </a:rPr>
              <a:t>保持一致），等保</a:t>
            </a:r>
            <a:r>
              <a:rPr lang="en-US" altLang="zh-CN" sz="1315" dirty="0">
                <a:latin typeface="微软雅黑" panose="020B0503020204020204" pitchFamily="34" charset="-122"/>
                <a:ea typeface="微软雅黑" panose="020B0503020204020204" pitchFamily="34" charset="-122"/>
              </a:rPr>
              <a:t>2.0</a:t>
            </a:r>
            <a:r>
              <a:rPr lang="zh-CN" altLang="en-US" sz="1315" dirty="0">
                <a:latin typeface="微软雅黑" panose="020B0503020204020204" pitchFamily="34" charset="-122"/>
                <a:ea typeface="微软雅黑" panose="020B0503020204020204" pitchFamily="34" charset="-122"/>
              </a:rPr>
              <a:t>标准在</a:t>
            </a:r>
            <a:r>
              <a:rPr lang="en-US" altLang="zh-CN" sz="1315" dirty="0">
                <a:solidFill>
                  <a:srgbClr val="FF0000"/>
                </a:solidFill>
                <a:latin typeface="微软雅黑" panose="020B0503020204020204" pitchFamily="34" charset="-122"/>
                <a:ea typeface="微软雅黑" panose="020B0503020204020204" pitchFamily="34" charset="-122"/>
              </a:rPr>
              <a:t>2019</a:t>
            </a:r>
            <a:r>
              <a:rPr lang="zh-CN" altLang="en-US" sz="1315" dirty="0">
                <a:solidFill>
                  <a:srgbClr val="FF0000"/>
                </a:solidFill>
                <a:latin typeface="微软雅黑" panose="020B0503020204020204" pitchFamily="34" charset="-122"/>
                <a:ea typeface="微软雅黑" panose="020B0503020204020204" pitchFamily="34" charset="-122"/>
              </a:rPr>
              <a:t>年</a:t>
            </a:r>
            <a:r>
              <a:rPr lang="en-US" altLang="zh-CN" sz="1315" dirty="0">
                <a:solidFill>
                  <a:srgbClr val="FF0000"/>
                </a:solidFill>
                <a:latin typeface="微软雅黑" panose="020B0503020204020204" pitchFamily="34" charset="-122"/>
                <a:ea typeface="微软雅黑" panose="020B0503020204020204" pitchFamily="34" charset="-122"/>
              </a:rPr>
              <a:t>5</a:t>
            </a:r>
            <a:r>
              <a:rPr lang="zh-CN" altLang="en-US" sz="1315" dirty="0">
                <a:solidFill>
                  <a:srgbClr val="FF0000"/>
                </a:solidFill>
                <a:latin typeface="微软雅黑" panose="020B0503020204020204" pitchFamily="34" charset="-122"/>
                <a:ea typeface="微软雅黑" panose="020B0503020204020204" pitchFamily="34" charset="-122"/>
              </a:rPr>
              <a:t>月</a:t>
            </a:r>
            <a:r>
              <a:rPr lang="en-US" altLang="zh-CN" sz="1315" dirty="0">
                <a:solidFill>
                  <a:srgbClr val="FF0000"/>
                </a:solidFill>
                <a:latin typeface="微软雅黑" panose="020B0503020204020204" pitchFamily="34" charset="-122"/>
                <a:ea typeface="微软雅黑" panose="020B0503020204020204" pitchFamily="34" charset="-122"/>
              </a:rPr>
              <a:t>13</a:t>
            </a:r>
            <a:r>
              <a:rPr lang="zh-CN" altLang="en-US" sz="1315" dirty="0">
                <a:solidFill>
                  <a:srgbClr val="FF0000"/>
                </a:solidFill>
                <a:latin typeface="微软雅黑" panose="020B0503020204020204" pitchFamily="34" charset="-122"/>
                <a:ea typeface="微软雅黑" panose="020B0503020204020204" pitchFamily="34" charset="-122"/>
              </a:rPr>
              <a:t>号正式发布，</a:t>
            </a:r>
            <a:r>
              <a:rPr lang="en-US" altLang="zh-CN" sz="1315" dirty="0">
                <a:solidFill>
                  <a:srgbClr val="FF0000"/>
                </a:solidFill>
                <a:latin typeface="微软雅黑" panose="020B0503020204020204" pitchFamily="34" charset="-122"/>
                <a:ea typeface="微软雅黑" panose="020B0503020204020204" pitchFamily="34" charset="-122"/>
              </a:rPr>
              <a:t>12</a:t>
            </a:r>
            <a:r>
              <a:rPr lang="zh-CN" altLang="en-US" sz="1315" dirty="0">
                <a:solidFill>
                  <a:srgbClr val="FF0000"/>
                </a:solidFill>
                <a:latin typeface="微软雅黑" panose="020B0503020204020204" pitchFamily="34" charset="-122"/>
                <a:ea typeface="微软雅黑" panose="020B0503020204020204" pitchFamily="34" charset="-122"/>
              </a:rPr>
              <a:t>月</a:t>
            </a:r>
            <a:r>
              <a:rPr lang="en-US" altLang="zh-CN" sz="1315" dirty="0">
                <a:solidFill>
                  <a:srgbClr val="FF0000"/>
                </a:solidFill>
                <a:latin typeface="微软雅黑" panose="020B0503020204020204" pitchFamily="34" charset="-122"/>
                <a:ea typeface="微软雅黑" panose="020B0503020204020204" pitchFamily="34" charset="-122"/>
              </a:rPr>
              <a:t>1</a:t>
            </a:r>
            <a:r>
              <a:rPr lang="zh-CN" altLang="en-US" sz="1315" dirty="0">
                <a:solidFill>
                  <a:srgbClr val="FF0000"/>
                </a:solidFill>
                <a:latin typeface="微软雅黑" panose="020B0503020204020204" pitchFamily="34" charset="-122"/>
                <a:ea typeface="微软雅黑" panose="020B0503020204020204" pitchFamily="34" charset="-122"/>
              </a:rPr>
              <a:t>号正式实施</a:t>
            </a:r>
            <a:r>
              <a:rPr lang="zh-CN" altLang="en-US" sz="1315" dirty="0">
                <a:latin typeface="微软雅黑" panose="020B0503020204020204" pitchFamily="34" charset="-122"/>
                <a:ea typeface="微软雅黑" panose="020B0503020204020204" pitchFamily="34" charset="-122"/>
              </a:rPr>
              <a:t>，进入等保</a:t>
            </a:r>
            <a:r>
              <a:rPr lang="en-US" altLang="zh-CN" sz="1315" dirty="0">
                <a:latin typeface="微软雅黑" panose="020B0503020204020204" pitchFamily="34" charset="-122"/>
                <a:ea typeface="微软雅黑" panose="020B0503020204020204" pitchFamily="34" charset="-122"/>
              </a:rPr>
              <a:t>2.0</a:t>
            </a:r>
            <a:r>
              <a:rPr lang="zh-CN" altLang="en-US" sz="1315" dirty="0">
                <a:latin typeface="微软雅黑" panose="020B0503020204020204" pitchFamily="34" charset="-122"/>
                <a:ea typeface="微软雅黑" panose="020B0503020204020204" pitchFamily="34" charset="-122"/>
              </a:rPr>
              <a:t>时代。</a:t>
            </a:r>
            <a:endParaRPr lang="zh-CN" altLang="en-US" sz="1315"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500" fill="hold"/>
                                        <p:tgtEl>
                                          <p:spTgt spid="65"/>
                                        </p:tgtEl>
                                        <p:attrNameLst>
                                          <p:attrName>ppt_w</p:attrName>
                                        </p:attrNameLst>
                                      </p:cBhvr>
                                      <p:tavLst>
                                        <p:tav tm="0">
                                          <p:val>
                                            <p:fltVal val="0"/>
                                          </p:val>
                                        </p:tav>
                                        <p:tav tm="100000">
                                          <p:val>
                                            <p:strVal val="#ppt_w"/>
                                          </p:val>
                                        </p:tav>
                                      </p:tavLst>
                                    </p:anim>
                                    <p:anim calcmode="lin" valueType="num">
                                      <p:cBhvr>
                                        <p:cTn id="8" dur="500" fill="hold"/>
                                        <p:tgtEl>
                                          <p:spTgt spid="65"/>
                                        </p:tgtEl>
                                        <p:attrNameLst>
                                          <p:attrName>ppt_h</p:attrName>
                                        </p:attrNameLst>
                                      </p:cBhvr>
                                      <p:tavLst>
                                        <p:tav tm="0">
                                          <p:val>
                                            <p:fltVal val="0"/>
                                          </p:val>
                                        </p:tav>
                                        <p:tav tm="100000">
                                          <p:val>
                                            <p:strVal val="#ppt_h"/>
                                          </p:val>
                                        </p:tav>
                                      </p:tavLst>
                                    </p:anim>
                                    <p:animEffect transition="in" filter="fade">
                                      <p:cBhvr>
                                        <p:cTn id="9" dur="500"/>
                                        <p:tgtEl>
                                          <p:spTgt spid="65"/>
                                        </p:tgtEl>
                                      </p:cBhvr>
                                    </p:animEffect>
                                  </p:childTnLst>
                                </p:cTn>
                              </p:par>
                            </p:childTnLst>
                          </p:cTn>
                        </p:par>
                        <p:par>
                          <p:cTn id="10" fill="hold">
                            <p:stCondLst>
                              <p:cond delay="500"/>
                            </p:stCondLst>
                            <p:childTnLst>
                              <p:par>
                                <p:cTn id="11" presetID="12" presetClass="entr" presetSubtype="8" fill="hold" grpId="0" nodeType="after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p:tgtEl>
                                          <p:spTgt spid="36"/>
                                        </p:tgtEl>
                                        <p:attrNameLst>
                                          <p:attrName>ppt_x</p:attrName>
                                        </p:attrNameLst>
                                      </p:cBhvr>
                                      <p:tavLst>
                                        <p:tav tm="0">
                                          <p:val>
                                            <p:strVal val="#ppt_x-#ppt_w*1.125000"/>
                                          </p:val>
                                        </p:tav>
                                        <p:tav tm="100000">
                                          <p:val>
                                            <p:strVal val="#ppt_x"/>
                                          </p:val>
                                        </p:tav>
                                      </p:tavLst>
                                    </p:anim>
                                    <p:animEffect transition="in" filter="wipe(right)">
                                      <p:cBhvr>
                                        <p:cTn id="14" dur="500"/>
                                        <p:tgtEl>
                                          <p:spTgt spid="36"/>
                                        </p:tgtEl>
                                      </p:cBhvr>
                                    </p:animEffect>
                                  </p:childTnLst>
                                </p:cTn>
                              </p:par>
                            </p:childTnLst>
                          </p:cTn>
                        </p:par>
                        <p:par>
                          <p:cTn id="15" fill="hold">
                            <p:stCondLst>
                              <p:cond delay="1000"/>
                            </p:stCondLst>
                            <p:childTnLst>
                              <p:par>
                                <p:cTn id="16" presetID="18" presetClass="entr" presetSubtype="12"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strips(downLeft)">
                                      <p:cBhvr>
                                        <p:cTn id="18" dur="500"/>
                                        <p:tgtEl>
                                          <p:spTgt spid="49"/>
                                        </p:tgtEl>
                                      </p:cBhvr>
                                    </p:animEffect>
                                  </p:childTnLst>
                                </p:cTn>
                              </p:par>
                              <p:par>
                                <p:cTn id="19" presetID="18" presetClass="entr" presetSubtype="12"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strips(downLeft)">
                                      <p:cBhvr>
                                        <p:cTn id="21" dur="500"/>
                                        <p:tgtEl>
                                          <p:spTgt spid="50"/>
                                        </p:tgtEl>
                                      </p:cBhvr>
                                    </p:animEffect>
                                  </p:childTnLst>
                                </p:cTn>
                              </p:par>
                            </p:childTnLst>
                          </p:cTn>
                        </p:par>
                        <p:par>
                          <p:cTn id="22" fill="hold">
                            <p:stCondLst>
                              <p:cond delay="1500"/>
                            </p:stCondLst>
                            <p:childTnLst>
                              <p:par>
                                <p:cTn id="23" presetID="12" presetClass="entr" presetSubtype="4" fill="hold" grpId="0" nodeType="after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p:tgtEl>
                                          <p:spTgt spid="51"/>
                                        </p:tgtEl>
                                        <p:attrNameLst>
                                          <p:attrName>ppt_y</p:attrName>
                                        </p:attrNameLst>
                                      </p:cBhvr>
                                      <p:tavLst>
                                        <p:tav tm="0">
                                          <p:val>
                                            <p:strVal val="#ppt_y+#ppt_h*1.125000"/>
                                          </p:val>
                                        </p:tav>
                                        <p:tav tm="100000">
                                          <p:val>
                                            <p:strVal val="#ppt_y"/>
                                          </p:val>
                                        </p:tav>
                                      </p:tavLst>
                                    </p:anim>
                                    <p:animEffect transition="in" filter="wipe(up)">
                                      <p:cBhvr>
                                        <p:cTn id="26" dur="500"/>
                                        <p:tgtEl>
                                          <p:spTgt spid="51"/>
                                        </p:tgtEl>
                                      </p:cBhvr>
                                    </p:animEffect>
                                  </p:childTnLst>
                                </p:cTn>
                              </p:par>
                              <p:par>
                                <p:cTn id="27" presetID="12" presetClass="entr" presetSubtype="1"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anim calcmode="lin" valueType="num">
                                      <p:cBhvr additive="base">
                                        <p:cTn id="29" dur="500"/>
                                        <p:tgtEl>
                                          <p:spTgt spid="52"/>
                                        </p:tgtEl>
                                        <p:attrNameLst>
                                          <p:attrName>ppt_y</p:attrName>
                                        </p:attrNameLst>
                                      </p:cBhvr>
                                      <p:tavLst>
                                        <p:tav tm="0">
                                          <p:val>
                                            <p:strVal val="#ppt_y-#ppt_h*1.125000"/>
                                          </p:val>
                                        </p:tav>
                                        <p:tav tm="100000">
                                          <p:val>
                                            <p:strVal val="#ppt_y"/>
                                          </p:val>
                                        </p:tav>
                                      </p:tavLst>
                                    </p:anim>
                                    <p:animEffect transition="in" filter="wipe(down)">
                                      <p:cBhvr>
                                        <p:cTn id="30" dur="500"/>
                                        <p:tgtEl>
                                          <p:spTgt spid="52"/>
                                        </p:tgtEl>
                                      </p:cBhvr>
                                    </p:animEffect>
                                  </p:childTnLst>
                                </p:cTn>
                              </p:par>
                            </p:childTnLst>
                          </p:cTn>
                        </p:par>
                        <p:par>
                          <p:cTn id="31" fill="hold">
                            <p:stCondLst>
                              <p:cond delay="2000"/>
                            </p:stCondLst>
                            <p:childTnLst>
                              <p:par>
                                <p:cTn id="32" presetID="18" presetClass="entr" presetSubtype="12" fill="hold" grpId="0" nodeType="after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strips(downLeft)">
                                      <p:cBhvr>
                                        <p:cTn id="34" dur="500"/>
                                        <p:tgtEl>
                                          <p:spTgt spid="53"/>
                                        </p:tgtEl>
                                      </p:cBhvr>
                                    </p:animEffect>
                                  </p:childTnLst>
                                </p:cTn>
                              </p:par>
                              <p:par>
                                <p:cTn id="35" presetID="18" presetClass="entr" presetSubtype="12"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strips(downLeft)">
                                      <p:cBhvr>
                                        <p:cTn id="37" dur="500"/>
                                        <p:tgtEl>
                                          <p:spTgt spid="54"/>
                                        </p:tgtEl>
                                      </p:cBhvr>
                                    </p:animEffect>
                                  </p:childTnLst>
                                </p:cTn>
                              </p:par>
                              <p:par>
                                <p:cTn id="38" presetID="12" presetClass="entr" presetSubtype="1"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 calcmode="lin" valueType="num">
                                      <p:cBhvr additive="base">
                                        <p:cTn id="40" dur="500"/>
                                        <p:tgtEl>
                                          <p:spTgt spid="56"/>
                                        </p:tgtEl>
                                        <p:attrNameLst>
                                          <p:attrName>ppt_y</p:attrName>
                                        </p:attrNameLst>
                                      </p:cBhvr>
                                      <p:tavLst>
                                        <p:tav tm="0">
                                          <p:val>
                                            <p:strVal val="#ppt_y-#ppt_h*1.125000"/>
                                          </p:val>
                                        </p:tav>
                                        <p:tav tm="100000">
                                          <p:val>
                                            <p:strVal val="#ppt_y"/>
                                          </p:val>
                                        </p:tav>
                                      </p:tavLst>
                                    </p:anim>
                                    <p:animEffect transition="in" filter="wipe(down)">
                                      <p:cBhvr>
                                        <p:cTn id="41" dur="500"/>
                                        <p:tgtEl>
                                          <p:spTgt spid="56"/>
                                        </p:tgtEl>
                                      </p:cBhvr>
                                    </p:animEffect>
                                  </p:childTnLst>
                                </p:cTn>
                              </p:par>
                            </p:childTnLst>
                          </p:cTn>
                        </p:par>
                        <p:par>
                          <p:cTn id="42" fill="hold">
                            <p:stCondLst>
                              <p:cond delay="2500"/>
                            </p:stCondLst>
                            <p:childTnLst>
                              <p:par>
                                <p:cTn id="43" presetID="18" presetClass="entr" presetSubtype="12" fill="hold" grpId="0" nodeType="after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strips(downLeft)">
                                      <p:cBhvr>
                                        <p:cTn id="45" dur="500"/>
                                        <p:tgtEl>
                                          <p:spTgt spid="33"/>
                                        </p:tgtEl>
                                      </p:cBhvr>
                                    </p:animEffect>
                                  </p:childTnLst>
                                </p:cTn>
                              </p:par>
                              <p:par>
                                <p:cTn id="46" presetID="18" presetClass="entr" presetSubtype="12"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strips(downLeft)">
                                      <p:cBhvr>
                                        <p:cTn id="48" dur="500"/>
                                        <p:tgtEl>
                                          <p:spTgt spid="34"/>
                                        </p:tgtEl>
                                      </p:cBhvr>
                                    </p:animEffect>
                                  </p:childTnLst>
                                </p:cTn>
                              </p:par>
                            </p:childTnLst>
                          </p:cTn>
                        </p:par>
                        <p:par>
                          <p:cTn id="49" fill="hold">
                            <p:stCondLst>
                              <p:cond delay="3000"/>
                            </p:stCondLst>
                            <p:childTnLst>
                              <p:par>
                                <p:cTn id="50" presetID="12" presetClass="entr" presetSubtype="4" fill="hold" grpId="0" nodeType="after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additive="base">
                                        <p:cTn id="52" dur="500"/>
                                        <p:tgtEl>
                                          <p:spTgt spid="35"/>
                                        </p:tgtEl>
                                        <p:attrNameLst>
                                          <p:attrName>ppt_y</p:attrName>
                                        </p:attrNameLst>
                                      </p:cBhvr>
                                      <p:tavLst>
                                        <p:tav tm="0">
                                          <p:val>
                                            <p:strVal val="#ppt_y+#ppt_h*1.125000"/>
                                          </p:val>
                                        </p:tav>
                                        <p:tav tm="100000">
                                          <p:val>
                                            <p:strVal val="#ppt_y"/>
                                          </p:val>
                                        </p:tav>
                                      </p:tavLst>
                                    </p:anim>
                                    <p:animEffect transition="in" filter="wipe(up)">
                                      <p:cBhvr>
                                        <p:cTn id="53" dur="500"/>
                                        <p:tgtEl>
                                          <p:spTgt spid="35"/>
                                        </p:tgtEl>
                                      </p:cBhvr>
                                    </p:animEffect>
                                  </p:childTnLst>
                                </p:cTn>
                              </p:par>
                              <p:par>
                                <p:cTn id="54" presetID="12" presetClass="entr" presetSubtype="1" fill="hold" grpId="0" nodeType="withEffect">
                                  <p:stCondLst>
                                    <p:cond delay="0"/>
                                  </p:stCondLst>
                                  <p:childTnLst>
                                    <p:set>
                                      <p:cBhvr>
                                        <p:cTn id="55" dur="1" fill="hold">
                                          <p:stCondLst>
                                            <p:cond delay="0"/>
                                          </p:stCondLst>
                                        </p:cTn>
                                        <p:tgtEl>
                                          <p:spTgt spid="66"/>
                                        </p:tgtEl>
                                        <p:attrNameLst>
                                          <p:attrName>style.visibility</p:attrName>
                                        </p:attrNameLst>
                                      </p:cBhvr>
                                      <p:to>
                                        <p:strVal val="visible"/>
                                      </p:to>
                                    </p:set>
                                    <p:anim calcmode="lin" valueType="num">
                                      <p:cBhvr additive="base">
                                        <p:cTn id="56" dur="500"/>
                                        <p:tgtEl>
                                          <p:spTgt spid="66"/>
                                        </p:tgtEl>
                                        <p:attrNameLst>
                                          <p:attrName>ppt_y</p:attrName>
                                        </p:attrNameLst>
                                      </p:cBhvr>
                                      <p:tavLst>
                                        <p:tav tm="0">
                                          <p:val>
                                            <p:strVal val="#ppt_y-#ppt_h*1.125000"/>
                                          </p:val>
                                        </p:tav>
                                        <p:tav tm="100000">
                                          <p:val>
                                            <p:strVal val="#ppt_y"/>
                                          </p:val>
                                        </p:tav>
                                      </p:tavLst>
                                    </p:anim>
                                    <p:animEffect transition="in" filter="wipe(down)">
                                      <p:cBhvr>
                                        <p:cTn id="57"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9" grpId="0" bldLvl="0" animBg="1"/>
      <p:bldP spid="50" grpId="0" bldLvl="0" animBg="1"/>
      <p:bldP spid="51" grpId="0"/>
      <p:bldP spid="52" grpId="0"/>
      <p:bldP spid="53" grpId="0" bldLvl="0" animBg="1"/>
      <p:bldP spid="54" grpId="0" bldLvl="0" animBg="1"/>
      <p:bldP spid="56" grpId="0"/>
      <p:bldP spid="65" grpId="0" bldLvl="0" animBg="1"/>
      <p:bldP spid="33" grpId="0" bldLvl="0" animBg="1"/>
      <p:bldP spid="34" grpId="0" bldLvl="0" animBg="1"/>
      <p:bldP spid="35" grpId="0"/>
      <p:bldP spid="6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VS</a:t>
            </a:r>
            <a:endParaRPr lang="en-US" altLang="zh-CN"/>
          </a:p>
        </p:txBody>
      </p:sp>
      <p:pic>
        <p:nvPicPr>
          <p:cNvPr id="4" name="内容占位符 3" descr="261025404568"/>
          <p:cNvPicPr>
            <a:picLocks noGrp="1" noChangeAspect="1"/>
          </p:cNvPicPr>
          <p:nvPr>
            <p:ph idx="1"/>
          </p:nvPr>
        </p:nvPicPr>
        <p:blipFill>
          <a:blip r:embed="rId1"/>
          <a:srcRect r="706"/>
          <a:stretch>
            <a:fillRect/>
          </a:stretch>
        </p:blipFill>
        <p:spPr>
          <a:xfrm>
            <a:off x="1847850" y="980440"/>
            <a:ext cx="8928735" cy="5068570"/>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6300" y="1025525"/>
            <a:ext cx="10440035" cy="720725"/>
          </a:xfrm>
        </p:spPr>
        <p:txBody>
          <a:bodyPr/>
          <a:lstStyle/>
          <a:p>
            <a:r>
              <a:rPr kumimoji="1" lang="zh-CN" altLang="en-US" sz="2800" dirty="0"/>
              <a:t>等级保护依据的法律、法规</a:t>
            </a:r>
            <a:endParaRPr kumimoji="1" lang="zh-CN" altLang="en-US" sz="2800" dirty="0"/>
          </a:p>
        </p:txBody>
      </p:sp>
      <p:sp>
        <p:nvSpPr>
          <p:cNvPr id="3" name="内容占位符 2"/>
          <p:cNvSpPr>
            <a:spLocks noGrp="1"/>
          </p:cNvSpPr>
          <p:nvPr>
            <p:ph idx="1"/>
          </p:nvPr>
        </p:nvSpPr>
        <p:spPr>
          <a:xfrm>
            <a:off x="638810" y="2010410"/>
            <a:ext cx="10770235" cy="3573145"/>
          </a:xfrm>
        </p:spPr>
        <p:txBody>
          <a:bodyPr/>
          <a:lstStyle/>
          <a:p>
            <a:pPr marL="444500" lvl="1" indent="-444500">
              <a:spcBef>
                <a:spcPts val="1000"/>
              </a:spcBef>
              <a:spcAft>
                <a:spcPts val="285"/>
              </a:spcAft>
              <a:buClr>
                <a:srgbClr val="68B92E"/>
              </a:buClr>
              <a:buFont typeface="Wingdings" panose="05000000000000000000" pitchFamily="2" charset="2"/>
              <a:buChar char="p"/>
            </a:pPr>
            <a:r>
              <a:rPr kumimoji="1" lang="en-US" altLang="zh-CN" sz="2000" dirty="0"/>
              <a:t>《</a:t>
            </a:r>
            <a:r>
              <a:rPr kumimoji="1" lang="zh-CN" altLang="en-US" sz="2000" dirty="0"/>
              <a:t>网络安全法</a:t>
            </a:r>
            <a:r>
              <a:rPr kumimoji="1" lang="en-US" altLang="zh-CN" sz="2000" dirty="0"/>
              <a:t>》</a:t>
            </a:r>
            <a:r>
              <a:rPr kumimoji="1" lang="zh-CN" altLang="en-US" sz="2000" dirty="0"/>
              <a:t>第二十一条明确要求：</a:t>
            </a:r>
            <a:r>
              <a:rPr kumimoji="1" lang="zh-CN" altLang="en-US" dirty="0">
                <a:solidFill>
                  <a:srgbClr val="FF0000"/>
                </a:solidFill>
              </a:rPr>
              <a:t>“国家实行网络安全等级保护制度”</a:t>
            </a:r>
            <a:r>
              <a:rPr kumimoji="1" lang="zh-CN" altLang="en-US" sz="2000" dirty="0"/>
              <a:t>。</a:t>
            </a:r>
            <a:endParaRPr kumimoji="1" lang="zh-CN" altLang="en-US" sz="2000" dirty="0"/>
          </a:p>
          <a:p>
            <a:pPr marL="444500" lvl="1" indent="-444500">
              <a:spcBef>
                <a:spcPts val="1000"/>
              </a:spcBef>
              <a:spcAft>
                <a:spcPts val="285"/>
              </a:spcAft>
              <a:buClr>
                <a:srgbClr val="68B92E"/>
              </a:buClr>
              <a:buFont typeface="Wingdings" panose="05000000000000000000" pitchFamily="2" charset="2"/>
              <a:buChar char="p"/>
            </a:pPr>
            <a:r>
              <a:rPr kumimoji="1" lang="en-US" altLang="zh-CN" sz="2000" dirty="0"/>
              <a:t>《</a:t>
            </a:r>
            <a:r>
              <a:rPr kumimoji="1" lang="zh-CN" altLang="en-US" sz="2000" dirty="0"/>
              <a:t>网络安全等级保护条例</a:t>
            </a:r>
            <a:r>
              <a:rPr kumimoji="1" lang="en-US" altLang="zh-CN" sz="2000" dirty="0"/>
              <a:t>》</a:t>
            </a:r>
            <a:r>
              <a:rPr kumimoji="1" lang="zh-CN" altLang="zh-CN" sz="2000" dirty="0"/>
              <a:t>第三条【确立制度】国家实行网络安全等级保护制度，</a:t>
            </a:r>
            <a:r>
              <a:rPr kumimoji="1" lang="zh-CN" altLang="zh-CN" sz="2000" dirty="0">
                <a:solidFill>
                  <a:srgbClr val="FF0000"/>
                </a:solidFill>
              </a:rPr>
              <a:t>对网络实施分等级保护、分等级监管</a:t>
            </a:r>
            <a:r>
              <a:rPr kumimoji="1" lang="zh-CN" altLang="en-US" sz="2000" dirty="0">
                <a:solidFill>
                  <a:srgbClr val="FF0000"/>
                </a:solidFill>
              </a:rPr>
              <a:t>（征求意见稿）</a:t>
            </a:r>
            <a:r>
              <a:rPr kumimoji="1" lang="zh-CN" altLang="zh-CN" sz="2000" dirty="0">
                <a:solidFill>
                  <a:srgbClr val="FF0000"/>
                </a:solidFill>
              </a:rPr>
              <a:t>。</a:t>
            </a:r>
            <a:endParaRPr kumimoji="1" lang="en-US" altLang="zh-CN" sz="2000" dirty="0">
              <a:solidFill>
                <a:srgbClr val="FF0000"/>
              </a:solidFill>
            </a:endParaRPr>
          </a:p>
          <a:p>
            <a:pPr marL="444500" lvl="1" indent="-444500">
              <a:spcBef>
                <a:spcPts val="1000"/>
              </a:spcBef>
              <a:spcAft>
                <a:spcPts val="285"/>
              </a:spcAft>
              <a:buClr>
                <a:srgbClr val="68B92E"/>
              </a:buClr>
              <a:buFont typeface="Wingdings" panose="05000000000000000000" pitchFamily="2" charset="2"/>
              <a:buChar char="p"/>
            </a:pPr>
            <a:r>
              <a:rPr kumimoji="1" lang="en-US" altLang="zh-CN" sz="2000" dirty="0"/>
              <a:t>《</a:t>
            </a:r>
            <a:r>
              <a:rPr kumimoji="1" lang="zh-CN" altLang="en-US" sz="2000" dirty="0"/>
              <a:t>关键信息基础设施安全保护条例</a:t>
            </a:r>
            <a:r>
              <a:rPr kumimoji="1" lang="en-US" altLang="zh-CN" sz="2000" dirty="0"/>
              <a:t>》</a:t>
            </a:r>
            <a:r>
              <a:rPr kumimoji="1" lang="zh-CN" altLang="en-US" sz="2000" dirty="0"/>
              <a:t>（征求意见稿）。</a:t>
            </a:r>
            <a:endParaRPr kumimoji="1" lang="en-US" altLang="zh-CN" sz="2000" dirty="0"/>
          </a:p>
          <a:p>
            <a:pPr marL="444500" lvl="1" indent="-444500">
              <a:spcBef>
                <a:spcPts val="1000"/>
              </a:spcBef>
              <a:spcAft>
                <a:spcPts val="285"/>
              </a:spcAft>
              <a:buClr>
                <a:srgbClr val="68B92E"/>
              </a:buClr>
              <a:buFont typeface="Wingdings" panose="05000000000000000000" pitchFamily="2" charset="2"/>
              <a:buChar char="p"/>
            </a:pPr>
            <a:r>
              <a:rPr kumimoji="1" lang="en-US" altLang="zh-CN" sz="2000" dirty="0"/>
              <a:t>《</a:t>
            </a:r>
            <a:r>
              <a:rPr kumimoji="1" lang="zh-CN" altLang="en-US" sz="2000" dirty="0"/>
              <a:t>关于开展信息安全等级保护安全建设整改工作的指导意见</a:t>
            </a:r>
            <a:r>
              <a:rPr kumimoji="1" lang="en-US" altLang="zh-CN" sz="2000" dirty="0"/>
              <a:t>》</a:t>
            </a:r>
            <a:r>
              <a:rPr kumimoji="1" lang="zh-CN" altLang="en-US" sz="2000" dirty="0"/>
              <a:t>（公信安 </a:t>
            </a:r>
            <a:r>
              <a:rPr kumimoji="1" lang="en-US" altLang="zh-CN" sz="2000" dirty="0"/>
              <a:t>[2009]</a:t>
            </a:r>
            <a:r>
              <a:rPr kumimoji="1" lang="zh-CN" altLang="en-US" sz="2000" dirty="0"/>
              <a:t> </a:t>
            </a:r>
            <a:r>
              <a:rPr kumimoji="1" lang="en-US" altLang="zh-CN" sz="2000" dirty="0"/>
              <a:t>1429</a:t>
            </a:r>
            <a:r>
              <a:rPr kumimoji="1" lang="zh-CN" altLang="en-US" sz="2000" dirty="0"/>
              <a:t>号）。</a:t>
            </a:r>
            <a:endParaRPr kumimoji="1" lang="en-US" altLang="zh-CN" sz="2000" dirty="0"/>
          </a:p>
          <a:p>
            <a:pPr marL="444500" lvl="1" indent="-444500">
              <a:spcBef>
                <a:spcPts val="1000"/>
              </a:spcBef>
              <a:spcAft>
                <a:spcPts val="285"/>
              </a:spcAft>
              <a:buClr>
                <a:srgbClr val="68B92E"/>
              </a:buClr>
              <a:buFont typeface="Wingdings" panose="05000000000000000000" pitchFamily="2" charset="2"/>
              <a:buChar char="p"/>
            </a:pPr>
            <a:r>
              <a:rPr kumimoji="1" lang="zh-CN" altLang="en-US" sz="2000" dirty="0"/>
              <a:t>中央关于加强社会治安防控体系建设的意见、公安改革若干重大问题的框架意见要求“健全完善信息安全等级保护制度”。</a:t>
            </a:r>
            <a:endParaRPr kumimoji="1" lang="en-US" altLang="zh-CN" sz="2000" dirty="0"/>
          </a:p>
          <a:p>
            <a:pPr marL="444500" lvl="1" indent="-444500">
              <a:spcBef>
                <a:spcPts val="1000"/>
              </a:spcBef>
              <a:spcAft>
                <a:spcPts val="285"/>
              </a:spcAft>
              <a:buClr>
                <a:srgbClr val="68B92E"/>
              </a:buClr>
              <a:buFont typeface="Wingdings" panose="05000000000000000000" pitchFamily="2" charset="2"/>
              <a:buChar char="p"/>
            </a:pPr>
            <a:r>
              <a:rPr kumimoji="1" lang="zh-CN" altLang="en-US" sz="2000" dirty="0"/>
              <a:t>中央领导批示要求：健全完善以保护国家关键信息基础设施安全为重点的网络安全等级保护制度。</a:t>
            </a:r>
            <a:endParaRPr kumimoji="1" lang="en-US" altLang="zh-CN" sz="2000"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6300" y="993140"/>
            <a:ext cx="10440035" cy="709295"/>
          </a:xfrm>
        </p:spPr>
        <p:txBody>
          <a:bodyPr/>
          <a:lstStyle/>
          <a:p>
            <a:r>
              <a:rPr kumimoji="1" lang="zh-CN" altLang="en-US" sz="2800" dirty="0"/>
              <a:t>等级保护</a:t>
            </a:r>
            <a:r>
              <a:rPr kumimoji="1" lang="en-US" altLang="zh-CN" sz="2800" dirty="0"/>
              <a:t>2.0</a:t>
            </a:r>
            <a:r>
              <a:rPr kumimoji="1" lang="zh-CN" altLang="en-US" sz="2800" dirty="0"/>
              <a:t>的法规、标准体系</a:t>
            </a:r>
            <a:endParaRPr kumimoji="1" lang="zh-CN" altLang="en-US" sz="2800" dirty="0"/>
          </a:p>
        </p:txBody>
      </p:sp>
      <p:sp>
        <p:nvSpPr>
          <p:cNvPr id="3" name="内容占位符 2"/>
          <p:cNvSpPr>
            <a:spLocks noGrp="1"/>
          </p:cNvSpPr>
          <p:nvPr>
            <p:ph idx="1"/>
          </p:nvPr>
        </p:nvSpPr>
        <p:spPr>
          <a:xfrm>
            <a:off x="991383" y="1895508"/>
            <a:ext cx="10130642" cy="5052662"/>
          </a:xfrm>
        </p:spPr>
        <p:txBody>
          <a:bodyPr/>
          <a:lstStyle/>
          <a:p>
            <a:r>
              <a:rPr kumimoji="1" lang="zh-CN" altLang="en-US" sz="2000" dirty="0"/>
              <a:t>网络安全等级保护条例（制订中</a:t>
            </a:r>
            <a:r>
              <a:rPr kumimoji="1" lang="en-US" altLang="zh-CN" sz="2000" dirty="0"/>
              <a:t>-</a:t>
            </a:r>
            <a:r>
              <a:rPr kumimoji="1" lang="zh-CN" altLang="en-US" sz="2000" dirty="0"/>
              <a:t>征求意见稿）（总要求</a:t>
            </a:r>
            <a:r>
              <a:rPr kumimoji="1" lang="en-US" altLang="zh-CN" sz="2000" dirty="0"/>
              <a:t>/</a:t>
            </a:r>
            <a:r>
              <a:rPr kumimoji="1" lang="zh-CN" altLang="en-US" sz="2000" dirty="0"/>
              <a:t>上位文件）</a:t>
            </a:r>
            <a:endParaRPr kumimoji="1" lang="en-US" altLang="zh-CN" sz="2000" dirty="0"/>
          </a:p>
          <a:p>
            <a:r>
              <a:rPr kumimoji="1" lang="zh-CN" altLang="en-US" sz="2000" dirty="0"/>
              <a:t>计算机信息系统安全保护等级划分准则（</a:t>
            </a:r>
            <a:r>
              <a:rPr kumimoji="1" lang="en-GB" altLang="zh-CN" sz="2000" dirty="0"/>
              <a:t>GB</a:t>
            </a:r>
            <a:r>
              <a:rPr kumimoji="1" lang="zh-CN" altLang="en-US" sz="2000" dirty="0"/>
              <a:t> </a:t>
            </a:r>
            <a:r>
              <a:rPr kumimoji="1" lang="en-GB" altLang="zh-CN" sz="2000" dirty="0"/>
              <a:t>17859-1999)</a:t>
            </a:r>
            <a:r>
              <a:rPr kumimoji="1" lang="zh-CN" altLang="en-GB" sz="2000" dirty="0"/>
              <a:t>（</a:t>
            </a:r>
            <a:r>
              <a:rPr kumimoji="1" lang="zh-CN" altLang="en-US" sz="2000" dirty="0"/>
              <a:t>上位标准）</a:t>
            </a:r>
            <a:endParaRPr kumimoji="1" lang="en-US" altLang="zh-CN" sz="2000" dirty="0"/>
          </a:p>
          <a:p>
            <a:r>
              <a:rPr kumimoji="1" lang="zh-CN" altLang="en-US" sz="2000" dirty="0">
                <a:solidFill>
                  <a:srgbClr val="FF0000"/>
                </a:solidFill>
              </a:rPr>
              <a:t>网络安全等级保护 基本要求</a:t>
            </a:r>
            <a:r>
              <a:rPr kumimoji="1" lang="en-US" altLang="zh-CN" sz="2000" dirty="0">
                <a:solidFill>
                  <a:srgbClr val="FF0000"/>
                </a:solidFill>
              </a:rPr>
              <a:t>(</a:t>
            </a:r>
            <a:r>
              <a:rPr kumimoji="1" lang="en-GB" altLang="zh-CN" sz="2000" dirty="0">
                <a:solidFill>
                  <a:srgbClr val="FF0000"/>
                </a:solidFill>
              </a:rPr>
              <a:t>GB/T</a:t>
            </a:r>
            <a:r>
              <a:rPr kumimoji="1" lang="zh-CN" altLang="en-US" sz="2000" dirty="0">
                <a:solidFill>
                  <a:srgbClr val="FF0000"/>
                </a:solidFill>
              </a:rPr>
              <a:t> </a:t>
            </a:r>
            <a:r>
              <a:rPr kumimoji="1" lang="en-GB" altLang="zh-CN" sz="2000" dirty="0">
                <a:solidFill>
                  <a:srgbClr val="FF0000"/>
                </a:solidFill>
              </a:rPr>
              <a:t>22239</a:t>
            </a:r>
            <a:r>
              <a:rPr kumimoji="1" lang="en-US" altLang="zh-CN" sz="2000" dirty="0">
                <a:solidFill>
                  <a:srgbClr val="FF0000"/>
                </a:solidFill>
              </a:rPr>
              <a:t>-2019</a:t>
            </a:r>
            <a:r>
              <a:rPr kumimoji="1" lang="en-GB" altLang="zh-CN" sz="2000" dirty="0">
                <a:solidFill>
                  <a:srgbClr val="FF0000"/>
                </a:solidFill>
              </a:rPr>
              <a:t>)</a:t>
            </a:r>
            <a:endParaRPr kumimoji="1" lang="en-GB" altLang="zh-CN" sz="2000" dirty="0">
              <a:solidFill>
                <a:srgbClr val="FF0000"/>
              </a:solidFill>
            </a:endParaRPr>
          </a:p>
          <a:p>
            <a:r>
              <a:rPr kumimoji="1" lang="zh-CN" altLang="en-US" sz="2000" dirty="0">
                <a:solidFill>
                  <a:srgbClr val="FF0000"/>
                </a:solidFill>
              </a:rPr>
              <a:t>网络安全等级保护 安全设计技术要求</a:t>
            </a:r>
            <a:r>
              <a:rPr kumimoji="1" lang="en-US" altLang="zh-CN" sz="2000" dirty="0">
                <a:solidFill>
                  <a:srgbClr val="FF0000"/>
                </a:solidFill>
              </a:rPr>
              <a:t>(</a:t>
            </a:r>
            <a:r>
              <a:rPr kumimoji="1" lang="en-GB" altLang="zh-CN" sz="2000" dirty="0">
                <a:solidFill>
                  <a:srgbClr val="FF0000"/>
                </a:solidFill>
              </a:rPr>
              <a:t>GB/T</a:t>
            </a:r>
            <a:r>
              <a:rPr kumimoji="1" lang="zh-CN" altLang="en-US" sz="2000" dirty="0">
                <a:solidFill>
                  <a:srgbClr val="FF0000"/>
                </a:solidFill>
              </a:rPr>
              <a:t> </a:t>
            </a:r>
            <a:r>
              <a:rPr kumimoji="1" lang="en-GB" altLang="zh-CN" sz="2000" dirty="0">
                <a:solidFill>
                  <a:srgbClr val="FF0000"/>
                </a:solidFill>
              </a:rPr>
              <a:t>25070</a:t>
            </a:r>
            <a:r>
              <a:rPr kumimoji="1" lang="en-US" altLang="zh-CN" sz="2000" dirty="0">
                <a:solidFill>
                  <a:srgbClr val="FF0000"/>
                </a:solidFill>
              </a:rPr>
              <a:t>-2019</a:t>
            </a:r>
            <a:r>
              <a:rPr kumimoji="1" lang="en-GB" altLang="zh-CN" sz="2000" dirty="0">
                <a:solidFill>
                  <a:srgbClr val="FF0000"/>
                </a:solidFill>
              </a:rPr>
              <a:t>)</a:t>
            </a:r>
            <a:r>
              <a:rPr kumimoji="1" lang="zh-CN" altLang="en-US" sz="2000" dirty="0">
                <a:solidFill>
                  <a:srgbClr val="FF0000"/>
                </a:solidFill>
              </a:rPr>
              <a:t> </a:t>
            </a:r>
            <a:endParaRPr kumimoji="1" lang="en-US" altLang="zh-CN" sz="2000" dirty="0">
              <a:solidFill>
                <a:srgbClr val="FF0000"/>
              </a:solidFill>
            </a:endParaRPr>
          </a:p>
          <a:p>
            <a:r>
              <a:rPr kumimoji="1" lang="zh-CN" altLang="en-US" sz="2000" dirty="0">
                <a:solidFill>
                  <a:srgbClr val="FF0000"/>
                </a:solidFill>
              </a:rPr>
              <a:t>网络安全等级保护 测评要求</a:t>
            </a:r>
            <a:r>
              <a:rPr kumimoji="1" lang="en-US" altLang="zh-CN" sz="2000" dirty="0">
                <a:solidFill>
                  <a:srgbClr val="FF0000"/>
                </a:solidFill>
              </a:rPr>
              <a:t>(</a:t>
            </a:r>
            <a:r>
              <a:rPr kumimoji="1" lang="en-GB" altLang="zh-CN" sz="2000" dirty="0">
                <a:solidFill>
                  <a:srgbClr val="FF0000"/>
                </a:solidFill>
              </a:rPr>
              <a:t>GB/T</a:t>
            </a:r>
            <a:r>
              <a:rPr kumimoji="1" lang="zh-CN" altLang="en-US" sz="2000" dirty="0">
                <a:solidFill>
                  <a:srgbClr val="FF0000"/>
                </a:solidFill>
              </a:rPr>
              <a:t> </a:t>
            </a:r>
            <a:r>
              <a:rPr kumimoji="1" lang="en-GB" altLang="zh-CN" sz="2000" dirty="0">
                <a:solidFill>
                  <a:srgbClr val="FF0000"/>
                </a:solidFill>
              </a:rPr>
              <a:t>28448</a:t>
            </a:r>
            <a:r>
              <a:rPr kumimoji="1" lang="en-US" altLang="zh-CN" sz="2000" dirty="0">
                <a:solidFill>
                  <a:srgbClr val="FF0000"/>
                </a:solidFill>
              </a:rPr>
              <a:t>-2019</a:t>
            </a:r>
            <a:r>
              <a:rPr kumimoji="1" lang="en-GB" altLang="zh-CN" sz="2000" dirty="0">
                <a:solidFill>
                  <a:srgbClr val="FF0000"/>
                </a:solidFill>
              </a:rPr>
              <a:t>)</a:t>
            </a:r>
            <a:endParaRPr kumimoji="1" lang="en-GB" altLang="zh-CN" sz="2000" dirty="0">
              <a:solidFill>
                <a:srgbClr val="FF0000"/>
              </a:solidFill>
            </a:endParaRPr>
          </a:p>
          <a:p>
            <a:r>
              <a:rPr kumimoji="1" lang="zh-CN" altLang="en-US" sz="2000" dirty="0"/>
              <a:t>网络安全等级保护 测评过程指南</a:t>
            </a:r>
            <a:r>
              <a:rPr kumimoji="1" lang="en-US" altLang="zh-CN" sz="2000" dirty="0"/>
              <a:t>(G</a:t>
            </a:r>
            <a:r>
              <a:rPr kumimoji="1" lang="en-GB" altLang="zh-CN" sz="2000" dirty="0"/>
              <a:t>B/T</a:t>
            </a:r>
            <a:r>
              <a:rPr kumimoji="1" lang="zh-CN" altLang="en-US" sz="2000" dirty="0"/>
              <a:t> </a:t>
            </a:r>
            <a:r>
              <a:rPr kumimoji="1" lang="en-GB" altLang="zh-CN" sz="2000" dirty="0"/>
              <a:t>28449</a:t>
            </a:r>
            <a:r>
              <a:rPr kumimoji="1" lang="en-US" altLang="zh-CN" sz="2000" dirty="0"/>
              <a:t>-2018</a:t>
            </a:r>
            <a:r>
              <a:rPr kumimoji="1" lang="en-GB" altLang="zh-CN" sz="2000" dirty="0"/>
              <a:t>)</a:t>
            </a:r>
            <a:r>
              <a:rPr kumimoji="1" lang="en-US" altLang="zh-CN" sz="2000" dirty="0"/>
              <a:t> </a:t>
            </a:r>
            <a:endParaRPr kumimoji="1" lang="en-US" altLang="zh-CN" sz="2000" dirty="0">
              <a:solidFill>
                <a:srgbClr val="FF0000"/>
              </a:solidFill>
            </a:endParaRPr>
          </a:p>
          <a:p>
            <a:r>
              <a:rPr kumimoji="1" lang="zh-CN" altLang="en-US" sz="2000" dirty="0"/>
              <a:t>网络安全等级保护 定级指南</a:t>
            </a:r>
            <a:r>
              <a:rPr kumimoji="1" lang="en-US" altLang="zh-CN" sz="2000" dirty="0"/>
              <a:t>(</a:t>
            </a:r>
            <a:r>
              <a:rPr kumimoji="1" lang="en-GB" altLang="zh-CN" sz="2000" dirty="0"/>
              <a:t>GB/T</a:t>
            </a:r>
            <a:r>
              <a:rPr kumimoji="1" lang="zh-CN" altLang="en-US" sz="2000" dirty="0"/>
              <a:t> </a:t>
            </a:r>
            <a:r>
              <a:rPr kumimoji="1" lang="en-GB" altLang="zh-CN" sz="2000" dirty="0"/>
              <a:t>22240)</a:t>
            </a:r>
            <a:r>
              <a:rPr kumimoji="1" lang="zh-CN" altLang="en-US" sz="2000" dirty="0"/>
              <a:t> （修订）</a:t>
            </a:r>
            <a:endParaRPr kumimoji="1" lang="en-US" altLang="zh-CN" sz="2000" dirty="0"/>
          </a:p>
          <a:p>
            <a:r>
              <a:rPr kumimoji="1" lang="zh-CN" altLang="en-US" sz="2000" dirty="0"/>
              <a:t>网络安全等级保护 实施指南</a:t>
            </a:r>
            <a:r>
              <a:rPr kumimoji="1" lang="en-US" altLang="zh-CN" sz="2000" dirty="0"/>
              <a:t>(</a:t>
            </a:r>
            <a:r>
              <a:rPr kumimoji="1" lang="en-GB" altLang="zh-CN" sz="2000" dirty="0"/>
              <a:t>GB/T</a:t>
            </a:r>
            <a:r>
              <a:rPr kumimoji="1" lang="zh-CN" altLang="en-US" sz="2000" dirty="0"/>
              <a:t> </a:t>
            </a:r>
            <a:r>
              <a:rPr kumimoji="1" lang="en-GB" altLang="zh-CN" sz="2000" dirty="0"/>
              <a:t>25058)</a:t>
            </a:r>
            <a:r>
              <a:rPr kumimoji="1" lang="zh-CN" altLang="en-US" sz="2000" dirty="0"/>
              <a:t>（修订）</a:t>
            </a:r>
            <a:endParaRPr kumimoji="1" lang="en-US" altLang="zh-CN" sz="2000" dirty="0"/>
          </a:p>
        </p:txBody>
      </p:sp>
      <p:pic>
        <p:nvPicPr>
          <p:cNvPr id="4" name="图片 3"/>
          <p:cNvPicPr>
            <a:picLocks noChangeAspect="1"/>
          </p:cNvPicPr>
          <p:nvPr/>
        </p:nvPicPr>
        <p:blipFill>
          <a:blip r:embed="rId1"/>
          <a:stretch>
            <a:fillRect/>
          </a:stretch>
        </p:blipFill>
        <p:spPr>
          <a:xfrm>
            <a:off x="9295588" y="2323148"/>
            <a:ext cx="2754903" cy="3871912"/>
          </a:xfrm>
          <a:prstGeom prst="rect">
            <a:avLst/>
          </a:prstGeom>
        </p:spPr>
      </p:pic>
      <p:pic>
        <p:nvPicPr>
          <p:cNvPr id="8" name="图片 7"/>
          <p:cNvPicPr>
            <a:picLocks noChangeAspect="1"/>
          </p:cNvPicPr>
          <p:nvPr/>
        </p:nvPicPr>
        <p:blipFill>
          <a:blip r:embed="rId2"/>
          <a:stretch>
            <a:fillRect/>
          </a:stretch>
        </p:blipFill>
        <p:spPr>
          <a:xfrm>
            <a:off x="8945576" y="2681223"/>
            <a:ext cx="2756569" cy="3868463"/>
          </a:xfrm>
          <a:prstGeom prst="rect">
            <a:avLst/>
          </a:prstGeom>
        </p:spPr>
      </p:pic>
      <p:pic>
        <p:nvPicPr>
          <p:cNvPr id="9" name="图片 8"/>
          <p:cNvPicPr>
            <a:picLocks noChangeAspect="1"/>
          </p:cNvPicPr>
          <p:nvPr/>
        </p:nvPicPr>
        <p:blipFill>
          <a:blip r:embed="rId3"/>
          <a:stretch>
            <a:fillRect/>
          </a:stretch>
        </p:blipFill>
        <p:spPr>
          <a:xfrm>
            <a:off x="8375558" y="2989537"/>
            <a:ext cx="2746667" cy="3868463"/>
          </a:xfrm>
          <a:prstGeom prst="rect">
            <a:avLst/>
          </a:prstGeom>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标题 89"/>
          <p:cNvSpPr>
            <a:spLocks noGrp="1"/>
          </p:cNvSpPr>
          <p:nvPr>
            <p:ph type="title" idx="4294967295"/>
          </p:nvPr>
        </p:nvSpPr>
        <p:spPr>
          <a:xfrm>
            <a:off x="479425" y="-241935"/>
            <a:ext cx="10515600" cy="1325563"/>
          </a:xfrm>
        </p:spPr>
        <p:txBody>
          <a:bodyPr/>
          <a:lstStyle/>
          <a:p>
            <a:r>
              <a:rPr sz="2800" dirty="0"/>
              <a:t>等级保护</a:t>
            </a:r>
            <a:r>
              <a:rPr lang="zh-CN" sz="2800" dirty="0"/>
              <a:t>等级划分</a:t>
            </a:r>
            <a:endParaRPr lang="zh-CN" sz="2800" dirty="0"/>
          </a:p>
        </p:txBody>
      </p:sp>
      <p:sp>
        <p:nvSpPr>
          <p:cNvPr id="3" name="TextBox 2"/>
          <p:cNvSpPr txBox="1"/>
          <p:nvPr/>
        </p:nvSpPr>
        <p:spPr>
          <a:xfrm>
            <a:off x="628650" y="-98425"/>
            <a:ext cx="10702290" cy="6739255"/>
          </a:xfrm>
          <a:prstGeom prst="rect">
            <a:avLst/>
          </a:prstGeom>
          <a:noFill/>
        </p:spPr>
        <p:txBody>
          <a:bodyPr wrap="square" rtlCol="0">
            <a:spAutoFit/>
          </a:bodyPr>
          <a:lstStyle/>
          <a:p>
            <a:endParaRPr lang="zh-CN" altLang="en-US" sz="2400" b="1" dirty="0">
              <a:solidFill>
                <a:srgbClr val="0070C0"/>
              </a:solidFill>
            </a:endParaRPr>
          </a:p>
          <a:p>
            <a:r>
              <a:rPr lang="zh-CN" altLang="en-US" sz="2400" b="1" dirty="0">
                <a:solidFill>
                  <a:srgbClr val="0070C0"/>
                </a:solidFill>
              </a:rPr>
              <a:t>       </a:t>
            </a:r>
            <a:endParaRPr lang="zh-CN" altLang="en-US" sz="2400" b="1" dirty="0">
              <a:solidFill>
                <a:srgbClr val="0070C0"/>
              </a:solidFill>
            </a:endParaRPr>
          </a:p>
          <a:p>
            <a:pPr marR="0" indent="0" defTabSz="914400">
              <a:lnSpc>
                <a:spcPct val="150000"/>
              </a:lnSpc>
              <a:buClrTx/>
              <a:buSzTx/>
              <a:buFont typeface="Wingdings" panose="05000000000000000000" pitchFamily="2" charset="2"/>
              <a:buNone/>
              <a:defRPr/>
            </a:pPr>
            <a:r>
              <a:rPr lang="zh-CN" altLang="zh-CN" sz="2000" dirty="0">
                <a:solidFill>
                  <a:srgbClr val="FF0000"/>
                </a:solidFill>
                <a:latin typeface="FrutigerNext LT Regular" charset="0"/>
                <a:sym typeface="华文细黑" panose="02010600040101010101" pitchFamily="2" charset="-122"/>
              </a:rPr>
              <a:t>第一级</a:t>
            </a:r>
            <a:r>
              <a:rPr lang="en-US" altLang="zh-CN" sz="2000" dirty="0">
                <a:solidFill>
                  <a:srgbClr val="FF0000"/>
                </a:solidFill>
                <a:latin typeface="FrutigerNext LT Regular" charset="0"/>
                <a:sym typeface="华文细黑" panose="02010600040101010101" pitchFamily="2" charset="-122"/>
              </a:rPr>
              <a:t> </a:t>
            </a:r>
            <a:r>
              <a:rPr lang="zh-CN" altLang="zh-CN" sz="2000" dirty="0">
                <a:solidFill>
                  <a:srgbClr val="FF0000"/>
                </a:solidFill>
                <a:latin typeface="FrutigerNext LT Regular" charset="0"/>
                <a:sym typeface="华文细黑" panose="02010600040101010101" pitchFamily="2" charset="-122"/>
              </a:rPr>
              <a:t>自主保护级：</a:t>
            </a:r>
            <a:endParaRPr lang="zh-CN" altLang="zh-CN" sz="2000" dirty="0">
              <a:solidFill>
                <a:srgbClr val="FF0000"/>
              </a:solidFill>
              <a:latin typeface="FrutigerNext LT Regular" charset="0"/>
              <a:sym typeface="华文细黑" panose="02010600040101010101" pitchFamily="2" charset="-122"/>
            </a:endParaRPr>
          </a:p>
          <a:p>
            <a:pPr marR="0" indent="0" defTabSz="914400">
              <a:lnSpc>
                <a:spcPct val="150000"/>
              </a:lnSpc>
              <a:buClrTx/>
              <a:buSzTx/>
              <a:buFont typeface="Wingdings" panose="05000000000000000000" pitchFamily="2" charset="2"/>
              <a:buNone/>
              <a:defRPr/>
            </a:pP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此类信息系统受到破坏后， 会对公民、法人和其他组织的合法权益造成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一般损害</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不损害 </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国家安全、社会秩序和公共利益。（</a:t>
            </a:r>
            <a:r>
              <a:rPr lang="zh-CN" altLang="en-US" sz="1600">
                <a:sym typeface="+mn-ea"/>
              </a:rPr>
              <a:t>一般适用于小型私营、个体企业、中小学，乡镇所属信息系统、县级单位中一般的信息系统</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endParaRPr lang="zh-CN" altLang="zh-CN" sz="2000" dirty="0">
              <a:solidFill>
                <a:srgbClr val="000000"/>
              </a:solidFill>
              <a:latin typeface="FrutigerNext LT Regular" charset="0"/>
            </a:endParaRPr>
          </a:p>
          <a:p>
            <a:pPr marR="0" indent="0" defTabSz="914400">
              <a:lnSpc>
                <a:spcPct val="150000"/>
              </a:lnSpc>
              <a:buClrTx/>
              <a:buSzTx/>
              <a:buFont typeface="Wingdings" panose="05000000000000000000" pitchFamily="2" charset="2"/>
              <a:buNone/>
              <a:defRPr/>
            </a:pPr>
            <a:r>
              <a:rPr lang="zh-CN" altLang="zh-CN" sz="2000" dirty="0">
                <a:solidFill>
                  <a:srgbClr val="FF0000"/>
                </a:solidFill>
                <a:latin typeface="FrutigerNext LT Regular" charset="0"/>
                <a:sym typeface="华文细黑" panose="02010600040101010101" pitchFamily="2" charset="-122"/>
              </a:rPr>
              <a:t>第二级</a:t>
            </a:r>
            <a:r>
              <a:rPr lang="en-US" altLang="zh-CN" sz="2000" dirty="0">
                <a:solidFill>
                  <a:srgbClr val="FF0000"/>
                </a:solidFill>
                <a:latin typeface="FrutigerNext LT Regular" charset="0"/>
                <a:sym typeface="华文细黑" panose="02010600040101010101" pitchFamily="2" charset="-122"/>
              </a:rPr>
              <a:t> </a:t>
            </a:r>
            <a:r>
              <a:rPr lang="zh-CN" altLang="zh-CN" sz="2000" dirty="0">
                <a:solidFill>
                  <a:srgbClr val="FF0000"/>
                </a:solidFill>
                <a:latin typeface="FrutigerNext LT Regular" charset="0"/>
                <a:sym typeface="华文细黑" panose="02010600040101010101" pitchFamily="2" charset="-122"/>
              </a:rPr>
              <a:t>指导保护级：</a:t>
            </a:r>
            <a:endParaRPr lang="zh-CN" altLang="zh-CN" sz="2000" dirty="0">
              <a:solidFill>
                <a:srgbClr val="FF0000"/>
              </a:solidFill>
              <a:latin typeface="FrutigerNext LT Regular" charset="0"/>
              <a:sym typeface="华文细黑" panose="02010600040101010101" pitchFamily="2" charset="-122"/>
            </a:endParaRPr>
          </a:p>
          <a:p>
            <a:pPr marR="0" indent="0" defTabSz="914400">
              <a:lnSpc>
                <a:spcPct val="150000"/>
              </a:lnSpc>
              <a:buClrTx/>
              <a:buSzTx/>
              <a:buFont typeface="Wingdings" panose="05000000000000000000" pitchFamily="2" charset="2"/>
              <a:buNone/>
              <a:defRPr/>
            </a:pP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此类信息系统受到破坏后，会对公民、法人和其他组织的合法权益造成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严重损害</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，会对社会秩序、公共利益造成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一般损害</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不损害 </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国家安全。（</a:t>
            </a:r>
            <a:r>
              <a:rPr lang="zh-CN" altLang="en-US" sz="1600">
                <a:sym typeface="+mn-ea"/>
              </a:rPr>
              <a:t>一般适用于县级其些单位中的重要信息系统;地市级以上国家机关、企事业单位内部一般的信息系统。例如非涉及工作秘密、商业秘密、敏感信息的办公系统和管理系统等</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endParaRPr lang="zh-CN" altLang="zh-CN" sz="2000" dirty="0">
              <a:solidFill>
                <a:srgbClr val="000000"/>
              </a:solidFill>
              <a:latin typeface="FrutigerNext LT Regular" charset="0"/>
            </a:endParaRPr>
          </a:p>
          <a:p>
            <a:pPr marR="0" indent="0" defTabSz="914400">
              <a:lnSpc>
                <a:spcPct val="150000"/>
              </a:lnSpc>
              <a:buClrTx/>
              <a:buSzTx/>
              <a:buFont typeface="Wingdings" panose="05000000000000000000" pitchFamily="2" charset="2"/>
              <a:buNone/>
              <a:defRPr/>
            </a:pPr>
            <a:r>
              <a:rPr lang="zh-CN" altLang="zh-CN" sz="2000" dirty="0">
                <a:solidFill>
                  <a:srgbClr val="FF0000"/>
                </a:solidFill>
                <a:latin typeface="FrutigerNext LT Regular" charset="0"/>
                <a:sym typeface="华文细黑" panose="02010600040101010101" pitchFamily="2" charset="-122"/>
              </a:rPr>
              <a:t>第三级 监督保护级：</a:t>
            </a:r>
            <a:endParaRPr lang="zh-CN" altLang="zh-CN" sz="2000" dirty="0">
              <a:solidFill>
                <a:srgbClr val="FF0000"/>
              </a:solidFill>
              <a:latin typeface="FrutigerNext LT Regular" charset="0"/>
              <a:sym typeface="华文细黑" panose="02010600040101010101" pitchFamily="2" charset="-122"/>
            </a:endParaRPr>
          </a:p>
          <a:p>
            <a:pPr marR="0" indent="0" defTabSz="914400">
              <a:lnSpc>
                <a:spcPct val="150000"/>
              </a:lnSpc>
              <a:buClrTx/>
              <a:buSzTx/>
              <a:buFont typeface="Wingdings" panose="05000000000000000000" pitchFamily="2" charset="2"/>
              <a:buNone/>
              <a:defRPr/>
            </a:pP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此类信息系统受到破坏后，会对国家安全、社会秩序造成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损害</a:t>
            </a:r>
            <a:r>
              <a:rPr lang="en-US" altLang="zh-CN"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a:t>
            </a:r>
            <a:r>
              <a:rPr lang="zh-CN" altLang="en-US"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对</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公共利益造成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严重损害</a:t>
            </a:r>
            <a:r>
              <a:rPr lang="zh-CN" altLang="en-US"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，对公民、法人和其他组织的合法权益造成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特别严重的损害</a:t>
            </a:r>
            <a:r>
              <a:rPr lang="zh-CN" altLang="en-US"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a:t>
            </a:r>
            <a:r>
              <a:rPr lang="zh-CN" altLang="en-US" sz="1600">
                <a:sym typeface="+mn-ea"/>
              </a:rPr>
              <a:t>一般适用于地市级以上国家机关、企业、事业单位内部重要的信息系统，例如涉及工作秘密、商业秘密、敏感信息的办公系统和管理系统</a:t>
            </a:r>
            <a:r>
              <a:rPr lang="zh-CN" altLang="en-US"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a:t>
            </a:r>
            <a:endParaRPr lang="zh-CN" altLang="en-US"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endParaRPr>
          </a:p>
        </p:txBody>
      </p:sp>
      <p:sp>
        <p:nvSpPr>
          <p:cNvPr id="4" name="流程图: 可选过程 3"/>
          <p:cNvSpPr/>
          <p:nvPr/>
        </p:nvSpPr>
        <p:spPr>
          <a:xfrm>
            <a:off x="3216240" y="766545"/>
            <a:ext cx="3332535" cy="407521"/>
          </a:xfrm>
          <a:prstGeom prst="flowChartAlternateProcess">
            <a:avLst/>
          </a:prstGeom>
          <a:solidFill>
            <a:srgbClr val="FFCC66"/>
          </a:solidFill>
          <a:ln w="9525" cap="flat" cmpd="sng" algn="ctr">
            <a:solidFill>
              <a:srgbClr val="000000"/>
            </a:solidFill>
            <a:prstDash val="solid"/>
            <a:round/>
            <a:headEnd type="none" w="med" len="med"/>
            <a:tailEnd type="none" w="med" len="med"/>
          </a:ln>
          <a:effectLst>
            <a:outerShdw dist="17961" dir="13500000" algn="ctr" rotWithShape="0">
              <a:srgbClr val="000000">
                <a:gamma/>
                <a:shade val="60000"/>
                <a:invGamma/>
              </a:srgbClr>
            </a:outerShdw>
          </a:effectLst>
        </p:spPr>
        <p:txBody>
          <a:bodyPr vert="horz" wrap="square" lIns="91406" tIns="45703" rIns="91406" bIns="45703"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rPr>
              <a:t>无需备案，对测评周期无要求</a:t>
            </a:r>
            <a:endPar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p:txBody>
      </p:sp>
      <p:sp>
        <p:nvSpPr>
          <p:cNvPr id="5" name="流程图: 可选过程 4"/>
          <p:cNvSpPr/>
          <p:nvPr/>
        </p:nvSpPr>
        <p:spPr>
          <a:xfrm>
            <a:off x="3216240" y="2566902"/>
            <a:ext cx="3765447" cy="407521"/>
          </a:xfrm>
          <a:prstGeom prst="flowChartAlternateProcess">
            <a:avLst/>
          </a:prstGeom>
          <a:solidFill>
            <a:srgbClr val="FFCC66"/>
          </a:solidFill>
          <a:ln w="9525" cap="flat" cmpd="sng" algn="ctr">
            <a:solidFill>
              <a:srgbClr val="000000"/>
            </a:solidFill>
            <a:prstDash val="solid"/>
            <a:round/>
            <a:headEnd type="none" w="med" len="med"/>
            <a:tailEnd type="none" w="med" len="med"/>
          </a:ln>
          <a:effectLst>
            <a:outerShdw dist="17961" dir="13500000" algn="ctr" rotWithShape="0">
              <a:srgbClr val="000000">
                <a:gamma/>
                <a:shade val="60000"/>
                <a:invGamma/>
              </a:srgbClr>
            </a:outerShdw>
          </a:effectLst>
        </p:spPr>
        <p:txBody>
          <a:bodyPr vert="horz" wrap="square" lIns="91406" tIns="45703" rIns="91406" bIns="45703"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rPr>
              <a:t>公安部门备案，建议两年测评一次</a:t>
            </a:r>
            <a:endPar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p:txBody>
      </p:sp>
      <p:sp>
        <p:nvSpPr>
          <p:cNvPr id="6" name="流程图: 可选过程 5"/>
          <p:cNvSpPr/>
          <p:nvPr/>
        </p:nvSpPr>
        <p:spPr>
          <a:xfrm>
            <a:off x="3171790" y="4753977"/>
            <a:ext cx="3765447" cy="407521"/>
          </a:xfrm>
          <a:prstGeom prst="flowChartAlternateProcess">
            <a:avLst/>
          </a:prstGeom>
          <a:solidFill>
            <a:srgbClr val="FFCC66"/>
          </a:solidFill>
          <a:ln w="9525" cap="flat" cmpd="sng" algn="ctr">
            <a:solidFill>
              <a:srgbClr val="000000"/>
            </a:solidFill>
            <a:prstDash val="solid"/>
            <a:round/>
            <a:headEnd type="none" w="med" len="med"/>
            <a:tailEnd type="none" w="med" len="med"/>
          </a:ln>
          <a:effectLst>
            <a:outerShdw dist="17961" dir="13500000" algn="ctr" rotWithShape="0">
              <a:srgbClr val="000000">
                <a:gamma/>
                <a:shade val="60000"/>
                <a:invGamma/>
              </a:srgbClr>
            </a:outerShdw>
          </a:effectLst>
        </p:spPr>
        <p:txBody>
          <a:bodyPr vert="horz" wrap="square" lIns="91406" tIns="45703" rIns="91406" bIns="45703"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rPr>
              <a:t>公安部门备案，要求每年测评一次</a:t>
            </a:r>
            <a:endPar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标题 89"/>
          <p:cNvSpPr>
            <a:spLocks noGrp="1"/>
          </p:cNvSpPr>
          <p:nvPr>
            <p:ph type="title" idx="4294967295"/>
          </p:nvPr>
        </p:nvSpPr>
        <p:spPr/>
        <p:txBody>
          <a:bodyPr/>
          <a:lstStyle/>
          <a:p>
            <a:r>
              <a:rPr sz="2800" dirty="0"/>
              <a:t>等级保护</a:t>
            </a:r>
            <a:r>
              <a:rPr lang="zh-CN" sz="2800" dirty="0"/>
              <a:t>等级划分</a:t>
            </a:r>
            <a:endParaRPr lang="zh-CN" sz="2800" dirty="0"/>
          </a:p>
        </p:txBody>
      </p:sp>
      <p:sp>
        <p:nvSpPr>
          <p:cNvPr id="4" name="TextBox 2"/>
          <p:cNvSpPr txBox="1"/>
          <p:nvPr/>
        </p:nvSpPr>
        <p:spPr>
          <a:xfrm>
            <a:off x="1007745" y="1115695"/>
            <a:ext cx="9528810" cy="5354320"/>
          </a:xfrm>
          <a:prstGeom prst="rect">
            <a:avLst/>
          </a:prstGeom>
          <a:noFill/>
        </p:spPr>
        <p:txBody>
          <a:bodyPr wrap="square" rtlCol="0">
            <a:spAutoFit/>
          </a:bodyPr>
          <a:lstStyle/>
          <a:p>
            <a:endParaRPr lang="zh-CN" altLang="en-US" sz="2400" b="1" dirty="0">
              <a:solidFill>
                <a:srgbClr val="0070C0"/>
              </a:solidFill>
            </a:endParaRPr>
          </a:p>
          <a:p>
            <a:r>
              <a:rPr lang="zh-CN" altLang="en-US" sz="2400" b="1" dirty="0">
                <a:solidFill>
                  <a:srgbClr val="0070C0"/>
                </a:solidFill>
              </a:rPr>
              <a:t>       </a:t>
            </a:r>
            <a:endParaRPr lang="zh-CN" altLang="en-US" sz="2400" b="1" dirty="0">
              <a:solidFill>
                <a:srgbClr val="0070C0"/>
              </a:solidFill>
            </a:endParaRPr>
          </a:p>
          <a:p>
            <a:pPr marR="0" indent="0" defTabSz="914400">
              <a:lnSpc>
                <a:spcPct val="150000"/>
              </a:lnSpc>
              <a:buClrTx/>
              <a:buSzTx/>
              <a:buFont typeface="Wingdings" panose="05000000000000000000" pitchFamily="2" charset="2"/>
              <a:buNone/>
              <a:defRPr/>
            </a:pPr>
            <a:r>
              <a:rPr lang="zh-CN" altLang="zh-CN" sz="2000" dirty="0">
                <a:solidFill>
                  <a:srgbClr val="FF0000"/>
                </a:solidFill>
                <a:latin typeface="FrutigerNext LT Regular" charset="0"/>
                <a:sym typeface="华文细黑" panose="02010600040101010101" pitchFamily="2" charset="-122"/>
              </a:rPr>
              <a:t>第四级</a:t>
            </a:r>
            <a:r>
              <a:rPr lang="en-US" altLang="zh-CN" sz="2000" dirty="0">
                <a:solidFill>
                  <a:srgbClr val="FF0000"/>
                </a:solidFill>
                <a:latin typeface="FrutigerNext LT Regular" charset="0"/>
                <a:sym typeface="华文细黑" panose="02010600040101010101" pitchFamily="2" charset="-122"/>
              </a:rPr>
              <a:t> </a:t>
            </a:r>
            <a:r>
              <a:rPr lang="zh-CN" altLang="zh-CN" sz="2000" dirty="0">
                <a:solidFill>
                  <a:srgbClr val="FF0000"/>
                </a:solidFill>
                <a:latin typeface="FrutigerNext LT Regular" charset="0"/>
                <a:sym typeface="华文细黑" panose="02010600040101010101" pitchFamily="2" charset="-122"/>
              </a:rPr>
              <a:t>强制保护级：</a:t>
            </a:r>
            <a:endParaRPr lang="zh-CN" altLang="zh-CN" sz="2000" dirty="0">
              <a:solidFill>
                <a:srgbClr val="FF0000"/>
              </a:solidFill>
              <a:latin typeface="FrutigerNext LT Regular" charset="0"/>
              <a:sym typeface="华文细黑" panose="02010600040101010101" pitchFamily="2" charset="-122"/>
            </a:endParaRPr>
          </a:p>
          <a:p>
            <a:pPr marR="0" indent="0" defTabSz="914400">
              <a:lnSpc>
                <a:spcPct val="150000"/>
              </a:lnSpc>
              <a:buClrTx/>
              <a:buSzTx/>
              <a:buFont typeface="Wingdings" panose="05000000000000000000" pitchFamily="2" charset="2"/>
              <a:buNone/>
              <a:defRPr/>
            </a:pP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此类信息系统受到破坏后，会对国家安全造成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严重损害</a:t>
            </a:r>
            <a:r>
              <a:rPr lang="zh-CN" altLang="en-US" sz="2000"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a:t>
            </a:r>
            <a:r>
              <a:rPr lang="zh-CN" altLang="en-US" sz="2000" b="1" noProof="0" dirty="0">
                <a:ln>
                  <a:noFill/>
                </a:ln>
                <a:solidFill>
                  <a:srgbClr val="000000"/>
                </a:solidFill>
                <a:effectLst/>
                <a:uLnTx/>
                <a:uFillTx/>
                <a:latin typeface="FrutigerNext LT Regular" charset="0"/>
                <a:ea typeface="宋体" panose="02010600030101010101" pitchFamily="2" charset="-122"/>
                <a:sym typeface="华文细黑" panose="02010600040101010101" pitchFamily="2" charset="-122"/>
              </a:rPr>
              <a:t>对</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社会秩序、公共利益造成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特别严重损害 </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r>
              <a:rPr lang="zh-CN" altLang="en-US" sz="1600">
                <a:sym typeface="+mn-ea"/>
              </a:rPr>
              <a:t>一般适用于国家重要领域、重要部门中的特别重要系统以及核心系统。例如电力、电信、广电、铁路、民航、银行、税务等重要、部门的生产、调度、指挥等涉及国家安全、国计民生的核心系统</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endParaRPr lang="zh-CN" altLang="zh-CN" sz="2000" dirty="0">
              <a:solidFill>
                <a:srgbClr val="000000"/>
              </a:solidFill>
              <a:latin typeface="FrutigerNext LT Regular" charset="0"/>
            </a:endParaRPr>
          </a:p>
          <a:p>
            <a:pPr marR="0" indent="0" defTabSz="914400">
              <a:lnSpc>
                <a:spcPct val="150000"/>
              </a:lnSpc>
              <a:buClrTx/>
              <a:buSzTx/>
              <a:buFont typeface="Wingdings" panose="05000000000000000000" pitchFamily="2" charset="2"/>
              <a:buNone/>
              <a:defRPr/>
            </a:pPr>
            <a:r>
              <a:rPr lang="zh-CN" altLang="zh-CN" sz="2000" dirty="0">
                <a:solidFill>
                  <a:srgbClr val="FF0000"/>
                </a:solidFill>
                <a:latin typeface="FrutigerNext LT Regular" charset="0"/>
                <a:sym typeface="华文细黑" panose="02010600040101010101" pitchFamily="2" charset="-122"/>
              </a:rPr>
              <a:t>第五级</a:t>
            </a:r>
            <a:r>
              <a:rPr lang="en-US" altLang="zh-CN" sz="2000" dirty="0">
                <a:solidFill>
                  <a:srgbClr val="FF0000"/>
                </a:solidFill>
                <a:latin typeface="FrutigerNext LT Regular" charset="0"/>
                <a:sym typeface="华文细黑" panose="02010600040101010101" pitchFamily="2" charset="-122"/>
              </a:rPr>
              <a:t> </a:t>
            </a:r>
            <a:r>
              <a:rPr lang="zh-CN" altLang="zh-CN" sz="2000" dirty="0">
                <a:solidFill>
                  <a:srgbClr val="FF0000"/>
                </a:solidFill>
                <a:latin typeface="FrutigerNext LT Regular" charset="0"/>
                <a:sym typeface="华文细黑" panose="02010600040101010101" pitchFamily="2" charset="-122"/>
              </a:rPr>
              <a:t>专控保护级：</a:t>
            </a:r>
            <a:endParaRPr lang="zh-CN" altLang="zh-CN" sz="2000" dirty="0">
              <a:solidFill>
                <a:srgbClr val="FF0000"/>
              </a:solidFill>
              <a:latin typeface="FrutigerNext LT Regular" charset="0"/>
              <a:sym typeface="华文细黑" panose="02010600040101010101" pitchFamily="2" charset="-122"/>
            </a:endParaRPr>
          </a:p>
          <a:p>
            <a:pPr marR="0" indent="0" defTabSz="914400">
              <a:lnSpc>
                <a:spcPct val="150000"/>
              </a:lnSpc>
              <a:buClrTx/>
              <a:buSzTx/>
              <a:buFont typeface="Wingdings" panose="05000000000000000000" pitchFamily="2" charset="2"/>
              <a:buNone/>
              <a:defRPr/>
            </a:pP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此类信息系统受到破坏后会对国家安全造成 </a:t>
            </a:r>
            <a:r>
              <a:rPr lang="zh-CN" altLang="en-US" sz="2000" b="1" noProof="0" dirty="0">
                <a:ln>
                  <a:noFill/>
                </a:ln>
                <a:solidFill>
                  <a:srgbClr val="FF0000"/>
                </a:solidFill>
                <a:effectLst/>
                <a:uLnTx/>
                <a:uFillTx/>
                <a:latin typeface="FrutigerNext LT Regular" charset="0"/>
                <a:ea typeface="宋体" panose="02010600030101010101" pitchFamily="2" charset="-122"/>
                <a:sym typeface="华文细黑" panose="02010600040101010101" pitchFamily="2" charset="-122"/>
              </a:rPr>
              <a:t>特别严重损害 </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r>
              <a:rPr lang="zh-CN" altLang="en-US" sz="1600">
                <a:sym typeface="+mn-ea"/>
              </a:rPr>
              <a:t>一般适用于国家重要领域、重要部门中的极端重要系统</a:t>
            </a:r>
            <a:r>
              <a:rPr lang="zh-CN" altLang="en-US" sz="2000" b="1" noProof="0" dirty="0">
                <a:ln>
                  <a:noFill/>
                </a:ln>
                <a:effectLst/>
                <a:uLnTx/>
                <a:uFillTx/>
                <a:latin typeface="FrutigerNext LT Regular" charset="0"/>
                <a:ea typeface="宋体" panose="02010600030101010101" pitchFamily="2" charset="-122"/>
                <a:sym typeface="华文细黑" panose="02010600040101010101" pitchFamily="2" charset="-122"/>
              </a:rPr>
              <a:t>）</a:t>
            </a:r>
            <a:endParaRPr lang="zh-CN" altLang="en-US" sz="2000" b="1">
              <a:solidFill>
                <a:srgbClr val="0070C0"/>
              </a:solidFill>
              <a:latin typeface="仿宋" panose="02010609060101010101" charset="-122"/>
              <a:ea typeface="仿宋" panose="02010609060101010101" charset="-122"/>
            </a:endParaRPr>
          </a:p>
          <a:p>
            <a:pPr marR="0" indent="0" defTabSz="914400">
              <a:lnSpc>
                <a:spcPct val="150000"/>
              </a:lnSpc>
              <a:buClrTx/>
              <a:buSzTx/>
              <a:buFont typeface="Wingdings" panose="05000000000000000000" pitchFamily="2" charset="2"/>
              <a:buNone/>
              <a:defRPr/>
            </a:pPr>
            <a:endParaRPr lang="zh-CN" altLang="zh-CN" sz="2000" dirty="0">
              <a:solidFill>
                <a:srgbClr val="000000"/>
              </a:solidFill>
              <a:latin typeface="FrutigerNext LT Regular" charset="0"/>
            </a:endParaRPr>
          </a:p>
          <a:p>
            <a:pPr marR="0" indent="0" defTabSz="914400">
              <a:lnSpc>
                <a:spcPct val="150000"/>
              </a:lnSpc>
              <a:buClrTx/>
              <a:buSzTx/>
              <a:buFont typeface="Wingdings" panose="05000000000000000000" pitchFamily="2" charset="2"/>
              <a:buNone/>
              <a:defRPr/>
            </a:pPr>
            <a:endParaRPr lang="zh-CN" altLang="zh-CN" sz="2000" b="1" dirty="0">
              <a:solidFill>
                <a:srgbClr val="000000"/>
              </a:solidFill>
              <a:latin typeface="FrutigerNext LT Regular" charset="0"/>
              <a:ea typeface="仿宋" panose="02010609060101010101" charset="-122"/>
            </a:endParaRPr>
          </a:p>
        </p:txBody>
      </p:sp>
      <p:sp>
        <p:nvSpPr>
          <p:cNvPr id="6" name="流程图: 可选过程 5"/>
          <p:cNvSpPr/>
          <p:nvPr/>
        </p:nvSpPr>
        <p:spPr>
          <a:xfrm>
            <a:off x="3479167" y="1988710"/>
            <a:ext cx="3250650" cy="407521"/>
          </a:xfrm>
          <a:prstGeom prst="flowChartAlternateProcess">
            <a:avLst/>
          </a:prstGeom>
          <a:solidFill>
            <a:srgbClr val="FFCC66"/>
          </a:solidFill>
          <a:ln w="9525" cap="flat" cmpd="sng" algn="ctr">
            <a:solidFill>
              <a:srgbClr val="000000"/>
            </a:solidFill>
            <a:prstDash val="solid"/>
            <a:round/>
            <a:headEnd type="none" w="med" len="med"/>
            <a:tailEnd type="none" w="med" len="med"/>
          </a:ln>
          <a:effectLst>
            <a:outerShdw dist="17961" dir="13500000" algn="ctr" rotWithShape="0">
              <a:srgbClr val="000000">
                <a:gamma/>
                <a:shade val="60000"/>
                <a:invGamma/>
              </a:srgbClr>
            </a:outerShdw>
          </a:effectLst>
        </p:spPr>
        <p:txBody>
          <a:bodyPr vert="horz" wrap="square" lIns="91406" tIns="45703" rIns="91406" bIns="45703"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rPr>
              <a:t>公安部门备案，要求半年一次</a:t>
            </a:r>
            <a:endPar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p:txBody>
      </p:sp>
      <p:sp>
        <p:nvSpPr>
          <p:cNvPr id="7" name="流程图: 可选过程 6"/>
          <p:cNvSpPr/>
          <p:nvPr/>
        </p:nvSpPr>
        <p:spPr>
          <a:xfrm>
            <a:off x="3430907" y="4151013"/>
            <a:ext cx="4294209" cy="407521"/>
          </a:xfrm>
          <a:prstGeom prst="flowChartAlternateProcess">
            <a:avLst/>
          </a:prstGeom>
          <a:solidFill>
            <a:srgbClr val="FFCC66"/>
          </a:solidFill>
          <a:ln w="9525" cap="flat" cmpd="sng" algn="ctr">
            <a:solidFill>
              <a:srgbClr val="000000"/>
            </a:solidFill>
            <a:prstDash val="solid"/>
            <a:round/>
            <a:headEnd type="none" w="med" len="med"/>
            <a:tailEnd type="none" w="med" len="med"/>
          </a:ln>
          <a:effectLst>
            <a:outerShdw dist="17961" dir="13500000" algn="ctr" rotWithShape="0">
              <a:srgbClr val="000000">
                <a:gamma/>
                <a:shade val="60000"/>
                <a:invGamma/>
              </a:srgbClr>
            </a:outerShdw>
          </a:effectLst>
        </p:spPr>
        <p:txBody>
          <a:bodyPr vert="horz" wrap="square" lIns="91406" tIns="45703" rIns="91406" bIns="45703"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rPr>
              <a:t>公安部门备案，依据特殊安全需求进行</a:t>
            </a:r>
            <a:endParaRPr kumimoji="0" lang="zh-CN" altLang="zh-CN"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22985" y="1422400"/>
            <a:ext cx="10493375" cy="2676525"/>
          </a:xfrm>
          <a:prstGeom prst="rect">
            <a:avLst/>
          </a:prstGeom>
        </p:spPr>
        <p:txBody>
          <a:bodyPr wrap="square">
            <a:spAutoFit/>
          </a:bodyPr>
          <a:lstStyle/>
          <a:p>
            <a:pPr indent="720090" algn="just" eaLnBrk="1" hangingPunct="1">
              <a:lnSpc>
                <a:spcPct val="150000"/>
              </a:lnSpc>
              <a:defRPr/>
            </a:pPr>
            <a:r>
              <a:rPr lang="zh-CN" altLang="en-US" sz="2800" dirty="0">
                <a:latin typeface="+mn-ea"/>
                <a:ea typeface="+mn-ea"/>
              </a:rPr>
              <a:t>我国</a:t>
            </a:r>
            <a:r>
              <a:rPr lang="zh-CN" altLang="en-US" sz="2800" dirty="0">
                <a:solidFill>
                  <a:srgbClr val="FF0000"/>
                </a:solidFill>
                <a:latin typeface="+mn-ea"/>
                <a:ea typeface="+mn-ea"/>
              </a:rPr>
              <a:t>关键信息基础设施</a:t>
            </a:r>
            <a:r>
              <a:rPr lang="zh-CN" altLang="en-US" sz="2800" dirty="0">
                <a:latin typeface="+mn-ea"/>
                <a:ea typeface="+mn-ea"/>
              </a:rPr>
              <a:t>是指关系国家核心利益、人民群众生命财产安全和社会生产生活秩序，一旦遭到破坏、丧失功能或数据泄露，可能严重危害国家安全、国计民生和公共利益的网络基础设施、重要业务系统和生产控制系统以及重要数据资源。</a:t>
            </a:r>
            <a:endParaRPr lang="zh-CN" altLang="en-US" sz="2800" dirty="0">
              <a:latin typeface="+mn-ea"/>
              <a:ea typeface="+mn-ea"/>
            </a:endParaRPr>
          </a:p>
        </p:txBody>
      </p:sp>
      <p:sp>
        <p:nvSpPr>
          <p:cNvPr id="34819" name="矩形 2"/>
          <p:cNvSpPr>
            <a:spLocks noChangeArrowheads="1"/>
          </p:cNvSpPr>
          <p:nvPr/>
        </p:nvSpPr>
        <p:spPr bwMode="auto">
          <a:xfrm>
            <a:off x="403225" y="358775"/>
            <a:ext cx="679323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l" eaLnBrk="1" hangingPunct="1">
              <a:spcBef>
                <a:spcPct val="0"/>
              </a:spcBef>
              <a:buFontTx/>
              <a:buNone/>
            </a:pPr>
            <a:r>
              <a:rPr lang="zh-CN" altLang="en-US" sz="2800" b="1" dirty="0">
                <a:solidFill>
                  <a:schemeClr val="bg1"/>
                </a:solidFill>
                <a:latin typeface="楷体" panose="02010609060101010101" pitchFamily="49" charset="-122"/>
                <a:ea typeface="楷体" panose="02010609060101010101" pitchFamily="49" charset="-122"/>
              </a:rPr>
              <a:t>关键信息基础设施</a:t>
            </a:r>
            <a:endParaRPr lang="zh-CN" altLang="en-US" sz="2800" b="1" dirty="0">
              <a:solidFill>
                <a:schemeClr val="bg1"/>
              </a:solidFill>
              <a:latin typeface="楷体" panose="02010609060101010101" pitchFamily="49" charset="-122"/>
              <a:ea typeface="楷体" panose="02010609060101010101" pitchFamily="49" charset="-122"/>
            </a:endParaRPr>
          </a:p>
        </p:txBody>
      </p:sp>
      <p:sp>
        <p:nvSpPr>
          <p:cNvPr id="5" name="矩形 4"/>
          <p:cNvSpPr/>
          <p:nvPr/>
        </p:nvSpPr>
        <p:spPr>
          <a:xfrm>
            <a:off x="2351405" y="4144645"/>
            <a:ext cx="7489825" cy="1677035"/>
          </a:xfrm>
          <a:prstGeom prst="rect">
            <a:avLst/>
          </a:prstGeom>
          <a:solidFill>
            <a:schemeClr val="bg2">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lnSpc>
                <a:spcPct val="150000"/>
              </a:lnSpc>
              <a:defRPr/>
            </a:pPr>
            <a:r>
              <a:rPr lang="zh-CN" altLang="en-US" sz="3600" b="1" dirty="0">
                <a:solidFill>
                  <a:srgbClr val="FF0000"/>
                </a:solidFill>
              </a:rPr>
              <a:t>关键信息基础设施的安全保护等级</a:t>
            </a:r>
            <a:endParaRPr lang="en-US" altLang="zh-CN" sz="3600" b="1" dirty="0">
              <a:solidFill>
                <a:srgbClr val="FF0000"/>
              </a:solidFill>
            </a:endParaRPr>
          </a:p>
          <a:p>
            <a:pPr algn="ctr" eaLnBrk="1" hangingPunct="1">
              <a:lnSpc>
                <a:spcPct val="150000"/>
              </a:lnSpc>
              <a:defRPr/>
            </a:pPr>
            <a:r>
              <a:rPr lang="zh-CN" altLang="en-US" sz="3600" b="1" dirty="0">
                <a:solidFill>
                  <a:srgbClr val="FF0000"/>
                </a:solidFill>
              </a:rPr>
              <a:t>不低于三级</a:t>
            </a:r>
            <a:endParaRPr lang="zh-CN" altLang="en-US" sz="3600" b="1" dirty="0">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标题 89"/>
          <p:cNvSpPr>
            <a:spLocks noGrp="1"/>
          </p:cNvSpPr>
          <p:nvPr>
            <p:ph type="title" idx="4294967295"/>
          </p:nvPr>
        </p:nvSpPr>
        <p:spPr>
          <a:xfrm>
            <a:off x="358775" y="666750"/>
            <a:ext cx="8961120" cy="652780"/>
          </a:xfrm>
        </p:spPr>
        <p:txBody>
          <a:bodyPr/>
          <a:lstStyle/>
          <a:p>
            <a:r>
              <a:rPr sz="2800" dirty="0"/>
              <a:t>等级保护政策内容</a:t>
            </a:r>
            <a:endParaRPr sz="2800" dirty="0"/>
          </a:p>
        </p:txBody>
      </p:sp>
      <p:sp>
        <p:nvSpPr>
          <p:cNvPr id="30" name="矩形 29"/>
          <p:cNvSpPr/>
          <p:nvPr/>
        </p:nvSpPr>
        <p:spPr>
          <a:xfrm>
            <a:off x="5815750" y="1128599"/>
            <a:ext cx="5731325" cy="3634740"/>
          </a:xfrm>
          <a:prstGeom prst="rect">
            <a:avLst/>
          </a:prstGeom>
        </p:spPr>
        <p:txBody>
          <a:bodyPr wrap="square">
            <a:spAutoFit/>
          </a:bodyPr>
          <a:lstStyle/>
          <a:p>
            <a:pPr marL="253365" lvl="1" indent="-253365">
              <a:lnSpc>
                <a:spcPct val="160000"/>
              </a:lnSpc>
              <a:buFont typeface="Wingdings" panose="05000000000000000000" pitchFamily="2" charset="2"/>
              <a:buChar char="l"/>
              <a:defRPr/>
            </a:pPr>
            <a:r>
              <a:rPr lang="zh-CN" altLang="en-US" sz="1600" dirty="0">
                <a:ln w="1905"/>
                <a:solidFill>
                  <a:srgbClr val="0070C0"/>
                </a:solidFill>
                <a:latin typeface="微软雅黑" panose="020B0503020204020204" pitchFamily="34" charset="-122"/>
                <a:ea typeface="微软雅黑" panose="020B0503020204020204" pitchFamily="34" charset="-122"/>
                <a:cs typeface="+mn-ea"/>
              </a:rPr>
              <a:t>由测评公司、咨询公司提供预测评服务，根据技术要求与测评要求提出整改意见与方案</a:t>
            </a:r>
            <a:endParaRPr lang="en-US" altLang="zh-CN" sz="1600" dirty="0">
              <a:ln w="1905"/>
              <a:solidFill>
                <a:srgbClr val="0070C0"/>
              </a:solidFill>
              <a:latin typeface="微软雅黑" panose="020B0503020204020204" pitchFamily="34" charset="-122"/>
              <a:ea typeface="微软雅黑" panose="020B0503020204020204" pitchFamily="34" charset="-122"/>
              <a:cs typeface="+mn-ea"/>
            </a:endParaRPr>
          </a:p>
          <a:p>
            <a:pPr marL="253365" lvl="1" indent="-253365">
              <a:lnSpc>
                <a:spcPct val="160000"/>
              </a:lnSpc>
              <a:buFont typeface="Wingdings" panose="05000000000000000000" pitchFamily="2" charset="2"/>
              <a:buChar char="l"/>
              <a:defRPr/>
            </a:pPr>
            <a:r>
              <a:rPr lang="zh-CN" altLang="en-US" sz="1600" dirty="0">
                <a:ln w="1905"/>
                <a:solidFill>
                  <a:srgbClr val="0070C0"/>
                </a:solidFill>
                <a:latin typeface="微软雅黑" panose="020B0503020204020204" pitchFamily="34" charset="-122"/>
                <a:ea typeface="微软雅黑" panose="020B0503020204020204" pitchFamily="34" charset="-122"/>
                <a:cs typeface="+mn-ea"/>
              </a:rPr>
              <a:t>物理安全，由院方根据预测评整改意见进行机房建设与整改</a:t>
            </a:r>
            <a:endParaRPr lang="en-US" altLang="zh-CN" sz="1600" dirty="0">
              <a:ln w="1905"/>
              <a:solidFill>
                <a:srgbClr val="0070C0"/>
              </a:solidFill>
              <a:latin typeface="微软雅黑" panose="020B0503020204020204" pitchFamily="34" charset="-122"/>
              <a:ea typeface="微软雅黑" panose="020B0503020204020204" pitchFamily="34" charset="-122"/>
              <a:cs typeface="+mn-ea"/>
            </a:endParaRPr>
          </a:p>
          <a:p>
            <a:pPr marL="253365" lvl="1" indent="-253365">
              <a:lnSpc>
                <a:spcPct val="160000"/>
              </a:lnSpc>
              <a:buFont typeface="Wingdings" panose="05000000000000000000" pitchFamily="2" charset="2"/>
              <a:buChar char="l"/>
              <a:defRPr/>
            </a:pPr>
            <a:r>
              <a:rPr lang="zh-CN" altLang="en-US" sz="1600" dirty="0">
                <a:ln w="1905"/>
                <a:solidFill>
                  <a:srgbClr val="0070C0"/>
                </a:solidFill>
                <a:latin typeface="微软雅黑" panose="020B0503020204020204" pitchFamily="34" charset="-122"/>
                <a:ea typeface="微软雅黑" panose="020B0503020204020204" pitchFamily="34" charset="-122"/>
                <a:cs typeface="+mn-ea"/>
              </a:rPr>
              <a:t>网络安全，主机安全、应用安全、数据安全，由专业安全厂商根据预测评整改意见提供相关安全产品与部署方案，由集成商实现安全产品部署与现有操作系统、数据库等系统的安全设置。</a:t>
            </a:r>
            <a:endParaRPr lang="en-US" altLang="zh-CN" sz="1600" dirty="0">
              <a:ln w="1905"/>
              <a:solidFill>
                <a:srgbClr val="0070C0"/>
              </a:solidFill>
              <a:latin typeface="微软雅黑" panose="020B0503020204020204" pitchFamily="34" charset="-122"/>
              <a:ea typeface="微软雅黑" panose="020B0503020204020204" pitchFamily="34" charset="-122"/>
              <a:cs typeface="+mn-ea"/>
            </a:endParaRPr>
          </a:p>
          <a:p>
            <a:pPr marL="253365" lvl="1" indent="-253365">
              <a:lnSpc>
                <a:spcPct val="160000"/>
              </a:lnSpc>
              <a:buFont typeface="Wingdings" panose="05000000000000000000" pitchFamily="2" charset="2"/>
              <a:buChar char="l"/>
              <a:defRPr/>
            </a:pPr>
            <a:r>
              <a:rPr lang="zh-CN" altLang="en-US" sz="1600" dirty="0">
                <a:ln w="1905"/>
                <a:solidFill>
                  <a:srgbClr val="0070C0"/>
                </a:solidFill>
                <a:latin typeface="微软雅黑" panose="020B0503020204020204" pitchFamily="34" charset="-122"/>
                <a:ea typeface="微软雅黑" panose="020B0503020204020204" pitchFamily="34" charset="-122"/>
                <a:cs typeface="+mn-ea"/>
              </a:rPr>
              <a:t>管理要求，由院方根据预测评整改意见完善管理方面的建设，其中涉及必要的技术手段由安全厂商提供</a:t>
            </a:r>
            <a:endParaRPr lang="zh-CN" altLang="en-US" sz="1600" dirty="0">
              <a:ln w="1905"/>
              <a:solidFill>
                <a:srgbClr val="0070C0"/>
              </a:solidFill>
              <a:latin typeface="微软雅黑" panose="020B0503020204020204" pitchFamily="34" charset="-122"/>
              <a:ea typeface="微软雅黑" panose="020B0503020204020204" pitchFamily="34" charset="-122"/>
              <a:cs typeface="+mn-ea"/>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80365" y="2708635"/>
            <a:ext cx="5249026" cy="2501103"/>
          </a:xfrm>
          <a:prstGeom prst="rect">
            <a:avLst/>
          </a:prstGeom>
        </p:spPr>
      </p:pic>
      <p:sp>
        <p:nvSpPr>
          <p:cNvPr id="5" name="矩形 4"/>
          <p:cNvSpPr/>
          <p:nvPr/>
        </p:nvSpPr>
        <p:spPr>
          <a:xfrm>
            <a:off x="507670" y="1420751"/>
            <a:ext cx="5398707" cy="829945"/>
          </a:xfrm>
          <a:prstGeom prst="rect">
            <a:avLst/>
          </a:prstGeom>
        </p:spPr>
        <p:txBody>
          <a:bodyPr>
            <a:spAutoFit/>
          </a:bodyPr>
          <a:lstStyle/>
          <a:p>
            <a:pPr marL="285750" indent="-285750">
              <a:buFont typeface="Wingdings" panose="05000000000000000000" pitchFamily="2" charset="2"/>
              <a:buChar char="Ø"/>
            </a:pPr>
            <a:r>
              <a:rPr lang="zh-CN" altLang="en-US" sz="1600" dirty="0">
                <a:solidFill>
                  <a:srgbClr val="0070C0"/>
                </a:solidFill>
                <a:latin typeface="微软雅黑" panose="020B0503020204020204" pitchFamily="34" charset="-122"/>
                <a:ea typeface="微软雅黑" panose="020B0503020204020204" pitchFamily="34" charset="-122"/>
              </a:rPr>
              <a:t>对信息系统中使用的</a:t>
            </a:r>
            <a:r>
              <a:rPr lang="zh-CN" altLang="en-US" sz="1600" dirty="0">
                <a:solidFill>
                  <a:srgbClr val="FF0000"/>
                </a:solidFill>
                <a:latin typeface="微软雅黑" panose="020B0503020204020204" pitchFamily="34" charset="-122"/>
                <a:ea typeface="微软雅黑" panose="020B0503020204020204" pitchFamily="34" charset="-122"/>
              </a:rPr>
              <a:t>信息安全产品</a:t>
            </a:r>
            <a:r>
              <a:rPr lang="zh-CN" altLang="en-US" sz="1600" dirty="0">
                <a:solidFill>
                  <a:srgbClr val="0070C0"/>
                </a:solidFill>
                <a:latin typeface="微软雅黑" panose="020B0503020204020204" pitchFamily="34" charset="-122"/>
                <a:ea typeface="微软雅黑" panose="020B0503020204020204" pitchFamily="34" charset="-122"/>
              </a:rPr>
              <a:t>实行按</a:t>
            </a:r>
            <a:r>
              <a:rPr lang="zh-CN" altLang="en-US" sz="1600" dirty="0">
                <a:solidFill>
                  <a:srgbClr val="0070C0"/>
                </a:solidFill>
                <a:latin typeface="微软雅黑" panose="020B0503020204020204" pitchFamily="34" charset="-122"/>
                <a:ea typeface="微软雅黑" panose="020B0503020204020204" pitchFamily="34" charset="-122"/>
              </a:rPr>
              <a:t>等级管理</a:t>
            </a:r>
            <a:endParaRPr lang="zh-CN" altLang="en-US" sz="1600" dirty="0">
              <a:solidFill>
                <a:srgbClr val="FF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endParaRPr lang="en-US" altLang="zh-CN" sz="1600" dirty="0">
              <a:solidFill>
                <a:srgbClr val="FF0000"/>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sz="1600" dirty="0">
                <a:solidFill>
                  <a:srgbClr val="0070C0"/>
                </a:solidFill>
                <a:latin typeface="微软雅黑" panose="020B0503020204020204" pitchFamily="34" charset="-122"/>
                <a:ea typeface="微软雅黑" panose="020B0503020204020204" pitchFamily="34" charset="-122"/>
              </a:rPr>
              <a:t>对信息系统中发生的</a:t>
            </a:r>
            <a:r>
              <a:rPr lang="zh-CN" altLang="en-US" sz="1600" dirty="0">
                <a:solidFill>
                  <a:srgbClr val="FF0000"/>
                </a:solidFill>
                <a:latin typeface="微软雅黑" panose="020B0503020204020204" pitchFamily="34" charset="-122"/>
                <a:ea typeface="微软雅黑" panose="020B0503020204020204" pitchFamily="34" charset="-122"/>
              </a:rPr>
              <a:t>信息安全事件</a:t>
            </a:r>
            <a:r>
              <a:rPr lang="zh-CN" altLang="en-US" sz="1600" dirty="0">
                <a:solidFill>
                  <a:srgbClr val="0070C0"/>
                </a:solidFill>
                <a:latin typeface="微软雅黑" panose="020B0503020204020204" pitchFamily="34" charset="-122"/>
                <a:ea typeface="微软雅黑" panose="020B0503020204020204" pitchFamily="34" charset="-122"/>
              </a:rPr>
              <a:t>分等级响应、处置</a:t>
            </a:r>
            <a:endParaRPr lang="zh-CN" altLang="en-US" sz="1600" dirty="0">
              <a:solidFill>
                <a:schemeClr val="tx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5815750" y="1128599"/>
            <a:ext cx="6293730" cy="3741961"/>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49464" y="2689288"/>
            <a:ext cx="3233171" cy="2021497"/>
            <a:chOff x="1055440" y="2906252"/>
            <a:chExt cx="2290660" cy="1432205"/>
          </a:xfrm>
        </p:grpSpPr>
        <p:grpSp>
          <p:nvGrpSpPr>
            <p:cNvPr id="72" name="组合 71"/>
            <p:cNvGrpSpPr/>
            <p:nvPr/>
          </p:nvGrpSpPr>
          <p:grpSpPr>
            <a:xfrm>
              <a:off x="1582579" y="3060862"/>
              <a:ext cx="1277595" cy="1277595"/>
              <a:chOff x="1677608" y="2996952"/>
              <a:chExt cx="1395643" cy="1395643"/>
            </a:xfrm>
          </p:grpSpPr>
          <p:sp>
            <p:nvSpPr>
              <p:cNvPr id="73"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74" name="Oval 29"/>
              <p:cNvSpPr>
                <a:spLocks noChangeAspect="1"/>
              </p:cNvSpPr>
              <p:nvPr/>
            </p:nvSpPr>
            <p:spPr>
              <a:xfrm>
                <a:off x="1850114" y="3169458"/>
                <a:ext cx="1050630" cy="1050630"/>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75" name="标题 4"/>
            <p:cNvSpPr txBox="1"/>
            <p:nvPr/>
          </p:nvSpPr>
          <p:spPr>
            <a:xfrm>
              <a:off x="1816436" y="3553975"/>
              <a:ext cx="809879" cy="27651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主要内容</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2626315" y="2906252"/>
              <a:ext cx="311401" cy="307477"/>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7" name="椭圆 76"/>
            <p:cNvSpPr/>
            <p:nvPr/>
          </p:nvSpPr>
          <p:spPr>
            <a:xfrm>
              <a:off x="2995116" y="3309437"/>
              <a:ext cx="350984" cy="390219"/>
            </a:xfrm>
            <a:prstGeom prst="ellipse">
              <a:avLst/>
            </a:prstGeom>
            <a:solidFill>
              <a:schemeClr val="tx2">
                <a:lumMod val="60000"/>
                <a:lumOff val="4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8" name="椭圆 77"/>
            <p:cNvSpPr/>
            <p:nvPr/>
          </p:nvSpPr>
          <p:spPr>
            <a:xfrm>
              <a:off x="1055440" y="3509963"/>
              <a:ext cx="379388" cy="379388"/>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9" name="椭圆 78"/>
            <p:cNvSpPr/>
            <p:nvPr/>
          </p:nvSpPr>
          <p:spPr>
            <a:xfrm>
              <a:off x="1361104" y="3889351"/>
              <a:ext cx="221474" cy="221474"/>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0" name="椭圆 79"/>
            <p:cNvSpPr/>
            <p:nvPr/>
          </p:nvSpPr>
          <p:spPr>
            <a:xfrm>
              <a:off x="1445957" y="3334077"/>
              <a:ext cx="130332" cy="130332"/>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92" name="圆角矩形 191"/>
          <p:cNvSpPr/>
          <p:nvPr/>
        </p:nvSpPr>
        <p:spPr>
          <a:xfrm>
            <a:off x="5591944" y="3452264"/>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193" name="组合 192"/>
          <p:cNvGrpSpPr/>
          <p:nvPr/>
        </p:nvGrpSpPr>
        <p:grpSpPr>
          <a:xfrm>
            <a:off x="4439816" y="3380256"/>
            <a:ext cx="834872" cy="768824"/>
            <a:chOff x="1677608" y="2996952"/>
            <a:chExt cx="1395643" cy="1395643"/>
          </a:xfrm>
        </p:grpSpPr>
        <p:sp>
          <p:nvSpPr>
            <p:cNvPr id="194"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195"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196" name="文本框 9"/>
          <p:cNvSpPr txBox="1"/>
          <p:nvPr/>
        </p:nvSpPr>
        <p:spPr>
          <a:xfrm>
            <a:off x="5746178" y="3541347"/>
            <a:ext cx="2063479" cy="419735"/>
          </a:xfrm>
          <a:prstGeom prst="rect">
            <a:avLst/>
          </a:prstGeom>
          <a:noFill/>
        </p:spPr>
        <p:txBody>
          <a:bodyPr wrap="square" lIns="51422" tIns="25711" rIns="51422" bIns="25711" rtlCol="0">
            <a:spAutoFit/>
          </a:bodyPr>
          <a:lstStyle/>
          <a:p>
            <a:pPr marL="0" lvl="1" algn="ctr"/>
            <a:r>
              <a:rPr lang="zh-CN" altLang="en-US" sz="2400" b="1" dirty="0">
                <a:solidFill>
                  <a:srgbClr val="1C76CE"/>
                </a:solidFill>
                <a:latin typeface="微软雅黑" panose="020B0503020204020204" pitchFamily="34" charset="-122"/>
                <a:ea typeface="微软雅黑" panose="020B0503020204020204" pitchFamily="34" charset="-122"/>
              </a:rPr>
              <a:t>怎么做等保</a:t>
            </a:r>
            <a:endParaRPr lang="zh-CN" altLang="en-US" sz="2400" b="1" dirty="0">
              <a:solidFill>
                <a:srgbClr val="1C76CE"/>
              </a:solidFill>
              <a:latin typeface="微软雅黑" panose="020B0503020204020204" pitchFamily="34" charset="-122"/>
              <a:ea typeface="微软雅黑" panose="020B0503020204020204" pitchFamily="34" charset="-122"/>
            </a:endParaRPr>
          </a:p>
        </p:txBody>
      </p:sp>
      <p:sp>
        <p:nvSpPr>
          <p:cNvPr id="199" name="圆角矩形 198"/>
          <p:cNvSpPr/>
          <p:nvPr/>
        </p:nvSpPr>
        <p:spPr>
          <a:xfrm>
            <a:off x="5572606" y="2492896"/>
            <a:ext cx="2381066" cy="569078"/>
          </a:xfrm>
          <a:prstGeom prst="roundRect">
            <a:avLst>
              <a:gd name="adj" fmla="val 50000"/>
            </a:avLst>
          </a:prstGeom>
          <a:solidFill>
            <a:srgbClr val="C00000"/>
          </a:soli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0" name="组合 199"/>
          <p:cNvGrpSpPr/>
          <p:nvPr/>
        </p:nvGrpSpPr>
        <p:grpSpPr>
          <a:xfrm>
            <a:off x="4469041" y="1364032"/>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
        <p:nvSpPr>
          <p:cNvPr id="206" name="圆角矩形 205"/>
          <p:cNvSpPr/>
          <p:nvPr/>
        </p:nvSpPr>
        <p:spPr>
          <a:xfrm>
            <a:off x="5591943" y="1464517"/>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7" name="组合 206"/>
          <p:cNvGrpSpPr/>
          <p:nvPr/>
        </p:nvGrpSpPr>
        <p:grpSpPr>
          <a:xfrm>
            <a:off x="4439816" y="2372144"/>
            <a:ext cx="834871" cy="768824"/>
            <a:chOff x="1677608" y="2996952"/>
            <a:chExt cx="1395643" cy="1395643"/>
          </a:xfrm>
        </p:grpSpPr>
        <p:sp>
          <p:nvSpPr>
            <p:cNvPr id="208"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209" name="Oval 29"/>
            <p:cNvSpPr>
              <a:spLocks noChangeAspect="1"/>
            </p:cNvSpPr>
            <p:nvPr/>
          </p:nvSpPr>
          <p:spPr>
            <a:xfrm>
              <a:off x="1918358" y="3216153"/>
              <a:ext cx="910867" cy="910866"/>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10" name="文本框 9"/>
          <p:cNvSpPr txBox="1"/>
          <p:nvPr/>
        </p:nvSpPr>
        <p:spPr>
          <a:xfrm>
            <a:off x="5659392" y="2573413"/>
            <a:ext cx="2207494" cy="419735"/>
          </a:xfrm>
          <a:prstGeom prst="rect">
            <a:avLst/>
          </a:prstGeom>
          <a:noFill/>
        </p:spPr>
        <p:txBody>
          <a:bodyPr wrap="square" lIns="51422" tIns="25711" rIns="51422" bIns="25711" rtlCol="0">
            <a:spAutoFit/>
          </a:bodyPr>
          <a:lstStyle/>
          <a:p>
            <a:pPr marL="0" lvl="1" algn="ctr"/>
            <a:r>
              <a:rPr lang="zh-CN" altLang="en-US" sz="2400" b="1" dirty="0">
                <a:solidFill>
                  <a:schemeClr val="bg1"/>
                </a:solidFill>
                <a:latin typeface="微软雅黑" panose="020B0503020204020204" pitchFamily="34" charset="-122"/>
                <a:ea typeface="微软雅黑" panose="020B0503020204020204" pitchFamily="34" charset="-122"/>
              </a:rPr>
              <a:t>等保必要性</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26" name="TextBox 225"/>
          <p:cNvSpPr txBox="1"/>
          <p:nvPr/>
        </p:nvSpPr>
        <p:spPr>
          <a:xfrm>
            <a:off x="13181169" y="6986517"/>
            <a:ext cx="704039" cy="300082"/>
          </a:xfrm>
          <a:prstGeom prst="rect">
            <a:avLst/>
          </a:prstGeom>
          <a:noFill/>
        </p:spPr>
        <p:txBody>
          <a:bodyPr wrap="none" rtlCol="0">
            <a:spAutoFit/>
          </a:bodyPr>
          <a:lstStyle/>
          <a:p>
            <a:r>
              <a:rPr lang="zh-CN" altLang="en-US" sz="1350" dirty="0"/>
              <a:t>延时符</a:t>
            </a:r>
            <a:endParaRPr lang="zh-CN" altLang="en-US" sz="1350" dirty="0"/>
          </a:p>
        </p:txBody>
      </p:sp>
      <p:sp>
        <p:nvSpPr>
          <p:cNvPr id="2" name="矩形 1"/>
          <p:cNvSpPr/>
          <p:nvPr/>
        </p:nvSpPr>
        <p:spPr>
          <a:xfrm>
            <a:off x="5939012" y="1539683"/>
            <a:ext cx="1706880" cy="460375"/>
          </a:xfrm>
          <a:prstGeom prst="rect">
            <a:avLst/>
          </a:prstGeom>
        </p:spPr>
        <p:txBody>
          <a:bodyPr wrap="none">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什么是等保</a:t>
            </a:r>
            <a:endParaRPr lang="zh-CN" altLang="en-US" sz="2400" b="1" dirty="0">
              <a:solidFill>
                <a:srgbClr val="257FD9"/>
              </a:solidFill>
              <a:latin typeface="微软雅黑" panose="020B0503020204020204" pitchFamily="34" charset="-122"/>
              <a:ea typeface="微软雅黑" panose="020B0503020204020204" pitchFamily="34" charset="-122"/>
            </a:endParaRPr>
          </a:p>
        </p:txBody>
      </p:sp>
      <p:sp>
        <p:nvSpPr>
          <p:cNvPr id="34" name="圆角矩形 191"/>
          <p:cNvSpPr/>
          <p:nvPr/>
        </p:nvSpPr>
        <p:spPr>
          <a:xfrm>
            <a:off x="5585190" y="4365104"/>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sp>
        <p:nvSpPr>
          <p:cNvPr id="35" name="KSO_Shape"/>
          <p:cNvSpPr/>
          <p:nvPr/>
        </p:nvSpPr>
        <p:spPr bwMode="auto">
          <a:xfrm>
            <a:off x="4660464" y="4446732"/>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grpSp>
        <p:nvGrpSpPr>
          <p:cNvPr id="36" name="组合 35"/>
          <p:cNvGrpSpPr/>
          <p:nvPr/>
        </p:nvGrpSpPr>
        <p:grpSpPr>
          <a:xfrm>
            <a:off x="4429906" y="4293096"/>
            <a:ext cx="834872" cy="768824"/>
            <a:chOff x="1677608" y="2996952"/>
            <a:chExt cx="1395643" cy="1395643"/>
          </a:xfrm>
        </p:grpSpPr>
        <p:sp>
          <p:nvSpPr>
            <p:cNvPr id="37"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44"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45" name="文本框 9"/>
          <p:cNvSpPr txBox="1"/>
          <p:nvPr/>
        </p:nvSpPr>
        <p:spPr>
          <a:xfrm>
            <a:off x="5736268" y="4439328"/>
            <a:ext cx="2063479" cy="421256"/>
          </a:xfrm>
          <a:prstGeom prst="rect">
            <a:avLst/>
          </a:prstGeom>
          <a:noFill/>
        </p:spPr>
        <p:txBody>
          <a:bodyPr wrap="square" lIns="51422" tIns="25711" rIns="51422" bIns="25711" rtlCol="0">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解决方案</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46" name="KSO_Shape"/>
          <p:cNvSpPr/>
          <p:nvPr/>
        </p:nvSpPr>
        <p:spPr bwMode="auto">
          <a:xfrm>
            <a:off x="4645929" y="5431580"/>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9"/>
          <p:cNvSpPr txBox="1"/>
          <p:nvPr/>
        </p:nvSpPr>
        <p:spPr>
          <a:xfrm>
            <a:off x="1607670" y="2390715"/>
            <a:ext cx="9240857" cy="2584450"/>
          </a:xfrm>
          <a:prstGeom prst="rect">
            <a:avLst/>
          </a:prstGeom>
          <a:noFill/>
        </p:spPr>
        <p:txBody>
          <a:bodyPr wrap="square" rtlCol="0">
            <a:spAutoFit/>
          </a:bodyPr>
          <a:lstStyle/>
          <a:p>
            <a:pPr>
              <a:lnSpc>
                <a:spcPct val="150000"/>
              </a:lnSpc>
            </a:pPr>
            <a:r>
              <a:rPr lang="en-US" altLang="zh-CN" b="1" dirty="0"/>
              <a:t>    </a:t>
            </a:r>
            <a:r>
              <a:rPr lang="zh-CN" altLang="en-US" b="1" dirty="0"/>
              <a:t>开展等保的</a:t>
            </a:r>
            <a:r>
              <a:rPr lang="zh-CN" altLang="en-US" b="1" dirty="0">
                <a:solidFill>
                  <a:srgbClr val="FF0000"/>
                </a:solidFill>
              </a:rPr>
              <a:t>最重要原因</a:t>
            </a:r>
            <a:r>
              <a:rPr lang="zh-CN" altLang="en-US" b="1" dirty="0"/>
              <a:t>是为了通过等级保护测评工作，发现单位系统内、外部存在的安全风险和脆弱性，通过整改之后，提高信息系统的信息安全防护能力，降低系统被各种攻击的风险。</a:t>
            </a:r>
            <a:endParaRPr lang="zh-CN" altLang="en-US" b="1" dirty="0"/>
          </a:p>
          <a:p>
            <a:pPr>
              <a:lnSpc>
                <a:spcPct val="150000"/>
              </a:lnSpc>
            </a:pPr>
            <a:r>
              <a:rPr lang="zh-CN" altLang="en-US" b="1" dirty="0"/>
              <a:t>    梳理出了不同等级的系统后，我们就要对不同系统进行不同等级的安全防护建设，保证重要的信息系统在有攻击的情况下</a:t>
            </a:r>
            <a:r>
              <a:rPr lang="zh-CN" altLang="en-US" b="1" dirty="0">
                <a:solidFill>
                  <a:srgbClr val="FF0000"/>
                </a:solidFill>
              </a:rPr>
              <a:t>能够很好地抵御攻击或者被攻击后</a:t>
            </a:r>
            <a:r>
              <a:rPr lang="zh-CN" altLang="en-US" b="1" dirty="0"/>
              <a:t>能够快速的恢复应用，不造成重大损失或影响。</a:t>
            </a:r>
            <a:endParaRPr lang="zh-CN" altLang="en-US" b="1" dirty="0"/>
          </a:p>
        </p:txBody>
      </p:sp>
      <p:sp>
        <p:nvSpPr>
          <p:cNvPr id="10" name="矩形 9"/>
          <p:cNvSpPr/>
          <p:nvPr/>
        </p:nvSpPr>
        <p:spPr>
          <a:xfrm>
            <a:off x="1703512" y="1340192"/>
            <a:ext cx="9145016" cy="368300"/>
          </a:xfrm>
          <a:prstGeom prst="rect">
            <a:avLst/>
          </a:prstGeom>
        </p:spPr>
        <p:txBody>
          <a:bodyPr wrap="square">
            <a:spAutoFit/>
          </a:bodyPr>
          <a:lstStyle/>
          <a:p>
            <a:r>
              <a:rPr b="1" dirty="0">
                <a:latin typeface="宋体" panose="02010600030101010101" pitchFamily="2" charset="-122"/>
              </a:rPr>
              <a:t>降低信息安全风险，提高信息系统的安全防护能力；</a:t>
            </a:r>
            <a:endParaRPr b="1" dirty="0">
              <a:latin typeface="宋体" panose="02010600030101010101" pitchFamily="2" charset="-122"/>
            </a:endParaRPr>
          </a:p>
        </p:txBody>
      </p:sp>
      <p:grpSp>
        <p:nvGrpSpPr>
          <p:cNvPr id="200" name="组合 199"/>
          <p:cNvGrpSpPr/>
          <p:nvPr/>
        </p:nvGrpSpPr>
        <p:grpSpPr>
          <a:xfrm>
            <a:off x="809536" y="1197511"/>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
        <p:nvSpPr>
          <p:cNvPr id="47" name="KSO_Shape"/>
          <p:cNvSpPr/>
          <p:nvPr/>
        </p:nvSpPr>
        <p:spPr bwMode="auto">
          <a:xfrm>
            <a:off x="4645929" y="5001303"/>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9"/>
          <p:cNvSpPr txBox="1"/>
          <p:nvPr/>
        </p:nvSpPr>
        <p:spPr>
          <a:xfrm>
            <a:off x="910590" y="2032000"/>
            <a:ext cx="10477500" cy="3830955"/>
          </a:xfrm>
          <a:prstGeom prst="rect">
            <a:avLst/>
          </a:prstGeom>
          <a:noFill/>
        </p:spPr>
        <p:txBody>
          <a:bodyPr wrap="square" rtlCol="0">
            <a:spAutoFit/>
          </a:bodyPr>
          <a:lstStyle/>
          <a:p>
            <a:pPr>
              <a:lnSpc>
                <a:spcPct val="150000"/>
              </a:lnSpc>
            </a:pPr>
            <a:r>
              <a:rPr lang="zh-CN" altLang="en-US" b="1" dirty="0"/>
              <a:t>等级保护是我国关于信息安全的基本政策</a:t>
            </a:r>
            <a:endParaRPr lang="zh-CN" altLang="en-US" b="1" dirty="0"/>
          </a:p>
          <a:p>
            <a:pPr>
              <a:lnSpc>
                <a:spcPct val="150000"/>
              </a:lnSpc>
            </a:pPr>
            <a:r>
              <a:rPr lang="zh-CN" altLang="en-US" b="1" dirty="0"/>
              <a:t>2007年6月发布的关于印发《信息安全等级保护管理办法》的通知（公通字[2007]43 号）规定了实施信息安全等级保护制度的原则、内容、职责分工、基本要求和实施计划，部署了实施信息安全等级保护工作的操作办法。</a:t>
            </a:r>
            <a:endParaRPr lang="zh-CN" altLang="en-US" b="1" dirty="0"/>
          </a:p>
          <a:p>
            <a:pPr>
              <a:lnSpc>
                <a:spcPct val="150000"/>
              </a:lnSpc>
            </a:pPr>
            <a:r>
              <a:rPr lang="zh-CN" altLang="en-US" b="1" dirty="0"/>
              <a:t>2016年11月7日第十二届全国人民代表大会常务委员会第二十四次会议通过《中华人民共和国网络安全法》，网络安全法第二十一条明确规定：国家实行网络安全等级保护制度。网络运营者应当按照网络安全等级保护制度的要求，履行下列安全保护义务，保障网络免受干扰、破坏或者未经授权的访问，防止网络数据泄露或者被窃取、篡改。</a:t>
            </a:r>
            <a:endParaRPr lang="zh-CN" altLang="en-US" b="1" dirty="0"/>
          </a:p>
          <a:p>
            <a:pPr>
              <a:lnSpc>
                <a:spcPct val="150000"/>
              </a:lnSpc>
            </a:pPr>
            <a:r>
              <a:rPr lang="zh-CN" altLang="en-US" b="1" dirty="0">
                <a:solidFill>
                  <a:srgbClr val="FF0000"/>
                </a:solidFill>
              </a:rPr>
              <a:t>简单总结下就是国家法律法规、相关政策制度要求我们去开展等级保护工作，不做就不合规，就违法。</a:t>
            </a:r>
            <a:endParaRPr lang="zh-CN" altLang="en-US" b="1" dirty="0">
              <a:solidFill>
                <a:srgbClr val="FF0000"/>
              </a:solidFill>
            </a:endParaRPr>
          </a:p>
        </p:txBody>
      </p:sp>
      <p:sp>
        <p:nvSpPr>
          <p:cNvPr id="10" name="矩形 9"/>
          <p:cNvSpPr/>
          <p:nvPr/>
        </p:nvSpPr>
        <p:spPr>
          <a:xfrm>
            <a:off x="1703512" y="1292567"/>
            <a:ext cx="9145016" cy="368300"/>
          </a:xfrm>
          <a:prstGeom prst="rect">
            <a:avLst/>
          </a:prstGeom>
        </p:spPr>
        <p:txBody>
          <a:bodyPr wrap="square">
            <a:spAutoFit/>
          </a:bodyPr>
          <a:lstStyle/>
          <a:p>
            <a:r>
              <a:rPr b="1" dirty="0">
                <a:latin typeface="宋体" panose="02010600030101010101" pitchFamily="2" charset="-122"/>
              </a:rPr>
              <a:t>满足国家相关法律法规和制度的要求；</a:t>
            </a:r>
            <a:endParaRPr b="1" dirty="0">
              <a:latin typeface="宋体" panose="02010600030101010101" pitchFamily="2" charset="-122"/>
            </a:endParaRPr>
          </a:p>
        </p:txBody>
      </p:sp>
      <p:grpSp>
        <p:nvGrpSpPr>
          <p:cNvPr id="2" name="组合 1"/>
          <p:cNvGrpSpPr/>
          <p:nvPr/>
        </p:nvGrpSpPr>
        <p:grpSpPr>
          <a:xfrm>
            <a:off x="793026" y="1037491"/>
            <a:ext cx="834871" cy="812968"/>
            <a:chOff x="1677608" y="2996952"/>
            <a:chExt cx="1395643" cy="1395643"/>
          </a:xfrm>
        </p:grpSpPr>
        <p:sp>
          <p:nvSpPr>
            <p:cNvPr id="6"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7"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9"/>
          <p:cNvSpPr txBox="1"/>
          <p:nvPr/>
        </p:nvSpPr>
        <p:spPr>
          <a:xfrm>
            <a:off x="1607670" y="2031940"/>
            <a:ext cx="9240857" cy="2584450"/>
          </a:xfrm>
          <a:prstGeom prst="rect">
            <a:avLst/>
          </a:prstGeom>
          <a:noFill/>
        </p:spPr>
        <p:txBody>
          <a:bodyPr wrap="square" rtlCol="0">
            <a:spAutoFit/>
          </a:bodyPr>
          <a:lstStyle/>
          <a:p>
            <a:pPr>
              <a:lnSpc>
                <a:spcPct val="150000"/>
              </a:lnSpc>
            </a:pPr>
            <a:r>
              <a:rPr lang="en-US" altLang="zh-CN" b="1" dirty="0"/>
              <a:t>    </a:t>
            </a:r>
            <a:r>
              <a:rPr lang="zh-CN" altLang="en-US" b="1" dirty="0"/>
              <a:t>很多行业主管单位要求行业客户开展等级保护工作，目前已经下发行业要求文件的有：金融、电力、广电、医疗、教育等行业，还有一些主管单位发过相关文件或通知要求去做。      另外信息安全主管单位要求我们去开展等级保护工作，主要有：公安、网信办、经信委、通管局等行业主管单位。 </a:t>
            </a:r>
            <a:endParaRPr lang="zh-CN" altLang="en-US" b="1" dirty="0"/>
          </a:p>
          <a:p>
            <a:pPr>
              <a:lnSpc>
                <a:spcPct val="150000"/>
              </a:lnSpc>
            </a:pPr>
            <a:endParaRPr lang="zh-CN" altLang="en-US" b="1" dirty="0"/>
          </a:p>
          <a:p>
            <a:pPr>
              <a:lnSpc>
                <a:spcPct val="150000"/>
              </a:lnSpc>
            </a:pPr>
            <a:r>
              <a:rPr lang="zh-CN" altLang="en-US" b="1" dirty="0">
                <a:solidFill>
                  <a:srgbClr val="FF0000"/>
                </a:solidFill>
              </a:rPr>
              <a:t>所以不做等保的话，没法向相关主管单位和行业领导们交待。</a:t>
            </a:r>
            <a:endParaRPr lang="zh-CN" altLang="en-US" b="1" dirty="0">
              <a:solidFill>
                <a:srgbClr val="FF0000"/>
              </a:solidFill>
            </a:endParaRPr>
          </a:p>
        </p:txBody>
      </p:sp>
      <p:sp>
        <p:nvSpPr>
          <p:cNvPr id="10" name="矩形 9"/>
          <p:cNvSpPr/>
          <p:nvPr/>
        </p:nvSpPr>
        <p:spPr>
          <a:xfrm>
            <a:off x="1703512" y="1292567"/>
            <a:ext cx="9145016" cy="368300"/>
          </a:xfrm>
          <a:prstGeom prst="rect">
            <a:avLst/>
          </a:prstGeom>
        </p:spPr>
        <p:txBody>
          <a:bodyPr wrap="square">
            <a:spAutoFit/>
          </a:bodyPr>
          <a:lstStyle/>
          <a:p>
            <a:r>
              <a:rPr b="1" dirty="0">
                <a:latin typeface="宋体" panose="02010600030101010101" pitchFamily="2" charset="-122"/>
              </a:rPr>
              <a:t>满足相关主管单位和行业要求；</a:t>
            </a:r>
            <a:endParaRPr b="1" dirty="0">
              <a:latin typeface="宋体" panose="02010600030101010101" pitchFamily="2" charset="-122"/>
            </a:endParaRPr>
          </a:p>
        </p:txBody>
      </p:sp>
      <p:grpSp>
        <p:nvGrpSpPr>
          <p:cNvPr id="200" name="组合 199"/>
          <p:cNvGrpSpPr/>
          <p:nvPr/>
        </p:nvGrpSpPr>
        <p:grpSpPr>
          <a:xfrm>
            <a:off x="737781" y="1054001"/>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19"/>
          <p:cNvSpPr txBox="1"/>
          <p:nvPr/>
        </p:nvSpPr>
        <p:spPr>
          <a:xfrm>
            <a:off x="1059180" y="2032000"/>
            <a:ext cx="10444480" cy="3830955"/>
          </a:xfrm>
          <a:prstGeom prst="rect">
            <a:avLst/>
          </a:prstGeom>
          <a:noFill/>
        </p:spPr>
        <p:txBody>
          <a:bodyPr wrap="square" rtlCol="0">
            <a:spAutoFit/>
          </a:bodyPr>
          <a:lstStyle/>
          <a:p>
            <a:pPr>
              <a:lnSpc>
                <a:spcPct val="150000"/>
              </a:lnSpc>
            </a:pPr>
            <a:r>
              <a:rPr lang="en-US" altLang="zh-CN" b="1" dirty="0"/>
              <a:t>      </a:t>
            </a:r>
            <a:r>
              <a:rPr lang="zh-CN" altLang="en-US" b="1" dirty="0"/>
              <a:t>每年都会出现一些的信息安全事件，一旦发生比较大的安全事件，主管单位就要去现场调查，首先就会看我们到底有没开展等级保护工作，那么如果你没有，最直接的一个结论就是你的信息安全工作没有开展好，没有开展到位，国家最基本的信息安全等级保护工作都没做，你说你买了很多防火墙，很多安全设备，都不如你实实在在拿出备案证明，拿出测评报告说服力强。</a:t>
            </a:r>
            <a:endParaRPr lang="zh-CN" altLang="en-US" b="1" dirty="0"/>
          </a:p>
          <a:p>
            <a:pPr>
              <a:lnSpc>
                <a:spcPct val="150000"/>
              </a:lnSpc>
            </a:pPr>
            <a:r>
              <a:rPr lang="zh-CN" altLang="en-US" b="1" dirty="0"/>
              <a:t>      出了问题难免就会被通报批评，被勒令下线整改，那么开展了等级保护工作和没有开展等级保护工作被通报的内容就显然不同了。最简单的例子：一个主观上重视安全工作但是因为技术还不够好而被攻击造成破坏和一个主观上都不重视安全工作被攻击造成破坏的情况，孰轻孰重，一目了然。怎么叫主观上重视呢？等保工作有没有开展就是衡量的一个重要标准，因为等级保护是国家基本信息安全制度要求。</a:t>
            </a:r>
            <a:endParaRPr lang="zh-CN" altLang="en-US" b="1" dirty="0"/>
          </a:p>
        </p:txBody>
      </p:sp>
      <p:sp>
        <p:nvSpPr>
          <p:cNvPr id="10" name="矩形 9"/>
          <p:cNvSpPr/>
          <p:nvPr/>
        </p:nvSpPr>
        <p:spPr>
          <a:xfrm>
            <a:off x="1703512" y="1340192"/>
            <a:ext cx="9145016" cy="368300"/>
          </a:xfrm>
          <a:prstGeom prst="rect">
            <a:avLst/>
          </a:prstGeom>
        </p:spPr>
        <p:txBody>
          <a:bodyPr wrap="square">
            <a:spAutoFit/>
          </a:bodyPr>
          <a:lstStyle/>
          <a:p>
            <a:r>
              <a:rPr b="1" dirty="0">
                <a:latin typeface="宋体" panose="02010600030101010101" pitchFamily="2" charset="-122"/>
              </a:rPr>
              <a:t>四、合理地规避或降低风险。</a:t>
            </a:r>
            <a:endParaRPr b="1" dirty="0">
              <a:latin typeface="宋体" panose="02010600030101010101" pitchFamily="2" charset="-122"/>
            </a:endParaRPr>
          </a:p>
        </p:txBody>
      </p:sp>
      <p:grpSp>
        <p:nvGrpSpPr>
          <p:cNvPr id="200" name="组合 199"/>
          <p:cNvGrpSpPr/>
          <p:nvPr/>
        </p:nvGrpSpPr>
        <p:grpSpPr>
          <a:xfrm>
            <a:off x="809536" y="1054001"/>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en-US" altLang="zh-CN"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640955" y="1946275"/>
            <a:ext cx="4533265" cy="3043555"/>
          </a:xfrm>
          <a:prstGeom prst="rect">
            <a:avLst/>
          </a:prstGeom>
        </p:spPr>
      </p:pic>
      <p:sp>
        <p:nvSpPr>
          <p:cNvPr id="6" name="矩形 5"/>
          <p:cNvSpPr/>
          <p:nvPr/>
        </p:nvSpPr>
        <p:spPr>
          <a:xfrm>
            <a:off x="330200" y="1278255"/>
            <a:ext cx="7147560" cy="4338320"/>
          </a:xfrm>
          <a:prstGeom prst="rect">
            <a:avLst/>
          </a:prstGeom>
        </p:spPr>
        <p:txBody>
          <a:bodyPr wrap="square">
            <a:spAutoFit/>
          </a:bodyPr>
          <a:lstStyle/>
          <a:p>
            <a:pPr>
              <a:lnSpc>
                <a:spcPct val="150000"/>
              </a:lnSpc>
              <a:spcAft>
                <a:spcPts val="1200"/>
              </a:spcAft>
            </a:pPr>
            <a:r>
              <a:rPr lang="zh-CN" altLang="en-US" sz="1600" b="1" dirty="0">
                <a:latin typeface="+mn-ea"/>
              </a:rPr>
              <a:t>依据</a:t>
            </a:r>
            <a:r>
              <a:rPr lang="en-US" altLang="zh-CN" sz="1600" b="1" dirty="0">
                <a:latin typeface="+mn-ea"/>
              </a:rPr>
              <a:t>《</a:t>
            </a:r>
            <a:r>
              <a:rPr lang="zh-CN" altLang="en-US" sz="1600" b="1" dirty="0">
                <a:latin typeface="+mn-ea"/>
              </a:rPr>
              <a:t>中华人民共和国网络安全法</a:t>
            </a:r>
            <a:r>
              <a:rPr lang="en-US" altLang="zh-CN" sz="1600" b="1" dirty="0">
                <a:latin typeface="+mn-ea"/>
              </a:rPr>
              <a:t>》</a:t>
            </a:r>
            <a:endParaRPr lang="en-US" altLang="zh-CN" sz="1600" b="1" dirty="0">
              <a:latin typeface="+mn-ea"/>
            </a:endParaRPr>
          </a:p>
          <a:p>
            <a:pPr>
              <a:lnSpc>
                <a:spcPct val="150000"/>
              </a:lnSpc>
              <a:spcAft>
                <a:spcPts val="1200"/>
              </a:spcAft>
            </a:pPr>
            <a:r>
              <a:rPr lang="zh-CN" altLang="en-US" sz="1600" b="1" dirty="0">
                <a:latin typeface="+mn-ea"/>
              </a:rPr>
              <a:t>第二十一条   国家实行网络安全等级保护制度。</a:t>
            </a:r>
            <a:r>
              <a:rPr lang="zh-CN" altLang="en-US" sz="1600" b="1" dirty="0">
                <a:solidFill>
                  <a:srgbClr val="FF0000"/>
                </a:solidFill>
                <a:latin typeface="+mn-ea"/>
              </a:rPr>
              <a:t>网络运营者应当按照网络安全等级保护制度的要求</a:t>
            </a:r>
            <a:r>
              <a:rPr lang="zh-CN" altLang="en-US" sz="1600" b="1" dirty="0">
                <a:latin typeface="+mn-ea"/>
              </a:rPr>
              <a:t>，履行下列安全保护义务，保障网络免受干扰、破坏或者未经授权的访问，防止网络数据泄露或者被窃取、篡改。</a:t>
            </a:r>
            <a:endParaRPr lang="en-US" altLang="zh-CN" sz="1600" b="1" dirty="0">
              <a:latin typeface="+mn-ea"/>
            </a:endParaRPr>
          </a:p>
          <a:p>
            <a:endParaRPr lang="zh-CN" altLang="en-US" sz="1600" b="1" dirty="0">
              <a:latin typeface="+mn-ea"/>
            </a:endParaRPr>
          </a:p>
          <a:p>
            <a:r>
              <a:rPr lang="zh-CN" altLang="en-US" sz="1600" b="1" dirty="0">
                <a:latin typeface="+mn-ea"/>
              </a:rPr>
              <a:t>第五十九条   网络运营者</a:t>
            </a:r>
            <a:r>
              <a:rPr lang="zh-CN" altLang="en-US" sz="1600" b="1" dirty="0">
                <a:solidFill>
                  <a:srgbClr val="FF0000"/>
                </a:solidFill>
                <a:latin typeface="+mn-ea"/>
              </a:rPr>
              <a:t>不履行本法</a:t>
            </a:r>
            <a:r>
              <a:rPr lang="zh-CN" altLang="en-US" sz="1600" b="1" dirty="0">
                <a:latin typeface="+mn-ea"/>
              </a:rPr>
              <a:t>第二十一条、第二十五条规定的网络安全保护义务的，由有关主管部门责令改正，给予警告；拒不改正或者导致危害网络安全等后果的，</a:t>
            </a:r>
            <a:r>
              <a:rPr lang="zh-CN" altLang="en-US" sz="1600" b="1" dirty="0">
                <a:solidFill>
                  <a:srgbClr val="0070C0"/>
                </a:solidFill>
                <a:latin typeface="+mn-ea"/>
              </a:rPr>
              <a:t>处一万元以上十万元以下罚款</a:t>
            </a:r>
            <a:r>
              <a:rPr lang="zh-CN" altLang="en-US" sz="1600" b="1" dirty="0">
                <a:latin typeface="+mn-ea"/>
              </a:rPr>
              <a:t>，对直接负责的主管人员处</a:t>
            </a:r>
            <a:r>
              <a:rPr lang="zh-CN" altLang="en-US" sz="1600" b="1" dirty="0">
                <a:solidFill>
                  <a:srgbClr val="0070C0"/>
                </a:solidFill>
                <a:latin typeface="+mn-ea"/>
              </a:rPr>
              <a:t>五千元以上五万元</a:t>
            </a:r>
            <a:r>
              <a:rPr lang="zh-CN" altLang="en-US" sz="1600" b="1" dirty="0">
                <a:latin typeface="+mn-ea"/>
              </a:rPr>
              <a:t>以下罚款。</a:t>
            </a:r>
            <a:endParaRPr lang="zh-CN" altLang="en-US" sz="1600" b="1" dirty="0">
              <a:latin typeface="+mn-ea"/>
            </a:endParaRPr>
          </a:p>
          <a:p>
            <a:r>
              <a:rPr lang="zh-CN" altLang="en-US" sz="1600" b="1" dirty="0">
                <a:latin typeface="+mn-ea"/>
              </a:rPr>
              <a:t>    </a:t>
            </a:r>
            <a:endParaRPr lang="zh-CN" altLang="en-US" sz="1600" b="1" dirty="0">
              <a:latin typeface="+mn-ea"/>
            </a:endParaRPr>
          </a:p>
          <a:p>
            <a:r>
              <a:rPr lang="zh-CN" altLang="en-US" sz="1600" b="1" dirty="0">
                <a:latin typeface="+mn-ea"/>
              </a:rPr>
              <a:t>    </a:t>
            </a:r>
            <a:r>
              <a:rPr lang="zh-CN" altLang="en-US" sz="1600" b="1" dirty="0">
                <a:solidFill>
                  <a:srgbClr val="FF0000"/>
                </a:solidFill>
                <a:latin typeface="+mn-ea"/>
              </a:rPr>
              <a:t>关键信息基础设施</a:t>
            </a:r>
            <a:r>
              <a:rPr lang="zh-CN" altLang="en-US" sz="1600" b="1" dirty="0">
                <a:latin typeface="+mn-ea"/>
              </a:rPr>
              <a:t>的运营者不履行本法第三十三条、第三十四条、第三十六条、第三十八条规定的网络安全保护义务的，由有关主管部门责令改正，给予警告；拒不改正或者导致危害网络安全等后果的，</a:t>
            </a:r>
            <a:r>
              <a:rPr lang="zh-CN" altLang="en-US" sz="1600" b="1" dirty="0">
                <a:solidFill>
                  <a:srgbClr val="0070C0"/>
                </a:solidFill>
                <a:latin typeface="+mn-ea"/>
              </a:rPr>
              <a:t>处十万元以上一百万元</a:t>
            </a:r>
            <a:r>
              <a:rPr lang="zh-CN" altLang="en-US" sz="1600" b="1" dirty="0">
                <a:latin typeface="+mn-ea"/>
              </a:rPr>
              <a:t>以下罚款，对直接负责的主管人员处</a:t>
            </a:r>
            <a:r>
              <a:rPr lang="zh-CN" altLang="en-US" sz="1600" b="1" dirty="0">
                <a:solidFill>
                  <a:srgbClr val="0070C0"/>
                </a:solidFill>
                <a:latin typeface="+mn-ea"/>
              </a:rPr>
              <a:t>一万元以上十万元</a:t>
            </a:r>
            <a:r>
              <a:rPr lang="zh-CN" altLang="en-US" sz="1600" b="1" dirty="0">
                <a:latin typeface="+mn-ea"/>
              </a:rPr>
              <a:t>以下罚款。</a:t>
            </a:r>
            <a:endParaRPr lang="zh-CN" altLang="en-US" sz="1600" b="1" dirty="0">
              <a:latin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155737471292052"/>
          <p:cNvPicPr>
            <a:picLocks noChangeAspect="1"/>
          </p:cNvPicPr>
          <p:nvPr/>
        </p:nvPicPr>
        <p:blipFill>
          <a:blip r:embed="rId1"/>
          <a:stretch>
            <a:fillRect/>
          </a:stretch>
        </p:blipFill>
        <p:spPr>
          <a:xfrm>
            <a:off x="6089015" y="2103755"/>
            <a:ext cx="6066155" cy="3617595"/>
          </a:xfrm>
          <a:prstGeom prst="rect">
            <a:avLst/>
          </a:prstGeom>
        </p:spPr>
      </p:pic>
      <p:sp>
        <p:nvSpPr>
          <p:cNvPr id="5" name="文本框 4"/>
          <p:cNvSpPr txBox="1"/>
          <p:nvPr/>
        </p:nvSpPr>
        <p:spPr>
          <a:xfrm>
            <a:off x="1031875" y="274955"/>
            <a:ext cx="4145915" cy="460375"/>
          </a:xfrm>
          <a:prstGeom prst="rect">
            <a:avLst/>
          </a:prstGeom>
          <a:noFill/>
        </p:spPr>
        <p:txBody>
          <a:bodyPr wrap="square" rtlCol="0" anchor="t">
            <a:spAutoFit/>
          </a:bodyPr>
          <a:lstStyle/>
          <a:p>
            <a:r>
              <a:rPr lang="zh-CN" altLang="en-US" sz="2400">
                <a:solidFill>
                  <a:schemeClr val="tx1"/>
                </a:solidFill>
                <a:effectLst>
                  <a:outerShdw blurRad="38100" dist="19050" dir="2700000" algn="tl" rotWithShape="0">
                    <a:schemeClr val="dk1">
                      <a:alpha val="40000"/>
                    </a:schemeClr>
                  </a:outerShdw>
                </a:effectLst>
              </a:rPr>
              <a:t>《网络安全法》执法案例</a:t>
            </a:r>
            <a:endParaRPr lang="zh-CN" altLang="en-US" sz="2400">
              <a:solidFill>
                <a:schemeClr val="tx1"/>
              </a:solidFill>
              <a:effectLst>
                <a:outerShdw blurRad="38100" dist="19050" dir="2700000" algn="tl" rotWithShape="0">
                  <a:schemeClr val="dk1">
                    <a:alpha val="40000"/>
                  </a:schemeClr>
                </a:outerShdw>
              </a:effectLst>
            </a:endParaRPr>
          </a:p>
        </p:txBody>
      </p:sp>
      <p:sp>
        <p:nvSpPr>
          <p:cNvPr id="3" name="文本框 2"/>
          <p:cNvSpPr txBox="1"/>
          <p:nvPr/>
        </p:nvSpPr>
        <p:spPr>
          <a:xfrm>
            <a:off x="120650" y="1125855"/>
            <a:ext cx="5968365" cy="4939030"/>
          </a:xfrm>
          <a:prstGeom prst="rect">
            <a:avLst/>
          </a:prstGeom>
          <a:noFill/>
        </p:spPr>
        <p:txBody>
          <a:bodyPr wrap="square" rtlCol="0" anchor="t">
            <a:spAutoFit/>
          </a:bodyPr>
          <a:lstStyle/>
          <a:p>
            <a:pPr>
              <a:lnSpc>
                <a:spcPct val="150000"/>
              </a:lnSpc>
            </a:pPr>
            <a:r>
              <a:rPr lang="zh-CN" altLang="en-US" sz="1400" b="1">
                <a:latin typeface="宋体" panose="02010600030101010101" pitchFamily="2" charset="-122"/>
                <a:ea typeface="宋体" panose="02010600030101010101" pitchFamily="2" charset="-122"/>
                <a:cs typeface="宋体" panose="02010600030101010101" pitchFamily="2" charset="-122"/>
              </a:rPr>
              <a:t>案例一：重庆永川某私立医院服务器突然陷入瘫痪，医院业务全面“停摆</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重庆永川某医院未履行等级保护义务，被罚款10000元，医院业务全面“停摆”，重庆永川公安接警后立即按照“净网2019”工作要求，启动网络安全应急响应预案，组织网安刑侦民警、勘验民警、管理民警、技术支持专家赶赴现场对该案件进行调查核实。经过民警和技术专家调查核实，该私立医院因未按照网络安全等级保护制度的要求履行安全保护义务。</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医院HIS、LIS、PACS、EMR等后台系统业务以及微信公众号后台、医院网站等主要系统业务全部放置在同一套服务器中，医院未安装边界防护设备、未安装日志行为审计设备，未设置数据安全备份策略等其他</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网络安全技术措施</a:t>
            </a:r>
            <a:r>
              <a:rPr lang="zh-CN" altLang="en-US" sz="1400">
                <a:latin typeface="宋体" panose="02010600030101010101" pitchFamily="2" charset="-122"/>
                <a:ea typeface="宋体" panose="02010600030101010101" pitchFamily="2" charset="-122"/>
                <a:cs typeface="宋体" panose="02010600030101010101" pitchFamily="2" charset="-122"/>
              </a:rPr>
              <a:t>，使医院业务在互联网上长期处于“裸奔”状态。黑客通过互联网攻破医院系统后植入</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勒索病毒</a:t>
            </a:r>
            <a:r>
              <a:rPr lang="zh-CN" altLang="en-US" sz="1400">
                <a:latin typeface="宋体" panose="02010600030101010101" pitchFamily="2" charset="-122"/>
                <a:ea typeface="宋体" panose="02010600030101010101" pitchFamily="2" charset="-122"/>
                <a:cs typeface="宋体" panose="02010600030101010101" pitchFamily="2" charset="-122"/>
              </a:rPr>
              <a:t>，导致医院业务全面“停摆”。</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针对此案，公安部门按照公安部“一案双查”工作要求，对医院未按照网络安全等级保护制度的要求履行安全保护义务的行为进行查处，并按照《中华人民共和国网络安全法》第五十九条之规定，对医院处以罚款</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一万元</a:t>
            </a:r>
            <a:r>
              <a:rPr lang="zh-CN" altLang="en-US" sz="1400">
                <a:latin typeface="宋体" panose="02010600030101010101" pitchFamily="2" charset="-122"/>
                <a:ea typeface="宋体" panose="02010600030101010101" pitchFamily="2" charset="-122"/>
                <a:cs typeface="宋体" panose="02010600030101010101" pitchFamily="2" charset="-122"/>
              </a:rPr>
              <a:t>，对直接负责的主管人员处以罚款</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五千元</a:t>
            </a:r>
            <a:r>
              <a:rPr lang="zh-CN" altLang="en-US" sz="1400">
                <a:latin typeface="宋体" panose="02010600030101010101" pitchFamily="2" charset="-122"/>
                <a:ea typeface="宋体" panose="02010600030101010101" pitchFamily="2" charset="-122"/>
                <a:cs typeface="宋体" panose="02010600030101010101" pitchFamily="2" charset="-122"/>
              </a:rPr>
              <a:t>的行政处罚。</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0650" y="1155065"/>
            <a:ext cx="5146040" cy="3322955"/>
          </a:xfrm>
          <a:prstGeom prst="rect">
            <a:avLst/>
          </a:prstGeom>
          <a:noFill/>
        </p:spPr>
        <p:txBody>
          <a:bodyPr wrap="square" rtlCol="0" anchor="t">
            <a:spAutoFit/>
          </a:bodyPr>
          <a:lstStyle/>
          <a:p>
            <a:pPr>
              <a:lnSpc>
                <a:spcPct val="150000"/>
              </a:lnSpc>
            </a:pPr>
            <a:r>
              <a:rPr lang="zh-CN" altLang="en-US" sz="1400" b="1">
                <a:latin typeface="宋体" panose="02010600030101010101" pitchFamily="2" charset="-122"/>
                <a:ea typeface="宋体" panose="02010600030101010101" pitchFamily="2" charset="-122"/>
                <a:cs typeface="宋体" panose="02010600030101010101" pitchFamily="2" charset="-122"/>
                <a:sym typeface="+mn-ea"/>
              </a:rPr>
              <a:t>案例二：新乡市封丘县图书馆致命网站遭受攻击</a:t>
            </a:r>
            <a:endParaRPr lang="zh-CN" altLang="en-US" sz="1400" b="1">
              <a:latin typeface="宋体" panose="02010600030101010101" pitchFamily="2" charset="-122"/>
              <a:ea typeface="宋体" panose="02010600030101010101" pitchFamily="2" charset="-122"/>
              <a:cs typeface="宋体" panose="02010600030101010101" pitchFamily="2" charset="-122"/>
              <a:sym typeface="+mn-ea"/>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河南网警发布一条公告：新乡市封丘县图书馆未按《中国人民共和国网络安全法》的要求，未采取防范计算机病毒和网络攻击、网络入侵等危害网络安全行为的技术措施，致命网站遭受攻击。</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封丘县公安局依据《中华人民共和国网络安全法》第五十九条第一款之规定，对封丘县图书馆给予</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罚款2万元</a:t>
            </a:r>
            <a:r>
              <a:rPr lang="zh-CN" altLang="en-US" sz="1400">
                <a:latin typeface="宋体" panose="02010600030101010101" pitchFamily="2" charset="-122"/>
                <a:ea typeface="宋体" panose="02010600030101010101" pitchFamily="2" charset="-122"/>
                <a:cs typeface="宋体" panose="02010600030101010101" pitchFamily="2" charset="-122"/>
              </a:rPr>
              <a:t>、对直接责任人海某给予</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罚款5000元</a:t>
            </a:r>
            <a:r>
              <a:rPr lang="zh-CN" altLang="en-US" sz="1400">
                <a:latin typeface="宋体" panose="02010600030101010101" pitchFamily="2" charset="-122"/>
                <a:ea typeface="宋体" panose="02010600030101010101" pitchFamily="2" charset="-122"/>
                <a:cs typeface="宋体" panose="02010600030101010101" pitchFamily="2" charset="-122"/>
              </a:rPr>
              <a:t>的行政处罚；并建议依法依规追究相关人员责任。1月13日，封丘县文化广电旅游局经研究决定，给予负责网络安全工作的直接责任人海某行政</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警告处分</a:t>
            </a:r>
            <a:r>
              <a:rPr lang="zh-CN" altLang="en-US" sz="1400">
                <a:latin typeface="宋体" panose="02010600030101010101" pitchFamily="2" charset="-122"/>
                <a:ea typeface="宋体" panose="02010600030101010101" pitchFamily="2" charset="-122"/>
                <a:cs typeface="宋体" panose="02010600030101010101" pitchFamily="2" charset="-122"/>
              </a:rPr>
              <a:t>。</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5387975" y="1155065"/>
            <a:ext cx="6485255" cy="5559425"/>
          </a:xfrm>
          <a:prstGeom prst="rect">
            <a:avLst/>
          </a:prstGeom>
        </p:spPr>
      </p:pic>
      <p:sp>
        <p:nvSpPr>
          <p:cNvPr id="6" name="文本框 5"/>
          <p:cNvSpPr txBox="1"/>
          <p:nvPr/>
        </p:nvSpPr>
        <p:spPr>
          <a:xfrm>
            <a:off x="1033780" y="250190"/>
            <a:ext cx="4145915" cy="460375"/>
          </a:xfrm>
          <a:prstGeom prst="rect">
            <a:avLst/>
          </a:prstGeom>
          <a:noFill/>
        </p:spPr>
        <p:txBody>
          <a:bodyPr wrap="square" rtlCol="0" anchor="t">
            <a:spAutoFit/>
          </a:bodyPr>
          <a:lstStyle/>
          <a:p>
            <a:r>
              <a:rPr lang="zh-CN" altLang="en-US" sz="2400">
                <a:solidFill>
                  <a:schemeClr val="tx1"/>
                </a:solidFill>
                <a:effectLst>
                  <a:outerShdw blurRad="38100" dist="19050" dir="2700000" algn="tl" rotWithShape="0">
                    <a:schemeClr val="dk1">
                      <a:alpha val="40000"/>
                    </a:schemeClr>
                  </a:outerShdw>
                </a:effectLst>
              </a:rPr>
              <a:t>《网络安全法》执法案例</a:t>
            </a:r>
            <a:endParaRPr lang="zh-CN" altLang="en-US" sz="240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8" presetClass="entr" presetSubtype="12"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strips(downLeft)">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a:stretch>
            <a:fillRect/>
          </a:stretch>
        </p:blipFill>
        <p:spPr>
          <a:xfrm>
            <a:off x="6320155" y="1861820"/>
            <a:ext cx="5884545" cy="3269615"/>
          </a:xfrm>
          <a:prstGeom prst="rect">
            <a:avLst/>
          </a:prstGeom>
        </p:spPr>
      </p:pic>
      <p:sp>
        <p:nvSpPr>
          <p:cNvPr id="2" name="文本框 1"/>
          <p:cNvSpPr txBox="1"/>
          <p:nvPr/>
        </p:nvSpPr>
        <p:spPr>
          <a:xfrm>
            <a:off x="120650" y="1117600"/>
            <a:ext cx="6276975" cy="5262245"/>
          </a:xfrm>
          <a:prstGeom prst="rect">
            <a:avLst/>
          </a:prstGeom>
          <a:noFill/>
        </p:spPr>
        <p:txBody>
          <a:bodyPr wrap="square" rtlCol="0" anchor="t">
            <a:spAutoFit/>
          </a:bodyPr>
          <a:lstStyle/>
          <a:p>
            <a:pPr>
              <a:lnSpc>
                <a:spcPct val="150000"/>
              </a:lnSpc>
            </a:pPr>
            <a:r>
              <a:rPr lang="zh-CN" altLang="en-US" sz="1400" b="1">
                <a:latin typeface="宋体" panose="02010600030101010101" pitchFamily="2" charset="-122"/>
                <a:ea typeface="宋体" panose="02010600030101010101" pitchFamily="2" charset="-122"/>
                <a:cs typeface="宋体" panose="02010600030101010101" pitchFamily="2" charset="-122"/>
              </a:rPr>
              <a:t>案例三：山西忻州市某省直事业单位网站不履行网络安全保护义务被处罚</a:t>
            </a:r>
            <a:r>
              <a:rPr lang="zh-CN" altLang="en-US" sz="1400">
                <a:latin typeface="宋体" panose="02010600030101010101" pitchFamily="2" charset="-122"/>
                <a:ea typeface="宋体" panose="02010600030101010101" pitchFamily="2" charset="-122"/>
                <a:cs typeface="宋体" panose="02010600030101010101" pitchFamily="2" charset="-122"/>
              </a:rPr>
              <a:t>  </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a:t>
            </a:r>
            <a:r>
              <a:rPr lang="en-US" altLang="zh-CN" sz="1400">
                <a:latin typeface="宋体" panose="02010600030101010101" pitchFamily="2" charset="-122"/>
                <a:ea typeface="宋体" panose="02010600030101010101" pitchFamily="2" charset="-122"/>
                <a:cs typeface="宋体" panose="02010600030101010101" pitchFamily="2" charset="-122"/>
              </a:rPr>
              <a:t>2017</a:t>
            </a:r>
            <a:r>
              <a:rPr lang="zh-CN" altLang="en-US" sz="1400">
                <a:latin typeface="宋体" panose="02010600030101010101" pitchFamily="2" charset="-122"/>
                <a:ea typeface="宋体" panose="02010600030101010101" pitchFamily="2" charset="-122"/>
                <a:cs typeface="宋体" panose="02010600030101010101" pitchFamily="2" charset="-122"/>
              </a:rPr>
              <a:t>年6月至7月间，山西忻州市某省直事业单位网站存在</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SQL注入漏洞</a:t>
            </a:r>
            <a:r>
              <a:rPr lang="zh-CN" altLang="en-US" sz="1400">
                <a:latin typeface="宋体" panose="02010600030101010101" pitchFamily="2" charset="-122"/>
                <a:ea typeface="宋体" panose="02010600030101010101" pitchFamily="2" charset="-122"/>
                <a:cs typeface="宋体" panose="02010600030101010101" pitchFamily="2" charset="-122"/>
              </a:rPr>
              <a:t>，严重威胁网站信息安全，</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连续</a:t>
            </a:r>
            <a:r>
              <a:rPr lang="zh-CN" altLang="en-US" sz="1400">
                <a:latin typeface="宋体" panose="02010600030101010101" pitchFamily="2" charset="-122"/>
                <a:ea typeface="宋体" panose="02010600030101010101" pitchFamily="2" charset="-122"/>
                <a:cs typeface="宋体" panose="02010600030101010101" pitchFamily="2" charset="-122"/>
              </a:rPr>
              <a:t>被国家网络与信息安全信息通报中心通报。根据《中华人民共和国网络安全法》第二十一条第二款之规定，网络运营者应当按照网络安全等级保护制度的要求，采取防范计算机病毒和网络攻击、网络侵入等危害网络安全行为的技术措施；第五十九条第一款之规定，网络运营者不履行第二十一条规定的网络安全保护义务的，由有关主管部门责令改正，依法予以处置。山西忻州市网警认为该单位之行为已违反《网络安全法》相关规定，忻州市、县两级公安机关网安部门对该单位进行了现场执法检查，依法给予行政警告处罚并责令其改正。  </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执法机构：山西忻州市、县两级公安机关网安部门  </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处罚行为：未按照网络安全等级保护制度的要求，采取防范计算机病毒和网络攻击、网络侵入等危害网络安全行为的技术措施  </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处罚措施：警告并责令其改正  </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法律依据：《网络安全法》第21条、第59条</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1050290" y="212725"/>
            <a:ext cx="4145915" cy="460375"/>
          </a:xfrm>
          <a:prstGeom prst="rect">
            <a:avLst/>
          </a:prstGeom>
          <a:noFill/>
        </p:spPr>
        <p:txBody>
          <a:bodyPr wrap="square" rtlCol="0" anchor="t">
            <a:spAutoFit/>
          </a:bodyPr>
          <a:lstStyle/>
          <a:p>
            <a:r>
              <a:rPr lang="zh-CN" altLang="en-US" sz="2400">
                <a:solidFill>
                  <a:schemeClr val="tx1"/>
                </a:solidFill>
                <a:effectLst>
                  <a:outerShdw blurRad="38100" dist="19050" dir="2700000" algn="tl" rotWithShape="0">
                    <a:schemeClr val="dk1">
                      <a:alpha val="40000"/>
                    </a:schemeClr>
                  </a:outerShdw>
                </a:effectLst>
              </a:rPr>
              <a:t>《网络安全法》执法案例</a:t>
            </a:r>
            <a:endParaRPr lang="zh-CN" altLang="en-US" sz="240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85" y="1079500"/>
            <a:ext cx="5795645" cy="5584825"/>
          </a:xfrm>
          <a:prstGeom prst="rect">
            <a:avLst/>
          </a:prstGeom>
          <a:noFill/>
        </p:spPr>
        <p:txBody>
          <a:bodyPr wrap="square" rtlCol="0" anchor="t">
            <a:spAutoFit/>
          </a:bodyPr>
          <a:lstStyle/>
          <a:p>
            <a:pPr>
              <a:lnSpc>
                <a:spcPct val="150000"/>
              </a:lnSpc>
            </a:pPr>
            <a:r>
              <a:rPr lang="zh-CN" altLang="en-US" sz="1400" b="1">
                <a:latin typeface="宋体" panose="02010600030101010101" pitchFamily="2" charset="-122"/>
                <a:ea typeface="宋体" panose="02010600030101010101" pitchFamily="2" charset="-122"/>
                <a:cs typeface="宋体" panose="02010600030101010101" pitchFamily="2" charset="-122"/>
              </a:rPr>
              <a:t>案例四：安徽网警依法查处一起违反网络安全等级保护制度案件</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a:t>
            </a:r>
            <a:r>
              <a:rPr lang="en-US" altLang="zh-CN" sz="1400">
                <a:latin typeface="宋体" panose="02010600030101010101" pitchFamily="2" charset="-122"/>
                <a:ea typeface="宋体" panose="02010600030101010101" pitchFamily="2" charset="-122"/>
                <a:cs typeface="宋体" panose="02010600030101010101" pitchFamily="2" charset="-122"/>
              </a:rPr>
              <a:t>2017</a:t>
            </a:r>
            <a:r>
              <a:rPr lang="zh-CN" altLang="en-US" sz="1400">
                <a:latin typeface="宋体" panose="02010600030101010101" pitchFamily="2" charset="-122"/>
                <a:ea typeface="宋体" panose="02010600030101010101" pitchFamily="2" charset="-122"/>
                <a:cs typeface="宋体" panose="02010600030101010101" pitchFamily="2" charset="-122"/>
              </a:rPr>
              <a:t>年8月12日，蚌埠怀远县教师进修</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学校网站</a:t>
            </a:r>
            <a:r>
              <a:rPr lang="zh-CN" altLang="en-US" sz="1400">
                <a:latin typeface="宋体" panose="02010600030101010101" pitchFamily="2" charset="-122"/>
                <a:ea typeface="宋体" panose="02010600030101010101" pitchFamily="2" charset="-122"/>
                <a:cs typeface="宋体" panose="02010600030101010101" pitchFamily="2" charset="-122"/>
              </a:rPr>
              <a:t>因网络安全防等级保护制度落实不到位，遭黑客攻击入侵。蚌埠市公安局网安支队调查案件时发现，该网站自上线运行以来，始终未进行网络安全等级保护的定级备案、等级测评等工作，未落实网络安全等级保护制度，未履行网络安全保护义务。根据《网络安全法》第五十六条之规定，省公安厅网络安全保卫总队约谈怀远县教师进修学校法定代表人、怀远县人民政府分管副县长。蚌埠市局网安支队依法对网络运营单位怀远县教师进修学校处以一万五千元罚款，对负有直接责任的副校长处以五千元罚款。</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执法机构：安徽省公安厅网络安全保卫总队；蚌埠市局网安支队</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处罚行为：网站因网络安全防等级保护制度落实不到位，遭黑客攻击入侵。</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处罚措施：约谈怀远县教师进修学校法定代表人、怀远县人民政府分管副县长；对网络运营单位怀远县教师进修学校处以一万五千元罚款，对负有直接责任的副校长处以五千元罚款。</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法律依据：《网络安全法》第21条、56条、第59条第1款。</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5879465" y="1292860"/>
            <a:ext cx="6288405" cy="4856480"/>
          </a:xfrm>
          <a:prstGeom prst="rect">
            <a:avLst/>
          </a:prstGeom>
        </p:spPr>
      </p:pic>
      <p:sp>
        <p:nvSpPr>
          <p:cNvPr id="3" name="文本框 2"/>
          <p:cNvSpPr txBox="1"/>
          <p:nvPr/>
        </p:nvSpPr>
        <p:spPr>
          <a:xfrm>
            <a:off x="950595" y="249555"/>
            <a:ext cx="4145915" cy="460375"/>
          </a:xfrm>
          <a:prstGeom prst="rect">
            <a:avLst/>
          </a:prstGeom>
          <a:noFill/>
        </p:spPr>
        <p:txBody>
          <a:bodyPr wrap="square" rtlCol="0" anchor="t">
            <a:spAutoFit/>
          </a:bodyPr>
          <a:lstStyle/>
          <a:p>
            <a:r>
              <a:rPr lang="zh-CN" altLang="en-US" sz="2400">
                <a:solidFill>
                  <a:schemeClr val="tx1"/>
                </a:solidFill>
                <a:effectLst>
                  <a:outerShdw blurRad="38100" dist="19050" dir="2700000" algn="tl" rotWithShape="0">
                    <a:schemeClr val="dk1">
                      <a:alpha val="40000"/>
                    </a:schemeClr>
                  </a:outerShdw>
                </a:effectLst>
              </a:rPr>
              <a:t>《网络安全法》执法案例</a:t>
            </a:r>
            <a:endParaRPr lang="zh-CN" altLang="en-US" sz="240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6624320" y="1294130"/>
            <a:ext cx="5454650" cy="3846830"/>
          </a:xfrm>
          <a:prstGeom prst="rect">
            <a:avLst/>
          </a:prstGeom>
        </p:spPr>
      </p:pic>
      <p:sp>
        <p:nvSpPr>
          <p:cNvPr id="2" name="文本框 1"/>
          <p:cNvSpPr txBox="1"/>
          <p:nvPr/>
        </p:nvSpPr>
        <p:spPr>
          <a:xfrm>
            <a:off x="314960" y="823595"/>
            <a:ext cx="6603365" cy="5908040"/>
          </a:xfrm>
          <a:prstGeom prst="rect">
            <a:avLst/>
          </a:prstGeom>
          <a:noFill/>
        </p:spPr>
        <p:txBody>
          <a:bodyPr wrap="square" rtlCol="0" anchor="t">
            <a:spAutoFit/>
          </a:bodyPr>
          <a:lstStyle/>
          <a:p>
            <a:pPr>
              <a:lnSpc>
                <a:spcPct val="150000"/>
              </a:lnSpc>
            </a:pPr>
            <a:r>
              <a:rPr lang="zh-CN" altLang="en-US" sz="1400" b="1">
                <a:latin typeface="宋体" panose="02010600030101010101" pitchFamily="2" charset="-122"/>
                <a:ea typeface="宋体" panose="02010600030101010101" pitchFamily="2" charset="-122"/>
                <a:cs typeface="宋体" panose="02010600030101010101" pitchFamily="2" charset="-122"/>
              </a:rPr>
              <a:t>案例五: 国内首例高校违法案例诞生，因未落实等保制度致学生信息泄露</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a:t>
            </a:r>
            <a:r>
              <a:rPr lang="en-US" altLang="zh-CN" sz="1400">
                <a:latin typeface="宋体" panose="02010600030101010101" pitchFamily="2" charset="-122"/>
                <a:ea typeface="宋体" panose="02010600030101010101" pitchFamily="2" charset="-122"/>
                <a:cs typeface="宋体" panose="02010600030101010101" pitchFamily="2" charset="-122"/>
              </a:rPr>
              <a:t>2017</a:t>
            </a:r>
            <a:r>
              <a:rPr lang="zh-CN" altLang="en-US" sz="1400">
                <a:latin typeface="宋体" panose="02010600030101010101" pitchFamily="2" charset="-122"/>
                <a:ea typeface="宋体" panose="02010600030101010101" pitchFamily="2" charset="-122"/>
                <a:cs typeface="宋体" panose="02010600030101010101" pitchFamily="2" charset="-122"/>
              </a:rPr>
              <a:t>年9月28日，淮南市网络与信息安全信息通报中心接到国家网络与信息安全信息通报中心通报：淮南职业技术学院系统存在</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高危漏洞</a:t>
            </a:r>
            <a:r>
              <a:rPr lang="zh-CN" altLang="en-US" sz="1400">
                <a:latin typeface="宋体" panose="02010600030101010101" pitchFamily="2" charset="-122"/>
                <a:ea typeface="宋体" panose="02010600030101010101" pitchFamily="2" charset="-122"/>
                <a:cs typeface="宋体" panose="02010600030101010101" pitchFamily="2" charset="-122"/>
              </a:rPr>
              <a:t>，系统存储的4000余名学生身份信息已经造成泄露。经查，确认淮南职业技术学院招生信息管理系统存在</a:t>
            </a:r>
            <a:r>
              <a:rPr lang="zh-CN" altLang="en-US" sz="1400">
                <a:solidFill>
                  <a:srgbClr val="0070C0"/>
                </a:solidFill>
                <a:latin typeface="宋体" panose="02010600030101010101" pitchFamily="2" charset="-122"/>
                <a:ea typeface="宋体" panose="02010600030101010101" pitchFamily="2" charset="-122"/>
                <a:cs typeface="宋体" panose="02010600030101010101" pitchFamily="2" charset="-122"/>
              </a:rPr>
              <a:t>越权漏洞，后台登录密码弱口令</a:t>
            </a:r>
            <a:r>
              <a:rPr lang="zh-CN" altLang="en-US" sz="1400">
                <a:latin typeface="宋体" panose="02010600030101010101" pitchFamily="2" charset="-122"/>
                <a:ea typeface="宋体" panose="02010600030101010101" pitchFamily="2" charset="-122"/>
                <a:cs typeface="宋体" panose="02010600030101010101" pitchFamily="2" charset="-122"/>
              </a:rPr>
              <a:t>，学院未落实网络安全管理制度，未建立网络安全防护技术措施、网络日志留存少于六个月，未采取数据分类、重要数据备份和加密措施，致使系统存储的4353名学生的身份信息泄露。</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   </a:t>
            </a:r>
            <a:r>
              <a:rPr lang="en-US" altLang="zh-CN" sz="1400">
                <a:latin typeface="宋体" panose="02010600030101010101" pitchFamily="2" charset="-122"/>
                <a:ea typeface="宋体" panose="02010600030101010101" pitchFamily="2" charset="-122"/>
                <a:cs typeface="宋体" panose="02010600030101010101" pitchFamily="2" charset="-122"/>
                <a:sym typeface="+mn-ea"/>
              </a:rPr>
              <a:t>2017</a:t>
            </a:r>
            <a:r>
              <a:rPr lang="zh-CN" altLang="en-US" sz="1400">
                <a:latin typeface="宋体" panose="02010600030101010101" pitchFamily="2" charset="-122"/>
                <a:ea typeface="宋体" panose="02010600030101010101" pitchFamily="2" charset="-122"/>
                <a:cs typeface="宋体" panose="02010600030101010101" pitchFamily="2" charset="-122"/>
                <a:sym typeface="+mn-ea"/>
              </a:rPr>
              <a:t>年</a:t>
            </a:r>
            <a:r>
              <a:rPr lang="zh-CN" altLang="en-US" sz="1400">
                <a:latin typeface="宋体" panose="02010600030101010101" pitchFamily="2" charset="-122"/>
                <a:ea typeface="宋体" panose="02010600030101010101" pitchFamily="2" charset="-122"/>
                <a:cs typeface="宋体" panose="02010600030101010101" pitchFamily="2" charset="-122"/>
              </a:rPr>
              <a:t>10月12日,安徽省淮南市网警巡查执法官方微博发布通报称，关于淮南职业技术学院未落实网络安全等级保护制度，导致4000余名学生身份信息泄露一事，淮南市公安局网安支队依法对该学院处以立即整改和行政警告的处罚措施。</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执法机构：淮南市公安局网安支队</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处罚行为：淮南职业技术学院招生信息管理系统存在越权漏洞，后台登录密码弱口令，未落实网络安全管理制度，未建立网络安全防护技术措施、网络日志留存少于六个月，未采取数据分类、重要数据备份和加密措施，致使系统存储的多名学生身份信息泄露。</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处罚措施：责令整改，警告</a:t>
            </a:r>
            <a:endParaRPr lang="zh-CN" altLang="en-US" sz="1400">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zh-CN" altLang="en-US" sz="1400">
                <a:latin typeface="宋体" panose="02010600030101010101" pitchFamily="2" charset="-122"/>
                <a:ea typeface="宋体" panose="02010600030101010101" pitchFamily="2" charset="-122"/>
                <a:cs typeface="宋体" panose="02010600030101010101" pitchFamily="2" charset="-122"/>
              </a:rPr>
              <a:t>法律依据：《网络安全法》第21条、第59条第1款。</a:t>
            </a:r>
            <a:endParaRPr lang="zh-CN" altLang="en-US" sz="1400">
              <a:latin typeface="宋体" panose="02010600030101010101" pitchFamily="2" charset="-122"/>
              <a:ea typeface="宋体" panose="02010600030101010101" pitchFamily="2" charset="-122"/>
              <a:cs typeface="宋体" panose="02010600030101010101" pitchFamily="2" charset="-122"/>
            </a:endParaRPr>
          </a:p>
        </p:txBody>
      </p:sp>
      <p:sp>
        <p:nvSpPr>
          <p:cNvPr id="7" name="文本框 6"/>
          <p:cNvSpPr txBox="1"/>
          <p:nvPr/>
        </p:nvSpPr>
        <p:spPr>
          <a:xfrm>
            <a:off x="962025" y="225425"/>
            <a:ext cx="4145915" cy="460375"/>
          </a:xfrm>
          <a:prstGeom prst="rect">
            <a:avLst/>
          </a:prstGeom>
          <a:noFill/>
        </p:spPr>
        <p:txBody>
          <a:bodyPr wrap="square" rtlCol="0" anchor="t">
            <a:spAutoFit/>
          </a:bodyPr>
          <a:lstStyle/>
          <a:p>
            <a:r>
              <a:rPr lang="zh-CN" altLang="en-US" sz="2400">
                <a:solidFill>
                  <a:schemeClr val="tx1"/>
                </a:solidFill>
                <a:effectLst>
                  <a:outerShdw blurRad="38100" dist="19050" dir="2700000" algn="tl" rotWithShape="0">
                    <a:schemeClr val="dk1">
                      <a:alpha val="40000"/>
                    </a:schemeClr>
                  </a:outerShdw>
                </a:effectLst>
              </a:rPr>
              <a:t>《网络安全法》执法案例</a:t>
            </a:r>
            <a:endParaRPr lang="zh-CN" altLang="en-US" sz="240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49464" y="2689288"/>
            <a:ext cx="3233171" cy="2021497"/>
            <a:chOff x="1055440" y="2906252"/>
            <a:chExt cx="2290660" cy="1432205"/>
          </a:xfrm>
        </p:grpSpPr>
        <p:grpSp>
          <p:nvGrpSpPr>
            <p:cNvPr id="72" name="组合 71"/>
            <p:cNvGrpSpPr/>
            <p:nvPr/>
          </p:nvGrpSpPr>
          <p:grpSpPr>
            <a:xfrm>
              <a:off x="1582579" y="3060862"/>
              <a:ext cx="1277595" cy="1277595"/>
              <a:chOff x="1677608" y="2996952"/>
              <a:chExt cx="1395643" cy="1395643"/>
            </a:xfrm>
          </p:grpSpPr>
          <p:sp>
            <p:nvSpPr>
              <p:cNvPr id="73"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74" name="Oval 29"/>
              <p:cNvSpPr>
                <a:spLocks noChangeAspect="1"/>
              </p:cNvSpPr>
              <p:nvPr/>
            </p:nvSpPr>
            <p:spPr>
              <a:xfrm>
                <a:off x="1850114" y="3169458"/>
                <a:ext cx="1050630" cy="1050630"/>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75" name="标题 4"/>
            <p:cNvSpPr txBox="1"/>
            <p:nvPr/>
          </p:nvSpPr>
          <p:spPr>
            <a:xfrm>
              <a:off x="1816436" y="3553975"/>
              <a:ext cx="809879" cy="27651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主要内容</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2626315" y="2906252"/>
              <a:ext cx="311401" cy="307477"/>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7" name="椭圆 76"/>
            <p:cNvSpPr/>
            <p:nvPr/>
          </p:nvSpPr>
          <p:spPr>
            <a:xfrm>
              <a:off x="2995116" y="3309437"/>
              <a:ext cx="350984" cy="390219"/>
            </a:xfrm>
            <a:prstGeom prst="ellipse">
              <a:avLst/>
            </a:prstGeom>
            <a:solidFill>
              <a:schemeClr val="tx2">
                <a:lumMod val="60000"/>
                <a:lumOff val="4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8" name="椭圆 77"/>
            <p:cNvSpPr/>
            <p:nvPr/>
          </p:nvSpPr>
          <p:spPr>
            <a:xfrm>
              <a:off x="1055440" y="3509963"/>
              <a:ext cx="379388" cy="379388"/>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9" name="椭圆 78"/>
            <p:cNvSpPr/>
            <p:nvPr/>
          </p:nvSpPr>
          <p:spPr>
            <a:xfrm>
              <a:off x="1361104" y="3889351"/>
              <a:ext cx="221474" cy="221474"/>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0" name="椭圆 79"/>
            <p:cNvSpPr/>
            <p:nvPr/>
          </p:nvSpPr>
          <p:spPr>
            <a:xfrm>
              <a:off x="1445957" y="3334077"/>
              <a:ext cx="130332" cy="130332"/>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92" name="圆角矩形 191"/>
          <p:cNvSpPr/>
          <p:nvPr/>
        </p:nvSpPr>
        <p:spPr>
          <a:xfrm>
            <a:off x="5611587" y="2468807"/>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193" name="组合 192"/>
          <p:cNvGrpSpPr/>
          <p:nvPr/>
        </p:nvGrpSpPr>
        <p:grpSpPr>
          <a:xfrm>
            <a:off x="4439816" y="3429000"/>
            <a:ext cx="834872" cy="768824"/>
            <a:chOff x="1677608" y="2996952"/>
            <a:chExt cx="1395643" cy="1395643"/>
          </a:xfrm>
        </p:grpSpPr>
        <p:sp>
          <p:nvSpPr>
            <p:cNvPr id="194"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195"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196" name="文本框 9"/>
          <p:cNvSpPr txBox="1"/>
          <p:nvPr/>
        </p:nvSpPr>
        <p:spPr>
          <a:xfrm>
            <a:off x="5734316" y="3613407"/>
            <a:ext cx="2063479" cy="421256"/>
          </a:xfrm>
          <a:prstGeom prst="rect">
            <a:avLst/>
          </a:prstGeom>
          <a:noFill/>
        </p:spPr>
        <p:txBody>
          <a:bodyPr wrap="square" lIns="51422" tIns="25711" rIns="51422" bIns="25711" rtlCol="0">
            <a:spAutoFit/>
          </a:bodyPr>
          <a:lstStyle/>
          <a:p>
            <a:pPr marL="0" lvl="1" algn="ctr"/>
            <a:r>
              <a:rPr lang="zh-CN" altLang="en-US" sz="2400" b="1" dirty="0">
                <a:solidFill>
                  <a:schemeClr val="bg1"/>
                </a:solidFill>
                <a:latin typeface="微软雅黑" panose="020B0503020204020204" pitchFamily="34" charset="-122"/>
                <a:ea typeface="微软雅黑" panose="020B0503020204020204" pitchFamily="34" charset="-122"/>
              </a:rPr>
              <a:t>测评介绍</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199" name="圆角矩形 198"/>
          <p:cNvSpPr/>
          <p:nvPr/>
        </p:nvSpPr>
        <p:spPr>
          <a:xfrm>
            <a:off x="5532510" y="3539496"/>
            <a:ext cx="2381066" cy="569078"/>
          </a:xfrm>
          <a:prstGeom prst="roundRect">
            <a:avLst>
              <a:gd name="adj" fmla="val 50000"/>
            </a:avLst>
          </a:prstGeom>
          <a:solidFill>
            <a:srgbClr val="C00000"/>
          </a:soli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0" name="组合 199"/>
          <p:cNvGrpSpPr/>
          <p:nvPr/>
        </p:nvGrpSpPr>
        <p:grpSpPr>
          <a:xfrm>
            <a:off x="4469041" y="1412776"/>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
        <p:nvSpPr>
          <p:cNvPr id="206" name="圆角矩形 205"/>
          <p:cNvSpPr/>
          <p:nvPr/>
        </p:nvSpPr>
        <p:spPr>
          <a:xfrm>
            <a:off x="5591943" y="1513261"/>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7" name="组合 206"/>
          <p:cNvGrpSpPr/>
          <p:nvPr/>
        </p:nvGrpSpPr>
        <p:grpSpPr>
          <a:xfrm>
            <a:off x="4439816" y="2420888"/>
            <a:ext cx="834871" cy="768824"/>
            <a:chOff x="1677608" y="2996952"/>
            <a:chExt cx="1395643" cy="1395643"/>
          </a:xfrm>
        </p:grpSpPr>
        <p:sp>
          <p:nvSpPr>
            <p:cNvPr id="208"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209" name="Oval 29"/>
            <p:cNvSpPr>
              <a:spLocks noChangeAspect="1"/>
            </p:cNvSpPr>
            <p:nvPr/>
          </p:nvSpPr>
          <p:spPr>
            <a:xfrm>
              <a:off x="1918358" y="3216153"/>
              <a:ext cx="910867" cy="910866"/>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10" name="文本框 9"/>
          <p:cNvSpPr txBox="1"/>
          <p:nvPr/>
        </p:nvSpPr>
        <p:spPr>
          <a:xfrm>
            <a:off x="5871279" y="2528447"/>
            <a:ext cx="1842346" cy="421256"/>
          </a:xfrm>
          <a:prstGeom prst="rect">
            <a:avLst/>
          </a:prstGeom>
          <a:noFill/>
        </p:spPr>
        <p:txBody>
          <a:bodyPr wrap="square" lIns="51422" tIns="25711" rIns="51422" bIns="25711" rtlCol="0">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等保政策</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226" name="TextBox 225"/>
          <p:cNvSpPr txBox="1"/>
          <p:nvPr/>
        </p:nvSpPr>
        <p:spPr>
          <a:xfrm>
            <a:off x="13181169" y="6986517"/>
            <a:ext cx="704039" cy="300082"/>
          </a:xfrm>
          <a:prstGeom prst="rect">
            <a:avLst/>
          </a:prstGeom>
          <a:noFill/>
        </p:spPr>
        <p:txBody>
          <a:bodyPr wrap="none" rtlCol="0">
            <a:spAutoFit/>
          </a:bodyPr>
          <a:lstStyle/>
          <a:p>
            <a:r>
              <a:rPr lang="zh-CN" altLang="en-US" sz="1350" dirty="0"/>
              <a:t>延时符</a:t>
            </a:r>
            <a:endParaRPr lang="zh-CN" altLang="en-US" sz="1350" dirty="0"/>
          </a:p>
        </p:txBody>
      </p:sp>
      <p:sp>
        <p:nvSpPr>
          <p:cNvPr id="2" name="矩形 1"/>
          <p:cNvSpPr/>
          <p:nvPr/>
        </p:nvSpPr>
        <p:spPr>
          <a:xfrm>
            <a:off x="6084565" y="1588427"/>
            <a:ext cx="1415773" cy="461665"/>
          </a:xfrm>
          <a:prstGeom prst="rect">
            <a:avLst/>
          </a:prstGeom>
        </p:spPr>
        <p:txBody>
          <a:bodyPr wrap="none">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等保介绍</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3" name="矩形 2"/>
          <p:cNvSpPr/>
          <p:nvPr/>
        </p:nvSpPr>
        <p:spPr>
          <a:xfrm>
            <a:off x="6058169" y="3593202"/>
            <a:ext cx="1415772" cy="461665"/>
          </a:xfrm>
          <a:prstGeom prst="rect">
            <a:avLst/>
          </a:prstGeom>
        </p:spPr>
        <p:txBody>
          <a:bodyPr wrap="none">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测评介绍</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53" name="圆角矩形 191"/>
          <p:cNvSpPr/>
          <p:nvPr/>
        </p:nvSpPr>
        <p:spPr>
          <a:xfrm>
            <a:off x="5585190" y="4437112"/>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sp>
        <p:nvSpPr>
          <p:cNvPr id="36" name="KSO_Shape"/>
          <p:cNvSpPr/>
          <p:nvPr/>
        </p:nvSpPr>
        <p:spPr bwMode="auto">
          <a:xfrm>
            <a:off x="4660464" y="4518740"/>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grpSp>
        <p:nvGrpSpPr>
          <p:cNvPr id="37" name="组合 36"/>
          <p:cNvGrpSpPr/>
          <p:nvPr/>
        </p:nvGrpSpPr>
        <p:grpSpPr>
          <a:xfrm>
            <a:off x="4429906" y="4365104"/>
            <a:ext cx="834872" cy="768824"/>
            <a:chOff x="1677608" y="2996952"/>
            <a:chExt cx="1395643" cy="1395643"/>
          </a:xfrm>
        </p:grpSpPr>
        <p:sp>
          <p:nvSpPr>
            <p:cNvPr id="44"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45"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46" name="文本框 9"/>
          <p:cNvSpPr txBox="1"/>
          <p:nvPr/>
        </p:nvSpPr>
        <p:spPr>
          <a:xfrm>
            <a:off x="5736268" y="4511336"/>
            <a:ext cx="2063479" cy="421256"/>
          </a:xfrm>
          <a:prstGeom prst="rect">
            <a:avLst/>
          </a:prstGeom>
          <a:noFill/>
        </p:spPr>
        <p:txBody>
          <a:bodyPr wrap="square" lIns="51422" tIns="25711" rIns="51422" bIns="25711" rtlCol="0">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解决方案</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47" name="KSO_Shape"/>
          <p:cNvSpPr/>
          <p:nvPr/>
        </p:nvSpPr>
        <p:spPr bwMode="auto">
          <a:xfrm>
            <a:off x="4645929" y="5503588"/>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框 1"/>
          <p:cNvSpPr txBox="1">
            <a:spLocks noChangeArrowheads="1"/>
          </p:cNvSpPr>
          <p:nvPr/>
        </p:nvSpPr>
        <p:spPr bwMode="auto">
          <a:xfrm>
            <a:off x="520065" y="424180"/>
            <a:ext cx="627507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2800">
                <a:solidFill>
                  <a:schemeClr val="bg1"/>
                </a:solidFill>
                <a:latin typeface="楷体" panose="02010609060101010101" pitchFamily="49" charset="-122"/>
                <a:ea typeface="楷体" panose="02010609060101010101" pitchFamily="49" charset="-122"/>
              </a:rPr>
              <a:t>什么是等级测评？</a:t>
            </a:r>
            <a:endParaRPr lang="zh-CN" altLang="en-US" sz="2800">
              <a:solidFill>
                <a:schemeClr val="bg1"/>
              </a:solidFill>
              <a:latin typeface="楷体" panose="02010609060101010101" pitchFamily="49" charset="-122"/>
              <a:ea typeface="楷体" panose="02010609060101010101" pitchFamily="49" charset="-122"/>
            </a:endParaRPr>
          </a:p>
        </p:txBody>
      </p:sp>
      <p:sp>
        <p:nvSpPr>
          <p:cNvPr id="3" name="文本框 2"/>
          <p:cNvSpPr txBox="1"/>
          <p:nvPr/>
        </p:nvSpPr>
        <p:spPr>
          <a:xfrm>
            <a:off x="1562100" y="1484630"/>
            <a:ext cx="8810625" cy="3107690"/>
          </a:xfrm>
          <a:prstGeom prst="rect">
            <a:avLst/>
          </a:prstGeom>
          <a:noFill/>
        </p:spPr>
        <p:txBody>
          <a:bodyPr wrap="square">
            <a:spAutoFit/>
          </a:bodyPr>
          <a:lstStyle/>
          <a:p>
            <a:pPr indent="720090" eaLnBrk="1" hangingPunct="1">
              <a:defRPr/>
            </a:pPr>
            <a:r>
              <a:rPr lang="zh-CN" altLang="en-US" sz="2800" dirty="0">
                <a:latin typeface="+mn-ea"/>
                <a:ea typeface="+mn-ea"/>
              </a:rPr>
              <a:t>信息系统等级测评是指</a:t>
            </a:r>
            <a:r>
              <a:rPr lang="zh-CN" altLang="en-US" sz="2800" dirty="0">
                <a:solidFill>
                  <a:srgbClr val="FF0000"/>
                </a:solidFill>
                <a:latin typeface="+mn-ea"/>
                <a:ea typeface="+mn-ea"/>
              </a:rPr>
              <a:t>测评机构</a:t>
            </a:r>
            <a:r>
              <a:rPr lang="zh-CN" altLang="en-US" sz="2800" dirty="0">
                <a:latin typeface="+mn-ea"/>
                <a:ea typeface="+mn-ea"/>
              </a:rPr>
              <a:t>依据国家信息安全等级保护制度规定，按照有关</a:t>
            </a:r>
            <a:r>
              <a:rPr lang="zh-CN" altLang="en-US" sz="2800" dirty="0">
                <a:solidFill>
                  <a:srgbClr val="FF0000"/>
                </a:solidFill>
                <a:latin typeface="+mn-ea"/>
                <a:ea typeface="+mn-ea"/>
              </a:rPr>
              <a:t>管理规范和技术标准</a:t>
            </a:r>
            <a:r>
              <a:rPr lang="zh-CN" altLang="en-US" sz="2800" dirty="0">
                <a:latin typeface="+mn-ea"/>
                <a:ea typeface="+mn-ea"/>
              </a:rPr>
              <a:t>，对</a:t>
            </a:r>
            <a:r>
              <a:rPr lang="zh-CN" altLang="en-US" sz="2800" dirty="0">
                <a:solidFill>
                  <a:srgbClr val="FF0000"/>
                </a:solidFill>
                <a:latin typeface="+mn-ea"/>
                <a:ea typeface="+mn-ea"/>
              </a:rPr>
              <a:t>未涉及国家秘密</a:t>
            </a:r>
            <a:r>
              <a:rPr lang="zh-CN" altLang="en-US" sz="2800" dirty="0">
                <a:latin typeface="+mn-ea"/>
                <a:ea typeface="+mn-ea"/>
              </a:rPr>
              <a:t>的信息系统安全等级保护状况进行检测评估的活动。</a:t>
            </a:r>
            <a:endParaRPr lang="en-US" altLang="zh-CN" sz="2800" dirty="0">
              <a:latin typeface="+mn-ea"/>
              <a:ea typeface="+mn-ea"/>
            </a:endParaRPr>
          </a:p>
          <a:p>
            <a:pPr indent="720090" eaLnBrk="1" hangingPunct="1">
              <a:defRPr/>
            </a:pPr>
            <a:r>
              <a:rPr lang="zh-CN" altLang="en-US" sz="2800" dirty="0">
                <a:latin typeface="+mn-ea"/>
                <a:ea typeface="+mn-ea"/>
              </a:rPr>
              <a:t>等级测评是</a:t>
            </a:r>
            <a:r>
              <a:rPr lang="zh-CN" altLang="en-US" sz="2800" dirty="0">
                <a:solidFill>
                  <a:srgbClr val="FF0000"/>
                </a:solidFill>
                <a:latin typeface="+mn-ea"/>
                <a:ea typeface="+mn-ea"/>
              </a:rPr>
              <a:t>标准符合性</a:t>
            </a:r>
            <a:r>
              <a:rPr lang="zh-CN" altLang="en-US" sz="2800" dirty="0">
                <a:latin typeface="+mn-ea"/>
                <a:ea typeface="+mn-ea"/>
              </a:rPr>
              <a:t>评判活动，即依据信息安全等级保护的国家标准或行业标准，按照特定方法对信息系统的安全保护能力进行科学公正的综合评判过程。</a:t>
            </a:r>
            <a:endParaRPr lang="zh-CN" altLang="en-US" sz="2800" dirty="0">
              <a:latin typeface="+mn-ea"/>
              <a:ea typeface="+mn-ea"/>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4289232" cy="890465"/>
          </a:xfrm>
        </p:spPr>
        <p:txBody>
          <a:bodyPr/>
          <a:lstStyle/>
          <a:p>
            <a:r>
              <a:rPr lang="zh-CN" altLang="en-US" sz="2800" dirty="0"/>
              <a:t>等保测评流程</a:t>
            </a:r>
            <a:endParaRPr lang="zh-CN" altLang="en-US" sz="2800" dirty="0"/>
          </a:p>
        </p:txBody>
      </p:sp>
      <p:sp>
        <p:nvSpPr>
          <p:cNvPr id="5" name="Rectangle 3"/>
          <p:cNvSpPr>
            <a:spLocks noChangeArrowheads="1"/>
          </p:cNvSpPr>
          <p:nvPr/>
        </p:nvSpPr>
        <p:spPr bwMode="gray">
          <a:xfrm>
            <a:off x="5942015" y="3550119"/>
            <a:ext cx="1835097" cy="431900"/>
          </a:xfrm>
          <a:prstGeom prst="rect">
            <a:avLst/>
          </a:prstGeom>
          <a:gradFill rotWithShape="1">
            <a:gsLst>
              <a:gs pos="0">
                <a:srgbClr val="855ADA"/>
              </a:gs>
              <a:gs pos="100000">
                <a:srgbClr val="855ADA">
                  <a:gamma/>
                  <a:tint val="0"/>
                  <a:invGamma/>
                </a:srgbClr>
              </a:gs>
            </a:gsLst>
            <a:lin ang="540000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6" name="Rectangle 4"/>
          <p:cNvSpPr>
            <a:spLocks noChangeArrowheads="1"/>
          </p:cNvSpPr>
          <p:nvPr/>
        </p:nvSpPr>
        <p:spPr bwMode="gray">
          <a:xfrm>
            <a:off x="4135492" y="4039182"/>
            <a:ext cx="1806523" cy="431900"/>
          </a:xfrm>
          <a:prstGeom prst="rect">
            <a:avLst/>
          </a:prstGeom>
          <a:gradFill rotWithShape="1">
            <a:gsLst>
              <a:gs pos="0">
                <a:srgbClr val="4EA7EA"/>
              </a:gs>
              <a:gs pos="100000">
                <a:srgbClr val="4EA7EA">
                  <a:gamma/>
                  <a:tint val="0"/>
                  <a:invGamma/>
                </a:srgbClr>
              </a:gs>
            </a:gsLst>
            <a:lin ang="540000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7" name="Rectangle 5"/>
          <p:cNvSpPr>
            <a:spLocks noChangeArrowheads="1"/>
          </p:cNvSpPr>
          <p:nvPr/>
        </p:nvSpPr>
        <p:spPr bwMode="gray">
          <a:xfrm>
            <a:off x="2306745" y="4533010"/>
            <a:ext cx="1825572" cy="431900"/>
          </a:xfrm>
          <a:prstGeom prst="rect">
            <a:avLst/>
          </a:prstGeom>
          <a:gradFill rotWithShape="1">
            <a:gsLst>
              <a:gs pos="0">
                <a:srgbClr val="855ADA"/>
              </a:gs>
              <a:gs pos="100000">
                <a:srgbClr val="855ADA">
                  <a:gamma/>
                  <a:tint val="0"/>
                  <a:invGamma/>
                </a:srgbClr>
              </a:gs>
            </a:gsLst>
            <a:lin ang="5400000" scaled="1"/>
          </a:gradFill>
          <a:ln w="9525">
            <a:noFill/>
            <a:miter lim="800000"/>
          </a:ln>
          <a:effectLst/>
        </p:spPr>
        <p:txBody>
          <a:bodyPr wrap="none" lIns="68562" tIns="34281" rIns="68562" bIns="34281" anchor="ctr"/>
          <a:lstStyle/>
          <a:p>
            <a:pPr algn="ct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8" name="AutoShape 6"/>
          <p:cNvSpPr>
            <a:spLocks noChangeArrowheads="1"/>
          </p:cNvSpPr>
          <p:nvPr/>
        </p:nvSpPr>
        <p:spPr bwMode="gray">
          <a:xfrm flipH="1">
            <a:off x="1703512" y="3920092"/>
            <a:ext cx="2428805" cy="616093"/>
          </a:xfrm>
          <a:prstGeom prst="parallelogram">
            <a:avLst>
              <a:gd name="adj" fmla="val 98582"/>
            </a:avLst>
          </a:prstGeom>
          <a:gradFill rotWithShape="1">
            <a:gsLst>
              <a:gs pos="0">
                <a:srgbClr val="855ADA">
                  <a:gamma/>
                  <a:tint val="54510"/>
                  <a:invGamma/>
                  <a:alpha val="82001"/>
                </a:srgbClr>
              </a:gs>
              <a:gs pos="100000">
                <a:srgbClr val="855ADA">
                  <a:alpha val="50000"/>
                </a:srgbClr>
              </a:gs>
            </a:gsLst>
            <a:lin ang="1890000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9" name="AutoShape 7"/>
          <p:cNvSpPr>
            <a:spLocks noChangeArrowheads="1"/>
          </p:cNvSpPr>
          <p:nvPr/>
        </p:nvSpPr>
        <p:spPr bwMode="gray">
          <a:xfrm flipH="1">
            <a:off x="3516385" y="3410388"/>
            <a:ext cx="2428805" cy="646262"/>
          </a:xfrm>
          <a:prstGeom prst="parallelogram">
            <a:avLst>
              <a:gd name="adj" fmla="val 96330"/>
            </a:avLst>
          </a:prstGeom>
          <a:gradFill rotWithShape="1">
            <a:gsLst>
              <a:gs pos="0">
                <a:srgbClr val="4EA7EA"/>
              </a:gs>
              <a:gs pos="100000">
                <a:srgbClr val="4EA7EA">
                  <a:gamma/>
                  <a:tint val="53725"/>
                  <a:invGamma/>
                </a:srgbClr>
              </a:gs>
            </a:gsLst>
            <a:lin ang="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10" name="Freeform 8"/>
          <p:cNvSpPr/>
          <p:nvPr/>
        </p:nvSpPr>
        <p:spPr bwMode="gray">
          <a:xfrm>
            <a:off x="3522735" y="3411975"/>
            <a:ext cx="612757" cy="1130562"/>
          </a:xfrm>
          <a:custGeom>
            <a:avLst/>
            <a:gdLst/>
            <a:ahLst/>
            <a:cxnLst>
              <a:cxn ang="0">
                <a:pos x="0" y="167"/>
              </a:cxn>
              <a:cxn ang="0">
                <a:pos x="201" y="370"/>
              </a:cxn>
              <a:cxn ang="0">
                <a:pos x="201" y="210"/>
              </a:cxn>
              <a:cxn ang="0">
                <a:pos x="0" y="0"/>
              </a:cxn>
              <a:cxn ang="0">
                <a:pos x="0" y="167"/>
              </a:cxn>
            </a:cxnLst>
            <a:rect l="0" t="0" r="r" b="b"/>
            <a:pathLst>
              <a:path w="201" h="370">
                <a:moveTo>
                  <a:pt x="0" y="167"/>
                </a:moveTo>
                <a:lnTo>
                  <a:pt x="201" y="370"/>
                </a:lnTo>
                <a:lnTo>
                  <a:pt x="201" y="210"/>
                </a:lnTo>
                <a:lnTo>
                  <a:pt x="0" y="0"/>
                </a:lnTo>
                <a:lnTo>
                  <a:pt x="0" y="167"/>
                </a:lnTo>
                <a:close/>
              </a:path>
            </a:pathLst>
          </a:custGeom>
          <a:gradFill rotWithShape="1">
            <a:gsLst>
              <a:gs pos="0">
                <a:srgbClr val="4EA7EA">
                  <a:gamma/>
                  <a:shade val="46275"/>
                  <a:invGamma/>
                </a:srgbClr>
              </a:gs>
              <a:gs pos="100000">
                <a:srgbClr val="4EA7EA"/>
              </a:gs>
            </a:gsLst>
            <a:lin ang="2700000" scaled="1"/>
          </a:gradFill>
          <a:ln w="9525">
            <a:noFill/>
            <a:round/>
          </a:ln>
          <a:effectLst/>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11" name="AutoShape 9"/>
          <p:cNvSpPr>
            <a:spLocks noChangeArrowheads="1"/>
          </p:cNvSpPr>
          <p:nvPr/>
        </p:nvSpPr>
        <p:spPr bwMode="gray">
          <a:xfrm flipH="1">
            <a:off x="5329257" y="2894331"/>
            <a:ext cx="2438330" cy="657377"/>
          </a:xfrm>
          <a:prstGeom prst="parallelogram">
            <a:avLst>
              <a:gd name="adj" fmla="val 92256"/>
            </a:avLst>
          </a:prstGeom>
          <a:gradFill rotWithShape="1">
            <a:gsLst>
              <a:gs pos="0">
                <a:srgbClr val="855ADA"/>
              </a:gs>
              <a:gs pos="100000">
                <a:srgbClr val="855ADA">
                  <a:gamma/>
                  <a:tint val="53725"/>
                  <a:invGamma/>
                </a:srgbClr>
              </a:gs>
            </a:gsLst>
            <a:lin ang="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12" name="Freeform 10"/>
          <p:cNvSpPr/>
          <p:nvPr/>
        </p:nvSpPr>
        <p:spPr bwMode="gray">
          <a:xfrm>
            <a:off x="5326082" y="2889566"/>
            <a:ext cx="615932" cy="1163907"/>
          </a:xfrm>
          <a:custGeom>
            <a:avLst/>
            <a:gdLst/>
            <a:ahLst/>
            <a:cxnLst>
              <a:cxn ang="0">
                <a:pos x="0" y="167"/>
              </a:cxn>
              <a:cxn ang="0">
                <a:pos x="201" y="370"/>
              </a:cxn>
              <a:cxn ang="0">
                <a:pos x="201" y="210"/>
              </a:cxn>
              <a:cxn ang="0">
                <a:pos x="0" y="0"/>
              </a:cxn>
              <a:cxn ang="0">
                <a:pos x="0" y="167"/>
              </a:cxn>
            </a:cxnLst>
            <a:rect l="0" t="0" r="r" b="b"/>
            <a:pathLst>
              <a:path w="201" h="370">
                <a:moveTo>
                  <a:pt x="0" y="167"/>
                </a:moveTo>
                <a:lnTo>
                  <a:pt x="201" y="370"/>
                </a:lnTo>
                <a:lnTo>
                  <a:pt x="201" y="210"/>
                </a:lnTo>
                <a:lnTo>
                  <a:pt x="0" y="0"/>
                </a:lnTo>
                <a:lnTo>
                  <a:pt x="0" y="167"/>
                </a:lnTo>
                <a:close/>
              </a:path>
            </a:pathLst>
          </a:custGeom>
          <a:gradFill rotWithShape="1">
            <a:gsLst>
              <a:gs pos="0">
                <a:srgbClr val="855ADA">
                  <a:gamma/>
                  <a:shade val="46275"/>
                  <a:invGamma/>
                </a:srgbClr>
              </a:gs>
              <a:gs pos="100000">
                <a:srgbClr val="855ADA"/>
              </a:gs>
            </a:gsLst>
            <a:lin ang="2700000" scaled="1"/>
          </a:gradFill>
          <a:ln w="9525">
            <a:noFill/>
            <a:round/>
          </a:ln>
          <a:effectLst/>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pic>
        <p:nvPicPr>
          <p:cNvPr id="13" name="Picture 11" descr="light_shadow"/>
          <p:cNvPicPr>
            <a:picLocks noChangeAspect="1" noChangeArrowheads="1"/>
          </p:cNvPicPr>
          <p:nvPr/>
        </p:nvPicPr>
        <p:blipFill>
          <a:blip r:embed="rId1">
            <a:grayscl/>
            <a:lum bright="-76000" contrast="-4000"/>
          </a:blip>
          <a:srcRect/>
          <a:stretch>
            <a:fillRect/>
          </a:stretch>
        </p:blipFill>
        <p:spPr bwMode="gray">
          <a:xfrm>
            <a:off x="2322620" y="4074115"/>
            <a:ext cx="1008034" cy="281053"/>
          </a:xfrm>
          <a:prstGeom prst="rect">
            <a:avLst/>
          </a:prstGeom>
          <a:noFill/>
          <a:ln w="9525">
            <a:noFill/>
            <a:miter lim="800000"/>
            <a:headEnd/>
            <a:tailEnd/>
          </a:ln>
        </p:spPr>
      </p:pic>
      <p:pic>
        <p:nvPicPr>
          <p:cNvPr id="14" name="Picture 12" descr="circuler_1"/>
          <p:cNvPicPr>
            <a:picLocks noChangeAspect="1" noChangeArrowheads="1"/>
          </p:cNvPicPr>
          <p:nvPr/>
        </p:nvPicPr>
        <p:blipFill>
          <a:blip r:embed="rId2"/>
          <a:srcRect/>
          <a:stretch>
            <a:fillRect/>
          </a:stretch>
        </p:blipFill>
        <p:spPr bwMode="gray">
          <a:xfrm>
            <a:off x="2235310" y="3113457"/>
            <a:ext cx="1152492" cy="1140089"/>
          </a:xfrm>
          <a:prstGeom prst="rect">
            <a:avLst/>
          </a:prstGeom>
          <a:noFill/>
          <a:ln w="9525">
            <a:noFill/>
            <a:miter lim="800000"/>
            <a:headEnd/>
            <a:tailEnd/>
          </a:ln>
        </p:spPr>
      </p:pic>
      <p:sp>
        <p:nvSpPr>
          <p:cNvPr id="15" name="Oval 13"/>
          <p:cNvSpPr>
            <a:spLocks noChangeArrowheads="1"/>
          </p:cNvSpPr>
          <p:nvPr/>
        </p:nvSpPr>
        <p:spPr bwMode="gray">
          <a:xfrm>
            <a:off x="2235311" y="3113456"/>
            <a:ext cx="1144554" cy="1143265"/>
          </a:xfrm>
          <a:prstGeom prst="ellipse">
            <a:avLst/>
          </a:prstGeom>
          <a:gradFill rotWithShape="1">
            <a:gsLst>
              <a:gs pos="0">
                <a:srgbClr val="855ADA">
                  <a:alpha val="45000"/>
                </a:srgbClr>
              </a:gs>
              <a:gs pos="50000">
                <a:srgbClr val="855ADA">
                  <a:gamma/>
                  <a:tint val="54510"/>
                  <a:invGamma/>
                  <a:alpha val="89999"/>
                </a:srgbClr>
              </a:gs>
              <a:gs pos="100000">
                <a:srgbClr val="855ADA">
                  <a:alpha val="45000"/>
                </a:srgbClr>
              </a:gs>
            </a:gsLst>
            <a:lin ang="5400000" scaled="1"/>
          </a:gradFill>
          <a:ln w="9525" algn="ctr">
            <a:noFill/>
            <a:round/>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16" name="Freeform 14"/>
          <p:cNvSpPr/>
          <p:nvPr/>
        </p:nvSpPr>
        <p:spPr bwMode="gray">
          <a:xfrm>
            <a:off x="2354369" y="3137273"/>
            <a:ext cx="898499" cy="395380"/>
          </a:xfrm>
          <a:custGeom>
            <a:avLst/>
            <a:gdLst>
              <a:gd name="T0" fmla="*/ 2147483647 w 1321"/>
              <a:gd name="T1" fmla="*/ 2147483647 h 712"/>
              <a:gd name="T2" fmla="*/ 2147483647 w 1321"/>
              <a:gd name="T3" fmla="*/ 2147483647 h 712"/>
              <a:gd name="T4" fmla="*/ 2147483647 w 1321"/>
              <a:gd name="T5" fmla="*/ 2147483647 h 712"/>
              <a:gd name="T6" fmla="*/ 2147483647 w 1321"/>
              <a:gd name="T7" fmla="*/ 2147483647 h 712"/>
              <a:gd name="T8" fmla="*/ 2147483647 w 1321"/>
              <a:gd name="T9" fmla="*/ 2147483647 h 712"/>
              <a:gd name="T10" fmla="*/ 2147483647 w 1321"/>
              <a:gd name="T11" fmla="*/ 2147483647 h 712"/>
              <a:gd name="T12" fmla="*/ 2147483647 w 1321"/>
              <a:gd name="T13" fmla="*/ 2147483647 h 712"/>
              <a:gd name="T14" fmla="*/ 2147483647 w 1321"/>
              <a:gd name="T15" fmla="*/ 2147483647 h 712"/>
              <a:gd name="T16" fmla="*/ 2147483647 w 1321"/>
              <a:gd name="T17" fmla="*/ 2147483647 h 712"/>
              <a:gd name="T18" fmla="*/ 2147483647 w 1321"/>
              <a:gd name="T19" fmla="*/ 2147483647 h 712"/>
              <a:gd name="T20" fmla="*/ 2147483647 w 1321"/>
              <a:gd name="T21" fmla="*/ 2147483647 h 712"/>
              <a:gd name="T22" fmla="*/ 2147483647 w 1321"/>
              <a:gd name="T23" fmla="*/ 2147483647 h 712"/>
              <a:gd name="T24" fmla="*/ 2147483647 w 1321"/>
              <a:gd name="T25" fmla="*/ 2147483647 h 712"/>
              <a:gd name="T26" fmla="*/ 2147483647 w 1321"/>
              <a:gd name="T27" fmla="*/ 2147483647 h 712"/>
              <a:gd name="T28" fmla="*/ 2147483647 w 1321"/>
              <a:gd name="T29" fmla="*/ 2147483647 h 712"/>
              <a:gd name="T30" fmla="*/ 2147483647 w 1321"/>
              <a:gd name="T31" fmla="*/ 2147483647 h 712"/>
              <a:gd name="T32" fmla="*/ 2147483647 w 1321"/>
              <a:gd name="T33" fmla="*/ 2147483647 h 712"/>
              <a:gd name="T34" fmla="*/ 2147483647 w 1321"/>
              <a:gd name="T35" fmla="*/ 2147483647 h 712"/>
              <a:gd name="T36" fmla="*/ 2147483647 w 1321"/>
              <a:gd name="T37" fmla="*/ 2147483647 h 712"/>
              <a:gd name="T38" fmla="*/ 2147483647 w 1321"/>
              <a:gd name="T39" fmla="*/ 2147483647 h 712"/>
              <a:gd name="T40" fmla="*/ 2147483647 w 1321"/>
              <a:gd name="T41" fmla="*/ 2147483647 h 712"/>
              <a:gd name="T42" fmla="*/ 2147483647 w 1321"/>
              <a:gd name="T43" fmla="*/ 2147483647 h 712"/>
              <a:gd name="T44" fmla="*/ 2147483647 w 1321"/>
              <a:gd name="T45" fmla="*/ 2147483647 h 712"/>
              <a:gd name="T46" fmla="*/ 2147483647 w 1321"/>
              <a:gd name="T47" fmla="*/ 2147483647 h 712"/>
              <a:gd name="T48" fmla="*/ 2147483647 w 1321"/>
              <a:gd name="T49" fmla="*/ 2147483647 h 712"/>
              <a:gd name="T50" fmla="*/ 2147483647 w 1321"/>
              <a:gd name="T51" fmla="*/ 2147483647 h 712"/>
              <a:gd name="T52" fmla="*/ 2147483647 w 1321"/>
              <a:gd name="T53" fmla="*/ 2147483647 h 712"/>
              <a:gd name="T54" fmla="*/ 2147483647 w 1321"/>
              <a:gd name="T55" fmla="*/ 2147483647 h 712"/>
              <a:gd name="T56" fmla="*/ 0 w 1321"/>
              <a:gd name="T57" fmla="*/ 2147483647 h 712"/>
              <a:gd name="T58" fmla="*/ 0 w 1321"/>
              <a:gd name="T59" fmla="*/ 2147483647 h 712"/>
              <a:gd name="T60" fmla="*/ 2147483647 w 1321"/>
              <a:gd name="T61" fmla="*/ 2147483647 h 712"/>
              <a:gd name="T62" fmla="*/ 2147483647 w 1321"/>
              <a:gd name="T63" fmla="*/ 2147483647 h 712"/>
              <a:gd name="T64" fmla="*/ 2147483647 w 1321"/>
              <a:gd name="T65" fmla="*/ 2147483647 h 712"/>
              <a:gd name="T66" fmla="*/ 2147483647 w 1321"/>
              <a:gd name="T67" fmla="*/ 2147483647 h 712"/>
              <a:gd name="T68" fmla="*/ 2147483647 w 1321"/>
              <a:gd name="T69" fmla="*/ 2147483647 h 712"/>
              <a:gd name="T70" fmla="*/ 2147483647 w 1321"/>
              <a:gd name="T71" fmla="*/ 2147483647 h 712"/>
              <a:gd name="T72" fmla="*/ 2147483647 w 1321"/>
              <a:gd name="T73" fmla="*/ 2147483647 h 712"/>
              <a:gd name="T74" fmla="*/ 2147483647 w 1321"/>
              <a:gd name="T75" fmla="*/ 2147483647 h 712"/>
              <a:gd name="T76" fmla="*/ 2147483647 w 1321"/>
              <a:gd name="T77" fmla="*/ 2147483647 h 712"/>
              <a:gd name="T78" fmla="*/ 2147483647 w 1321"/>
              <a:gd name="T79" fmla="*/ 2147483647 h 712"/>
              <a:gd name="T80" fmla="*/ 2147483647 w 1321"/>
              <a:gd name="T81" fmla="*/ 2147483647 h 712"/>
              <a:gd name="T82" fmla="*/ 2147483647 w 1321"/>
              <a:gd name="T83" fmla="*/ 0 h 712"/>
              <a:gd name="T84" fmla="*/ 2147483647 w 1321"/>
              <a:gd name="T85" fmla="*/ 0 h 712"/>
              <a:gd name="T86" fmla="*/ 2147483647 w 1321"/>
              <a:gd name="T87" fmla="*/ 2147483647 h 712"/>
              <a:gd name="T88" fmla="*/ 2147483647 w 1321"/>
              <a:gd name="T89" fmla="*/ 2147483647 h 712"/>
              <a:gd name="T90" fmla="*/ 2147483647 w 1321"/>
              <a:gd name="T91" fmla="*/ 2147483647 h 712"/>
              <a:gd name="T92" fmla="*/ 2147483647 w 1321"/>
              <a:gd name="T93" fmla="*/ 2147483647 h 712"/>
              <a:gd name="T94" fmla="*/ 2147483647 w 1321"/>
              <a:gd name="T95" fmla="*/ 2147483647 h 712"/>
              <a:gd name="T96" fmla="*/ 2147483647 w 1321"/>
              <a:gd name="T97" fmla="*/ 2147483647 h 712"/>
              <a:gd name="T98" fmla="*/ 2147483647 w 1321"/>
              <a:gd name="T99" fmla="*/ 2147483647 h 712"/>
              <a:gd name="T100" fmla="*/ 2147483647 w 1321"/>
              <a:gd name="T101" fmla="*/ 2147483647 h 712"/>
              <a:gd name="T102" fmla="*/ 2147483647 w 1321"/>
              <a:gd name="T103" fmla="*/ 2147483647 h 712"/>
              <a:gd name="T104" fmla="*/ 2147483647 w 1321"/>
              <a:gd name="T105" fmla="*/ 2147483647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855ADA">
                  <a:alpha val="17998"/>
                </a:srgbClr>
              </a:gs>
            </a:gsLst>
            <a:lin ang="5400000" scaled="1"/>
          </a:gradFill>
          <a:ln w="0">
            <a:noFill/>
            <a:round/>
          </a:ln>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pic>
        <p:nvPicPr>
          <p:cNvPr id="17" name="Picture 15" descr="light_shadow"/>
          <p:cNvPicPr>
            <a:picLocks noChangeAspect="1" noChangeArrowheads="1"/>
          </p:cNvPicPr>
          <p:nvPr/>
        </p:nvPicPr>
        <p:blipFill>
          <a:blip r:embed="rId1">
            <a:grayscl/>
            <a:lum bright="-76000" contrast="-4000"/>
          </a:blip>
          <a:srcRect/>
          <a:stretch>
            <a:fillRect/>
          </a:stretch>
        </p:blipFill>
        <p:spPr bwMode="gray">
          <a:xfrm>
            <a:off x="4165653" y="3570763"/>
            <a:ext cx="1008033" cy="281052"/>
          </a:xfrm>
          <a:prstGeom prst="rect">
            <a:avLst/>
          </a:prstGeom>
          <a:noFill/>
          <a:ln w="9525">
            <a:noFill/>
            <a:miter lim="800000"/>
            <a:headEnd/>
            <a:tailEnd/>
          </a:ln>
        </p:spPr>
      </p:pic>
      <p:pic>
        <p:nvPicPr>
          <p:cNvPr id="18" name="Picture 16" descr="circuler_1"/>
          <p:cNvPicPr>
            <a:picLocks noChangeAspect="1" noChangeArrowheads="1"/>
          </p:cNvPicPr>
          <p:nvPr/>
        </p:nvPicPr>
        <p:blipFill>
          <a:blip r:embed="rId2"/>
          <a:srcRect/>
          <a:stretch>
            <a:fillRect/>
          </a:stretch>
        </p:blipFill>
        <p:spPr bwMode="gray">
          <a:xfrm>
            <a:off x="4078344" y="2610102"/>
            <a:ext cx="1152492" cy="1140089"/>
          </a:xfrm>
          <a:prstGeom prst="rect">
            <a:avLst/>
          </a:prstGeom>
          <a:noFill/>
          <a:ln w="9525">
            <a:noFill/>
            <a:miter lim="800000"/>
            <a:headEnd/>
            <a:tailEnd/>
          </a:ln>
        </p:spPr>
      </p:pic>
      <p:sp>
        <p:nvSpPr>
          <p:cNvPr id="19" name="Oval 17"/>
          <p:cNvSpPr>
            <a:spLocks noChangeArrowheads="1"/>
          </p:cNvSpPr>
          <p:nvPr/>
        </p:nvSpPr>
        <p:spPr bwMode="gray">
          <a:xfrm>
            <a:off x="4078344" y="2610101"/>
            <a:ext cx="1144555" cy="1143265"/>
          </a:xfrm>
          <a:prstGeom prst="ellipse">
            <a:avLst/>
          </a:prstGeom>
          <a:gradFill rotWithShape="1">
            <a:gsLst>
              <a:gs pos="0">
                <a:srgbClr val="4EA7EA">
                  <a:gamma/>
                  <a:shade val="26275"/>
                  <a:invGamma/>
                  <a:alpha val="89999"/>
                </a:srgbClr>
              </a:gs>
              <a:gs pos="50000">
                <a:srgbClr val="4EA7EA">
                  <a:alpha val="45000"/>
                </a:srgbClr>
              </a:gs>
              <a:gs pos="100000">
                <a:srgbClr val="4EA7EA">
                  <a:gamma/>
                  <a:shade val="26275"/>
                  <a:invGamma/>
                  <a:alpha val="89999"/>
                </a:srgbClr>
              </a:gs>
            </a:gsLst>
            <a:lin ang="5400000" scaled="1"/>
          </a:gradFill>
          <a:ln w="9525" algn="ctr">
            <a:noFill/>
            <a:round/>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20" name="Freeform 18"/>
          <p:cNvSpPr/>
          <p:nvPr/>
        </p:nvSpPr>
        <p:spPr bwMode="gray">
          <a:xfrm>
            <a:off x="4197404" y="2633921"/>
            <a:ext cx="898499" cy="395378"/>
          </a:xfrm>
          <a:custGeom>
            <a:avLst/>
            <a:gdLst>
              <a:gd name="T0" fmla="*/ 2147483647 w 1321"/>
              <a:gd name="T1" fmla="*/ 2147483647 h 712"/>
              <a:gd name="T2" fmla="*/ 2147483647 w 1321"/>
              <a:gd name="T3" fmla="*/ 2147483647 h 712"/>
              <a:gd name="T4" fmla="*/ 2147483647 w 1321"/>
              <a:gd name="T5" fmla="*/ 2147483647 h 712"/>
              <a:gd name="T6" fmla="*/ 2147483647 w 1321"/>
              <a:gd name="T7" fmla="*/ 2147483647 h 712"/>
              <a:gd name="T8" fmla="*/ 2147483647 w 1321"/>
              <a:gd name="T9" fmla="*/ 2147483647 h 712"/>
              <a:gd name="T10" fmla="*/ 2147483647 w 1321"/>
              <a:gd name="T11" fmla="*/ 2147483647 h 712"/>
              <a:gd name="T12" fmla="*/ 2147483647 w 1321"/>
              <a:gd name="T13" fmla="*/ 2147483647 h 712"/>
              <a:gd name="T14" fmla="*/ 2147483647 w 1321"/>
              <a:gd name="T15" fmla="*/ 2147483647 h 712"/>
              <a:gd name="T16" fmla="*/ 2147483647 w 1321"/>
              <a:gd name="T17" fmla="*/ 2147483647 h 712"/>
              <a:gd name="T18" fmla="*/ 2147483647 w 1321"/>
              <a:gd name="T19" fmla="*/ 2147483647 h 712"/>
              <a:gd name="T20" fmla="*/ 2147483647 w 1321"/>
              <a:gd name="T21" fmla="*/ 2147483647 h 712"/>
              <a:gd name="T22" fmla="*/ 2147483647 w 1321"/>
              <a:gd name="T23" fmla="*/ 2147483647 h 712"/>
              <a:gd name="T24" fmla="*/ 2147483647 w 1321"/>
              <a:gd name="T25" fmla="*/ 2147483647 h 712"/>
              <a:gd name="T26" fmla="*/ 2147483647 w 1321"/>
              <a:gd name="T27" fmla="*/ 2147483647 h 712"/>
              <a:gd name="T28" fmla="*/ 2147483647 w 1321"/>
              <a:gd name="T29" fmla="*/ 2147483647 h 712"/>
              <a:gd name="T30" fmla="*/ 2147483647 w 1321"/>
              <a:gd name="T31" fmla="*/ 2147483647 h 712"/>
              <a:gd name="T32" fmla="*/ 2147483647 w 1321"/>
              <a:gd name="T33" fmla="*/ 2147483647 h 712"/>
              <a:gd name="T34" fmla="*/ 2147483647 w 1321"/>
              <a:gd name="T35" fmla="*/ 2147483647 h 712"/>
              <a:gd name="T36" fmla="*/ 2147483647 w 1321"/>
              <a:gd name="T37" fmla="*/ 2147483647 h 712"/>
              <a:gd name="T38" fmla="*/ 2147483647 w 1321"/>
              <a:gd name="T39" fmla="*/ 2147483647 h 712"/>
              <a:gd name="T40" fmla="*/ 2147483647 w 1321"/>
              <a:gd name="T41" fmla="*/ 2147483647 h 712"/>
              <a:gd name="T42" fmla="*/ 2147483647 w 1321"/>
              <a:gd name="T43" fmla="*/ 2147483647 h 712"/>
              <a:gd name="T44" fmla="*/ 2147483647 w 1321"/>
              <a:gd name="T45" fmla="*/ 2147483647 h 712"/>
              <a:gd name="T46" fmla="*/ 2147483647 w 1321"/>
              <a:gd name="T47" fmla="*/ 2147483647 h 712"/>
              <a:gd name="T48" fmla="*/ 2147483647 w 1321"/>
              <a:gd name="T49" fmla="*/ 2147483647 h 712"/>
              <a:gd name="T50" fmla="*/ 2147483647 w 1321"/>
              <a:gd name="T51" fmla="*/ 2147483647 h 712"/>
              <a:gd name="T52" fmla="*/ 2147483647 w 1321"/>
              <a:gd name="T53" fmla="*/ 2147483647 h 712"/>
              <a:gd name="T54" fmla="*/ 2147483647 w 1321"/>
              <a:gd name="T55" fmla="*/ 2147483647 h 712"/>
              <a:gd name="T56" fmla="*/ 0 w 1321"/>
              <a:gd name="T57" fmla="*/ 2147483647 h 712"/>
              <a:gd name="T58" fmla="*/ 0 w 1321"/>
              <a:gd name="T59" fmla="*/ 2147483647 h 712"/>
              <a:gd name="T60" fmla="*/ 2147483647 w 1321"/>
              <a:gd name="T61" fmla="*/ 2147483647 h 712"/>
              <a:gd name="T62" fmla="*/ 2147483647 w 1321"/>
              <a:gd name="T63" fmla="*/ 2147483647 h 712"/>
              <a:gd name="T64" fmla="*/ 2147483647 w 1321"/>
              <a:gd name="T65" fmla="*/ 2147483647 h 712"/>
              <a:gd name="T66" fmla="*/ 2147483647 w 1321"/>
              <a:gd name="T67" fmla="*/ 2147483647 h 712"/>
              <a:gd name="T68" fmla="*/ 2147483647 w 1321"/>
              <a:gd name="T69" fmla="*/ 2147483647 h 712"/>
              <a:gd name="T70" fmla="*/ 2147483647 w 1321"/>
              <a:gd name="T71" fmla="*/ 2147483647 h 712"/>
              <a:gd name="T72" fmla="*/ 2147483647 w 1321"/>
              <a:gd name="T73" fmla="*/ 2147483647 h 712"/>
              <a:gd name="T74" fmla="*/ 2147483647 w 1321"/>
              <a:gd name="T75" fmla="*/ 2147483647 h 712"/>
              <a:gd name="T76" fmla="*/ 2147483647 w 1321"/>
              <a:gd name="T77" fmla="*/ 2147483647 h 712"/>
              <a:gd name="T78" fmla="*/ 2147483647 w 1321"/>
              <a:gd name="T79" fmla="*/ 2147483647 h 712"/>
              <a:gd name="T80" fmla="*/ 2147483647 w 1321"/>
              <a:gd name="T81" fmla="*/ 2147483647 h 712"/>
              <a:gd name="T82" fmla="*/ 2147483647 w 1321"/>
              <a:gd name="T83" fmla="*/ 0 h 712"/>
              <a:gd name="T84" fmla="*/ 2147483647 w 1321"/>
              <a:gd name="T85" fmla="*/ 0 h 712"/>
              <a:gd name="T86" fmla="*/ 2147483647 w 1321"/>
              <a:gd name="T87" fmla="*/ 2147483647 h 712"/>
              <a:gd name="T88" fmla="*/ 2147483647 w 1321"/>
              <a:gd name="T89" fmla="*/ 2147483647 h 712"/>
              <a:gd name="T90" fmla="*/ 2147483647 w 1321"/>
              <a:gd name="T91" fmla="*/ 2147483647 h 712"/>
              <a:gd name="T92" fmla="*/ 2147483647 w 1321"/>
              <a:gd name="T93" fmla="*/ 2147483647 h 712"/>
              <a:gd name="T94" fmla="*/ 2147483647 w 1321"/>
              <a:gd name="T95" fmla="*/ 2147483647 h 712"/>
              <a:gd name="T96" fmla="*/ 2147483647 w 1321"/>
              <a:gd name="T97" fmla="*/ 2147483647 h 712"/>
              <a:gd name="T98" fmla="*/ 2147483647 w 1321"/>
              <a:gd name="T99" fmla="*/ 2147483647 h 712"/>
              <a:gd name="T100" fmla="*/ 2147483647 w 1321"/>
              <a:gd name="T101" fmla="*/ 2147483647 h 712"/>
              <a:gd name="T102" fmla="*/ 2147483647 w 1321"/>
              <a:gd name="T103" fmla="*/ 2147483647 h 712"/>
              <a:gd name="T104" fmla="*/ 2147483647 w 1321"/>
              <a:gd name="T105" fmla="*/ 2147483647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4EA7EA">
                  <a:alpha val="17998"/>
                </a:srgbClr>
              </a:gs>
            </a:gsLst>
            <a:lin ang="5400000" scaled="1"/>
          </a:gradFill>
          <a:ln w="0">
            <a:noFill/>
            <a:round/>
          </a:ln>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pic>
        <p:nvPicPr>
          <p:cNvPr id="21" name="Picture 19" descr="light_shadow"/>
          <p:cNvPicPr>
            <a:picLocks noChangeAspect="1" noChangeArrowheads="1"/>
          </p:cNvPicPr>
          <p:nvPr/>
        </p:nvPicPr>
        <p:blipFill>
          <a:blip r:embed="rId1">
            <a:grayscl/>
            <a:lum bright="-76000" contrast="-4000"/>
          </a:blip>
          <a:srcRect/>
          <a:stretch>
            <a:fillRect/>
          </a:stretch>
        </p:blipFill>
        <p:spPr bwMode="gray">
          <a:xfrm>
            <a:off x="6086473" y="3083286"/>
            <a:ext cx="1008033" cy="281053"/>
          </a:xfrm>
          <a:prstGeom prst="rect">
            <a:avLst/>
          </a:prstGeom>
          <a:noFill/>
          <a:ln w="9525">
            <a:noFill/>
            <a:miter lim="800000"/>
            <a:headEnd/>
            <a:tailEnd/>
          </a:ln>
        </p:spPr>
      </p:pic>
      <p:pic>
        <p:nvPicPr>
          <p:cNvPr id="22" name="Picture 20" descr="circuler_1"/>
          <p:cNvPicPr>
            <a:picLocks noChangeAspect="1" noChangeArrowheads="1"/>
          </p:cNvPicPr>
          <p:nvPr/>
        </p:nvPicPr>
        <p:blipFill>
          <a:blip r:embed="rId2"/>
          <a:srcRect/>
          <a:stretch>
            <a:fillRect/>
          </a:stretch>
        </p:blipFill>
        <p:spPr bwMode="gray">
          <a:xfrm>
            <a:off x="5999163" y="2122627"/>
            <a:ext cx="1152492" cy="1140089"/>
          </a:xfrm>
          <a:prstGeom prst="rect">
            <a:avLst/>
          </a:prstGeom>
          <a:noFill/>
          <a:ln w="9525">
            <a:noFill/>
            <a:miter lim="800000"/>
            <a:headEnd/>
            <a:tailEnd/>
          </a:ln>
        </p:spPr>
      </p:pic>
      <p:sp>
        <p:nvSpPr>
          <p:cNvPr id="23" name="Oval 21"/>
          <p:cNvSpPr>
            <a:spLocks noChangeArrowheads="1"/>
          </p:cNvSpPr>
          <p:nvPr/>
        </p:nvSpPr>
        <p:spPr bwMode="gray">
          <a:xfrm>
            <a:off x="5999163" y="2122627"/>
            <a:ext cx="1144555" cy="1143265"/>
          </a:xfrm>
          <a:prstGeom prst="ellipse">
            <a:avLst/>
          </a:prstGeom>
          <a:gradFill rotWithShape="1">
            <a:gsLst>
              <a:gs pos="0">
                <a:srgbClr val="855ADA">
                  <a:gamma/>
                  <a:shade val="26275"/>
                  <a:invGamma/>
                  <a:alpha val="89999"/>
                </a:srgbClr>
              </a:gs>
              <a:gs pos="50000">
                <a:srgbClr val="855ADA">
                  <a:alpha val="45000"/>
                </a:srgbClr>
              </a:gs>
              <a:gs pos="100000">
                <a:srgbClr val="855ADA">
                  <a:gamma/>
                  <a:shade val="26275"/>
                  <a:invGamma/>
                  <a:alpha val="89999"/>
                </a:srgbClr>
              </a:gs>
            </a:gsLst>
            <a:lin ang="5400000" scaled="1"/>
          </a:gradFill>
          <a:ln w="9525" algn="ctr">
            <a:noFill/>
            <a:round/>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24" name="Freeform 22"/>
          <p:cNvSpPr/>
          <p:nvPr/>
        </p:nvSpPr>
        <p:spPr bwMode="gray">
          <a:xfrm>
            <a:off x="6118223" y="2146445"/>
            <a:ext cx="898499" cy="395380"/>
          </a:xfrm>
          <a:custGeom>
            <a:avLst/>
            <a:gdLst>
              <a:gd name="T0" fmla="*/ 2147483647 w 1321"/>
              <a:gd name="T1" fmla="*/ 2147483647 h 712"/>
              <a:gd name="T2" fmla="*/ 2147483647 w 1321"/>
              <a:gd name="T3" fmla="*/ 2147483647 h 712"/>
              <a:gd name="T4" fmla="*/ 2147483647 w 1321"/>
              <a:gd name="T5" fmla="*/ 2147483647 h 712"/>
              <a:gd name="T6" fmla="*/ 2147483647 w 1321"/>
              <a:gd name="T7" fmla="*/ 2147483647 h 712"/>
              <a:gd name="T8" fmla="*/ 2147483647 w 1321"/>
              <a:gd name="T9" fmla="*/ 2147483647 h 712"/>
              <a:gd name="T10" fmla="*/ 2147483647 w 1321"/>
              <a:gd name="T11" fmla="*/ 2147483647 h 712"/>
              <a:gd name="T12" fmla="*/ 2147483647 w 1321"/>
              <a:gd name="T13" fmla="*/ 2147483647 h 712"/>
              <a:gd name="T14" fmla="*/ 2147483647 w 1321"/>
              <a:gd name="T15" fmla="*/ 2147483647 h 712"/>
              <a:gd name="T16" fmla="*/ 2147483647 w 1321"/>
              <a:gd name="T17" fmla="*/ 2147483647 h 712"/>
              <a:gd name="T18" fmla="*/ 2147483647 w 1321"/>
              <a:gd name="T19" fmla="*/ 2147483647 h 712"/>
              <a:gd name="T20" fmla="*/ 2147483647 w 1321"/>
              <a:gd name="T21" fmla="*/ 2147483647 h 712"/>
              <a:gd name="T22" fmla="*/ 2147483647 w 1321"/>
              <a:gd name="T23" fmla="*/ 2147483647 h 712"/>
              <a:gd name="T24" fmla="*/ 2147483647 w 1321"/>
              <a:gd name="T25" fmla="*/ 2147483647 h 712"/>
              <a:gd name="T26" fmla="*/ 2147483647 w 1321"/>
              <a:gd name="T27" fmla="*/ 2147483647 h 712"/>
              <a:gd name="T28" fmla="*/ 2147483647 w 1321"/>
              <a:gd name="T29" fmla="*/ 2147483647 h 712"/>
              <a:gd name="T30" fmla="*/ 2147483647 w 1321"/>
              <a:gd name="T31" fmla="*/ 2147483647 h 712"/>
              <a:gd name="T32" fmla="*/ 2147483647 w 1321"/>
              <a:gd name="T33" fmla="*/ 2147483647 h 712"/>
              <a:gd name="T34" fmla="*/ 2147483647 w 1321"/>
              <a:gd name="T35" fmla="*/ 2147483647 h 712"/>
              <a:gd name="T36" fmla="*/ 2147483647 w 1321"/>
              <a:gd name="T37" fmla="*/ 2147483647 h 712"/>
              <a:gd name="T38" fmla="*/ 2147483647 w 1321"/>
              <a:gd name="T39" fmla="*/ 2147483647 h 712"/>
              <a:gd name="T40" fmla="*/ 2147483647 w 1321"/>
              <a:gd name="T41" fmla="*/ 2147483647 h 712"/>
              <a:gd name="T42" fmla="*/ 2147483647 w 1321"/>
              <a:gd name="T43" fmla="*/ 2147483647 h 712"/>
              <a:gd name="T44" fmla="*/ 2147483647 w 1321"/>
              <a:gd name="T45" fmla="*/ 2147483647 h 712"/>
              <a:gd name="T46" fmla="*/ 2147483647 w 1321"/>
              <a:gd name="T47" fmla="*/ 2147483647 h 712"/>
              <a:gd name="T48" fmla="*/ 2147483647 w 1321"/>
              <a:gd name="T49" fmla="*/ 2147483647 h 712"/>
              <a:gd name="T50" fmla="*/ 2147483647 w 1321"/>
              <a:gd name="T51" fmla="*/ 2147483647 h 712"/>
              <a:gd name="T52" fmla="*/ 2147483647 w 1321"/>
              <a:gd name="T53" fmla="*/ 2147483647 h 712"/>
              <a:gd name="T54" fmla="*/ 2147483647 w 1321"/>
              <a:gd name="T55" fmla="*/ 2147483647 h 712"/>
              <a:gd name="T56" fmla="*/ 0 w 1321"/>
              <a:gd name="T57" fmla="*/ 2147483647 h 712"/>
              <a:gd name="T58" fmla="*/ 0 w 1321"/>
              <a:gd name="T59" fmla="*/ 2147483647 h 712"/>
              <a:gd name="T60" fmla="*/ 2147483647 w 1321"/>
              <a:gd name="T61" fmla="*/ 2147483647 h 712"/>
              <a:gd name="T62" fmla="*/ 2147483647 w 1321"/>
              <a:gd name="T63" fmla="*/ 2147483647 h 712"/>
              <a:gd name="T64" fmla="*/ 2147483647 w 1321"/>
              <a:gd name="T65" fmla="*/ 2147483647 h 712"/>
              <a:gd name="T66" fmla="*/ 2147483647 w 1321"/>
              <a:gd name="T67" fmla="*/ 2147483647 h 712"/>
              <a:gd name="T68" fmla="*/ 2147483647 w 1321"/>
              <a:gd name="T69" fmla="*/ 2147483647 h 712"/>
              <a:gd name="T70" fmla="*/ 2147483647 w 1321"/>
              <a:gd name="T71" fmla="*/ 2147483647 h 712"/>
              <a:gd name="T72" fmla="*/ 2147483647 w 1321"/>
              <a:gd name="T73" fmla="*/ 2147483647 h 712"/>
              <a:gd name="T74" fmla="*/ 2147483647 w 1321"/>
              <a:gd name="T75" fmla="*/ 2147483647 h 712"/>
              <a:gd name="T76" fmla="*/ 2147483647 w 1321"/>
              <a:gd name="T77" fmla="*/ 2147483647 h 712"/>
              <a:gd name="T78" fmla="*/ 2147483647 w 1321"/>
              <a:gd name="T79" fmla="*/ 2147483647 h 712"/>
              <a:gd name="T80" fmla="*/ 2147483647 w 1321"/>
              <a:gd name="T81" fmla="*/ 2147483647 h 712"/>
              <a:gd name="T82" fmla="*/ 2147483647 w 1321"/>
              <a:gd name="T83" fmla="*/ 0 h 712"/>
              <a:gd name="T84" fmla="*/ 2147483647 w 1321"/>
              <a:gd name="T85" fmla="*/ 0 h 712"/>
              <a:gd name="T86" fmla="*/ 2147483647 w 1321"/>
              <a:gd name="T87" fmla="*/ 2147483647 h 712"/>
              <a:gd name="T88" fmla="*/ 2147483647 w 1321"/>
              <a:gd name="T89" fmla="*/ 2147483647 h 712"/>
              <a:gd name="T90" fmla="*/ 2147483647 w 1321"/>
              <a:gd name="T91" fmla="*/ 2147483647 h 712"/>
              <a:gd name="T92" fmla="*/ 2147483647 w 1321"/>
              <a:gd name="T93" fmla="*/ 2147483647 h 712"/>
              <a:gd name="T94" fmla="*/ 2147483647 w 1321"/>
              <a:gd name="T95" fmla="*/ 2147483647 h 712"/>
              <a:gd name="T96" fmla="*/ 2147483647 w 1321"/>
              <a:gd name="T97" fmla="*/ 2147483647 h 712"/>
              <a:gd name="T98" fmla="*/ 2147483647 w 1321"/>
              <a:gd name="T99" fmla="*/ 2147483647 h 712"/>
              <a:gd name="T100" fmla="*/ 2147483647 w 1321"/>
              <a:gd name="T101" fmla="*/ 2147483647 h 712"/>
              <a:gd name="T102" fmla="*/ 2147483647 w 1321"/>
              <a:gd name="T103" fmla="*/ 2147483647 h 712"/>
              <a:gd name="T104" fmla="*/ 2147483647 w 1321"/>
              <a:gd name="T105" fmla="*/ 2147483647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855ADA">
                  <a:alpha val="17998"/>
                </a:srgbClr>
              </a:gs>
            </a:gsLst>
            <a:lin ang="5400000" scaled="1"/>
          </a:gradFill>
          <a:ln w="0">
            <a:noFill/>
            <a:round/>
          </a:ln>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25" name="Text Box 23"/>
          <p:cNvSpPr txBox="1">
            <a:spLocks noChangeArrowheads="1"/>
          </p:cNvSpPr>
          <p:nvPr/>
        </p:nvSpPr>
        <p:spPr bwMode="auto">
          <a:xfrm>
            <a:off x="2343579" y="3570925"/>
            <a:ext cx="955647" cy="284675"/>
          </a:xfrm>
          <a:prstGeom prst="rect">
            <a:avLst/>
          </a:prstGeom>
          <a:noFill/>
          <a:ln w="9525" algn="ctr">
            <a:noFill/>
            <a:miter lim="800000"/>
          </a:ln>
        </p:spPr>
        <p:txBody>
          <a:bodyPr lIns="68562" tIns="34281" rIns="68562" bIns="34281">
            <a:spAutoFit/>
          </a:bodyPr>
          <a:lstStyle/>
          <a:p>
            <a:pPr eaLnBrk="0" hangingPunct="0">
              <a:spcBef>
                <a:spcPct val="50000"/>
              </a:spcBef>
            </a:pPr>
            <a:r>
              <a:rPr lang="zh-CN" altLang="en-US" sz="1400" b="1" dirty="0">
                <a:solidFill>
                  <a:srgbClr val="FF0000"/>
                </a:solidFill>
                <a:latin typeface="微软雅黑" panose="020B0503020204020204" pitchFamily="34" charset="-122"/>
                <a:ea typeface="微软雅黑" panose="020B0503020204020204" pitchFamily="34" charset="-122"/>
              </a:rPr>
              <a:t>一</a:t>
            </a:r>
            <a:r>
              <a:rPr lang="en-US" altLang="zh-CN" sz="1400" b="1" dirty="0">
                <a:solidFill>
                  <a:srgbClr val="FF0000"/>
                </a:solidFill>
                <a:latin typeface="微软雅黑" panose="020B0503020204020204" pitchFamily="34" charset="-122"/>
                <a:ea typeface="微软雅黑" panose="020B0503020204020204" pitchFamily="34" charset="-122"/>
              </a:rPr>
              <a:t>  </a:t>
            </a:r>
            <a:r>
              <a:rPr lang="zh-CN" altLang="en-US" sz="1400" b="1" dirty="0">
                <a:solidFill>
                  <a:srgbClr val="FF0000"/>
                </a:solidFill>
                <a:latin typeface="微软雅黑" panose="020B0503020204020204" pitchFamily="34" charset="-122"/>
                <a:ea typeface="微软雅黑" panose="020B0503020204020204" pitchFamily="34" charset="-122"/>
              </a:rPr>
              <a:t>定级</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26" name="Text Box 24"/>
          <p:cNvSpPr txBox="1">
            <a:spLocks noChangeArrowheads="1"/>
          </p:cNvSpPr>
          <p:nvPr/>
        </p:nvSpPr>
        <p:spPr bwMode="auto">
          <a:xfrm>
            <a:off x="4283532" y="3006194"/>
            <a:ext cx="955647" cy="284675"/>
          </a:xfrm>
          <a:prstGeom prst="rect">
            <a:avLst/>
          </a:prstGeom>
          <a:noFill/>
          <a:ln w="9525" algn="ctr">
            <a:noFill/>
            <a:miter lim="800000"/>
          </a:ln>
        </p:spPr>
        <p:txBody>
          <a:bodyPr lIns="68562" tIns="34281" rIns="68562" bIns="34281">
            <a:spAutoFit/>
          </a:bodyPr>
          <a:lstStyle/>
          <a:p>
            <a:pPr eaLnBrk="0" hangingPunct="0">
              <a:spcBef>
                <a:spcPct val="50000"/>
              </a:spcBef>
            </a:pPr>
            <a:r>
              <a:rPr lang="zh-CN" altLang="en-US" sz="1400" b="1" dirty="0">
                <a:solidFill>
                  <a:srgbClr val="FF0000"/>
                </a:solidFill>
                <a:latin typeface="微软雅黑" panose="020B0503020204020204" pitchFamily="34" charset="-122"/>
                <a:ea typeface="微软雅黑" panose="020B0503020204020204" pitchFamily="34" charset="-122"/>
              </a:rPr>
              <a:t>二</a:t>
            </a:r>
            <a:r>
              <a:rPr lang="en-US" altLang="zh-CN" sz="1400" b="1" dirty="0">
                <a:solidFill>
                  <a:srgbClr val="FF0000"/>
                </a:solidFill>
                <a:latin typeface="微软雅黑" panose="020B0503020204020204" pitchFamily="34" charset="-122"/>
                <a:ea typeface="微软雅黑" panose="020B0503020204020204" pitchFamily="34" charset="-122"/>
              </a:rPr>
              <a:t> </a:t>
            </a:r>
            <a:r>
              <a:rPr lang="zh-CN" altLang="en-US" sz="1400" b="1" dirty="0">
                <a:solidFill>
                  <a:srgbClr val="FF0000"/>
                </a:solidFill>
                <a:latin typeface="微软雅黑" panose="020B0503020204020204" pitchFamily="34" charset="-122"/>
                <a:ea typeface="微软雅黑" panose="020B0503020204020204" pitchFamily="34" charset="-122"/>
              </a:rPr>
              <a:t>备案</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27" name="Text Box 25"/>
          <p:cNvSpPr txBox="1">
            <a:spLocks noChangeArrowheads="1"/>
          </p:cNvSpPr>
          <p:nvPr/>
        </p:nvSpPr>
        <p:spPr bwMode="auto">
          <a:xfrm>
            <a:off x="6021532" y="2497845"/>
            <a:ext cx="1351247" cy="284675"/>
          </a:xfrm>
          <a:prstGeom prst="rect">
            <a:avLst/>
          </a:prstGeom>
          <a:noFill/>
          <a:ln w="9525" algn="ctr">
            <a:noFill/>
            <a:miter lim="800000"/>
          </a:ln>
        </p:spPr>
        <p:txBody>
          <a:bodyPr wrap="square" lIns="68562" tIns="34281" rIns="68562" bIns="34281">
            <a:spAutoFit/>
          </a:bodyPr>
          <a:lstStyle/>
          <a:p>
            <a:pPr eaLnBrk="0" hangingPunct="0">
              <a:spcBef>
                <a:spcPct val="50000"/>
              </a:spcBef>
            </a:pPr>
            <a:r>
              <a:rPr lang="zh-CN" altLang="en-US" sz="1400" b="1" dirty="0">
                <a:solidFill>
                  <a:srgbClr val="FF0000"/>
                </a:solidFill>
                <a:latin typeface="微软雅黑" panose="020B0503020204020204" pitchFamily="34" charset="-122"/>
                <a:ea typeface="微软雅黑" panose="020B0503020204020204" pitchFamily="34" charset="-122"/>
              </a:rPr>
              <a:t>三</a:t>
            </a:r>
            <a:r>
              <a:rPr lang="en-US" altLang="zh-CN" sz="1400" b="1" dirty="0">
                <a:solidFill>
                  <a:srgbClr val="FF0000"/>
                </a:solidFill>
                <a:latin typeface="微软雅黑" panose="020B0503020204020204" pitchFamily="34" charset="-122"/>
                <a:ea typeface="微软雅黑" panose="020B0503020204020204" pitchFamily="34" charset="-122"/>
              </a:rPr>
              <a:t> </a:t>
            </a:r>
            <a:r>
              <a:rPr lang="zh-CN" altLang="en-US" sz="1400" b="1" dirty="0">
                <a:solidFill>
                  <a:srgbClr val="FF0000"/>
                </a:solidFill>
                <a:latin typeface="微软雅黑" panose="020B0503020204020204" pitchFamily="34" charset="-122"/>
                <a:ea typeface="微软雅黑" panose="020B0503020204020204" pitchFamily="34" charset="-122"/>
              </a:rPr>
              <a:t>建设整改</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28" name="Text Box 27"/>
          <p:cNvSpPr txBox="1">
            <a:spLocks noChangeArrowheads="1"/>
          </p:cNvSpPr>
          <p:nvPr/>
        </p:nvSpPr>
        <p:spPr bwMode="black">
          <a:xfrm>
            <a:off x="4190879" y="4120435"/>
            <a:ext cx="1741437" cy="692479"/>
          </a:xfrm>
          <a:prstGeom prst="rect">
            <a:avLst/>
          </a:prstGeom>
          <a:noFill/>
          <a:ln w="9525">
            <a:noFill/>
            <a:miter lim="800000"/>
          </a:ln>
        </p:spPr>
        <p:txBody>
          <a:bodyPr lIns="68562" tIns="34281" rIns="68562" bIns="34281">
            <a:spAutoFit/>
          </a:bodyPr>
          <a:lstStyle/>
          <a:p>
            <a:pPr>
              <a:lnSpc>
                <a:spcPct val="180000"/>
              </a:lnSpc>
              <a:buFont typeface="Wingdings" panose="05000000000000000000" pitchFamily="2" charset="2"/>
              <a:buChar char="q"/>
            </a:pPr>
            <a:r>
              <a:rPr lang="zh-CN" altLang="en-US" sz="1000" b="1" kern="0" dirty="0">
                <a:latin typeface="微软雅黑" panose="020B0503020204020204" pitchFamily="34" charset="-122"/>
                <a:ea typeface="微软雅黑" panose="020B0503020204020204" pitchFamily="34" charset="-122"/>
              </a:rPr>
              <a:t>备案是等级保护的</a:t>
            </a:r>
            <a:r>
              <a:rPr lang="zh-CN" altLang="en-US" sz="1000" b="1" kern="0" dirty="0">
                <a:solidFill>
                  <a:srgbClr val="FF0000"/>
                </a:solidFill>
                <a:latin typeface="微软雅黑" panose="020B0503020204020204" pitchFamily="34" charset="-122"/>
                <a:ea typeface="微软雅黑" panose="020B0503020204020204" pitchFamily="34" charset="-122"/>
              </a:rPr>
              <a:t>核心</a:t>
            </a:r>
            <a:endParaRPr lang="zh-CN" altLang="en-US" sz="1000" b="1" kern="0" dirty="0">
              <a:latin typeface="微软雅黑" panose="020B0503020204020204" pitchFamily="34" charset="-122"/>
              <a:ea typeface="微软雅黑" panose="020B0503020204020204" pitchFamily="34" charset="-122"/>
            </a:endParaRPr>
          </a:p>
          <a:p>
            <a:pPr marL="120650" indent="-120650">
              <a:spcBef>
                <a:spcPct val="50000"/>
              </a:spcBef>
              <a:buClr>
                <a:srgbClr val="1C1C1C"/>
              </a:buClr>
              <a:buFontTx/>
              <a:buChar char="•"/>
            </a:pPr>
            <a:endParaRPr lang="en-US" altLang="zh-CN" sz="800" b="1" dirty="0">
              <a:solidFill>
                <a:srgbClr val="333333"/>
              </a:solidFill>
              <a:latin typeface="微软雅黑" panose="020B0503020204020204" pitchFamily="34" charset="-122"/>
              <a:ea typeface="微软雅黑" panose="020B0503020204020204" pitchFamily="34" charset="-122"/>
            </a:endParaRPr>
          </a:p>
          <a:p>
            <a:pPr marL="120650" indent="-120650"/>
            <a:r>
              <a:rPr lang="en-US" altLang="zh-CN" sz="1000" dirty="0">
                <a:solidFill>
                  <a:srgbClr val="000000"/>
                </a:solidFill>
                <a:latin typeface="微软雅黑" panose="020B0503020204020204" pitchFamily="34" charset="-122"/>
                <a:ea typeface="微软雅黑" panose="020B0503020204020204" pitchFamily="34" charset="-122"/>
              </a:rPr>
              <a:t>      </a:t>
            </a:r>
            <a:endParaRPr lang="zh-CN" altLang="en-US" sz="1000" dirty="0">
              <a:solidFill>
                <a:srgbClr val="333333"/>
              </a:solidFill>
              <a:latin typeface="微软雅黑" panose="020B0503020204020204" pitchFamily="34" charset="-122"/>
              <a:ea typeface="微软雅黑" panose="020B0503020204020204" pitchFamily="34" charset="-122"/>
            </a:endParaRPr>
          </a:p>
        </p:txBody>
      </p:sp>
      <p:sp>
        <p:nvSpPr>
          <p:cNvPr id="29" name="Text Box 28"/>
          <p:cNvSpPr txBox="1">
            <a:spLocks noChangeArrowheads="1"/>
          </p:cNvSpPr>
          <p:nvPr/>
        </p:nvSpPr>
        <p:spPr bwMode="black">
          <a:xfrm>
            <a:off x="5951540" y="3596168"/>
            <a:ext cx="2384356" cy="530896"/>
          </a:xfrm>
          <a:prstGeom prst="rect">
            <a:avLst/>
          </a:prstGeom>
          <a:noFill/>
          <a:ln w="9525">
            <a:noFill/>
            <a:miter lim="800000"/>
          </a:ln>
        </p:spPr>
        <p:txBody>
          <a:bodyPr wrap="square" lIns="68562" tIns="34281" rIns="68562" bIns="34281">
            <a:spAutoFit/>
          </a:bodyPr>
          <a:lstStyle/>
          <a:p>
            <a:pPr>
              <a:lnSpc>
                <a:spcPct val="180000"/>
              </a:lnSpc>
              <a:buFont typeface="Wingdings" panose="05000000000000000000" pitchFamily="2" charset="2"/>
              <a:buChar char="q"/>
            </a:pPr>
            <a:r>
              <a:rPr lang="zh-CN" altLang="en-US" sz="1000" b="1" kern="0" dirty="0">
                <a:latin typeface="微软雅黑" panose="020B0503020204020204" pitchFamily="34" charset="-122"/>
                <a:ea typeface="微软雅黑" panose="020B0503020204020204" pitchFamily="34" charset="-122"/>
              </a:rPr>
              <a:t>建设整改是等级保护工作落实的</a:t>
            </a:r>
            <a:r>
              <a:rPr lang="zh-CN" altLang="en-US" sz="1000" b="1" kern="0" dirty="0">
                <a:solidFill>
                  <a:srgbClr val="FF0000"/>
                </a:solidFill>
                <a:latin typeface="微软雅黑" panose="020B0503020204020204" pitchFamily="34" charset="-122"/>
                <a:ea typeface="微软雅黑" panose="020B0503020204020204" pitchFamily="34" charset="-122"/>
              </a:rPr>
              <a:t>关键</a:t>
            </a:r>
            <a:endParaRPr lang="zh-CN" altLang="en-US" sz="1000" b="1" kern="0" dirty="0">
              <a:solidFill>
                <a:srgbClr val="FF0000"/>
              </a:solidFill>
              <a:latin typeface="微软雅黑" panose="020B0503020204020204" pitchFamily="34" charset="-122"/>
              <a:ea typeface="微软雅黑" panose="020B0503020204020204" pitchFamily="34" charset="-122"/>
            </a:endParaRPr>
          </a:p>
          <a:p>
            <a:pPr marL="120650" indent="-120650">
              <a:spcBef>
                <a:spcPct val="50000"/>
              </a:spcBef>
              <a:buClr>
                <a:srgbClr val="1C1C1C"/>
              </a:buClr>
              <a:buFontTx/>
              <a:buChar char="•"/>
            </a:pPr>
            <a:endParaRPr lang="en-US" altLang="zh-CN" sz="800" b="1" dirty="0">
              <a:solidFill>
                <a:srgbClr val="333333"/>
              </a:solidFill>
              <a:latin typeface="微软雅黑" panose="020B0503020204020204" pitchFamily="34" charset="-122"/>
              <a:ea typeface="微软雅黑" panose="020B0503020204020204" pitchFamily="34" charset="-122"/>
            </a:endParaRPr>
          </a:p>
        </p:txBody>
      </p:sp>
      <p:grpSp>
        <p:nvGrpSpPr>
          <p:cNvPr id="30" name="Group 29"/>
          <p:cNvGrpSpPr/>
          <p:nvPr/>
        </p:nvGrpSpPr>
        <p:grpSpPr bwMode="auto">
          <a:xfrm rot="-1297425" flipH="1" flipV="1">
            <a:off x="2301983" y="3951850"/>
            <a:ext cx="1062006" cy="254059"/>
            <a:chOff x="2532" y="1051"/>
            <a:chExt cx="893" cy="246"/>
          </a:xfrm>
        </p:grpSpPr>
        <p:grpSp>
          <p:nvGrpSpPr>
            <p:cNvPr id="31" name="Group 30"/>
            <p:cNvGrpSpPr/>
            <p:nvPr/>
          </p:nvGrpSpPr>
          <p:grpSpPr bwMode="auto">
            <a:xfrm>
              <a:off x="2532" y="1051"/>
              <a:ext cx="743" cy="185"/>
              <a:chOff x="1565" y="2568"/>
              <a:chExt cx="1118" cy="279"/>
            </a:xfrm>
          </p:grpSpPr>
          <p:sp>
            <p:nvSpPr>
              <p:cNvPr id="37" name="AutoShape 31"/>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38" name="AutoShape 32"/>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39" name="AutoShape 33"/>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40" name="AutoShape 34"/>
              <p:cNvSpPr>
                <a:spLocks noChangeArrowheads="1"/>
              </p:cNvSpPr>
              <p:nvPr/>
            </p:nvSpPr>
            <p:spPr bwMode="white">
              <a:xfrm rot="6906312">
                <a:off x="2161" y="2326"/>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grpSp>
        <p:grpSp>
          <p:nvGrpSpPr>
            <p:cNvPr id="32" name="Group 35"/>
            <p:cNvGrpSpPr/>
            <p:nvPr/>
          </p:nvGrpSpPr>
          <p:grpSpPr bwMode="auto">
            <a:xfrm rot="1353540">
              <a:off x="2682" y="1111"/>
              <a:ext cx="743" cy="186"/>
              <a:chOff x="1565" y="2568"/>
              <a:chExt cx="1118" cy="279"/>
            </a:xfrm>
          </p:grpSpPr>
          <p:sp>
            <p:nvSpPr>
              <p:cNvPr id="33" name="AutoShape 36"/>
              <p:cNvSpPr>
                <a:spLocks noChangeArrowheads="1"/>
              </p:cNvSpPr>
              <p:nvPr/>
            </p:nvSpPr>
            <p:spPr bwMode="white">
              <a:xfrm rot="5263130">
                <a:off x="1859" y="2274"/>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34" name="AutoShape 37"/>
              <p:cNvSpPr>
                <a:spLocks noChangeArrowheads="1"/>
              </p:cNvSpPr>
              <p:nvPr/>
            </p:nvSpPr>
            <p:spPr bwMode="white">
              <a:xfrm rot="6078281">
                <a:off x="1995" y="2274"/>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35" name="AutoShape 38"/>
              <p:cNvSpPr>
                <a:spLocks noChangeArrowheads="1"/>
              </p:cNvSpPr>
              <p:nvPr/>
            </p:nvSpPr>
            <p:spPr bwMode="white">
              <a:xfrm rot="6373927">
                <a:off x="2071" y="2296"/>
                <a:ext cx="227" cy="816"/>
              </a:xfrm>
              <a:prstGeom prst="moon">
                <a:avLst>
                  <a:gd name="adj" fmla="val 49773"/>
                </a:avLst>
              </a:prstGeom>
              <a:solidFill>
                <a:srgbClr val="FFFFFF">
                  <a:alpha val="3922"/>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36" name="AutoShape 39"/>
              <p:cNvSpPr>
                <a:spLocks noChangeArrowheads="1"/>
              </p:cNvSpPr>
              <p:nvPr/>
            </p:nvSpPr>
            <p:spPr bwMode="white">
              <a:xfrm rot="6906312">
                <a:off x="2161" y="2326"/>
                <a:ext cx="227" cy="816"/>
              </a:xfrm>
              <a:prstGeom prst="moon">
                <a:avLst>
                  <a:gd name="adj" fmla="val 49773"/>
                </a:avLst>
              </a:prstGeom>
              <a:solidFill>
                <a:srgbClr val="FFFFFF">
                  <a:alpha val="0"/>
                </a:srgbClr>
              </a:solidFill>
              <a:ln w="9525">
                <a:noFill/>
                <a:miter lim="800000"/>
              </a:ln>
            </p:spPr>
            <p:txBody>
              <a:bodyPr wrap="none"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grpSp>
      </p:grpSp>
      <p:grpSp>
        <p:nvGrpSpPr>
          <p:cNvPr id="41" name="Group 40"/>
          <p:cNvGrpSpPr/>
          <p:nvPr/>
        </p:nvGrpSpPr>
        <p:grpSpPr bwMode="auto">
          <a:xfrm rot="-1297425" flipH="1" flipV="1">
            <a:off x="4192640" y="3477077"/>
            <a:ext cx="1062007" cy="254059"/>
            <a:chOff x="2532" y="1051"/>
            <a:chExt cx="893" cy="246"/>
          </a:xfrm>
        </p:grpSpPr>
        <p:grpSp>
          <p:nvGrpSpPr>
            <p:cNvPr id="42" name="Group 41"/>
            <p:cNvGrpSpPr/>
            <p:nvPr/>
          </p:nvGrpSpPr>
          <p:grpSpPr bwMode="auto">
            <a:xfrm>
              <a:off x="2532" y="1051"/>
              <a:ext cx="743" cy="185"/>
              <a:chOff x="1565" y="2568"/>
              <a:chExt cx="1118" cy="279"/>
            </a:xfrm>
          </p:grpSpPr>
          <p:sp>
            <p:nvSpPr>
              <p:cNvPr id="48" name="AutoShape 42"/>
              <p:cNvSpPr>
                <a:spLocks noChangeArrowheads="1"/>
              </p:cNvSpPr>
              <p:nvPr/>
            </p:nvSpPr>
            <p:spPr bwMode="white">
              <a:xfrm rot="5263130">
                <a:off x="1859"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49" name="AutoShape 43"/>
              <p:cNvSpPr>
                <a:spLocks noChangeArrowheads="1"/>
              </p:cNvSpPr>
              <p:nvPr/>
            </p:nvSpPr>
            <p:spPr bwMode="white">
              <a:xfrm rot="6078281">
                <a:off x="1995"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50" name="AutoShape 44"/>
              <p:cNvSpPr>
                <a:spLocks noChangeArrowheads="1"/>
              </p:cNvSpPr>
              <p:nvPr/>
            </p:nvSpPr>
            <p:spPr bwMode="white">
              <a:xfrm rot="6373927">
                <a:off x="2071" y="229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51" name="AutoShape 45"/>
              <p:cNvSpPr>
                <a:spLocks noChangeArrowheads="1"/>
              </p:cNvSpPr>
              <p:nvPr/>
            </p:nvSpPr>
            <p:spPr bwMode="white">
              <a:xfrm rot="6906312">
                <a:off x="2161" y="232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grpSp>
        <p:grpSp>
          <p:nvGrpSpPr>
            <p:cNvPr id="43" name="Group 46"/>
            <p:cNvGrpSpPr/>
            <p:nvPr/>
          </p:nvGrpSpPr>
          <p:grpSpPr bwMode="auto">
            <a:xfrm rot="1353540">
              <a:off x="2682" y="1111"/>
              <a:ext cx="743" cy="186"/>
              <a:chOff x="1565" y="2568"/>
              <a:chExt cx="1118" cy="279"/>
            </a:xfrm>
          </p:grpSpPr>
          <p:sp>
            <p:nvSpPr>
              <p:cNvPr id="44" name="AutoShape 47"/>
              <p:cNvSpPr>
                <a:spLocks noChangeArrowheads="1"/>
              </p:cNvSpPr>
              <p:nvPr/>
            </p:nvSpPr>
            <p:spPr bwMode="white">
              <a:xfrm rot="5263130">
                <a:off x="1859"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45" name="AutoShape 48"/>
              <p:cNvSpPr>
                <a:spLocks noChangeArrowheads="1"/>
              </p:cNvSpPr>
              <p:nvPr/>
            </p:nvSpPr>
            <p:spPr bwMode="white">
              <a:xfrm rot="6078281">
                <a:off x="1995"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46" name="AutoShape 49"/>
              <p:cNvSpPr>
                <a:spLocks noChangeArrowheads="1"/>
              </p:cNvSpPr>
              <p:nvPr/>
            </p:nvSpPr>
            <p:spPr bwMode="white">
              <a:xfrm rot="6373927">
                <a:off x="2071" y="229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47" name="AutoShape 50"/>
              <p:cNvSpPr>
                <a:spLocks noChangeArrowheads="1"/>
              </p:cNvSpPr>
              <p:nvPr/>
            </p:nvSpPr>
            <p:spPr bwMode="white">
              <a:xfrm rot="6906312">
                <a:off x="2161" y="232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grpSp>
      </p:grpSp>
      <p:grpSp>
        <p:nvGrpSpPr>
          <p:cNvPr id="52" name="Group 51"/>
          <p:cNvGrpSpPr/>
          <p:nvPr/>
        </p:nvGrpSpPr>
        <p:grpSpPr bwMode="auto">
          <a:xfrm rot="-1297425" flipH="1" flipV="1">
            <a:off x="6042025" y="2973724"/>
            <a:ext cx="1062006" cy="254059"/>
            <a:chOff x="2532" y="1051"/>
            <a:chExt cx="893" cy="246"/>
          </a:xfrm>
        </p:grpSpPr>
        <p:grpSp>
          <p:nvGrpSpPr>
            <p:cNvPr id="53" name="Group 52"/>
            <p:cNvGrpSpPr/>
            <p:nvPr/>
          </p:nvGrpSpPr>
          <p:grpSpPr bwMode="auto">
            <a:xfrm>
              <a:off x="2532" y="1051"/>
              <a:ext cx="743" cy="185"/>
              <a:chOff x="1565" y="2568"/>
              <a:chExt cx="1118" cy="279"/>
            </a:xfrm>
          </p:grpSpPr>
          <p:sp>
            <p:nvSpPr>
              <p:cNvPr id="59" name="AutoShape 53"/>
              <p:cNvSpPr>
                <a:spLocks noChangeArrowheads="1"/>
              </p:cNvSpPr>
              <p:nvPr/>
            </p:nvSpPr>
            <p:spPr bwMode="white">
              <a:xfrm rot="5263130">
                <a:off x="1859"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60" name="AutoShape 54"/>
              <p:cNvSpPr>
                <a:spLocks noChangeArrowheads="1"/>
              </p:cNvSpPr>
              <p:nvPr/>
            </p:nvSpPr>
            <p:spPr bwMode="white">
              <a:xfrm rot="6078281">
                <a:off x="1995"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61" name="AutoShape 55"/>
              <p:cNvSpPr>
                <a:spLocks noChangeArrowheads="1"/>
              </p:cNvSpPr>
              <p:nvPr/>
            </p:nvSpPr>
            <p:spPr bwMode="white">
              <a:xfrm rot="6373927">
                <a:off x="2071" y="229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62" name="AutoShape 56"/>
              <p:cNvSpPr>
                <a:spLocks noChangeArrowheads="1"/>
              </p:cNvSpPr>
              <p:nvPr/>
            </p:nvSpPr>
            <p:spPr bwMode="white">
              <a:xfrm rot="6906312">
                <a:off x="2161" y="232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grpSp>
        <p:grpSp>
          <p:nvGrpSpPr>
            <p:cNvPr id="54" name="Group 57"/>
            <p:cNvGrpSpPr/>
            <p:nvPr/>
          </p:nvGrpSpPr>
          <p:grpSpPr bwMode="auto">
            <a:xfrm rot="1353540">
              <a:off x="2682" y="1111"/>
              <a:ext cx="743" cy="186"/>
              <a:chOff x="1565" y="2568"/>
              <a:chExt cx="1118" cy="279"/>
            </a:xfrm>
          </p:grpSpPr>
          <p:sp>
            <p:nvSpPr>
              <p:cNvPr id="55" name="AutoShape 58"/>
              <p:cNvSpPr>
                <a:spLocks noChangeArrowheads="1"/>
              </p:cNvSpPr>
              <p:nvPr/>
            </p:nvSpPr>
            <p:spPr bwMode="white">
              <a:xfrm rot="5263130">
                <a:off x="1859"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56" name="AutoShape 59"/>
              <p:cNvSpPr>
                <a:spLocks noChangeArrowheads="1"/>
              </p:cNvSpPr>
              <p:nvPr/>
            </p:nvSpPr>
            <p:spPr bwMode="white">
              <a:xfrm rot="6078281">
                <a:off x="1995"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57" name="AutoShape 60"/>
              <p:cNvSpPr>
                <a:spLocks noChangeArrowheads="1"/>
              </p:cNvSpPr>
              <p:nvPr/>
            </p:nvSpPr>
            <p:spPr bwMode="white">
              <a:xfrm rot="6373927">
                <a:off x="2071" y="229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58" name="AutoShape 61"/>
              <p:cNvSpPr>
                <a:spLocks noChangeArrowheads="1"/>
              </p:cNvSpPr>
              <p:nvPr/>
            </p:nvSpPr>
            <p:spPr bwMode="white">
              <a:xfrm rot="6906312">
                <a:off x="2161" y="232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grpSp>
      </p:grpSp>
      <p:sp>
        <p:nvSpPr>
          <p:cNvPr id="63" name="Rectangle 63"/>
          <p:cNvSpPr>
            <a:spLocks noChangeArrowheads="1"/>
          </p:cNvSpPr>
          <p:nvPr/>
        </p:nvSpPr>
        <p:spPr bwMode="gray">
          <a:xfrm>
            <a:off x="7777111" y="3056293"/>
            <a:ext cx="1835097" cy="431900"/>
          </a:xfrm>
          <a:prstGeom prst="rect">
            <a:avLst/>
          </a:prstGeom>
          <a:gradFill rotWithShape="1">
            <a:gsLst>
              <a:gs pos="0">
                <a:srgbClr val="4EA7EA"/>
              </a:gs>
              <a:gs pos="100000">
                <a:srgbClr val="4EA7EA">
                  <a:gamma/>
                  <a:tint val="0"/>
                  <a:invGamma/>
                </a:srgbClr>
              </a:gs>
            </a:gsLst>
            <a:lin ang="540000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64" name="AutoShape 64"/>
          <p:cNvSpPr>
            <a:spLocks noChangeArrowheads="1"/>
          </p:cNvSpPr>
          <p:nvPr/>
        </p:nvSpPr>
        <p:spPr bwMode="gray">
          <a:xfrm flipH="1">
            <a:off x="7164354" y="2400504"/>
            <a:ext cx="2438330" cy="657377"/>
          </a:xfrm>
          <a:prstGeom prst="parallelogram">
            <a:avLst>
              <a:gd name="adj" fmla="val 92256"/>
            </a:avLst>
          </a:prstGeom>
          <a:gradFill rotWithShape="1">
            <a:gsLst>
              <a:gs pos="0">
                <a:srgbClr val="4EA7EA"/>
              </a:gs>
              <a:gs pos="100000">
                <a:srgbClr val="4EA7EA">
                  <a:gamma/>
                  <a:tint val="53725"/>
                  <a:invGamma/>
                </a:srgbClr>
              </a:gs>
            </a:gsLst>
            <a:lin ang="0" scaled="1"/>
          </a:gradFill>
          <a:ln w="9525">
            <a:noFill/>
            <a:miter lim="800000"/>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65" name="Freeform 65"/>
          <p:cNvSpPr/>
          <p:nvPr/>
        </p:nvSpPr>
        <p:spPr bwMode="gray">
          <a:xfrm>
            <a:off x="7161179" y="2395741"/>
            <a:ext cx="615932" cy="1163906"/>
          </a:xfrm>
          <a:custGeom>
            <a:avLst/>
            <a:gdLst/>
            <a:ahLst/>
            <a:cxnLst>
              <a:cxn ang="0">
                <a:pos x="0" y="167"/>
              </a:cxn>
              <a:cxn ang="0">
                <a:pos x="201" y="370"/>
              </a:cxn>
              <a:cxn ang="0">
                <a:pos x="201" y="210"/>
              </a:cxn>
              <a:cxn ang="0">
                <a:pos x="0" y="0"/>
              </a:cxn>
              <a:cxn ang="0">
                <a:pos x="0" y="167"/>
              </a:cxn>
            </a:cxnLst>
            <a:rect l="0" t="0" r="r" b="b"/>
            <a:pathLst>
              <a:path w="201" h="370">
                <a:moveTo>
                  <a:pt x="0" y="167"/>
                </a:moveTo>
                <a:lnTo>
                  <a:pt x="201" y="370"/>
                </a:lnTo>
                <a:lnTo>
                  <a:pt x="201" y="210"/>
                </a:lnTo>
                <a:lnTo>
                  <a:pt x="0" y="0"/>
                </a:lnTo>
                <a:lnTo>
                  <a:pt x="0" y="167"/>
                </a:lnTo>
                <a:close/>
              </a:path>
            </a:pathLst>
          </a:custGeom>
          <a:gradFill rotWithShape="1">
            <a:gsLst>
              <a:gs pos="0">
                <a:srgbClr val="4EA7EA">
                  <a:gamma/>
                  <a:shade val="46275"/>
                  <a:invGamma/>
                </a:srgbClr>
              </a:gs>
              <a:gs pos="100000">
                <a:srgbClr val="4EA7EA"/>
              </a:gs>
            </a:gsLst>
            <a:lin ang="2700000" scaled="1"/>
          </a:gradFill>
          <a:ln w="9525">
            <a:noFill/>
            <a:round/>
          </a:ln>
          <a:effectLst/>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pic>
        <p:nvPicPr>
          <p:cNvPr id="66" name="Picture 66" descr="light_shadow"/>
          <p:cNvPicPr>
            <a:picLocks noChangeAspect="1" noChangeArrowheads="1"/>
          </p:cNvPicPr>
          <p:nvPr/>
        </p:nvPicPr>
        <p:blipFill>
          <a:blip r:embed="rId1">
            <a:grayscl/>
            <a:lum bright="-76000" contrast="-4000"/>
          </a:blip>
          <a:srcRect/>
          <a:stretch>
            <a:fillRect/>
          </a:stretch>
        </p:blipFill>
        <p:spPr bwMode="gray">
          <a:xfrm>
            <a:off x="7921570" y="2589460"/>
            <a:ext cx="1008033" cy="281052"/>
          </a:xfrm>
          <a:prstGeom prst="rect">
            <a:avLst/>
          </a:prstGeom>
          <a:noFill/>
          <a:ln w="9525">
            <a:noFill/>
            <a:miter lim="800000"/>
            <a:headEnd/>
            <a:tailEnd/>
          </a:ln>
        </p:spPr>
      </p:pic>
      <p:pic>
        <p:nvPicPr>
          <p:cNvPr id="67" name="Picture 67" descr="circuler_1"/>
          <p:cNvPicPr>
            <a:picLocks noChangeAspect="1" noChangeArrowheads="1"/>
          </p:cNvPicPr>
          <p:nvPr/>
        </p:nvPicPr>
        <p:blipFill>
          <a:blip r:embed="rId2"/>
          <a:srcRect/>
          <a:stretch>
            <a:fillRect/>
          </a:stretch>
        </p:blipFill>
        <p:spPr bwMode="gray">
          <a:xfrm>
            <a:off x="7834260" y="1628800"/>
            <a:ext cx="1152492" cy="1140089"/>
          </a:xfrm>
          <a:prstGeom prst="rect">
            <a:avLst/>
          </a:prstGeom>
          <a:noFill/>
          <a:ln w="9525">
            <a:noFill/>
            <a:miter lim="800000"/>
            <a:headEnd/>
            <a:tailEnd/>
          </a:ln>
        </p:spPr>
      </p:pic>
      <p:sp>
        <p:nvSpPr>
          <p:cNvPr id="68" name="Oval 68"/>
          <p:cNvSpPr>
            <a:spLocks noChangeArrowheads="1"/>
          </p:cNvSpPr>
          <p:nvPr/>
        </p:nvSpPr>
        <p:spPr bwMode="gray">
          <a:xfrm>
            <a:off x="7834260" y="1628800"/>
            <a:ext cx="1144555" cy="1143265"/>
          </a:xfrm>
          <a:prstGeom prst="ellipse">
            <a:avLst/>
          </a:prstGeom>
          <a:gradFill rotWithShape="1">
            <a:gsLst>
              <a:gs pos="0">
                <a:srgbClr val="4EA7EA">
                  <a:gamma/>
                  <a:shade val="26275"/>
                  <a:invGamma/>
                  <a:alpha val="89999"/>
                </a:srgbClr>
              </a:gs>
              <a:gs pos="50000">
                <a:srgbClr val="4EA7EA">
                  <a:alpha val="45000"/>
                </a:srgbClr>
              </a:gs>
              <a:gs pos="100000">
                <a:srgbClr val="4EA7EA">
                  <a:gamma/>
                  <a:shade val="26275"/>
                  <a:invGamma/>
                  <a:alpha val="89999"/>
                </a:srgbClr>
              </a:gs>
            </a:gsLst>
            <a:lin ang="5400000" scaled="1"/>
          </a:gradFill>
          <a:ln w="9525" algn="ctr">
            <a:noFill/>
            <a:round/>
          </a:ln>
          <a:effectLst/>
        </p:spPr>
        <p:txBody>
          <a:bodyPr wrap="none" lIns="68562" tIns="34281" rIns="68562" bIns="34281" anchor="ctr"/>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69" name="Freeform 69"/>
          <p:cNvSpPr/>
          <p:nvPr/>
        </p:nvSpPr>
        <p:spPr bwMode="gray">
          <a:xfrm>
            <a:off x="7953320" y="1652619"/>
            <a:ext cx="898499" cy="395378"/>
          </a:xfrm>
          <a:custGeom>
            <a:avLst/>
            <a:gdLst>
              <a:gd name="T0" fmla="*/ 2147483647 w 1321"/>
              <a:gd name="T1" fmla="*/ 2147483647 h 712"/>
              <a:gd name="T2" fmla="*/ 2147483647 w 1321"/>
              <a:gd name="T3" fmla="*/ 2147483647 h 712"/>
              <a:gd name="T4" fmla="*/ 2147483647 w 1321"/>
              <a:gd name="T5" fmla="*/ 2147483647 h 712"/>
              <a:gd name="T6" fmla="*/ 2147483647 w 1321"/>
              <a:gd name="T7" fmla="*/ 2147483647 h 712"/>
              <a:gd name="T8" fmla="*/ 2147483647 w 1321"/>
              <a:gd name="T9" fmla="*/ 2147483647 h 712"/>
              <a:gd name="T10" fmla="*/ 2147483647 w 1321"/>
              <a:gd name="T11" fmla="*/ 2147483647 h 712"/>
              <a:gd name="T12" fmla="*/ 2147483647 w 1321"/>
              <a:gd name="T13" fmla="*/ 2147483647 h 712"/>
              <a:gd name="T14" fmla="*/ 2147483647 w 1321"/>
              <a:gd name="T15" fmla="*/ 2147483647 h 712"/>
              <a:gd name="T16" fmla="*/ 2147483647 w 1321"/>
              <a:gd name="T17" fmla="*/ 2147483647 h 712"/>
              <a:gd name="T18" fmla="*/ 2147483647 w 1321"/>
              <a:gd name="T19" fmla="*/ 2147483647 h 712"/>
              <a:gd name="T20" fmla="*/ 2147483647 w 1321"/>
              <a:gd name="T21" fmla="*/ 2147483647 h 712"/>
              <a:gd name="T22" fmla="*/ 2147483647 w 1321"/>
              <a:gd name="T23" fmla="*/ 2147483647 h 712"/>
              <a:gd name="T24" fmla="*/ 2147483647 w 1321"/>
              <a:gd name="T25" fmla="*/ 2147483647 h 712"/>
              <a:gd name="T26" fmla="*/ 2147483647 w 1321"/>
              <a:gd name="T27" fmla="*/ 2147483647 h 712"/>
              <a:gd name="T28" fmla="*/ 2147483647 w 1321"/>
              <a:gd name="T29" fmla="*/ 2147483647 h 712"/>
              <a:gd name="T30" fmla="*/ 2147483647 w 1321"/>
              <a:gd name="T31" fmla="*/ 2147483647 h 712"/>
              <a:gd name="T32" fmla="*/ 2147483647 w 1321"/>
              <a:gd name="T33" fmla="*/ 2147483647 h 712"/>
              <a:gd name="T34" fmla="*/ 2147483647 w 1321"/>
              <a:gd name="T35" fmla="*/ 2147483647 h 712"/>
              <a:gd name="T36" fmla="*/ 2147483647 w 1321"/>
              <a:gd name="T37" fmla="*/ 2147483647 h 712"/>
              <a:gd name="T38" fmla="*/ 2147483647 w 1321"/>
              <a:gd name="T39" fmla="*/ 2147483647 h 712"/>
              <a:gd name="T40" fmla="*/ 2147483647 w 1321"/>
              <a:gd name="T41" fmla="*/ 2147483647 h 712"/>
              <a:gd name="T42" fmla="*/ 2147483647 w 1321"/>
              <a:gd name="T43" fmla="*/ 2147483647 h 712"/>
              <a:gd name="T44" fmla="*/ 2147483647 w 1321"/>
              <a:gd name="T45" fmla="*/ 2147483647 h 712"/>
              <a:gd name="T46" fmla="*/ 2147483647 w 1321"/>
              <a:gd name="T47" fmla="*/ 2147483647 h 712"/>
              <a:gd name="T48" fmla="*/ 2147483647 w 1321"/>
              <a:gd name="T49" fmla="*/ 2147483647 h 712"/>
              <a:gd name="T50" fmla="*/ 2147483647 w 1321"/>
              <a:gd name="T51" fmla="*/ 2147483647 h 712"/>
              <a:gd name="T52" fmla="*/ 2147483647 w 1321"/>
              <a:gd name="T53" fmla="*/ 2147483647 h 712"/>
              <a:gd name="T54" fmla="*/ 2147483647 w 1321"/>
              <a:gd name="T55" fmla="*/ 2147483647 h 712"/>
              <a:gd name="T56" fmla="*/ 0 w 1321"/>
              <a:gd name="T57" fmla="*/ 2147483647 h 712"/>
              <a:gd name="T58" fmla="*/ 0 w 1321"/>
              <a:gd name="T59" fmla="*/ 2147483647 h 712"/>
              <a:gd name="T60" fmla="*/ 2147483647 w 1321"/>
              <a:gd name="T61" fmla="*/ 2147483647 h 712"/>
              <a:gd name="T62" fmla="*/ 2147483647 w 1321"/>
              <a:gd name="T63" fmla="*/ 2147483647 h 712"/>
              <a:gd name="T64" fmla="*/ 2147483647 w 1321"/>
              <a:gd name="T65" fmla="*/ 2147483647 h 712"/>
              <a:gd name="T66" fmla="*/ 2147483647 w 1321"/>
              <a:gd name="T67" fmla="*/ 2147483647 h 712"/>
              <a:gd name="T68" fmla="*/ 2147483647 w 1321"/>
              <a:gd name="T69" fmla="*/ 2147483647 h 712"/>
              <a:gd name="T70" fmla="*/ 2147483647 w 1321"/>
              <a:gd name="T71" fmla="*/ 2147483647 h 712"/>
              <a:gd name="T72" fmla="*/ 2147483647 w 1321"/>
              <a:gd name="T73" fmla="*/ 2147483647 h 712"/>
              <a:gd name="T74" fmla="*/ 2147483647 w 1321"/>
              <a:gd name="T75" fmla="*/ 2147483647 h 712"/>
              <a:gd name="T76" fmla="*/ 2147483647 w 1321"/>
              <a:gd name="T77" fmla="*/ 2147483647 h 712"/>
              <a:gd name="T78" fmla="*/ 2147483647 w 1321"/>
              <a:gd name="T79" fmla="*/ 2147483647 h 712"/>
              <a:gd name="T80" fmla="*/ 2147483647 w 1321"/>
              <a:gd name="T81" fmla="*/ 2147483647 h 712"/>
              <a:gd name="T82" fmla="*/ 2147483647 w 1321"/>
              <a:gd name="T83" fmla="*/ 0 h 712"/>
              <a:gd name="T84" fmla="*/ 2147483647 w 1321"/>
              <a:gd name="T85" fmla="*/ 0 h 712"/>
              <a:gd name="T86" fmla="*/ 2147483647 w 1321"/>
              <a:gd name="T87" fmla="*/ 2147483647 h 712"/>
              <a:gd name="T88" fmla="*/ 2147483647 w 1321"/>
              <a:gd name="T89" fmla="*/ 2147483647 h 712"/>
              <a:gd name="T90" fmla="*/ 2147483647 w 1321"/>
              <a:gd name="T91" fmla="*/ 2147483647 h 712"/>
              <a:gd name="T92" fmla="*/ 2147483647 w 1321"/>
              <a:gd name="T93" fmla="*/ 2147483647 h 712"/>
              <a:gd name="T94" fmla="*/ 2147483647 w 1321"/>
              <a:gd name="T95" fmla="*/ 2147483647 h 712"/>
              <a:gd name="T96" fmla="*/ 2147483647 w 1321"/>
              <a:gd name="T97" fmla="*/ 2147483647 h 712"/>
              <a:gd name="T98" fmla="*/ 2147483647 w 1321"/>
              <a:gd name="T99" fmla="*/ 2147483647 h 712"/>
              <a:gd name="T100" fmla="*/ 2147483647 w 1321"/>
              <a:gd name="T101" fmla="*/ 2147483647 h 712"/>
              <a:gd name="T102" fmla="*/ 2147483647 w 1321"/>
              <a:gd name="T103" fmla="*/ 2147483647 h 712"/>
              <a:gd name="T104" fmla="*/ 2147483647 w 1321"/>
              <a:gd name="T105" fmla="*/ 2147483647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4EA7EA">
                  <a:alpha val="17998"/>
                </a:srgbClr>
              </a:gs>
            </a:gsLst>
            <a:lin ang="5400000" scaled="1"/>
          </a:gradFill>
          <a:ln w="0">
            <a:noFill/>
            <a:round/>
          </a:ln>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70" name="Text Box 70"/>
          <p:cNvSpPr txBox="1">
            <a:spLocks noChangeArrowheads="1"/>
          </p:cNvSpPr>
          <p:nvPr/>
        </p:nvSpPr>
        <p:spPr bwMode="auto">
          <a:xfrm>
            <a:off x="7840610" y="2015115"/>
            <a:ext cx="1122330" cy="284675"/>
          </a:xfrm>
          <a:prstGeom prst="rect">
            <a:avLst/>
          </a:prstGeom>
          <a:noFill/>
          <a:ln w="9525" algn="ctr">
            <a:noFill/>
            <a:miter lim="800000"/>
          </a:ln>
        </p:spPr>
        <p:txBody>
          <a:bodyPr wrap="square" lIns="68562" tIns="34281" rIns="68562" bIns="34281">
            <a:spAutoFit/>
          </a:bodyPr>
          <a:lstStyle/>
          <a:p>
            <a:pPr eaLnBrk="0" hangingPunct="0">
              <a:spcBef>
                <a:spcPct val="50000"/>
              </a:spcBef>
            </a:pPr>
            <a:r>
              <a:rPr lang="zh-CN" altLang="en-US" sz="1400" b="1" dirty="0">
                <a:solidFill>
                  <a:srgbClr val="FF0000"/>
                </a:solidFill>
                <a:latin typeface="微软雅黑" panose="020B0503020204020204" pitchFamily="34" charset="-122"/>
                <a:ea typeface="微软雅黑" panose="020B0503020204020204" pitchFamily="34" charset="-122"/>
              </a:rPr>
              <a:t>四</a:t>
            </a:r>
            <a:r>
              <a:rPr lang="en-US" altLang="zh-CN" sz="1400" b="1" dirty="0">
                <a:solidFill>
                  <a:srgbClr val="FF0000"/>
                </a:solidFill>
                <a:latin typeface="微软雅黑" panose="020B0503020204020204" pitchFamily="34" charset="-122"/>
                <a:ea typeface="微软雅黑" panose="020B0503020204020204" pitchFamily="34" charset="-122"/>
              </a:rPr>
              <a:t> </a:t>
            </a:r>
            <a:r>
              <a:rPr lang="zh-CN" altLang="en-US" sz="1400" b="1" dirty="0">
                <a:solidFill>
                  <a:srgbClr val="FF0000"/>
                </a:solidFill>
                <a:latin typeface="微软雅黑" panose="020B0503020204020204" pitchFamily="34" charset="-122"/>
                <a:ea typeface="微软雅黑" panose="020B0503020204020204" pitchFamily="34" charset="-122"/>
              </a:rPr>
              <a:t>等级测评</a:t>
            </a:r>
            <a:endParaRPr lang="en-US" altLang="zh-CN" sz="1400" b="1" dirty="0">
              <a:solidFill>
                <a:srgbClr val="FF0000"/>
              </a:solidFill>
              <a:latin typeface="微软雅黑" panose="020B0503020204020204" pitchFamily="34" charset="-122"/>
              <a:ea typeface="微软雅黑" panose="020B0503020204020204" pitchFamily="34" charset="-122"/>
            </a:endParaRPr>
          </a:p>
        </p:txBody>
      </p:sp>
      <p:sp>
        <p:nvSpPr>
          <p:cNvPr id="71" name="Text Box 71"/>
          <p:cNvSpPr txBox="1">
            <a:spLocks noChangeArrowheads="1"/>
          </p:cNvSpPr>
          <p:nvPr/>
        </p:nvSpPr>
        <p:spPr bwMode="black">
          <a:xfrm>
            <a:off x="7812192" y="3147221"/>
            <a:ext cx="2421285" cy="346230"/>
          </a:xfrm>
          <a:prstGeom prst="rect">
            <a:avLst/>
          </a:prstGeom>
          <a:noFill/>
          <a:ln w="9525">
            <a:noFill/>
            <a:miter lim="800000"/>
          </a:ln>
        </p:spPr>
        <p:txBody>
          <a:bodyPr wrap="square" lIns="68562" tIns="34281" rIns="68562" bIns="34281">
            <a:spAutoFit/>
          </a:bodyPr>
          <a:lstStyle/>
          <a:p>
            <a:pPr>
              <a:lnSpc>
                <a:spcPct val="180000"/>
              </a:lnSpc>
              <a:buFont typeface="Wingdings" panose="05000000000000000000" pitchFamily="2" charset="2"/>
              <a:buChar char="q"/>
            </a:pPr>
            <a:r>
              <a:rPr lang="zh-CN" altLang="en-US" sz="1000" b="1" kern="0" dirty="0">
                <a:latin typeface="微软雅黑" panose="020B0503020204020204" pitchFamily="34" charset="-122"/>
                <a:ea typeface="微软雅黑" panose="020B0503020204020204" pitchFamily="34" charset="-122"/>
              </a:rPr>
              <a:t>等级测评是评价安全保护状况的</a:t>
            </a:r>
            <a:r>
              <a:rPr lang="zh-CN" altLang="en-US" sz="1000" b="1" kern="0" dirty="0">
                <a:solidFill>
                  <a:srgbClr val="FF0000"/>
                </a:solidFill>
                <a:latin typeface="微软雅黑" panose="020B0503020204020204" pitchFamily="34" charset="-122"/>
                <a:ea typeface="微软雅黑" panose="020B0503020204020204" pitchFamily="34" charset="-122"/>
              </a:rPr>
              <a:t>方法</a:t>
            </a:r>
            <a:endParaRPr lang="zh-CN" altLang="en-US" sz="1000" b="1" kern="0" dirty="0">
              <a:solidFill>
                <a:srgbClr val="FF0000"/>
              </a:solidFill>
              <a:latin typeface="微软雅黑" panose="020B0503020204020204" pitchFamily="34" charset="-122"/>
              <a:ea typeface="微软雅黑" panose="020B0503020204020204" pitchFamily="34" charset="-122"/>
            </a:endParaRPr>
          </a:p>
        </p:txBody>
      </p:sp>
      <p:grpSp>
        <p:nvGrpSpPr>
          <p:cNvPr id="72" name="Group 72"/>
          <p:cNvGrpSpPr/>
          <p:nvPr/>
        </p:nvGrpSpPr>
        <p:grpSpPr bwMode="auto">
          <a:xfrm rot="-1297425" flipH="1" flipV="1">
            <a:off x="7877122" y="2479897"/>
            <a:ext cx="1062006" cy="254059"/>
            <a:chOff x="2532" y="1051"/>
            <a:chExt cx="893" cy="246"/>
          </a:xfrm>
        </p:grpSpPr>
        <p:grpSp>
          <p:nvGrpSpPr>
            <p:cNvPr id="73" name="Group 73"/>
            <p:cNvGrpSpPr/>
            <p:nvPr/>
          </p:nvGrpSpPr>
          <p:grpSpPr bwMode="auto">
            <a:xfrm>
              <a:off x="2532" y="1051"/>
              <a:ext cx="743" cy="185"/>
              <a:chOff x="1565" y="2568"/>
              <a:chExt cx="1118" cy="279"/>
            </a:xfrm>
          </p:grpSpPr>
          <p:sp>
            <p:nvSpPr>
              <p:cNvPr id="79" name="AutoShape 74"/>
              <p:cNvSpPr>
                <a:spLocks noChangeArrowheads="1"/>
              </p:cNvSpPr>
              <p:nvPr/>
            </p:nvSpPr>
            <p:spPr bwMode="white">
              <a:xfrm rot="5263130">
                <a:off x="1859"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80" name="AutoShape 75"/>
              <p:cNvSpPr>
                <a:spLocks noChangeArrowheads="1"/>
              </p:cNvSpPr>
              <p:nvPr/>
            </p:nvSpPr>
            <p:spPr bwMode="white">
              <a:xfrm rot="6078281">
                <a:off x="1995"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81" name="AutoShape 76"/>
              <p:cNvSpPr>
                <a:spLocks noChangeArrowheads="1"/>
              </p:cNvSpPr>
              <p:nvPr/>
            </p:nvSpPr>
            <p:spPr bwMode="white">
              <a:xfrm rot="6373927">
                <a:off x="2071" y="229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82" name="AutoShape 77"/>
              <p:cNvSpPr>
                <a:spLocks noChangeArrowheads="1"/>
              </p:cNvSpPr>
              <p:nvPr/>
            </p:nvSpPr>
            <p:spPr bwMode="white">
              <a:xfrm rot="6906312">
                <a:off x="2161" y="232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grpSp>
        <p:grpSp>
          <p:nvGrpSpPr>
            <p:cNvPr id="74" name="Group 78"/>
            <p:cNvGrpSpPr/>
            <p:nvPr/>
          </p:nvGrpSpPr>
          <p:grpSpPr bwMode="auto">
            <a:xfrm rot="1353540">
              <a:off x="2682" y="1111"/>
              <a:ext cx="743" cy="186"/>
              <a:chOff x="1565" y="2568"/>
              <a:chExt cx="1118" cy="279"/>
            </a:xfrm>
          </p:grpSpPr>
          <p:sp>
            <p:nvSpPr>
              <p:cNvPr id="75" name="AutoShape 79"/>
              <p:cNvSpPr>
                <a:spLocks noChangeArrowheads="1"/>
              </p:cNvSpPr>
              <p:nvPr/>
            </p:nvSpPr>
            <p:spPr bwMode="white">
              <a:xfrm rot="5263130">
                <a:off x="1859"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76" name="AutoShape 80"/>
              <p:cNvSpPr>
                <a:spLocks noChangeArrowheads="1"/>
              </p:cNvSpPr>
              <p:nvPr/>
            </p:nvSpPr>
            <p:spPr bwMode="white">
              <a:xfrm rot="6078281">
                <a:off x="1995" y="2274"/>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77" name="AutoShape 81"/>
              <p:cNvSpPr>
                <a:spLocks noChangeArrowheads="1"/>
              </p:cNvSpPr>
              <p:nvPr/>
            </p:nvSpPr>
            <p:spPr bwMode="white">
              <a:xfrm rot="6373927">
                <a:off x="2071" y="229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sp>
            <p:nvSpPr>
              <p:cNvPr id="78" name="AutoShape 82"/>
              <p:cNvSpPr>
                <a:spLocks noChangeArrowheads="1"/>
              </p:cNvSpPr>
              <p:nvPr/>
            </p:nvSpPr>
            <p:spPr bwMode="white">
              <a:xfrm rot="6906312">
                <a:off x="2161" y="2326"/>
                <a:ext cx="227" cy="816"/>
              </a:xfrm>
              <a:prstGeom prst="moon">
                <a:avLst>
                  <a:gd name="adj" fmla="val 49773"/>
                </a:avLst>
              </a:prstGeom>
              <a:solidFill>
                <a:srgbClr val="5F5F5F">
                  <a:alpha val="3922"/>
                </a:srgbClr>
              </a:solidFill>
              <a:ln w="9525">
                <a:noFill/>
                <a:miter lim="800000"/>
              </a:ln>
            </p:spPr>
            <p:txBody>
              <a:bodyPr wrap="none" anchor="ctr"/>
              <a:lstStyle/>
              <a:p>
                <a:endParaRPr lang="zh-CN" altLang="en-US" sz="2400">
                  <a:solidFill>
                    <a:srgbClr val="000000"/>
                  </a:solidFill>
                  <a:latin typeface="微软雅黑" panose="020B0503020204020204" pitchFamily="34" charset="-122"/>
                  <a:ea typeface="微软雅黑" panose="020B0503020204020204" pitchFamily="34" charset="-122"/>
                </a:endParaRPr>
              </a:p>
            </p:txBody>
          </p:sp>
        </p:grpSp>
      </p:grpSp>
      <p:sp>
        <p:nvSpPr>
          <p:cNvPr id="83" name="Freeform 83"/>
          <p:cNvSpPr/>
          <p:nvPr/>
        </p:nvSpPr>
        <p:spPr bwMode="gray">
          <a:xfrm>
            <a:off x="1703513" y="3904214"/>
            <a:ext cx="612757" cy="1130562"/>
          </a:xfrm>
          <a:custGeom>
            <a:avLst/>
            <a:gdLst/>
            <a:ahLst/>
            <a:cxnLst>
              <a:cxn ang="0">
                <a:pos x="3" y="292"/>
              </a:cxn>
              <a:cxn ang="0">
                <a:pos x="386" y="712"/>
              </a:cxn>
              <a:cxn ang="0">
                <a:pos x="386" y="404"/>
              </a:cxn>
              <a:cxn ang="0">
                <a:pos x="0" y="0"/>
              </a:cxn>
              <a:cxn ang="0">
                <a:pos x="3" y="292"/>
              </a:cxn>
            </a:cxnLst>
            <a:rect l="0" t="0" r="r" b="b"/>
            <a:pathLst>
              <a:path w="386" h="712">
                <a:moveTo>
                  <a:pt x="3" y="292"/>
                </a:moveTo>
                <a:lnTo>
                  <a:pt x="386" y="712"/>
                </a:lnTo>
                <a:lnTo>
                  <a:pt x="386" y="404"/>
                </a:lnTo>
                <a:lnTo>
                  <a:pt x="0" y="0"/>
                </a:lnTo>
                <a:lnTo>
                  <a:pt x="3" y="292"/>
                </a:lnTo>
                <a:close/>
              </a:path>
            </a:pathLst>
          </a:custGeom>
          <a:gradFill rotWithShape="1">
            <a:gsLst>
              <a:gs pos="0">
                <a:srgbClr val="855ADA">
                  <a:alpha val="80000"/>
                </a:srgbClr>
              </a:gs>
              <a:gs pos="100000">
                <a:srgbClr val="855ADA">
                  <a:gamma/>
                  <a:tint val="48627"/>
                  <a:invGamma/>
                </a:srgbClr>
              </a:gs>
            </a:gsLst>
            <a:lin ang="2700000" scaled="1"/>
          </a:gradFill>
          <a:ln w="9525">
            <a:noFill/>
            <a:round/>
          </a:ln>
          <a:effectLst/>
        </p:spPr>
        <p:txBody>
          <a:bodyPr lIns="68562" tIns="34281" rIns="68562" bIns="34281"/>
          <a:lstStyle/>
          <a:p>
            <a:pPr>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85" name="Text Box 26"/>
          <p:cNvSpPr txBox="1">
            <a:spLocks noChangeArrowheads="1"/>
          </p:cNvSpPr>
          <p:nvPr/>
        </p:nvSpPr>
        <p:spPr bwMode="black">
          <a:xfrm>
            <a:off x="2347457" y="4603147"/>
            <a:ext cx="1931395" cy="346230"/>
          </a:xfrm>
          <a:prstGeom prst="rect">
            <a:avLst/>
          </a:prstGeom>
          <a:noFill/>
          <a:ln w="9525">
            <a:noFill/>
            <a:miter lim="800000"/>
          </a:ln>
        </p:spPr>
        <p:txBody>
          <a:bodyPr wrap="square" lIns="68562" tIns="34281" rIns="68562" bIns="34281">
            <a:spAutoFit/>
          </a:bodyPr>
          <a:lstStyle/>
          <a:p>
            <a:pPr>
              <a:lnSpc>
                <a:spcPct val="180000"/>
              </a:lnSpc>
              <a:buFont typeface="Wingdings" panose="05000000000000000000" pitchFamily="2" charset="2"/>
              <a:buChar char="q"/>
            </a:pPr>
            <a:r>
              <a:rPr lang="zh-CN" altLang="en-US" sz="1000" b="1" kern="0" dirty="0">
                <a:latin typeface="微软雅黑" panose="020B0503020204020204" pitchFamily="34" charset="-122"/>
                <a:ea typeface="微软雅黑" panose="020B0503020204020204" pitchFamily="34" charset="-122"/>
              </a:rPr>
              <a:t>定级是等级保护的</a:t>
            </a:r>
            <a:r>
              <a:rPr lang="zh-CN" altLang="en-US" sz="1000" b="1" kern="0" dirty="0">
                <a:solidFill>
                  <a:srgbClr val="FF0000"/>
                </a:solidFill>
                <a:latin typeface="微软雅黑" panose="020B0503020204020204" pitchFamily="34" charset="-122"/>
                <a:ea typeface="微软雅黑" panose="020B0503020204020204" pitchFamily="34" charset="-122"/>
              </a:rPr>
              <a:t>首要环节</a:t>
            </a:r>
            <a:endParaRPr lang="en-US" altLang="zh-CN" sz="1000" b="1" dirty="0">
              <a:solidFill>
                <a:srgbClr val="333333"/>
              </a:solidFill>
              <a:latin typeface="微软雅黑" panose="020B0503020204020204" pitchFamily="34" charset="-122"/>
              <a:ea typeface="微软雅黑" panose="020B0503020204020204" pitchFamily="34" charset="-122"/>
            </a:endParaRPr>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10225136" cy="890465"/>
          </a:xfrm>
        </p:spPr>
        <p:txBody>
          <a:bodyPr>
            <a:normAutofit/>
          </a:bodyPr>
          <a:lstStyle/>
          <a:p>
            <a:r>
              <a:rPr lang="zh-CN" altLang="en-US" sz="2800"/>
              <a:t>重要行业关键信息系统划分及定级建议</a:t>
            </a:r>
            <a:endParaRPr lang="zh-CN" altLang="en-US" sz="2800" dirty="0"/>
          </a:p>
        </p:txBody>
      </p:sp>
      <p:graphicFrame>
        <p:nvGraphicFramePr>
          <p:cNvPr id="3" name="表格 2"/>
          <p:cNvGraphicFramePr>
            <a:graphicFrameLocks noGrp="1"/>
          </p:cNvGraphicFramePr>
          <p:nvPr/>
        </p:nvGraphicFramePr>
        <p:xfrm>
          <a:off x="839415" y="1268760"/>
          <a:ext cx="10513294" cy="5040630"/>
        </p:xfrm>
        <a:graphic>
          <a:graphicData uri="http://schemas.openxmlformats.org/drawingml/2006/table">
            <a:tbl>
              <a:tblPr>
                <a:tableStyleId>{3C2FFA5D-87B4-456A-9821-1D502468CF0F}</a:tableStyleId>
              </a:tblPr>
              <a:tblGrid>
                <a:gridCol w="1438910"/>
                <a:gridCol w="1844928"/>
                <a:gridCol w="2987457"/>
                <a:gridCol w="1869540"/>
                <a:gridCol w="2372459"/>
              </a:tblGrid>
              <a:tr h="514350">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u="none" strike="noStrike" cap="none" normalizeH="0" baseline="0" dirty="0">
                          <a:ln>
                            <a:noFill/>
                          </a:ln>
                          <a:effectLst/>
                          <a:latin typeface="微软雅黑" panose="020B0503020204020204" pitchFamily="34" charset="-122"/>
                          <a:ea typeface="微软雅黑" panose="020B0503020204020204" pitchFamily="34" charset="-122"/>
                        </a:rPr>
                        <a:t>等级</a:t>
                      </a:r>
                      <a:endParaRPr kumimoji="1"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u="none" strike="noStrike" cap="none" normalizeH="0" baseline="0" dirty="0">
                          <a:ln>
                            <a:noFill/>
                          </a:ln>
                          <a:effectLst/>
                          <a:latin typeface="微软雅黑" panose="020B0503020204020204" pitchFamily="34" charset="-122"/>
                          <a:ea typeface="微软雅黑" panose="020B0503020204020204" pitchFamily="34" charset="-122"/>
                        </a:rPr>
                        <a:t>对象</a:t>
                      </a:r>
                      <a:endParaRPr kumimoji="1"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u="none" strike="noStrike" cap="none" normalizeH="0" baseline="0" dirty="0">
                          <a:ln>
                            <a:noFill/>
                          </a:ln>
                          <a:effectLst/>
                          <a:latin typeface="微软雅黑" panose="020B0503020204020204" pitchFamily="34" charset="-122"/>
                          <a:ea typeface="微软雅黑" panose="020B0503020204020204" pitchFamily="34" charset="-122"/>
                        </a:rPr>
                        <a:t>侵害客体</a:t>
                      </a:r>
                      <a:endParaRPr kumimoji="1"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u="none" strike="noStrike" cap="none" normalizeH="0" baseline="0" dirty="0">
                          <a:ln>
                            <a:noFill/>
                          </a:ln>
                          <a:effectLst/>
                          <a:latin typeface="微软雅黑" panose="020B0503020204020204" pitchFamily="34" charset="-122"/>
                          <a:ea typeface="微软雅黑" panose="020B0503020204020204" pitchFamily="34" charset="-122"/>
                        </a:rPr>
                        <a:t>侵害程度</a:t>
                      </a:r>
                      <a:endParaRPr kumimoji="1"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u="none" strike="noStrike" cap="none" normalizeH="0" baseline="0" dirty="0">
                          <a:ln>
                            <a:noFill/>
                          </a:ln>
                          <a:effectLst/>
                          <a:latin typeface="微软雅黑" panose="020B0503020204020204" pitchFamily="34" charset="-122"/>
                          <a:ea typeface="微软雅黑" panose="020B0503020204020204" pitchFamily="34" charset="-122"/>
                        </a:rPr>
                        <a:t>监管强度</a:t>
                      </a:r>
                      <a:endParaRPr kumimoji="1"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r>
              <a:tr h="462393">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第一级</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rowSpan="3">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一般</a:t>
                      </a:r>
                      <a:endPar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系统</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合法权益</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a:ln>
                            <a:noFill/>
                          </a:ln>
                          <a:effectLst/>
                          <a:latin typeface="微软雅黑" panose="020B0503020204020204" pitchFamily="34" charset="-122"/>
                          <a:ea typeface="微软雅黑" panose="020B0503020204020204" pitchFamily="34" charset="-122"/>
                        </a:rPr>
                        <a:t>损害</a:t>
                      </a:r>
                      <a:endParaRPr kumimoji="1"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自主保护</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r>
              <a:tr h="462393">
                <a:tc rowSpan="2">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第二级</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vMerge="1">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合法权益</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a:ln>
                            <a:noFill/>
                          </a:ln>
                          <a:effectLst/>
                          <a:latin typeface="微软雅黑" panose="020B0503020204020204" pitchFamily="34" charset="-122"/>
                          <a:ea typeface="微软雅黑" panose="020B0503020204020204" pitchFamily="34" charset="-122"/>
                        </a:rPr>
                        <a:t>严重损害</a:t>
                      </a:r>
                      <a:endParaRPr kumimoji="1"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rowSpan="2">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a:ln>
                            <a:noFill/>
                          </a:ln>
                          <a:effectLst/>
                          <a:latin typeface="微软雅黑" panose="020B0503020204020204" pitchFamily="34" charset="-122"/>
                          <a:ea typeface="微软雅黑" panose="020B0503020204020204" pitchFamily="34" charset="-122"/>
                        </a:rPr>
                        <a:t>指导</a:t>
                      </a:r>
                      <a:endParaRPr kumimoji="1"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r>
              <a:tr h="581845">
                <a:tc vMerge="1">
                  <a:tcPr/>
                </a:tc>
                <a:tc vMerge="1">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社会秩序和公共利益</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pPr>
                      <a:r>
                        <a:rPr kumimoji="1" lang="zh-CN" altLang="en-US" sz="1400" u="none" strike="noStrike" cap="none" normalizeH="0" baseline="0">
                          <a:ln>
                            <a:noFill/>
                          </a:ln>
                          <a:effectLst/>
                          <a:latin typeface="微软雅黑" panose="020B0503020204020204" pitchFamily="34" charset="-122"/>
                          <a:ea typeface="微软雅黑" panose="020B0503020204020204" pitchFamily="34" charset="-122"/>
                        </a:rPr>
                        <a:t>损害</a:t>
                      </a:r>
                      <a:endParaRPr kumimoji="1"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vMerge="1">
                  <a:tcPr/>
                </a:tc>
              </a:tr>
              <a:tr h="581845">
                <a:tc rowSpan="2">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第三级</a:t>
                      </a:r>
                      <a:endParaRPr kumimoji="1" lang="zh-CN" altLang="en-US" sz="1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rowSpan="4">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重要</a:t>
                      </a:r>
                      <a:endParaRPr kumimoji="1" lang="zh-CN" altLang="en-US" sz="14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系统</a:t>
                      </a:r>
                      <a:endParaRPr kumimoji="1" lang="zh-CN" altLang="en-US" sz="1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社会秩序和公共利益</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严重损害</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rowSpan="2">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a:ln>
                            <a:noFill/>
                          </a:ln>
                          <a:effectLst/>
                          <a:latin typeface="微软雅黑" panose="020B0503020204020204" pitchFamily="34" charset="-122"/>
                          <a:ea typeface="微软雅黑" panose="020B0503020204020204" pitchFamily="34" charset="-122"/>
                        </a:rPr>
                        <a:t>监督检查</a:t>
                      </a:r>
                      <a:endParaRPr kumimoji="1"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r>
              <a:tr h="462393">
                <a:tc vMerge="1">
                  <a:tcPr/>
                </a:tc>
                <a:tc vMerge="1">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国家安全</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损害</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vMerge="1">
                  <a:tcPr/>
                </a:tc>
              </a:tr>
              <a:tr h="756444">
                <a:tc rowSpan="2">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第四级</a:t>
                      </a:r>
                      <a:endParaRPr kumimoji="1" lang="zh-CN" altLang="en-US" sz="14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vMerge="1">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a:ln>
                            <a:noFill/>
                          </a:ln>
                          <a:effectLst/>
                          <a:latin typeface="微软雅黑" panose="020B0503020204020204" pitchFamily="34" charset="-122"/>
                          <a:ea typeface="微软雅黑" panose="020B0503020204020204" pitchFamily="34" charset="-122"/>
                        </a:rPr>
                        <a:t>社会秩序和公共利益</a:t>
                      </a:r>
                      <a:endParaRPr kumimoji="1" lang="zh-CN" altLang="en-US" sz="1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特别严重损害</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rowSpan="2">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强制监督检查</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r>
              <a:tr h="462393">
                <a:tc vMerge="1">
                  <a:tcPr/>
                </a:tc>
                <a:tc vMerge="1">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国家安全</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anose="05050102010706020507" pitchFamily="18" charset="2"/>
                        <a:buNone/>
                        <a:defRPr/>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严重损害</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vMerge="1">
                  <a:tcPr/>
                </a:tc>
              </a:tr>
              <a:tr h="756444">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第五级</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极端重要系统</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国家安全</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特别严重损害</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c>
                  <a:txBody>
                    <a:bodyPr/>
                    <a:lstStyle>
                      <a:lvl1pPr>
                        <a:spcBef>
                          <a:spcPct val="20000"/>
                        </a:spcBef>
                        <a:buClr>
                          <a:schemeClr val="tx2"/>
                        </a:buClr>
                        <a:buSzPct val="90000"/>
                        <a:buFont typeface="Symbol" panose="05050102010706020507" pitchFamily="18" charset="2"/>
                        <a:defRPr kumimoji="1" sz="2800" b="1">
                          <a:solidFill>
                            <a:schemeClr val="tx1"/>
                          </a:solidFill>
                          <a:latin typeface="Times New Roman" panose="02020603050405020304" pitchFamily="18" charset="0"/>
                          <a:ea typeface="楷体_GB2312" pitchFamily="49" charset="-122"/>
                        </a:defRPr>
                      </a:lvl1pPr>
                      <a:lvl2pPr>
                        <a:spcBef>
                          <a:spcPct val="20000"/>
                        </a:spcBef>
                        <a:defRPr kumimoji="1" sz="2400" b="1">
                          <a:solidFill>
                            <a:schemeClr val="tx1"/>
                          </a:solidFill>
                          <a:latin typeface="Times New Roman" panose="02020603050405020304" pitchFamily="18" charset="0"/>
                          <a:ea typeface="楷体_GB2312" pitchFamily="49" charset="-122"/>
                        </a:defRPr>
                      </a:lvl2pPr>
                      <a:lvl3pPr>
                        <a:spcBef>
                          <a:spcPct val="20000"/>
                        </a:spcBef>
                        <a:defRPr kumimoji="1" sz="2000" b="1">
                          <a:solidFill>
                            <a:schemeClr val="tx1"/>
                          </a:solidFill>
                          <a:latin typeface="Times New Roman" panose="02020603050405020304" pitchFamily="18" charset="0"/>
                          <a:ea typeface="楷体_GB2312" pitchFamily="49" charset="-122"/>
                        </a:defRPr>
                      </a:lvl3pPr>
                      <a:lvl4pPr>
                        <a:spcBef>
                          <a:spcPct val="20000"/>
                        </a:spcBef>
                        <a:defRPr kumimoji="1" sz="2000" b="1">
                          <a:solidFill>
                            <a:schemeClr val="tx1"/>
                          </a:solidFill>
                          <a:latin typeface="Times New Roman" panose="02020603050405020304" pitchFamily="18" charset="0"/>
                          <a:ea typeface="楷体_GB2312" pitchFamily="49" charset="-122"/>
                        </a:defRPr>
                      </a:lvl4pPr>
                      <a:lvl5pPr>
                        <a:spcBef>
                          <a:spcPct val="20000"/>
                        </a:spcBef>
                        <a:defRPr kumimoji="1" sz="2000" b="1">
                          <a:solidFill>
                            <a:schemeClr val="tx1"/>
                          </a:solidFill>
                          <a:latin typeface="Times New Roman" panose="02020603050405020304" pitchFamily="18" charset="0"/>
                          <a:ea typeface="楷体_GB2312" pitchFamily="49" charset="-122"/>
                        </a:defRPr>
                      </a:lvl5pPr>
                      <a:lvl6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6pPr>
                      <a:lvl7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7pPr>
                      <a:lvl8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8pPr>
                      <a:lvl9pPr fontAlgn="base">
                        <a:spcBef>
                          <a:spcPct val="20000"/>
                        </a:spcBef>
                        <a:spcAft>
                          <a:spcPct val="0"/>
                        </a:spcAft>
                        <a:defRPr kumimoji="1" sz="2000" b="1">
                          <a:solidFill>
                            <a:schemeClr val="tx1"/>
                          </a:solidFill>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400" u="none" strike="noStrike" cap="none" normalizeH="0" baseline="0" dirty="0">
                          <a:ln>
                            <a:noFill/>
                          </a:ln>
                          <a:effectLst/>
                          <a:latin typeface="微软雅黑" panose="020B0503020204020204" pitchFamily="34" charset="-122"/>
                          <a:ea typeface="微软雅黑" panose="020B0503020204020204" pitchFamily="34" charset="-122"/>
                        </a:rPr>
                        <a:t>专门监督检查</a:t>
                      </a:r>
                      <a:endParaRPr kumimoji="1" lang="zh-CN" altLang="en-US" sz="1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121916" marR="121916" marT="60974" marB="60974" anchor="ctr" horzOverflow="overflow">
                    <a:solidFill>
                      <a:schemeClr val="bg2"/>
                    </a:solidFill>
                  </a:tcPr>
                </a:tc>
              </a:tr>
            </a:tbl>
          </a:graphicData>
        </a:graphic>
      </p:graphicFrame>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矩形 1"/>
          <p:cNvSpPr>
            <a:spLocks noChangeArrowheads="1"/>
          </p:cNvSpPr>
          <p:nvPr/>
        </p:nvSpPr>
        <p:spPr bwMode="auto">
          <a:xfrm>
            <a:off x="2279650" y="1341438"/>
            <a:ext cx="7848600" cy="286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algn="just" eaLnBrk="1" hangingPunct="1">
              <a:lnSpc>
                <a:spcPct val="200000"/>
              </a:lnSpc>
              <a:spcBef>
                <a:spcPct val="0"/>
              </a:spcBef>
              <a:buClr>
                <a:srgbClr val="FF0000"/>
              </a:buClr>
              <a:buFontTx/>
              <a:buNone/>
            </a:pP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管理办法</a:t>
            </a:r>
            <a:r>
              <a:rPr lang="en-US" altLang="zh-CN" sz="1800" b="1">
                <a:latin typeface="微软雅黑" panose="020B0503020204020204" pitchFamily="34" charset="-122"/>
                <a:ea typeface="微软雅黑" panose="020B0503020204020204" pitchFamily="34" charset="-122"/>
              </a:rPr>
              <a:t>》</a:t>
            </a:r>
            <a:r>
              <a:rPr lang="zh-CN" altLang="en-US" sz="1800" b="1">
                <a:latin typeface="微软雅黑" panose="020B0503020204020204" pitchFamily="34" charset="-122"/>
                <a:ea typeface="微软雅黑" panose="020B0503020204020204" pitchFamily="34" charset="-122"/>
              </a:rPr>
              <a:t>规定的五个等级：</a:t>
            </a:r>
            <a:endParaRPr lang="zh-CN" altLang="en-US" sz="1800" b="1">
              <a:latin typeface="微软雅黑" panose="020B0503020204020204" pitchFamily="34" charset="-122"/>
              <a:ea typeface="微软雅黑" panose="020B0503020204020204" pitchFamily="34" charset="-122"/>
            </a:endParaRPr>
          </a:p>
          <a:p>
            <a:pPr eaLnBrk="1" hangingPunct="1">
              <a:lnSpc>
                <a:spcPct val="200000"/>
              </a:lnSpc>
              <a:spcBef>
                <a:spcPct val="0"/>
              </a:spcBef>
              <a:buClr>
                <a:srgbClr val="FF0000"/>
              </a:buClr>
              <a:buFont typeface="Wingdings" panose="05000000000000000000" pitchFamily="2" charset="2"/>
              <a:buChar char="p"/>
            </a:pPr>
            <a:r>
              <a:rPr lang="zh-CN" altLang="en-US" sz="1800" b="1">
                <a:latin typeface="微软雅黑" panose="020B0503020204020204" pitchFamily="34" charset="-122"/>
                <a:ea typeface="微软雅黑" panose="020B0503020204020204" pitchFamily="34" charset="-122"/>
              </a:rPr>
              <a:t>第一级，信息系统受到破坏后，会对公民、法人和其他组织的合法权益造成损害，但</a:t>
            </a:r>
            <a:r>
              <a:rPr lang="zh-CN" altLang="en-US" sz="1800" b="1">
                <a:solidFill>
                  <a:srgbClr val="FF0000"/>
                </a:solidFill>
                <a:latin typeface="微软雅黑" panose="020B0503020204020204" pitchFamily="34" charset="-122"/>
                <a:ea typeface="微软雅黑" panose="020B0503020204020204" pitchFamily="34" charset="-122"/>
              </a:rPr>
              <a:t>不损害国家安全、社会秩序和公共利益</a:t>
            </a:r>
            <a:r>
              <a:rPr lang="zh-CN" altLang="en-US" sz="1800" b="1">
                <a:latin typeface="微软雅黑" panose="020B0503020204020204" pitchFamily="34" charset="-122"/>
                <a:ea typeface="微软雅黑" panose="020B0503020204020204" pitchFamily="34" charset="-122"/>
              </a:rPr>
              <a:t>。</a:t>
            </a:r>
            <a:endParaRPr lang="zh-CN" altLang="en-US" sz="1800" b="1">
              <a:latin typeface="微软雅黑" panose="020B0503020204020204" pitchFamily="34" charset="-122"/>
              <a:ea typeface="微软雅黑" panose="020B0503020204020204" pitchFamily="34" charset="-122"/>
            </a:endParaRPr>
          </a:p>
          <a:p>
            <a:pPr eaLnBrk="1" hangingPunct="1">
              <a:lnSpc>
                <a:spcPct val="200000"/>
              </a:lnSpc>
              <a:spcBef>
                <a:spcPct val="0"/>
              </a:spcBef>
              <a:buClr>
                <a:srgbClr val="FF0000"/>
              </a:buClr>
              <a:buFont typeface="Wingdings" panose="05000000000000000000" pitchFamily="2" charset="2"/>
              <a:buChar char="p"/>
            </a:pPr>
            <a:r>
              <a:rPr lang="zh-CN" altLang="en-US" sz="1800" b="1">
                <a:latin typeface="微软雅黑" panose="020B0503020204020204" pitchFamily="34" charset="-122"/>
                <a:ea typeface="微软雅黑" panose="020B0503020204020204" pitchFamily="34" charset="-122"/>
              </a:rPr>
              <a:t>第二级，信息系统受到破坏后，会对公民、法人和其他组织的合法权益产生严重损害，或者对社会秩序和公共利益造成损害，但</a:t>
            </a:r>
            <a:r>
              <a:rPr lang="zh-CN" altLang="en-US" sz="1800" b="1">
                <a:solidFill>
                  <a:srgbClr val="FF0000"/>
                </a:solidFill>
                <a:latin typeface="微软雅黑" panose="020B0503020204020204" pitchFamily="34" charset="-122"/>
                <a:ea typeface="微软雅黑" panose="020B0503020204020204" pitchFamily="34" charset="-122"/>
              </a:rPr>
              <a:t>不损害国家安全</a:t>
            </a:r>
            <a:r>
              <a:rPr lang="zh-CN" altLang="en-US" sz="1800" b="1">
                <a:latin typeface="微软雅黑" panose="020B0503020204020204" pitchFamily="34" charset="-122"/>
                <a:ea typeface="微软雅黑" panose="020B0503020204020204" pitchFamily="34" charset="-122"/>
              </a:rPr>
              <a:t>。</a:t>
            </a:r>
            <a:endParaRPr lang="zh-CN" altLang="en-US" sz="1800" b="1">
              <a:latin typeface="微软雅黑" panose="020B0503020204020204" pitchFamily="34" charset="-122"/>
              <a:ea typeface="微软雅黑" panose="020B0503020204020204" pitchFamily="34" charset="-122"/>
            </a:endParaRPr>
          </a:p>
        </p:txBody>
      </p:sp>
      <p:sp>
        <p:nvSpPr>
          <p:cNvPr id="5" name="TextBox 1"/>
          <p:cNvSpPr txBox="1">
            <a:spLocks noChangeArrowheads="1"/>
          </p:cNvSpPr>
          <p:nvPr/>
        </p:nvSpPr>
        <p:spPr bwMode="auto">
          <a:xfrm>
            <a:off x="567690" y="462915"/>
            <a:ext cx="35909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2800" dirty="0">
                <a:solidFill>
                  <a:schemeClr val="bg1"/>
                </a:solidFill>
                <a:latin typeface="微软雅黑" panose="020B0503020204020204" pitchFamily="34" charset="-122"/>
                <a:ea typeface="微软雅黑" panose="020B0503020204020204" pitchFamily="34" charset="-122"/>
              </a:rPr>
              <a:t>等级保护</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定级</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矩形 1"/>
          <p:cNvSpPr>
            <a:spLocks noChangeArrowheads="1"/>
          </p:cNvSpPr>
          <p:nvPr/>
        </p:nvSpPr>
        <p:spPr bwMode="auto">
          <a:xfrm>
            <a:off x="2279650" y="1412875"/>
            <a:ext cx="7920038"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200000"/>
              </a:lnSpc>
              <a:spcBef>
                <a:spcPct val="0"/>
              </a:spcBef>
              <a:buClr>
                <a:srgbClr val="FF0000"/>
              </a:buClr>
              <a:buFont typeface="Wingdings" panose="05000000000000000000" pitchFamily="2" charset="2"/>
              <a:buChar char="p"/>
            </a:pPr>
            <a:r>
              <a:rPr lang="zh-CN" altLang="en-US" sz="1800" b="1">
                <a:latin typeface="微软雅黑" panose="020B0503020204020204" pitchFamily="34" charset="-122"/>
                <a:ea typeface="微软雅黑" panose="020B0503020204020204" pitchFamily="34" charset="-122"/>
              </a:rPr>
              <a:t>第三级，信息系统受到破坏后，会对社会秩序和公共利益造成严重损害，或者</a:t>
            </a:r>
            <a:r>
              <a:rPr lang="zh-CN" altLang="en-US" sz="1800" b="1">
                <a:solidFill>
                  <a:srgbClr val="FF0000"/>
                </a:solidFill>
                <a:latin typeface="微软雅黑" panose="020B0503020204020204" pitchFamily="34" charset="-122"/>
                <a:ea typeface="微软雅黑" panose="020B0503020204020204" pitchFamily="34" charset="-122"/>
              </a:rPr>
              <a:t>对国家安全造成损害</a:t>
            </a:r>
            <a:r>
              <a:rPr lang="zh-CN" altLang="en-US" sz="1800" b="1">
                <a:latin typeface="微软雅黑" panose="020B0503020204020204" pitchFamily="34" charset="-122"/>
                <a:ea typeface="微软雅黑" panose="020B0503020204020204" pitchFamily="34" charset="-122"/>
              </a:rPr>
              <a:t>。 新修订定级指南对公民、法人和其他组织的合法权益造成特别严重损害。</a:t>
            </a:r>
            <a:endParaRPr lang="zh-CN" altLang="en-US" sz="1800" b="1">
              <a:latin typeface="微软雅黑" panose="020B0503020204020204" pitchFamily="34" charset="-122"/>
              <a:ea typeface="微软雅黑" panose="020B0503020204020204" pitchFamily="34" charset="-122"/>
            </a:endParaRPr>
          </a:p>
          <a:p>
            <a:pPr eaLnBrk="1" hangingPunct="1">
              <a:lnSpc>
                <a:spcPct val="200000"/>
              </a:lnSpc>
              <a:spcBef>
                <a:spcPct val="0"/>
              </a:spcBef>
              <a:buClr>
                <a:srgbClr val="FF0000"/>
              </a:buClr>
              <a:buFont typeface="Wingdings" panose="05000000000000000000" pitchFamily="2" charset="2"/>
              <a:buChar char="p"/>
            </a:pPr>
            <a:r>
              <a:rPr lang="zh-CN" altLang="en-US" sz="1800" b="1">
                <a:latin typeface="微软雅黑" panose="020B0503020204020204" pitchFamily="34" charset="-122"/>
                <a:ea typeface="微软雅黑" panose="020B0503020204020204" pitchFamily="34" charset="-122"/>
              </a:rPr>
              <a:t>第四级，信息系统受到破坏后，会对社会秩序和公共利益造成特别严重损害，或者</a:t>
            </a:r>
            <a:r>
              <a:rPr lang="zh-CN" altLang="en-US" sz="1800" b="1">
                <a:solidFill>
                  <a:srgbClr val="FF0000"/>
                </a:solidFill>
                <a:latin typeface="微软雅黑" panose="020B0503020204020204" pitchFamily="34" charset="-122"/>
                <a:ea typeface="微软雅黑" panose="020B0503020204020204" pitchFamily="34" charset="-122"/>
              </a:rPr>
              <a:t>对国家安全造成严重损害</a:t>
            </a:r>
            <a:r>
              <a:rPr lang="zh-CN" altLang="en-US" sz="1800" b="1">
                <a:latin typeface="微软雅黑" panose="020B0503020204020204" pitchFamily="34" charset="-122"/>
                <a:ea typeface="微软雅黑" panose="020B0503020204020204" pitchFamily="34" charset="-122"/>
              </a:rPr>
              <a:t>。</a:t>
            </a:r>
            <a:endParaRPr lang="zh-CN" altLang="en-US" sz="1800" b="1">
              <a:latin typeface="微软雅黑" panose="020B0503020204020204" pitchFamily="34" charset="-122"/>
              <a:ea typeface="微软雅黑" panose="020B0503020204020204" pitchFamily="34" charset="-122"/>
            </a:endParaRPr>
          </a:p>
          <a:p>
            <a:pPr eaLnBrk="1" hangingPunct="1">
              <a:lnSpc>
                <a:spcPct val="200000"/>
              </a:lnSpc>
              <a:spcBef>
                <a:spcPct val="0"/>
              </a:spcBef>
              <a:buClr>
                <a:srgbClr val="FF0000"/>
              </a:buClr>
              <a:buFont typeface="Wingdings" panose="05000000000000000000" pitchFamily="2" charset="2"/>
              <a:buChar char="p"/>
            </a:pPr>
            <a:r>
              <a:rPr lang="zh-CN" altLang="en-US" sz="1800" b="1">
                <a:latin typeface="微软雅黑" panose="020B0503020204020204" pitchFamily="34" charset="-122"/>
                <a:ea typeface="微软雅黑" panose="020B0503020204020204" pitchFamily="34" charset="-122"/>
              </a:rPr>
              <a:t>第五级，信息系统受到破坏后，会对</a:t>
            </a:r>
            <a:r>
              <a:rPr lang="zh-CN" altLang="en-US" sz="1800" b="1">
                <a:solidFill>
                  <a:srgbClr val="FF0000"/>
                </a:solidFill>
                <a:latin typeface="微软雅黑" panose="020B0503020204020204" pitchFamily="34" charset="-122"/>
                <a:ea typeface="微软雅黑" panose="020B0503020204020204" pitchFamily="34" charset="-122"/>
              </a:rPr>
              <a:t>国家安全造成特别严重损害</a:t>
            </a:r>
            <a:r>
              <a:rPr lang="zh-CN" altLang="en-US" sz="1800" b="1">
                <a:latin typeface="微软雅黑" panose="020B0503020204020204" pitchFamily="34" charset="-122"/>
                <a:ea typeface="微软雅黑" panose="020B0503020204020204" pitchFamily="34" charset="-122"/>
              </a:rPr>
              <a:t>。 </a:t>
            </a:r>
            <a:endParaRPr lang="zh-CN" altLang="en-US" sz="1800" b="1">
              <a:latin typeface="微软雅黑" panose="020B0503020204020204" pitchFamily="34" charset="-122"/>
              <a:ea typeface="微软雅黑" panose="020B0503020204020204" pitchFamily="34" charset="-122"/>
            </a:endParaRPr>
          </a:p>
        </p:txBody>
      </p:sp>
      <p:sp>
        <p:nvSpPr>
          <p:cNvPr id="4" name="椭圆 3"/>
          <p:cNvSpPr/>
          <p:nvPr/>
        </p:nvSpPr>
        <p:spPr>
          <a:xfrm>
            <a:off x="1703388" y="1268413"/>
            <a:ext cx="8353425" cy="18732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5" name="TextBox 1"/>
          <p:cNvSpPr txBox="1">
            <a:spLocks noChangeArrowheads="1"/>
          </p:cNvSpPr>
          <p:nvPr/>
        </p:nvSpPr>
        <p:spPr bwMode="auto">
          <a:xfrm>
            <a:off x="567690" y="462915"/>
            <a:ext cx="35909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2800" dirty="0">
                <a:solidFill>
                  <a:schemeClr val="bg1"/>
                </a:solidFill>
                <a:latin typeface="微软雅黑" panose="020B0503020204020204" pitchFamily="34" charset="-122"/>
                <a:ea typeface="微软雅黑" panose="020B0503020204020204" pitchFamily="34" charset="-122"/>
              </a:rPr>
              <a:t>等级保护</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定级</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矩形 1"/>
          <p:cNvSpPr>
            <a:spLocks noChangeArrowheads="1"/>
          </p:cNvSpPr>
          <p:nvPr/>
        </p:nvSpPr>
        <p:spPr bwMode="auto">
          <a:xfrm>
            <a:off x="2351088" y="1125538"/>
            <a:ext cx="7848600" cy="3723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200000"/>
              </a:lnSpc>
              <a:spcBef>
                <a:spcPct val="0"/>
              </a:spcBef>
              <a:buClr>
                <a:srgbClr val="FF0000"/>
              </a:buClr>
              <a:buFontTx/>
              <a:buNone/>
            </a:pPr>
            <a:r>
              <a:rPr lang="zh-CN" altLang="en-US" sz="1800">
                <a:latin typeface="微软雅黑" panose="020B0503020204020204" pitchFamily="34" charset="-122"/>
                <a:ea typeface="微软雅黑" panose="020B0503020204020204" pitchFamily="34" charset="-122"/>
              </a:rPr>
              <a:t>实际操作中参考确定信息系统等级：</a:t>
            </a:r>
            <a:endParaRPr lang="zh-CN" altLang="en-US" sz="1800">
              <a:latin typeface="微软雅黑" panose="020B0503020204020204" pitchFamily="34" charset="-122"/>
              <a:ea typeface="微软雅黑" panose="020B0503020204020204" pitchFamily="34" charset="-122"/>
            </a:endParaRPr>
          </a:p>
          <a:p>
            <a:pPr eaLnBrk="1" hangingPunct="1">
              <a:lnSpc>
                <a:spcPct val="200000"/>
              </a:lnSpc>
              <a:spcBef>
                <a:spcPts val="1200"/>
              </a:spcBef>
              <a:buClr>
                <a:srgbClr val="FF0000"/>
              </a:buClr>
              <a:buFont typeface="Wingdings" panose="05000000000000000000" pitchFamily="2" charset="2"/>
              <a:buChar char="p"/>
            </a:pPr>
            <a:r>
              <a:rPr lang="zh-CN" altLang="en-US" sz="1800">
                <a:latin typeface="微软雅黑" panose="020B0503020204020204" pitchFamily="34" charset="-122"/>
                <a:ea typeface="微软雅黑" panose="020B0503020204020204" pitchFamily="34" charset="-122"/>
              </a:rPr>
              <a:t>第一级信息系统：适用于小型私营、个体企业、中小学、乡镇所属信息系统、县级单位中一般的信息系统。</a:t>
            </a:r>
            <a:endParaRPr lang="zh-CN" altLang="en-US" sz="1800">
              <a:latin typeface="微软雅黑" panose="020B0503020204020204" pitchFamily="34" charset="-122"/>
              <a:ea typeface="微软雅黑" panose="020B0503020204020204" pitchFamily="34" charset="-122"/>
            </a:endParaRPr>
          </a:p>
          <a:p>
            <a:pPr eaLnBrk="1" hangingPunct="1">
              <a:lnSpc>
                <a:spcPct val="200000"/>
              </a:lnSpc>
              <a:spcBef>
                <a:spcPts val="1200"/>
              </a:spcBef>
              <a:buClr>
                <a:srgbClr val="FF0000"/>
              </a:buClr>
              <a:buFont typeface="Wingdings" panose="05000000000000000000" pitchFamily="2" charset="2"/>
              <a:buChar char="p"/>
            </a:pPr>
            <a:r>
              <a:rPr lang="zh-CN" altLang="en-US" sz="1800">
                <a:latin typeface="微软雅黑" panose="020B0503020204020204" pitchFamily="34" charset="-122"/>
                <a:ea typeface="微软雅黑" panose="020B0503020204020204" pitchFamily="34" charset="-122"/>
              </a:rPr>
              <a:t>第二级信息系统：适用于县级某些单位中的重要信息系统；地市级以上国家机关、企事业单位内部一般的信息系统。例如非涉及工作秘密、商业秘密、敏感信息的办公系统和管理系统等。</a:t>
            </a:r>
            <a:endParaRPr lang="en-US" altLang="zh-CN" sz="1800">
              <a:latin typeface="微软雅黑" panose="020B0503020204020204" pitchFamily="34" charset="-122"/>
              <a:ea typeface="微软雅黑" panose="020B0503020204020204" pitchFamily="34" charset="-122"/>
            </a:endParaRPr>
          </a:p>
        </p:txBody>
      </p:sp>
      <p:sp>
        <p:nvSpPr>
          <p:cNvPr id="5" name="TextBox 1"/>
          <p:cNvSpPr txBox="1">
            <a:spLocks noChangeArrowheads="1"/>
          </p:cNvSpPr>
          <p:nvPr/>
        </p:nvSpPr>
        <p:spPr bwMode="auto">
          <a:xfrm>
            <a:off x="567690" y="462915"/>
            <a:ext cx="35909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2800" dirty="0">
                <a:solidFill>
                  <a:schemeClr val="bg1"/>
                </a:solidFill>
                <a:latin typeface="微软雅黑" panose="020B0503020204020204" pitchFamily="34" charset="-122"/>
                <a:ea typeface="微软雅黑" panose="020B0503020204020204" pitchFamily="34" charset="-122"/>
              </a:rPr>
              <a:t>等级保护</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定级</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矩形 1"/>
          <p:cNvSpPr>
            <a:spLocks noChangeArrowheads="1"/>
          </p:cNvSpPr>
          <p:nvPr/>
        </p:nvSpPr>
        <p:spPr bwMode="auto">
          <a:xfrm>
            <a:off x="2279650" y="1268413"/>
            <a:ext cx="7993063" cy="4677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200000"/>
              </a:lnSpc>
              <a:spcBef>
                <a:spcPts val="1200"/>
              </a:spcBef>
              <a:buClr>
                <a:srgbClr val="FF0000"/>
              </a:buClr>
              <a:buFont typeface="Wingdings" panose="05000000000000000000" pitchFamily="2" charset="2"/>
              <a:buChar char="p"/>
            </a:pPr>
            <a:r>
              <a:rPr lang="zh-CN" altLang="en-US" sz="1800">
                <a:latin typeface="微软雅黑" panose="020B0503020204020204" pitchFamily="34" charset="-122"/>
                <a:ea typeface="微软雅黑" panose="020B0503020204020204" pitchFamily="34" charset="-122"/>
              </a:rPr>
              <a:t>第三级信息系统：一般适用于地市级以上国家机关、企业、事业单位内部重要的信息系统，例如涉及工作秘密、商业秘密、敏感信息的办公系统和管理系统；跨省或全国联网运行的用于生产、调度、管理、指挥、作业、控制等方面的重要信息系统以及这类系统在省、地市的分支系统；中央各部委、省（区、市）门户网站和重要网站；跨省联接的网络系统等。</a:t>
            </a:r>
            <a:endParaRPr lang="en-US" altLang="zh-CN" sz="1800">
              <a:latin typeface="微软雅黑" panose="020B0503020204020204" pitchFamily="34" charset="-122"/>
              <a:ea typeface="微软雅黑" panose="020B0503020204020204" pitchFamily="34" charset="-122"/>
            </a:endParaRPr>
          </a:p>
          <a:p>
            <a:pPr eaLnBrk="1" hangingPunct="1">
              <a:lnSpc>
                <a:spcPct val="200000"/>
              </a:lnSpc>
              <a:spcBef>
                <a:spcPts val="1200"/>
              </a:spcBef>
              <a:buClr>
                <a:srgbClr val="FF0000"/>
              </a:buClr>
              <a:buFont typeface="Wingdings" panose="05000000000000000000" pitchFamily="2" charset="2"/>
              <a:buChar char="p"/>
            </a:pPr>
            <a:r>
              <a:rPr lang="zh-CN" altLang="en-US" sz="1800">
                <a:latin typeface="微软雅黑" panose="020B0503020204020204" pitchFamily="34" charset="-122"/>
                <a:ea typeface="微软雅黑" panose="020B0503020204020204" pitchFamily="34" charset="-122"/>
              </a:rPr>
              <a:t>第四级信息系统：一般适用于国家重要领域、部门中涉及国计民生、国家利益、国家安全，影响社会稳定的核心系统。例如电力生产控制系统、银行核心业务系统、电信核心网络、铁路客票系统、列车指挥调度系统等。</a:t>
            </a:r>
            <a:endParaRPr lang="en-US" altLang="zh-CN" sz="1800">
              <a:latin typeface="微软雅黑" panose="020B0503020204020204" pitchFamily="34" charset="-122"/>
              <a:ea typeface="微软雅黑" panose="020B0503020204020204" pitchFamily="34" charset="-122"/>
            </a:endParaRPr>
          </a:p>
        </p:txBody>
      </p:sp>
      <p:sp>
        <p:nvSpPr>
          <p:cNvPr id="5" name="TextBox 1"/>
          <p:cNvSpPr txBox="1">
            <a:spLocks noChangeArrowheads="1"/>
          </p:cNvSpPr>
          <p:nvPr/>
        </p:nvSpPr>
        <p:spPr bwMode="auto">
          <a:xfrm>
            <a:off x="567690" y="462915"/>
            <a:ext cx="35909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2800" dirty="0">
                <a:solidFill>
                  <a:schemeClr val="bg1"/>
                </a:solidFill>
                <a:latin typeface="微软雅黑" panose="020B0503020204020204" pitchFamily="34" charset="-122"/>
                <a:ea typeface="微软雅黑" panose="020B0503020204020204" pitchFamily="34" charset="-122"/>
              </a:rPr>
              <a:t>等级保护</a:t>
            </a:r>
            <a:r>
              <a:rPr lang="en-US" altLang="zh-CN" sz="2800" dirty="0">
                <a:solidFill>
                  <a:schemeClr val="bg1"/>
                </a:solidFill>
                <a:latin typeface="微软雅黑" panose="020B0503020204020204" pitchFamily="34" charset="-122"/>
                <a:ea typeface="微软雅黑" panose="020B0503020204020204" pitchFamily="34" charset="-122"/>
              </a:rPr>
              <a:t>-</a:t>
            </a:r>
            <a:r>
              <a:rPr lang="zh-CN" altLang="en-US" sz="2800" dirty="0">
                <a:solidFill>
                  <a:schemeClr val="bg1"/>
                </a:solidFill>
                <a:latin typeface="微软雅黑" panose="020B0503020204020204" pitchFamily="34" charset="-122"/>
                <a:ea typeface="微软雅黑" panose="020B0503020204020204" pitchFamily="34" charset="-122"/>
              </a:rPr>
              <a:t>定级</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10515600" cy="1034481"/>
          </a:xfrm>
        </p:spPr>
        <p:txBody>
          <a:bodyPr/>
          <a:lstStyle/>
          <a:p>
            <a:r>
              <a:rPr lang="zh-CN" altLang="en-US" sz="2800" dirty="0"/>
              <a:t>测评目标</a:t>
            </a:r>
            <a:endParaRPr lang="zh-CN" altLang="en-US" sz="2800" dirty="0"/>
          </a:p>
        </p:txBody>
      </p:sp>
      <p:sp>
        <p:nvSpPr>
          <p:cNvPr id="3" name="矩形 2"/>
          <p:cNvSpPr/>
          <p:nvPr/>
        </p:nvSpPr>
        <p:spPr>
          <a:xfrm>
            <a:off x="1162517" y="1004476"/>
            <a:ext cx="7702750" cy="5123775"/>
          </a:xfrm>
          <a:prstGeom prst="rect">
            <a:avLst/>
          </a:prstGeom>
        </p:spPr>
        <p:txBody>
          <a:bodyPr wrap="none">
            <a:spAutoFit/>
          </a:bodyPr>
          <a:lstStyle/>
          <a:p>
            <a:pPr>
              <a:lnSpc>
                <a:spcPct val="150000"/>
              </a:lnSpc>
            </a:pPr>
            <a:r>
              <a:rPr lang="zh-CN" altLang="en-US" sz="2000" b="1" dirty="0"/>
              <a:t>         需要实施安全等级保护的信息系统为：</a:t>
            </a:r>
            <a:endParaRPr lang="en-US" altLang="zh-CN" sz="2000" b="1" dirty="0"/>
          </a:p>
          <a:p>
            <a:pPr indent="441325">
              <a:lnSpc>
                <a:spcPct val="150000"/>
              </a:lnSpc>
            </a:pPr>
            <a:r>
              <a:rPr lang="en-US" altLang="zh-CN" sz="2000" b="1" dirty="0"/>
              <a:t>	- </a:t>
            </a:r>
            <a:r>
              <a:rPr lang="zh-CN" altLang="en-US" sz="2000" b="1" dirty="0"/>
              <a:t>党政系统</a:t>
            </a:r>
            <a:r>
              <a:rPr lang="en-US" altLang="zh-CN" sz="2000" b="1" dirty="0"/>
              <a:t>(</a:t>
            </a:r>
            <a:r>
              <a:rPr lang="zh-CN" altLang="en-US" sz="2000" b="1" dirty="0"/>
              <a:t>党委、政府</a:t>
            </a:r>
            <a:r>
              <a:rPr lang="en-US" altLang="zh-CN" sz="2000" b="1" dirty="0"/>
              <a:t>)</a:t>
            </a:r>
            <a:r>
              <a:rPr lang="zh-CN" altLang="en-US" sz="2000" b="1" dirty="0"/>
              <a:t>； </a:t>
            </a:r>
            <a:br>
              <a:rPr lang="zh-CN" altLang="en-US" sz="2000" b="1" dirty="0"/>
            </a:br>
            <a:r>
              <a:rPr lang="en-US" altLang="zh-CN" sz="2000" b="1" dirty="0"/>
              <a:t>	- </a:t>
            </a:r>
            <a:r>
              <a:rPr lang="zh-CN" altLang="en-US" sz="2000" b="1" dirty="0"/>
              <a:t>金融系统</a:t>
            </a:r>
            <a:r>
              <a:rPr lang="en-US" altLang="zh-CN" sz="2000" b="1" dirty="0"/>
              <a:t>(</a:t>
            </a:r>
            <a:r>
              <a:rPr lang="zh-CN" altLang="en-US" sz="2000" b="1" dirty="0"/>
              <a:t>银行、保险、证券</a:t>
            </a:r>
            <a:r>
              <a:rPr lang="en-US" altLang="zh-CN" sz="2000" b="1" dirty="0"/>
              <a:t>)</a:t>
            </a:r>
            <a:r>
              <a:rPr lang="zh-CN" altLang="en-US" sz="2000" b="1" dirty="0"/>
              <a:t>； </a:t>
            </a:r>
            <a:br>
              <a:rPr lang="zh-CN" altLang="en-US" sz="2000" b="1" dirty="0"/>
            </a:br>
            <a:r>
              <a:rPr lang="en-US" altLang="zh-CN" sz="2000" b="1" dirty="0"/>
              <a:t>	- </a:t>
            </a:r>
            <a:r>
              <a:rPr lang="zh-CN" altLang="en-US" sz="2000" b="1" dirty="0"/>
              <a:t>财税系统</a:t>
            </a:r>
            <a:r>
              <a:rPr lang="en-US" altLang="zh-CN" sz="2000" b="1" dirty="0"/>
              <a:t>(</a:t>
            </a:r>
            <a:r>
              <a:rPr lang="zh-CN" altLang="en-US" sz="2000" b="1" dirty="0"/>
              <a:t>财政、税务、工商</a:t>
            </a:r>
            <a:r>
              <a:rPr lang="en-US" altLang="zh-CN" sz="2000" b="1" dirty="0"/>
              <a:t>)</a:t>
            </a:r>
            <a:r>
              <a:rPr lang="zh-CN" altLang="en-US" sz="2000" b="1" dirty="0"/>
              <a:t>； </a:t>
            </a:r>
            <a:br>
              <a:rPr lang="zh-CN" altLang="en-US" sz="2000" b="1" dirty="0"/>
            </a:br>
            <a:r>
              <a:rPr lang="en-US" altLang="zh-CN" sz="2000" b="1" dirty="0"/>
              <a:t>	- </a:t>
            </a:r>
            <a:r>
              <a:rPr lang="zh-CN" altLang="en-US" sz="2000" b="1" dirty="0"/>
              <a:t>经贸系统</a:t>
            </a:r>
            <a:r>
              <a:rPr lang="en-US" altLang="zh-CN" sz="2000" b="1" dirty="0"/>
              <a:t>(</a:t>
            </a:r>
            <a:r>
              <a:rPr lang="zh-CN" altLang="en-US" sz="2000" b="1" dirty="0"/>
              <a:t>商业贸易、海关</a:t>
            </a:r>
            <a:r>
              <a:rPr lang="en-US" altLang="zh-CN" sz="2000" b="1" dirty="0"/>
              <a:t>)</a:t>
            </a:r>
            <a:r>
              <a:rPr lang="zh-CN" altLang="en-US" sz="2000" b="1" dirty="0"/>
              <a:t>； </a:t>
            </a:r>
            <a:br>
              <a:rPr lang="zh-CN" altLang="en-US" sz="2000" b="1" dirty="0"/>
            </a:br>
            <a:r>
              <a:rPr lang="en-US" altLang="zh-CN" sz="2000" b="1" dirty="0"/>
              <a:t>	- </a:t>
            </a:r>
            <a:r>
              <a:rPr lang="zh-CN" altLang="en-US" sz="2000" b="1" dirty="0"/>
              <a:t>电信系统</a:t>
            </a:r>
            <a:r>
              <a:rPr lang="en-US" altLang="zh-CN" sz="2000" b="1" dirty="0"/>
              <a:t>(</a:t>
            </a:r>
            <a:r>
              <a:rPr lang="zh-CN" altLang="en-US" sz="2000" b="1" dirty="0"/>
              <a:t>邮电、电信、广播、电视</a:t>
            </a:r>
            <a:r>
              <a:rPr lang="en-US" altLang="zh-CN" sz="2000" b="1" dirty="0"/>
              <a:t>)</a:t>
            </a:r>
            <a:r>
              <a:rPr lang="zh-CN" altLang="en-US" sz="2000" b="1" dirty="0"/>
              <a:t>； </a:t>
            </a:r>
            <a:br>
              <a:rPr lang="zh-CN" altLang="en-US" sz="2000" b="1" dirty="0"/>
            </a:br>
            <a:r>
              <a:rPr lang="en-US" altLang="zh-CN" sz="2000" b="1" dirty="0"/>
              <a:t>	- </a:t>
            </a:r>
            <a:r>
              <a:rPr lang="zh-CN" altLang="en-US" sz="2000" b="1" dirty="0"/>
              <a:t>能源系统</a:t>
            </a:r>
            <a:r>
              <a:rPr lang="en-US" altLang="zh-CN" sz="2000" b="1" dirty="0"/>
              <a:t>(</a:t>
            </a:r>
            <a:r>
              <a:rPr lang="zh-CN" altLang="en-US" sz="2000" b="1" dirty="0"/>
              <a:t>电力、热力、燃气、煤炭、油料</a:t>
            </a:r>
            <a:r>
              <a:rPr lang="en-US" altLang="zh-CN" sz="2000" b="1" dirty="0"/>
              <a:t>)</a:t>
            </a:r>
            <a:r>
              <a:rPr lang="zh-CN" altLang="en-US" sz="2000" b="1" dirty="0"/>
              <a:t>； </a:t>
            </a:r>
            <a:br>
              <a:rPr lang="zh-CN" altLang="en-US" sz="2000" b="1" dirty="0"/>
            </a:br>
            <a:r>
              <a:rPr lang="en-US" altLang="zh-CN" sz="2000" b="1" dirty="0"/>
              <a:t>	- </a:t>
            </a:r>
            <a:r>
              <a:rPr lang="zh-CN" altLang="en-US" sz="2000" b="1" dirty="0"/>
              <a:t>交通运输系统</a:t>
            </a:r>
            <a:r>
              <a:rPr lang="en-US" altLang="zh-CN" sz="2000" b="1" dirty="0"/>
              <a:t>(</a:t>
            </a:r>
            <a:r>
              <a:rPr lang="zh-CN" altLang="en-US" sz="2000" b="1" dirty="0"/>
              <a:t>航空、航天、铁路、公路、水运、海运</a:t>
            </a:r>
            <a:r>
              <a:rPr lang="en-US" altLang="zh-CN" sz="2000" b="1" dirty="0"/>
              <a:t>)</a:t>
            </a:r>
            <a:r>
              <a:rPr lang="zh-CN" altLang="en-US" sz="2000" b="1" dirty="0"/>
              <a:t>； </a:t>
            </a:r>
            <a:br>
              <a:rPr lang="zh-CN" altLang="en-US" sz="2000" b="1" dirty="0"/>
            </a:br>
            <a:r>
              <a:rPr lang="en-US" altLang="zh-CN" sz="2000" b="1" dirty="0"/>
              <a:t>	- </a:t>
            </a:r>
            <a:r>
              <a:rPr lang="zh-CN" altLang="en-US" sz="2000" b="1" dirty="0"/>
              <a:t>供水系统</a:t>
            </a:r>
            <a:r>
              <a:rPr lang="en-US" altLang="zh-CN" sz="2000" b="1" dirty="0"/>
              <a:t>(</a:t>
            </a:r>
            <a:r>
              <a:rPr lang="zh-CN" altLang="en-US" sz="2000" b="1" dirty="0"/>
              <a:t>水利及水源供给</a:t>
            </a:r>
            <a:r>
              <a:rPr lang="en-US" altLang="zh-CN" sz="2000" b="1" dirty="0"/>
              <a:t>)</a:t>
            </a:r>
            <a:r>
              <a:rPr lang="zh-CN" altLang="en-US" sz="2000" b="1" dirty="0"/>
              <a:t>； </a:t>
            </a:r>
            <a:br>
              <a:rPr lang="zh-CN" altLang="en-US" sz="2000" b="1" dirty="0"/>
            </a:br>
            <a:r>
              <a:rPr lang="en-US" altLang="zh-CN" sz="2000" b="1" dirty="0"/>
              <a:t>	- </a:t>
            </a:r>
            <a:r>
              <a:rPr lang="zh-CN" altLang="en-US" sz="2000" b="1" dirty="0"/>
              <a:t>社会应急服务系统</a:t>
            </a:r>
            <a:r>
              <a:rPr lang="en-US" altLang="zh-CN" sz="2000" b="1" dirty="0"/>
              <a:t>(</a:t>
            </a:r>
            <a:r>
              <a:rPr lang="zh-CN" altLang="en-US" sz="2000" b="1" dirty="0"/>
              <a:t>医疗、消防、紧急救援</a:t>
            </a:r>
            <a:r>
              <a:rPr lang="en-US" altLang="zh-CN" sz="2000" b="1" dirty="0"/>
              <a:t>)</a:t>
            </a:r>
            <a:r>
              <a:rPr lang="zh-CN" altLang="en-US" sz="2000" b="1" dirty="0"/>
              <a:t>； </a:t>
            </a:r>
            <a:br>
              <a:rPr lang="zh-CN" altLang="en-US" sz="2000" b="1" dirty="0"/>
            </a:br>
            <a:r>
              <a:rPr lang="en-US" altLang="zh-CN" sz="2000" b="1" dirty="0"/>
              <a:t>	- HIS</a:t>
            </a:r>
            <a:r>
              <a:rPr lang="zh-CN" altLang="en-US" sz="2000" b="1" dirty="0"/>
              <a:t>、</a:t>
            </a:r>
            <a:r>
              <a:rPr lang="en-US" altLang="zh-CN" sz="2000" b="1" dirty="0"/>
              <a:t>LIS</a:t>
            </a:r>
            <a:r>
              <a:rPr lang="zh-CN" altLang="en-US" sz="2000" b="1" dirty="0"/>
              <a:t>、</a:t>
            </a:r>
            <a:r>
              <a:rPr lang="en-US" altLang="zh-CN" sz="2000" b="1" dirty="0"/>
              <a:t>PACS</a:t>
            </a:r>
            <a:r>
              <a:rPr lang="zh-CN" altLang="en-US" sz="2000" b="1" dirty="0"/>
              <a:t>、</a:t>
            </a:r>
            <a:r>
              <a:rPr lang="en-US" altLang="zh-CN" sz="2000" b="1" dirty="0"/>
              <a:t>EMR</a:t>
            </a:r>
            <a:r>
              <a:rPr lang="zh-CN" altLang="en-US" sz="2000" b="1" dirty="0"/>
              <a:t>、门户网站、</a:t>
            </a:r>
            <a:r>
              <a:rPr lang="en-US" altLang="zh-CN" sz="2000" b="1" dirty="0"/>
              <a:t>OA</a:t>
            </a:r>
            <a:r>
              <a:rPr lang="zh-CN" altLang="en-US" sz="2000" b="1" dirty="0"/>
              <a:t>系统（医院）</a:t>
            </a:r>
            <a:endParaRPr lang="zh-CN" altLang="en-US" sz="2000" b="1" dirty="0"/>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10515600" cy="1034481"/>
          </a:xfrm>
        </p:spPr>
        <p:txBody>
          <a:bodyPr/>
          <a:lstStyle/>
          <a:p>
            <a:r>
              <a:rPr lang="zh-CN" altLang="en-US" dirty="0"/>
              <a:t>系统定级</a:t>
            </a:r>
            <a:endParaRPr lang="zh-CN" altLang="en-US" dirty="0"/>
          </a:p>
        </p:txBody>
      </p:sp>
      <p:sp>
        <p:nvSpPr>
          <p:cNvPr id="3" name="内容占位符 2"/>
          <p:cNvSpPr>
            <a:spLocks noGrp="1"/>
          </p:cNvSpPr>
          <p:nvPr>
            <p:ph idx="1"/>
          </p:nvPr>
        </p:nvSpPr>
        <p:spPr>
          <a:xfrm>
            <a:off x="911424" y="2154571"/>
            <a:ext cx="10515600" cy="2376264"/>
          </a:xfrm>
        </p:spPr>
        <p:txBody>
          <a:bodyPr>
            <a:normAutofit/>
          </a:bodyPr>
          <a:lstStyle/>
          <a:p>
            <a:pPr marL="0" indent="0">
              <a:buNone/>
            </a:pPr>
            <a:r>
              <a:rPr lang="zh-CN" altLang="en-US" sz="3200" b="1" dirty="0"/>
              <a:t>定级</a:t>
            </a:r>
            <a:r>
              <a:rPr lang="zh-CN" altLang="zh-CN" sz="3200" b="1" dirty="0"/>
              <a:t>依据</a:t>
            </a:r>
            <a:endParaRPr lang="zh-CN" altLang="zh-CN" sz="3200" dirty="0"/>
          </a:p>
          <a:p>
            <a:pPr marL="0" indent="0">
              <a:buNone/>
            </a:pPr>
            <a:r>
              <a:rPr lang="zh-CN" altLang="zh-CN" dirty="0"/>
              <a:t>依据如下标准：</a:t>
            </a:r>
            <a:endParaRPr lang="zh-CN" altLang="zh-CN" dirty="0"/>
          </a:p>
          <a:p>
            <a:pPr lvl="0"/>
            <a:r>
              <a:rPr lang="en-US" altLang="zh-CN" dirty="0"/>
              <a:t>GA/T 1389—2017</a:t>
            </a:r>
            <a:r>
              <a:rPr lang="zh-CN" altLang="zh-CN" dirty="0"/>
              <a:t>：《</a:t>
            </a:r>
            <a:r>
              <a:rPr lang="zh-CN" altLang="en-US" dirty="0"/>
              <a:t>信息安全技术网络安全等级保护定级指南</a:t>
            </a:r>
            <a:r>
              <a:rPr lang="zh-CN" altLang="zh-CN" dirty="0"/>
              <a:t>》</a:t>
            </a:r>
            <a:endParaRPr lang="en-US" altLang="zh-CN" dirty="0"/>
          </a:p>
          <a:p>
            <a:pPr lvl="0"/>
            <a:r>
              <a:rPr lang="en-US" altLang="zh-CN" dirty="0"/>
              <a:t>GB 17859-1999</a:t>
            </a:r>
            <a:r>
              <a:rPr lang="zh-CN" altLang="en-US" dirty="0"/>
              <a:t>：</a:t>
            </a:r>
            <a:r>
              <a:rPr lang="en-US" altLang="zh-CN" dirty="0"/>
              <a:t>《</a:t>
            </a:r>
            <a:r>
              <a:rPr lang="zh-CN" altLang="en-US" dirty="0"/>
              <a:t>计算机信息系统安全保护等级划分准则</a:t>
            </a:r>
            <a:r>
              <a:rPr lang="en-US" altLang="zh-CN" dirty="0"/>
              <a:t>》</a:t>
            </a:r>
            <a:endParaRPr lang="zh-CN" altLang="zh-CN" dirty="0"/>
          </a:p>
          <a:p>
            <a:pPr marL="0" indent="0">
              <a:buNone/>
            </a:pPr>
            <a:endParaRPr lang="zh-CN" altLang="en-US" sz="2000" dirty="0"/>
          </a:p>
        </p:txBody>
      </p:sp>
      <p:sp>
        <p:nvSpPr>
          <p:cNvPr id="5" name="Freeform 7"/>
          <p:cNvSpPr>
            <a:spLocks noEditPoints="1"/>
          </p:cNvSpPr>
          <p:nvPr/>
        </p:nvSpPr>
        <p:spPr bwMode="auto">
          <a:xfrm>
            <a:off x="282018" y="2060848"/>
            <a:ext cx="682747" cy="657794"/>
          </a:xfrm>
          <a:custGeom>
            <a:avLst/>
            <a:gdLst>
              <a:gd name="T0" fmla="*/ 298 w 596"/>
              <a:gd name="T1" fmla="*/ 0 h 601"/>
              <a:gd name="T2" fmla="*/ 0 w 596"/>
              <a:gd name="T3" fmla="*/ 300 h 601"/>
              <a:gd name="T4" fmla="*/ 298 w 596"/>
              <a:gd name="T5" fmla="*/ 601 h 601"/>
              <a:gd name="T6" fmla="*/ 596 w 596"/>
              <a:gd name="T7" fmla="*/ 300 h 601"/>
              <a:gd name="T8" fmla="*/ 298 w 596"/>
              <a:gd name="T9" fmla="*/ 0 h 601"/>
              <a:gd name="T10" fmla="*/ 298 w 596"/>
              <a:gd name="T11" fmla="*/ 579 h 601"/>
              <a:gd name="T12" fmla="*/ 298 w 596"/>
              <a:gd name="T13" fmla="*/ 579 h 601"/>
              <a:gd name="T14" fmla="*/ 21 w 596"/>
              <a:gd name="T15" fmla="*/ 300 h 601"/>
              <a:gd name="T16" fmla="*/ 298 w 596"/>
              <a:gd name="T17" fmla="*/ 21 h 601"/>
              <a:gd name="T18" fmla="*/ 575 w 596"/>
              <a:gd name="T19" fmla="*/ 300 h 601"/>
              <a:gd name="T20" fmla="*/ 298 w 596"/>
              <a:gd name="T21" fmla="*/ 579 h 601"/>
              <a:gd name="T22" fmla="*/ 298 w 596"/>
              <a:gd name="T23" fmla="*/ 40 h 601"/>
              <a:gd name="T24" fmla="*/ 298 w 596"/>
              <a:gd name="T25" fmla="*/ 40 h 601"/>
              <a:gd name="T26" fmla="*/ 40 w 596"/>
              <a:gd name="T27" fmla="*/ 300 h 601"/>
              <a:gd name="T28" fmla="*/ 298 w 596"/>
              <a:gd name="T29" fmla="*/ 561 h 601"/>
              <a:gd name="T30" fmla="*/ 556 w 596"/>
              <a:gd name="T31" fmla="*/ 300 h 601"/>
              <a:gd name="T32" fmla="*/ 298 w 596"/>
              <a:gd name="T33" fmla="*/ 40 h 601"/>
              <a:gd name="T34" fmla="*/ 304 w 596"/>
              <a:gd name="T35" fmla="*/ 458 h 601"/>
              <a:gd name="T36" fmla="*/ 304 w 596"/>
              <a:gd name="T37" fmla="*/ 458 h 601"/>
              <a:gd name="T38" fmla="*/ 331 w 596"/>
              <a:gd name="T39" fmla="*/ 436 h 601"/>
              <a:gd name="T40" fmla="*/ 352 w 596"/>
              <a:gd name="T41" fmla="*/ 412 h 601"/>
              <a:gd name="T42" fmla="*/ 346 w 596"/>
              <a:gd name="T43" fmla="*/ 437 h 601"/>
              <a:gd name="T44" fmla="*/ 286 w 596"/>
              <a:gd name="T45" fmla="*/ 495 h 601"/>
              <a:gd name="T46" fmla="*/ 218 w 596"/>
              <a:gd name="T47" fmla="*/ 466 h 601"/>
              <a:gd name="T48" fmla="*/ 230 w 596"/>
              <a:gd name="T49" fmla="*/ 409 h 601"/>
              <a:gd name="T50" fmla="*/ 264 w 596"/>
              <a:gd name="T51" fmla="*/ 306 h 601"/>
              <a:gd name="T52" fmla="*/ 244 w 596"/>
              <a:gd name="T53" fmla="*/ 238 h 601"/>
              <a:gd name="T54" fmla="*/ 267 w 596"/>
              <a:gd name="T55" fmla="*/ 222 h 601"/>
              <a:gd name="T56" fmla="*/ 369 w 596"/>
              <a:gd name="T57" fmla="*/ 209 h 601"/>
              <a:gd name="T58" fmla="*/ 312 w 596"/>
              <a:gd name="T59" fmla="*/ 388 h 601"/>
              <a:gd name="T60" fmla="*/ 304 w 596"/>
              <a:gd name="T61" fmla="*/ 458 h 601"/>
              <a:gd name="T62" fmla="*/ 326 w 596"/>
              <a:gd name="T63" fmla="*/ 189 h 601"/>
              <a:gd name="T64" fmla="*/ 326 w 596"/>
              <a:gd name="T65" fmla="*/ 189 h 601"/>
              <a:gd name="T66" fmla="*/ 330 w 596"/>
              <a:gd name="T67" fmla="*/ 102 h 601"/>
              <a:gd name="T68" fmla="*/ 326 w 596"/>
              <a:gd name="T69" fmla="*/ 189 h 6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6" h="601">
                <a:moveTo>
                  <a:pt x="298" y="0"/>
                </a:moveTo>
                <a:cubicBezTo>
                  <a:pt x="133" y="0"/>
                  <a:pt x="0" y="134"/>
                  <a:pt x="0" y="300"/>
                </a:cubicBezTo>
                <a:cubicBezTo>
                  <a:pt x="0" y="466"/>
                  <a:pt x="133" y="601"/>
                  <a:pt x="298" y="601"/>
                </a:cubicBezTo>
                <a:cubicBezTo>
                  <a:pt x="463" y="601"/>
                  <a:pt x="596" y="466"/>
                  <a:pt x="596" y="300"/>
                </a:cubicBezTo>
                <a:cubicBezTo>
                  <a:pt x="596" y="134"/>
                  <a:pt x="463" y="0"/>
                  <a:pt x="298" y="0"/>
                </a:cubicBezTo>
                <a:close/>
                <a:moveTo>
                  <a:pt x="298" y="579"/>
                </a:moveTo>
                <a:lnTo>
                  <a:pt x="298" y="579"/>
                </a:lnTo>
                <a:cubicBezTo>
                  <a:pt x="145" y="579"/>
                  <a:pt x="21" y="454"/>
                  <a:pt x="21" y="300"/>
                </a:cubicBezTo>
                <a:cubicBezTo>
                  <a:pt x="21" y="146"/>
                  <a:pt x="145" y="21"/>
                  <a:pt x="298" y="21"/>
                </a:cubicBezTo>
                <a:cubicBezTo>
                  <a:pt x="451" y="21"/>
                  <a:pt x="575" y="146"/>
                  <a:pt x="575" y="300"/>
                </a:cubicBezTo>
                <a:cubicBezTo>
                  <a:pt x="575" y="454"/>
                  <a:pt x="451" y="579"/>
                  <a:pt x="298" y="579"/>
                </a:cubicBezTo>
                <a:close/>
                <a:moveTo>
                  <a:pt x="298" y="40"/>
                </a:moveTo>
                <a:lnTo>
                  <a:pt x="298" y="40"/>
                </a:lnTo>
                <a:cubicBezTo>
                  <a:pt x="155" y="40"/>
                  <a:pt x="40" y="156"/>
                  <a:pt x="40" y="300"/>
                </a:cubicBezTo>
                <a:cubicBezTo>
                  <a:pt x="40" y="444"/>
                  <a:pt x="155" y="561"/>
                  <a:pt x="298" y="561"/>
                </a:cubicBezTo>
                <a:cubicBezTo>
                  <a:pt x="441" y="561"/>
                  <a:pt x="556" y="444"/>
                  <a:pt x="556" y="300"/>
                </a:cubicBezTo>
                <a:cubicBezTo>
                  <a:pt x="556" y="156"/>
                  <a:pt x="441" y="40"/>
                  <a:pt x="298" y="40"/>
                </a:cubicBezTo>
                <a:close/>
                <a:moveTo>
                  <a:pt x="304" y="458"/>
                </a:moveTo>
                <a:lnTo>
                  <a:pt x="304" y="458"/>
                </a:lnTo>
                <a:cubicBezTo>
                  <a:pt x="314" y="460"/>
                  <a:pt x="324" y="445"/>
                  <a:pt x="331" y="436"/>
                </a:cubicBezTo>
                <a:cubicBezTo>
                  <a:pt x="338" y="427"/>
                  <a:pt x="343" y="414"/>
                  <a:pt x="352" y="412"/>
                </a:cubicBezTo>
                <a:cubicBezTo>
                  <a:pt x="360" y="418"/>
                  <a:pt x="351" y="430"/>
                  <a:pt x="346" y="437"/>
                </a:cubicBezTo>
                <a:cubicBezTo>
                  <a:pt x="333" y="457"/>
                  <a:pt x="307" y="487"/>
                  <a:pt x="286" y="495"/>
                </a:cubicBezTo>
                <a:cubicBezTo>
                  <a:pt x="255" y="506"/>
                  <a:pt x="221" y="495"/>
                  <a:pt x="218" y="466"/>
                </a:cubicBezTo>
                <a:cubicBezTo>
                  <a:pt x="216" y="451"/>
                  <a:pt x="224" y="428"/>
                  <a:pt x="230" y="409"/>
                </a:cubicBezTo>
                <a:cubicBezTo>
                  <a:pt x="242" y="371"/>
                  <a:pt x="251" y="347"/>
                  <a:pt x="264" y="306"/>
                </a:cubicBezTo>
                <a:cubicBezTo>
                  <a:pt x="273" y="277"/>
                  <a:pt x="293" y="228"/>
                  <a:pt x="244" y="238"/>
                </a:cubicBezTo>
                <a:cubicBezTo>
                  <a:pt x="244" y="225"/>
                  <a:pt x="257" y="224"/>
                  <a:pt x="267" y="222"/>
                </a:cubicBezTo>
                <a:cubicBezTo>
                  <a:pt x="299" y="217"/>
                  <a:pt x="335" y="211"/>
                  <a:pt x="369" y="209"/>
                </a:cubicBezTo>
                <a:cubicBezTo>
                  <a:pt x="353" y="263"/>
                  <a:pt x="331" y="327"/>
                  <a:pt x="312" y="388"/>
                </a:cubicBezTo>
                <a:cubicBezTo>
                  <a:pt x="306" y="407"/>
                  <a:pt x="283" y="451"/>
                  <a:pt x="304" y="458"/>
                </a:cubicBezTo>
                <a:close/>
                <a:moveTo>
                  <a:pt x="326" y="189"/>
                </a:moveTo>
                <a:lnTo>
                  <a:pt x="326" y="189"/>
                </a:lnTo>
                <a:cubicBezTo>
                  <a:pt x="283" y="182"/>
                  <a:pt x="281" y="109"/>
                  <a:pt x="330" y="102"/>
                </a:cubicBezTo>
                <a:cubicBezTo>
                  <a:pt x="397" y="91"/>
                  <a:pt x="394" y="201"/>
                  <a:pt x="326" y="189"/>
                </a:cubicBezTo>
                <a:close/>
              </a:path>
            </a:pathLst>
          </a:custGeom>
          <a:solidFill>
            <a:srgbClr val="C0504D"/>
          </a:solidFill>
          <a:ln>
            <a:noFill/>
          </a:ln>
        </p:spPr>
        <p:txBody>
          <a:bodyPr vert="horz" wrap="square" lIns="68562" tIns="34281" rIns="68562" bIns="34281" numCol="1" anchor="t" anchorCtr="0" compatLnSpc="1"/>
          <a:lstStyle/>
          <a:p>
            <a:endParaRPr lang="zh-CN" altLang="en-US"/>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txBox="1">
            <a:spLocks noGrp="1"/>
          </p:cNvSpPr>
          <p:nvPr>
            <p:ph type="title"/>
          </p:nvPr>
        </p:nvSpPr>
        <p:spPr>
          <a:xfrm>
            <a:off x="248387" y="116632"/>
            <a:ext cx="8647224" cy="632926"/>
          </a:xfrm>
          <a:prstGeom prst="rect">
            <a:avLst/>
          </a:prstGeom>
        </p:spPr>
        <p:txBody>
          <a:bodyPr vert="horz" wrap="square" lIns="0" tIns="147023" rIns="0" bIns="0" rtlCol="0">
            <a:noAutofit/>
          </a:bodyPr>
          <a:lstStyle/>
          <a:p>
            <a:pPr marL="448945">
              <a:lnSpc>
                <a:spcPct val="150000"/>
              </a:lnSpc>
            </a:pP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信息系统定级依据</a:t>
            </a:r>
            <a:endParaRPr sz="28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 name="Group 81" descr="e7d195523061f1c021b92b3d25e54ab5e788c0576048880950C3AFFA1066A7153250F1349197BA8C5246BA9D557EC0274B8DA272D2431748978789E76D2CD7D1F11E7447C1D163F5D9CA1CD35DC7B6F0BB9237EE4B0D7ABCBCFF7D0CF688DED91A1FAA3FF605C63B75DEB3C6F72C375F09B1A3C86C0D92F026B9DFA34810B545F19B41AAA637C7BDD1EF44226E98F9D1"/>
          <p:cNvGrpSpPr/>
          <p:nvPr/>
        </p:nvGrpSpPr>
        <p:grpSpPr>
          <a:xfrm>
            <a:off x="1044901" y="649759"/>
            <a:ext cx="554352" cy="554352"/>
            <a:chOff x="8390573" y="2363064"/>
            <a:chExt cx="855596" cy="855596"/>
          </a:xfrm>
        </p:grpSpPr>
        <p:sp>
          <p:nvSpPr>
            <p:cNvPr id="6" name="Oval 82"/>
            <p:cNvSpPr/>
            <p:nvPr/>
          </p:nvSpPr>
          <p:spPr>
            <a:xfrm>
              <a:off x="8390573" y="2363064"/>
              <a:ext cx="855596" cy="85559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IN" sz="44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7" name="Freeform 6"/>
            <p:cNvSpPr>
              <a:spLocks noEditPoints="1"/>
            </p:cNvSpPr>
            <p:nvPr/>
          </p:nvSpPr>
          <p:spPr bwMode="auto">
            <a:xfrm>
              <a:off x="8619741" y="2594772"/>
              <a:ext cx="397260" cy="443060"/>
            </a:xfrm>
            <a:custGeom>
              <a:avLst/>
              <a:gdLst>
                <a:gd name="T0" fmla="*/ 2085 w 3189"/>
                <a:gd name="T1" fmla="*/ 914 h 3556"/>
                <a:gd name="T2" fmla="*/ 1369 w 3189"/>
                <a:gd name="T3" fmla="*/ 1616 h 3556"/>
                <a:gd name="T4" fmla="*/ 1104 w 3189"/>
                <a:gd name="T5" fmla="*/ 1366 h 3556"/>
                <a:gd name="T6" fmla="*/ 1029 w 3189"/>
                <a:gd name="T7" fmla="*/ 1358 h 3556"/>
                <a:gd name="T8" fmla="*/ 963 w 3189"/>
                <a:gd name="T9" fmla="*/ 1394 h 3556"/>
                <a:gd name="T10" fmla="*/ 860 w 3189"/>
                <a:gd name="T11" fmla="*/ 1511 h 3556"/>
                <a:gd name="T12" fmla="*/ 853 w 3189"/>
                <a:gd name="T13" fmla="*/ 1584 h 3556"/>
                <a:gd name="T14" fmla="*/ 888 w 3189"/>
                <a:gd name="T15" fmla="*/ 1650 h 3556"/>
                <a:gd name="T16" fmla="*/ 1320 w 3189"/>
                <a:gd name="T17" fmla="*/ 2068 h 3556"/>
                <a:gd name="T18" fmla="*/ 1395 w 3189"/>
                <a:gd name="T19" fmla="*/ 2076 h 3556"/>
                <a:gd name="T20" fmla="*/ 1460 w 3189"/>
                <a:gd name="T21" fmla="*/ 2040 h 3556"/>
                <a:gd name="T22" fmla="*/ 2330 w 3189"/>
                <a:gd name="T23" fmla="*/ 1157 h 3556"/>
                <a:gd name="T24" fmla="*/ 2336 w 3189"/>
                <a:gd name="T25" fmla="*/ 1085 h 3556"/>
                <a:gd name="T26" fmla="*/ 2301 w 3189"/>
                <a:gd name="T27" fmla="*/ 1018 h 3556"/>
                <a:gd name="T28" fmla="*/ 2184 w 3189"/>
                <a:gd name="T29" fmla="*/ 914 h 3556"/>
                <a:gd name="T30" fmla="*/ 1595 w 3189"/>
                <a:gd name="T31" fmla="*/ 0 h 3556"/>
                <a:gd name="T32" fmla="*/ 1943 w 3189"/>
                <a:gd name="T33" fmla="*/ 11 h 3556"/>
                <a:gd name="T34" fmla="*/ 2242 w 3189"/>
                <a:gd name="T35" fmla="*/ 39 h 3556"/>
                <a:gd name="T36" fmla="*/ 2493 w 3189"/>
                <a:gd name="T37" fmla="*/ 79 h 3556"/>
                <a:gd name="T38" fmla="*/ 2699 w 3189"/>
                <a:gd name="T39" fmla="*/ 127 h 3556"/>
                <a:gd name="T40" fmla="*/ 2860 w 3189"/>
                <a:gd name="T41" fmla="*/ 175 h 3556"/>
                <a:gd name="T42" fmla="*/ 2978 w 3189"/>
                <a:gd name="T43" fmla="*/ 220 h 3556"/>
                <a:gd name="T44" fmla="*/ 3056 w 3189"/>
                <a:gd name="T45" fmla="*/ 255 h 3556"/>
                <a:gd name="T46" fmla="*/ 3094 w 3189"/>
                <a:gd name="T47" fmla="*/ 275 h 3556"/>
                <a:gd name="T48" fmla="*/ 3142 w 3189"/>
                <a:gd name="T49" fmla="*/ 315 h 3556"/>
                <a:gd name="T50" fmla="*/ 3182 w 3189"/>
                <a:gd name="T51" fmla="*/ 390 h 3556"/>
                <a:gd name="T52" fmla="*/ 3189 w 3189"/>
                <a:gd name="T53" fmla="*/ 455 h 3556"/>
                <a:gd name="T54" fmla="*/ 3184 w 3189"/>
                <a:gd name="T55" fmla="*/ 520 h 3556"/>
                <a:gd name="T56" fmla="*/ 3171 w 3189"/>
                <a:gd name="T57" fmla="*/ 643 h 3556"/>
                <a:gd name="T58" fmla="*/ 3149 w 3189"/>
                <a:gd name="T59" fmla="*/ 819 h 3556"/>
                <a:gd name="T60" fmla="*/ 3110 w 3189"/>
                <a:gd name="T61" fmla="*/ 1037 h 3556"/>
                <a:gd name="T62" fmla="*/ 3053 w 3189"/>
                <a:gd name="T63" fmla="*/ 1292 h 3556"/>
                <a:gd name="T64" fmla="*/ 2975 w 3189"/>
                <a:gd name="T65" fmla="*/ 1574 h 3556"/>
                <a:gd name="T66" fmla="*/ 2811 w 3189"/>
                <a:gd name="T67" fmla="*/ 2026 h 3556"/>
                <a:gd name="T68" fmla="*/ 2610 w 3189"/>
                <a:gd name="T69" fmla="*/ 2444 h 3556"/>
                <a:gd name="T70" fmla="*/ 2377 w 3189"/>
                <a:gd name="T71" fmla="*/ 2816 h 3556"/>
                <a:gd name="T72" fmla="*/ 2112 w 3189"/>
                <a:gd name="T73" fmla="*/ 3145 h 3556"/>
                <a:gd name="T74" fmla="*/ 1817 w 3189"/>
                <a:gd name="T75" fmla="*/ 3431 h 3556"/>
                <a:gd name="T76" fmla="*/ 1656 w 3189"/>
                <a:gd name="T77" fmla="*/ 3546 h 3556"/>
                <a:gd name="T78" fmla="*/ 1564 w 3189"/>
                <a:gd name="T79" fmla="*/ 3554 h 3556"/>
                <a:gd name="T80" fmla="*/ 1478 w 3189"/>
                <a:gd name="T81" fmla="*/ 3516 h 3556"/>
                <a:gd name="T82" fmla="*/ 1172 w 3189"/>
                <a:gd name="T83" fmla="*/ 3245 h 3556"/>
                <a:gd name="T84" fmla="*/ 897 w 3189"/>
                <a:gd name="T85" fmla="*/ 2930 h 3556"/>
                <a:gd name="T86" fmla="*/ 654 w 3189"/>
                <a:gd name="T87" fmla="*/ 2573 h 3556"/>
                <a:gd name="T88" fmla="*/ 441 w 3189"/>
                <a:gd name="T89" fmla="*/ 2170 h 3556"/>
                <a:gd name="T90" fmla="*/ 265 w 3189"/>
                <a:gd name="T91" fmla="*/ 1729 h 3556"/>
                <a:gd name="T92" fmla="*/ 160 w 3189"/>
                <a:gd name="T93" fmla="*/ 1383 h 3556"/>
                <a:gd name="T94" fmla="*/ 96 w 3189"/>
                <a:gd name="T95" fmla="*/ 1119 h 3556"/>
                <a:gd name="T96" fmla="*/ 52 w 3189"/>
                <a:gd name="T97" fmla="*/ 887 h 3556"/>
                <a:gd name="T98" fmla="*/ 24 w 3189"/>
                <a:gd name="T99" fmla="*/ 696 h 3556"/>
                <a:gd name="T100" fmla="*/ 8 w 3189"/>
                <a:gd name="T101" fmla="*/ 555 h 3556"/>
                <a:gd name="T102" fmla="*/ 1 w 3189"/>
                <a:gd name="T103" fmla="*/ 469 h 3556"/>
                <a:gd name="T104" fmla="*/ 1 w 3189"/>
                <a:gd name="T105" fmla="*/ 419 h 3556"/>
                <a:gd name="T106" fmla="*/ 29 w 3189"/>
                <a:gd name="T107" fmla="*/ 339 h 3556"/>
                <a:gd name="T108" fmla="*/ 91 w 3189"/>
                <a:gd name="T109" fmla="*/ 278 h 3556"/>
                <a:gd name="T110" fmla="*/ 117 w 3189"/>
                <a:gd name="T111" fmla="*/ 264 h 3556"/>
                <a:gd name="T112" fmla="*/ 181 w 3189"/>
                <a:gd name="T113" fmla="*/ 233 h 3556"/>
                <a:gd name="T114" fmla="*/ 286 w 3189"/>
                <a:gd name="T115" fmla="*/ 190 h 3556"/>
                <a:gd name="T116" fmla="*/ 433 w 3189"/>
                <a:gd name="T117" fmla="*/ 143 h 3556"/>
                <a:gd name="T118" fmla="*/ 623 w 3189"/>
                <a:gd name="T119" fmla="*/ 94 h 3556"/>
                <a:gd name="T120" fmla="*/ 858 w 3189"/>
                <a:gd name="T121" fmla="*/ 51 h 3556"/>
                <a:gd name="T122" fmla="*/ 1142 w 3189"/>
                <a:gd name="T123" fmla="*/ 18 h 3556"/>
                <a:gd name="T124" fmla="*/ 1473 w 3189"/>
                <a:gd name="T125" fmla="*/ 1 h 3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89" h="3556">
                  <a:moveTo>
                    <a:pt x="2135" y="904"/>
                  </a:moveTo>
                  <a:lnTo>
                    <a:pt x="2109" y="907"/>
                  </a:lnTo>
                  <a:lnTo>
                    <a:pt x="2085" y="914"/>
                  </a:lnTo>
                  <a:lnTo>
                    <a:pt x="2063" y="926"/>
                  </a:lnTo>
                  <a:lnTo>
                    <a:pt x="2043" y="942"/>
                  </a:lnTo>
                  <a:lnTo>
                    <a:pt x="1369" y="1616"/>
                  </a:lnTo>
                  <a:lnTo>
                    <a:pt x="1145" y="1394"/>
                  </a:lnTo>
                  <a:lnTo>
                    <a:pt x="1125" y="1378"/>
                  </a:lnTo>
                  <a:lnTo>
                    <a:pt x="1104" y="1366"/>
                  </a:lnTo>
                  <a:lnTo>
                    <a:pt x="1080" y="1358"/>
                  </a:lnTo>
                  <a:lnTo>
                    <a:pt x="1054" y="1356"/>
                  </a:lnTo>
                  <a:lnTo>
                    <a:pt x="1029" y="1358"/>
                  </a:lnTo>
                  <a:lnTo>
                    <a:pt x="1005" y="1366"/>
                  </a:lnTo>
                  <a:lnTo>
                    <a:pt x="982" y="1378"/>
                  </a:lnTo>
                  <a:lnTo>
                    <a:pt x="963" y="1394"/>
                  </a:lnTo>
                  <a:lnTo>
                    <a:pt x="888" y="1468"/>
                  </a:lnTo>
                  <a:lnTo>
                    <a:pt x="872" y="1489"/>
                  </a:lnTo>
                  <a:lnTo>
                    <a:pt x="860" y="1511"/>
                  </a:lnTo>
                  <a:lnTo>
                    <a:pt x="853" y="1534"/>
                  </a:lnTo>
                  <a:lnTo>
                    <a:pt x="850" y="1559"/>
                  </a:lnTo>
                  <a:lnTo>
                    <a:pt x="853" y="1584"/>
                  </a:lnTo>
                  <a:lnTo>
                    <a:pt x="860" y="1608"/>
                  </a:lnTo>
                  <a:lnTo>
                    <a:pt x="872" y="1631"/>
                  </a:lnTo>
                  <a:lnTo>
                    <a:pt x="888" y="1650"/>
                  </a:lnTo>
                  <a:lnTo>
                    <a:pt x="1278" y="2040"/>
                  </a:lnTo>
                  <a:lnTo>
                    <a:pt x="1297" y="2057"/>
                  </a:lnTo>
                  <a:lnTo>
                    <a:pt x="1320" y="2068"/>
                  </a:lnTo>
                  <a:lnTo>
                    <a:pt x="1344" y="2076"/>
                  </a:lnTo>
                  <a:lnTo>
                    <a:pt x="1369" y="2078"/>
                  </a:lnTo>
                  <a:lnTo>
                    <a:pt x="1395" y="2076"/>
                  </a:lnTo>
                  <a:lnTo>
                    <a:pt x="1419" y="2068"/>
                  </a:lnTo>
                  <a:lnTo>
                    <a:pt x="1440" y="2057"/>
                  </a:lnTo>
                  <a:lnTo>
                    <a:pt x="1460" y="2040"/>
                  </a:lnTo>
                  <a:lnTo>
                    <a:pt x="2301" y="1200"/>
                  </a:lnTo>
                  <a:lnTo>
                    <a:pt x="2318" y="1180"/>
                  </a:lnTo>
                  <a:lnTo>
                    <a:pt x="2330" y="1157"/>
                  </a:lnTo>
                  <a:lnTo>
                    <a:pt x="2336" y="1133"/>
                  </a:lnTo>
                  <a:lnTo>
                    <a:pt x="2338" y="1109"/>
                  </a:lnTo>
                  <a:lnTo>
                    <a:pt x="2336" y="1085"/>
                  </a:lnTo>
                  <a:lnTo>
                    <a:pt x="2330" y="1061"/>
                  </a:lnTo>
                  <a:lnTo>
                    <a:pt x="2318" y="1038"/>
                  </a:lnTo>
                  <a:lnTo>
                    <a:pt x="2301" y="1018"/>
                  </a:lnTo>
                  <a:lnTo>
                    <a:pt x="2226" y="942"/>
                  </a:lnTo>
                  <a:lnTo>
                    <a:pt x="2206" y="926"/>
                  </a:lnTo>
                  <a:lnTo>
                    <a:pt x="2184" y="914"/>
                  </a:lnTo>
                  <a:lnTo>
                    <a:pt x="2160" y="907"/>
                  </a:lnTo>
                  <a:lnTo>
                    <a:pt x="2135" y="904"/>
                  </a:lnTo>
                  <a:close/>
                  <a:moveTo>
                    <a:pt x="1595" y="0"/>
                  </a:moveTo>
                  <a:lnTo>
                    <a:pt x="1716" y="1"/>
                  </a:lnTo>
                  <a:lnTo>
                    <a:pt x="1832" y="4"/>
                  </a:lnTo>
                  <a:lnTo>
                    <a:pt x="1943" y="11"/>
                  </a:lnTo>
                  <a:lnTo>
                    <a:pt x="2048" y="18"/>
                  </a:lnTo>
                  <a:lnTo>
                    <a:pt x="2148" y="28"/>
                  </a:lnTo>
                  <a:lnTo>
                    <a:pt x="2242" y="39"/>
                  </a:lnTo>
                  <a:lnTo>
                    <a:pt x="2331" y="51"/>
                  </a:lnTo>
                  <a:lnTo>
                    <a:pt x="2414" y="65"/>
                  </a:lnTo>
                  <a:lnTo>
                    <a:pt x="2493" y="79"/>
                  </a:lnTo>
                  <a:lnTo>
                    <a:pt x="2567" y="94"/>
                  </a:lnTo>
                  <a:lnTo>
                    <a:pt x="2635" y="110"/>
                  </a:lnTo>
                  <a:lnTo>
                    <a:pt x="2699" y="127"/>
                  </a:lnTo>
                  <a:lnTo>
                    <a:pt x="2757" y="143"/>
                  </a:lnTo>
                  <a:lnTo>
                    <a:pt x="2811" y="159"/>
                  </a:lnTo>
                  <a:lnTo>
                    <a:pt x="2860" y="175"/>
                  </a:lnTo>
                  <a:lnTo>
                    <a:pt x="2904" y="190"/>
                  </a:lnTo>
                  <a:lnTo>
                    <a:pt x="2943" y="206"/>
                  </a:lnTo>
                  <a:lnTo>
                    <a:pt x="2978" y="220"/>
                  </a:lnTo>
                  <a:lnTo>
                    <a:pt x="3008" y="233"/>
                  </a:lnTo>
                  <a:lnTo>
                    <a:pt x="3034" y="244"/>
                  </a:lnTo>
                  <a:lnTo>
                    <a:pt x="3056" y="255"/>
                  </a:lnTo>
                  <a:lnTo>
                    <a:pt x="3073" y="264"/>
                  </a:lnTo>
                  <a:lnTo>
                    <a:pt x="3086" y="270"/>
                  </a:lnTo>
                  <a:lnTo>
                    <a:pt x="3094" y="275"/>
                  </a:lnTo>
                  <a:lnTo>
                    <a:pt x="3098" y="278"/>
                  </a:lnTo>
                  <a:lnTo>
                    <a:pt x="3122" y="295"/>
                  </a:lnTo>
                  <a:lnTo>
                    <a:pt x="3142" y="315"/>
                  </a:lnTo>
                  <a:lnTo>
                    <a:pt x="3160" y="339"/>
                  </a:lnTo>
                  <a:lnTo>
                    <a:pt x="3174" y="363"/>
                  </a:lnTo>
                  <a:lnTo>
                    <a:pt x="3182" y="390"/>
                  </a:lnTo>
                  <a:lnTo>
                    <a:pt x="3188" y="419"/>
                  </a:lnTo>
                  <a:lnTo>
                    <a:pt x="3189" y="448"/>
                  </a:lnTo>
                  <a:lnTo>
                    <a:pt x="3189" y="455"/>
                  </a:lnTo>
                  <a:lnTo>
                    <a:pt x="3188" y="469"/>
                  </a:lnTo>
                  <a:lnTo>
                    <a:pt x="3187" y="491"/>
                  </a:lnTo>
                  <a:lnTo>
                    <a:pt x="3184" y="520"/>
                  </a:lnTo>
                  <a:lnTo>
                    <a:pt x="3181" y="555"/>
                  </a:lnTo>
                  <a:lnTo>
                    <a:pt x="3177" y="596"/>
                  </a:lnTo>
                  <a:lnTo>
                    <a:pt x="3171" y="643"/>
                  </a:lnTo>
                  <a:lnTo>
                    <a:pt x="3165" y="696"/>
                  </a:lnTo>
                  <a:lnTo>
                    <a:pt x="3157" y="755"/>
                  </a:lnTo>
                  <a:lnTo>
                    <a:pt x="3149" y="819"/>
                  </a:lnTo>
                  <a:lnTo>
                    <a:pt x="3137" y="887"/>
                  </a:lnTo>
                  <a:lnTo>
                    <a:pt x="3125" y="960"/>
                  </a:lnTo>
                  <a:lnTo>
                    <a:pt x="3110" y="1037"/>
                  </a:lnTo>
                  <a:lnTo>
                    <a:pt x="3094" y="1119"/>
                  </a:lnTo>
                  <a:lnTo>
                    <a:pt x="3074" y="1203"/>
                  </a:lnTo>
                  <a:lnTo>
                    <a:pt x="3053" y="1292"/>
                  </a:lnTo>
                  <a:lnTo>
                    <a:pt x="3030" y="1383"/>
                  </a:lnTo>
                  <a:lnTo>
                    <a:pt x="3004" y="1477"/>
                  </a:lnTo>
                  <a:lnTo>
                    <a:pt x="2975" y="1574"/>
                  </a:lnTo>
                  <a:lnTo>
                    <a:pt x="2925" y="1729"/>
                  </a:lnTo>
                  <a:lnTo>
                    <a:pt x="2870" y="1879"/>
                  </a:lnTo>
                  <a:lnTo>
                    <a:pt x="2811" y="2026"/>
                  </a:lnTo>
                  <a:lnTo>
                    <a:pt x="2748" y="2170"/>
                  </a:lnTo>
                  <a:lnTo>
                    <a:pt x="2681" y="2308"/>
                  </a:lnTo>
                  <a:lnTo>
                    <a:pt x="2610" y="2444"/>
                  </a:lnTo>
                  <a:lnTo>
                    <a:pt x="2535" y="2573"/>
                  </a:lnTo>
                  <a:lnTo>
                    <a:pt x="2458" y="2697"/>
                  </a:lnTo>
                  <a:lnTo>
                    <a:pt x="2377" y="2816"/>
                  </a:lnTo>
                  <a:lnTo>
                    <a:pt x="2293" y="2930"/>
                  </a:lnTo>
                  <a:lnTo>
                    <a:pt x="2204" y="3039"/>
                  </a:lnTo>
                  <a:lnTo>
                    <a:pt x="2112" y="3145"/>
                  </a:lnTo>
                  <a:lnTo>
                    <a:pt x="2017" y="3245"/>
                  </a:lnTo>
                  <a:lnTo>
                    <a:pt x="1918" y="3340"/>
                  </a:lnTo>
                  <a:lnTo>
                    <a:pt x="1817" y="3431"/>
                  </a:lnTo>
                  <a:lnTo>
                    <a:pt x="1712" y="3516"/>
                  </a:lnTo>
                  <a:lnTo>
                    <a:pt x="1685" y="3533"/>
                  </a:lnTo>
                  <a:lnTo>
                    <a:pt x="1656" y="3546"/>
                  </a:lnTo>
                  <a:lnTo>
                    <a:pt x="1625" y="3554"/>
                  </a:lnTo>
                  <a:lnTo>
                    <a:pt x="1595" y="3556"/>
                  </a:lnTo>
                  <a:lnTo>
                    <a:pt x="1564" y="3554"/>
                  </a:lnTo>
                  <a:lnTo>
                    <a:pt x="1533" y="3546"/>
                  </a:lnTo>
                  <a:lnTo>
                    <a:pt x="1505" y="3533"/>
                  </a:lnTo>
                  <a:lnTo>
                    <a:pt x="1478" y="3516"/>
                  </a:lnTo>
                  <a:lnTo>
                    <a:pt x="1373" y="3431"/>
                  </a:lnTo>
                  <a:lnTo>
                    <a:pt x="1270" y="3340"/>
                  </a:lnTo>
                  <a:lnTo>
                    <a:pt x="1172" y="3245"/>
                  </a:lnTo>
                  <a:lnTo>
                    <a:pt x="1077" y="3145"/>
                  </a:lnTo>
                  <a:lnTo>
                    <a:pt x="986" y="3039"/>
                  </a:lnTo>
                  <a:lnTo>
                    <a:pt x="897" y="2930"/>
                  </a:lnTo>
                  <a:lnTo>
                    <a:pt x="813" y="2816"/>
                  </a:lnTo>
                  <a:lnTo>
                    <a:pt x="731" y="2697"/>
                  </a:lnTo>
                  <a:lnTo>
                    <a:pt x="654" y="2573"/>
                  </a:lnTo>
                  <a:lnTo>
                    <a:pt x="579" y="2444"/>
                  </a:lnTo>
                  <a:lnTo>
                    <a:pt x="509" y="2308"/>
                  </a:lnTo>
                  <a:lnTo>
                    <a:pt x="441" y="2170"/>
                  </a:lnTo>
                  <a:lnTo>
                    <a:pt x="378" y="2026"/>
                  </a:lnTo>
                  <a:lnTo>
                    <a:pt x="319" y="1879"/>
                  </a:lnTo>
                  <a:lnTo>
                    <a:pt x="265" y="1729"/>
                  </a:lnTo>
                  <a:lnTo>
                    <a:pt x="214" y="1574"/>
                  </a:lnTo>
                  <a:lnTo>
                    <a:pt x="186" y="1477"/>
                  </a:lnTo>
                  <a:lnTo>
                    <a:pt x="160" y="1383"/>
                  </a:lnTo>
                  <a:lnTo>
                    <a:pt x="136" y="1292"/>
                  </a:lnTo>
                  <a:lnTo>
                    <a:pt x="115" y="1203"/>
                  </a:lnTo>
                  <a:lnTo>
                    <a:pt x="96" y="1119"/>
                  </a:lnTo>
                  <a:lnTo>
                    <a:pt x="79" y="1037"/>
                  </a:lnTo>
                  <a:lnTo>
                    <a:pt x="65" y="960"/>
                  </a:lnTo>
                  <a:lnTo>
                    <a:pt x="52" y="887"/>
                  </a:lnTo>
                  <a:lnTo>
                    <a:pt x="41" y="819"/>
                  </a:lnTo>
                  <a:lnTo>
                    <a:pt x="31" y="755"/>
                  </a:lnTo>
                  <a:lnTo>
                    <a:pt x="24" y="696"/>
                  </a:lnTo>
                  <a:lnTo>
                    <a:pt x="17" y="643"/>
                  </a:lnTo>
                  <a:lnTo>
                    <a:pt x="12" y="596"/>
                  </a:lnTo>
                  <a:lnTo>
                    <a:pt x="8" y="555"/>
                  </a:lnTo>
                  <a:lnTo>
                    <a:pt x="5" y="520"/>
                  </a:lnTo>
                  <a:lnTo>
                    <a:pt x="3" y="491"/>
                  </a:lnTo>
                  <a:lnTo>
                    <a:pt x="1" y="469"/>
                  </a:lnTo>
                  <a:lnTo>
                    <a:pt x="0" y="455"/>
                  </a:lnTo>
                  <a:lnTo>
                    <a:pt x="0" y="448"/>
                  </a:lnTo>
                  <a:lnTo>
                    <a:pt x="1" y="419"/>
                  </a:lnTo>
                  <a:lnTo>
                    <a:pt x="6" y="390"/>
                  </a:lnTo>
                  <a:lnTo>
                    <a:pt x="16" y="363"/>
                  </a:lnTo>
                  <a:lnTo>
                    <a:pt x="29" y="339"/>
                  </a:lnTo>
                  <a:lnTo>
                    <a:pt x="47" y="315"/>
                  </a:lnTo>
                  <a:lnTo>
                    <a:pt x="67" y="295"/>
                  </a:lnTo>
                  <a:lnTo>
                    <a:pt x="91" y="278"/>
                  </a:lnTo>
                  <a:lnTo>
                    <a:pt x="95" y="275"/>
                  </a:lnTo>
                  <a:lnTo>
                    <a:pt x="104" y="270"/>
                  </a:lnTo>
                  <a:lnTo>
                    <a:pt x="117" y="264"/>
                  </a:lnTo>
                  <a:lnTo>
                    <a:pt x="133" y="255"/>
                  </a:lnTo>
                  <a:lnTo>
                    <a:pt x="155" y="244"/>
                  </a:lnTo>
                  <a:lnTo>
                    <a:pt x="181" y="233"/>
                  </a:lnTo>
                  <a:lnTo>
                    <a:pt x="211" y="220"/>
                  </a:lnTo>
                  <a:lnTo>
                    <a:pt x="246" y="206"/>
                  </a:lnTo>
                  <a:lnTo>
                    <a:pt x="286" y="190"/>
                  </a:lnTo>
                  <a:lnTo>
                    <a:pt x="330" y="175"/>
                  </a:lnTo>
                  <a:lnTo>
                    <a:pt x="379" y="159"/>
                  </a:lnTo>
                  <a:lnTo>
                    <a:pt x="433" y="143"/>
                  </a:lnTo>
                  <a:lnTo>
                    <a:pt x="491" y="127"/>
                  </a:lnTo>
                  <a:lnTo>
                    <a:pt x="554" y="110"/>
                  </a:lnTo>
                  <a:lnTo>
                    <a:pt x="623" y="94"/>
                  </a:lnTo>
                  <a:lnTo>
                    <a:pt x="696" y="79"/>
                  </a:lnTo>
                  <a:lnTo>
                    <a:pt x="775" y="65"/>
                  </a:lnTo>
                  <a:lnTo>
                    <a:pt x="858" y="51"/>
                  </a:lnTo>
                  <a:lnTo>
                    <a:pt x="948" y="39"/>
                  </a:lnTo>
                  <a:lnTo>
                    <a:pt x="1042" y="28"/>
                  </a:lnTo>
                  <a:lnTo>
                    <a:pt x="1142" y="18"/>
                  </a:lnTo>
                  <a:lnTo>
                    <a:pt x="1247" y="11"/>
                  </a:lnTo>
                  <a:lnTo>
                    <a:pt x="1357" y="4"/>
                  </a:lnTo>
                  <a:lnTo>
                    <a:pt x="1473" y="1"/>
                  </a:lnTo>
                  <a:lnTo>
                    <a:pt x="1595" y="0"/>
                  </a:lnTo>
                  <a:close/>
                </a:path>
              </a:pathLst>
            </a:custGeom>
            <a:solidFill>
              <a:schemeClr val="bg1"/>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50000"/>
                </a:lnSpc>
                <a:spcBef>
                  <a:spcPts val="0"/>
                </a:spcBef>
                <a:spcAft>
                  <a:spcPts val="0"/>
                </a:spcAft>
                <a:buClrTx/>
                <a:buSzTx/>
                <a:buFontTx/>
                <a:buNone/>
                <a:defRPr/>
              </a:pPr>
              <a:endParaRPr kumimoji="0" lang="en-IN" sz="2800" b="0" i="0" u="none" strike="noStrike" kern="1200" cap="none" spc="0" normalizeH="0" baseline="0" noProof="0" dirty="0">
                <a:ln>
                  <a:noFill/>
                </a:ln>
                <a:solidFill>
                  <a:prstClr val="white">
                    <a:lumMod val="50000"/>
                  </a:prstClr>
                </a:solidFill>
                <a:effectLst/>
                <a:uLnTx/>
                <a:uFillTx/>
                <a:cs typeface="+mn-ea"/>
                <a:sym typeface="+mn-lt"/>
              </a:endParaRPr>
            </a:p>
          </p:txBody>
        </p:sp>
      </p:grpSp>
      <p:grpSp>
        <p:nvGrpSpPr>
          <p:cNvPr id="8" name="Group 91" descr="e7d195523061f1c021b92b3d25e54ab5e788c0576048880950C3AFFA1066A7153250F1349197BA8C5246BA9D557EC0274B8DA272D2431748978789E76D2CD7D1F11E7447C1D163F5D9CA1CD35DC7B6F0BB9237EE4B0D7ABCBCFF7D0CF688DED91A1FAA3FF605C63B75DEB3C6F72C375F09B1A3C86C0D92F026B9DFA34810B545F19B41AAA637C7BDD1EF44226E98F9D1"/>
          <p:cNvGrpSpPr/>
          <p:nvPr/>
        </p:nvGrpSpPr>
        <p:grpSpPr>
          <a:xfrm>
            <a:off x="1037078" y="3589648"/>
            <a:ext cx="554352" cy="554352"/>
            <a:chOff x="4441833" y="2363064"/>
            <a:chExt cx="855596" cy="855596"/>
          </a:xfrm>
        </p:grpSpPr>
        <p:sp>
          <p:nvSpPr>
            <p:cNvPr id="9" name="Oval 92"/>
            <p:cNvSpPr/>
            <p:nvPr/>
          </p:nvSpPr>
          <p:spPr>
            <a:xfrm>
              <a:off x="4441833" y="2363064"/>
              <a:ext cx="855596" cy="85559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IN" sz="44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10" name="Freeform 93"/>
            <p:cNvSpPr/>
            <p:nvPr/>
          </p:nvSpPr>
          <p:spPr bwMode="auto">
            <a:xfrm>
              <a:off x="4659210" y="2599817"/>
              <a:ext cx="420843" cy="378319"/>
            </a:xfrm>
            <a:custGeom>
              <a:avLst/>
              <a:gdLst>
                <a:gd name="connsiteX0" fmla="*/ 86232 w 455613"/>
                <a:gd name="connsiteY0" fmla="*/ 350838 h 409576"/>
                <a:gd name="connsiteX1" fmla="*/ 87433 w 455613"/>
                <a:gd name="connsiteY1" fmla="*/ 351240 h 409576"/>
                <a:gd name="connsiteX2" fmla="*/ 88233 w 455613"/>
                <a:gd name="connsiteY2" fmla="*/ 352313 h 409576"/>
                <a:gd name="connsiteX3" fmla="*/ 88767 w 455613"/>
                <a:gd name="connsiteY3" fmla="*/ 353788 h 409576"/>
                <a:gd name="connsiteX4" fmla="*/ 88900 w 455613"/>
                <a:gd name="connsiteY4" fmla="*/ 356068 h 409576"/>
                <a:gd name="connsiteX5" fmla="*/ 88900 w 455613"/>
                <a:gd name="connsiteY5" fmla="*/ 409576 h 409576"/>
                <a:gd name="connsiteX6" fmla="*/ 41275 w 455613"/>
                <a:gd name="connsiteY6" fmla="*/ 409576 h 409576"/>
                <a:gd name="connsiteX7" fmla="*/ 41275 w 455613"/>
                <a:gd name="connsiteY7" fmla="*/ 401530 h 409576"/>
                <a:gd name="connsiteX8" fmla="*/ 41542 w 455613"/>
                <a:gd name="connsiteY8" fmla="*/ 399116 h 409576"/>
                <a:gd name="connsiteX9" fmla="*/ 42342 w 455613"/>
                <a:gd name="connsiteY9" fmla="*/ 396568 h 409576"/>
                <a:gd name="connsiteX10" fmla="*/ 43410 w 455613"/>
                <a:gd name="connsiteY10" fmla="*/ 393752 h 409576"/>
                <a:gd name="connsiteX11" fmla="*/ 44744 w 455613"/>
                <a:gd name="connsiteY11" fmla="*/ 391070 h 409576"/>
                <a:gd name="connsiteX12" fmla="*/ 46611 w 455613"/>
                <a:gd name="connsiteY12" fmla="*/ 388388 h 409576"/>
                <a:gd name="connsiteX13" fmla="*/ 48479 w 455613"/>
                <a:gd name="connsiteY13" fmla="*/ 386376 h 409576"/>
                <a:gd name="connsiteX14" fmla="*/ 62219 w 455613"/>
                <a:gd name="connsiteY14" fmla="*/ 372563 h 409576"/>
                <a:gd name="connsiteX15" fmla="*/ 81696 w 455613"/>
                <a:gd name="connsiteY15" fmla="*/ 352984 h 409576"/>
                <a:gd name="connsiteX16" fmla="*/ 83297 w 455613"/>
                <a:gd name="connsiteY16" fmla="*/ 351643 h 409576"/>
                <a:gd name="connsiteX17" fmla="*/ 84898 w 455613"/>
                <a:gd name="connsiteY17" fmla="*/ 350972 h 409576"/>
                <a:gd name="connsiteX18" fmla="*/ 148113 w 455613"/>
                <a:gd name="connsiteY18" fmla="*/ 290513 h 409576"/>
                <a:gd name="connsiteX19" fmla="*/ 149142 w 455613"/>
                <a:gd name="connsiteY19" fmla="*/ 291039 h 409576"/>
                <a:gd name="connsiteX20" fmla="*/ 149913 w 455613"/>
                <a:gd name="connsiteY20" fmla="*/ 291960 h 409576"/>
                <a:gd name="connsiteX21" fmla="*/ 150427 w 455613"/>
                <a:gd name="connsiteY21" fmla="*/ 293671 h 409576"/>
                <a:gd name="connsiteX22" fmla="*/ 150813 w 455613"/>
                <a:gd name="connsiteY22" fmla="*/ 295644 h 409576"/>
                <a:gd name="connsiteX23" fmla="*/ 150813 w 455613"/>
                <a:gd name="connsiteY23" fmla="*/ 409576 h 409576"/>
                <a:gd name="connsiteX24" fmla="*/ 109538 w 455613"/>
                <a:gd name="connsiteY24" fmla="*/ 409576 h 409576"/>
                <a:gd name="connsiteX25" fmla="*/ 109538 w 455613"/>
                <a:gd name="connsiteY25" fmla="*/ 337481 h 409576"/>
                <a:gd name="connsiteX26" fmla="*/ 109667 w 455613"/>
                <a:gd name="connsiteY26" fmla="*/ 334718 h 409576"/>
                <a:gd name="connsiteX27" fmla="*/ 110438 w 455613"/>
                <a:gd name="connsiteY27" fmla="*/ 331560 h 409576"/>
                <a:gd name="connsiteX28" fmla="*/ 111595 w 455613"/>
                <a:gd name="connsiteY28" fmla="*/ 328403 h 409576"/>
                <a:gd name="connsiteX29" fmla="*/ 112881 w 455613"/>
                <a:gd name="connsiteY29" fmla="*/ 325377 h 409576"/>
                <a:gd name="connsiteX30" fmla="*/ 114681 w 455613"/>
                <a:gd name="connsiteY30" fmla="*/ 322614 h 409576"/>
                <a:gd name="connsiteX31" fmla="*/ 116482 w 455613"/>
                <a:gd name="connsiteY31" fmla="*/ 320378 h 409576"/>
                <a:gd name="connsiteX32" fmla="*/ 143741 w 455613"/>
                <a:gd name="connsiteY32" fmla="*/ 292750 h 409576"/>
                <a:gd name="connsiteX33" fmla="*/ 145413 w 455613"/>
                <a:gd name="connsiteY33" fmla="*/ 291434 h 409576"/>
                <a:gd name="connsiteX34" fmla="*/ 146827 w 455613"/>
                <a:gd name="connsiteY34" fmla="*/ 290645 h 409576"/>
                <a:gd name="connsiteX35" fmla="*/ 174022 w 455613"/>
                <a:gd name="connsiteY35" fmla="*/ 287338 h 409576"/>
                <a:gd name="connsiteX36" fmla="*/ 175436 w 455613"/>
                <a:gd name="connsiteY36" fmla="*/ 287471 h 409576"/>
                <a:gd name="connsiteX37" fmla="*/ 176851 w 455613"/>
                <a:gd name="connsiteY37" fmla="*/ 288136 h 409576"/>
                <a:gd name="connsiteX38" fmla="*/ 178522 w 455613"/>
                <a:gd name="connsiteY38" fmla="*/ 289599 h 409576"/>
                <a:gd name="connsiteX39" fmla="*/ 199481 w 455613"/>
                <a:gd name="connsiteY39" fmla="*/ 311147 h 409576"/>
                <a:gd name="connsiteX40" fmla="*/ 206039 w 455613"/>
                <a:gd name="connsiteY40" fmla="*/ 317931 h 409576"/>
                <a:gd name="connsiteX41" fmla="*/ 207839 w 455613"/>
                <a:gd name="connsiteY41" fmla="*/ 320059 h 409576"/>
                <a:gd name="connsiteX42" fmla="*/ 209382 w 455613"/>
                <a:gd name="connsiteY42" fmla="*/ 322719 h 409576"/>
                <a:gd name="connsiteX43" fmla="*/ 210668 w 455613"/>
                <a:gd name="connsiteY43" fmla="*/ 325646 h 409576"/>
                <a:gd name="connsiteX44" fmla="*/ 211696 w 455613"/>
                <a:gd name="connsiteY44" fmla="*/ 328705 h 409576"/>
                <a:gd name="connsiteX45" fmla="*/ 212468 w 455613"/>
                <a:gd name="connsiteY45" fmla="*/ 331897 h 409576"/>
                <a:gd name="connsiteX46" fmla="*/ 212725 w 455613"/>
                <a:gd name="connsiteY46" fmla="*/ 334823 h 409576"/>
                <a:gd name="connsiteX47" fmla="*/ 212725 w 455613"/>
                <a:gd name="connsiteY47" fmla="*/ 409576 h 409576"/>
                <a:gd name="connsiteX48" fmla="*/ 171450 w 455613"/>
                <a:gd name="connsiteY48" fmla="*/ 409576 h 409576"/>
                <a:gd name="connsiteX49" fmla="*/ 171450 w 455613"/>
                <a:gd name="connsiteY49" fmla="*/ 292659 h 409576"/>
                <a:gd name="connsiteX50" fmla="*/ 171579 w 455613"/>
                <a:gd name="connsiteY50" fmla="*/ 290397 h 409576"/>
                <a:gd name="connsiteX51" fmla="*/ 172222 w 455613"/>
                <a:gd name="connsiteY51" fmla="*/ 288934 h 409576"/>
                <a:gd name="connsiteX52" fmla="*/ 172993 w 455613"/>
                <a:gd name="connsiteY52" fmla="*/ 287737 h 409576"/>
                <a:gd name="connsiteX53" fmla="*/ 271938 w 455613"/>
                <a:gd name="connsiteY53" fmla="*/ 282575 h 409576"/>
                <a:gd name="connsiteX54" fmla="*/ 273095 w 455613"/>
                <a:gd name="connsiteY54" fmla="*/ 283105 h 409576"/>
                <a:gd name="connsiteX55" fmla="*/ 273995 w 455613"/>
                <a:gd name="connsiteY55" fmla="*/ 284033 h 409576"/>
                <a:gd name="connsiteX56" fmla="*/ 274510 w 455613"/>
                <a:gd name="connsiteY56" fmla="*/ 285757 h 409576"/>
                <a:gd name="connsiteX57" fmla="*/ 274638 w 455613"/>
                <a:gd name="connsiteY57" fmla="*/ 287745 h 409576"/>
                <a:gd name="connsiteX58" fmla="*/ 274638 w 455613"/>
                <a:gd name="connsiteY58" fmla="*/ 409575 h 409576"/>
                <a:gd name="connsiteX59" fmla="*/ 233363 w 455613"/>
                <a:gd name="connsiteY59" fmla="*/ 409575 h 409576"/>
                <a:gd name="connsiteX60" fmla="*/ 233363 w 455613"/>
                <a:gd name="connsiteY60" fmla="*/ 329902 h 409576"/>
                <a:gd name="connsiteX61" fmla="*/ 233620 w 455613"/>
                <a:gd name="connsiteY61" fmla="*/ 326588 h 409576"/>
                <a:gd name="connsiteX62" fmla="*/ 234263 w 455613"/>
                <a:gd name="connsiteY62" fmla="*/ 323141 h 409576"/>
                <a:gd name="connsiteX63" fmla="*/ 235035 w 455613"/>
                <a:gd name="connsiteY63" fmla="*/ 320224 h 409576"/>
                <a:gd name="connsiteX64" fmla="*/ 236192 w 455613"/>
                <a:gd name="connsiteY64" fmla="*/ 317573 h 409576"/>
                <a:gd name="connsiteX65" fmla="*/ 237478 w 455613"/>
                <a:gd name="connsiteY65" fmla="*/ 315585 h 409576"/>
                <a:gd name="connsiteX66" fmla="*/ 238764 w 455613"/>
                <a:gd name="connsiteY66" fmla="*/ 314391 h 409576"/>
                <a:gd name="connsiteX67" fmla="*/ 239921 w 455613"/>
                <a:gd name="connsiteY67" fmla="*/ 313066 h 409576"/>
                <a:gd name="connsiteX68" fmla="*/ 240821 w 455613"/>
                <a:gd name="connsiteY68" fmla="*/ 312138 h 409576"/>
                <a:gd name="connsiteX69" fmla="*/ 241335 w 455613"/>
                <a:gd name="connsiteY69" fmla="*/ 311607 h 409576"/>
                <a:gd name="connsiteX70" fmla="*/ 241592 w 455613"/>
                <a:gd name="connsiteY70" fmla="*/ 311475 h 409576"/>
                <a:gd name="connsiteX71" fmla="*/ 267566 w 455613"/>
                <a:gd name="connsiteY71" fmla="*/ 284829 h 409576"/>
                <a:gd name="connsiteX72" fmla="*/ 269238 w 455613"/>
                <a:gd name="connsiteY72" fmla="*/ 283503 h 409576"/>
                <a:gd name="connsiteX73" fmla="*/ 270781 w 455613"/>
                <a:gd name="connsiteY73" fmla="*/ 282708 h 409576"/>
                <a:gd name="connsiteX74" fmla="*/ 335459 w 455613"/>
                <a:gd name="connsiteY74" fmla="*/ 220663 h 409576"/>
                <a:gd name="connsiteX75" fmla="*/ 336665 w 455613"/>
                <a:gd name="connsiteY75" fmla="*/ 221061 h 409576"/>
                <a:gd name="connsiteX76" fmla="*/ 337468 w 455613"/>
                <a:gd name="connsiteY76" fmla="*/ 221990 h 409576"/>
                <a:gd name="connsiteX77" fmla="*/ 338004 w 455613"/>
                <a:gd name="connsiteY77" fmla="*/ 223714 h 409576"/>
                <a:gd name="connsiteX78" fmla="*/ 338138 w 455613"/>
                <a:gd name="connsiteY78" fmla="*/ 225704 h 409576"/>
                <a:gd name="connsiteX79" fmla="*/ 338138 w 455613"/>
                <a:gd name="connsiteY79" fmla="*/ 409576 h 409576"/>
                <a:gd name="connsiteX80" fmla="*/ 295275 w 455613"/>
                <a:gd name="connsiteY80" fmla="*/ 409576 h 409576"/>
                <a:gd name="connsiteX81" fmla="*/ 295275 w 455613"/>
                <a:gd name="connsiteY81" fmla="*/ 268157 h 409576"/>
                <a:gd name="connsiteX82" fmla="*/ 295543 w 455613"/>
                <a:gd name="connsiteY82" fmla="*/ 265238 h 409576"/>
                <a:gd name="connsiteX83" fmla="*/ 296213 w 455613"/>
                <a:gd name="connsiteY83" fmla="*/ 262054 h 409576"/>
                <a:gd name="connsiteX84" fmla="*/ 297284 w 455613"/>
                <a:gd name="connsiteY84" fmla="*/ 258870 h 409576"/>
                <a:gd name="connsiteX85" fmla="*/ 298892 w 455613"/>
                <a:gd name="connsiteY85" fmla="*/ 255819 h 409576"/>
                <a:gd name="connsiteX86" fmla="*/ 300499 w 455613"/>
                <a:gd name="connsiteY86" fmla="*/ 253033 h 409576"/>
                <a:gd name="connsiteX87" fmla="*/ 302508 w 455613"/>
                <a:gd name="connsiteY87" fmla="*/ 250910 h 409576"/>
                <a:gd name="connsiteX88" fmla="*/ 330905 w 455613"/>
                <a:gd name="connsiteY88" fmla="*/ 222786 h 409576"/>
                <a:gd name="connsiteX89" fmla="*/ 332512 w 455613"/>
                <a:gd name="connsiteY89" fmla="*/ 221459 h 409576"/>
                <a:gd name="connsiteX90" fmla="*/ 334120 w 455613"/>
                <a:gd name="connsiteY90" fmla="*/ 220796 h 409576"/>
                <a:gd name="connsiteX91" fmla="*/ 394079 w 455613"/>
                <a:gd name="connsiteY91" fmla="*/ 161925 h 409576"/>
                <a:gd name="connsiteX92" fmla="*/ 395278 w 455613"/>
                <a:gd name="connsiteY92" fmla="*/ 162323 h 409576"/>
                <a:gd name="connsiteX93" fmla="*/ 396077 w 455613"/>
                <a:gd name="connsiteY93" fmla="*/ 163383 h 409576"/>
                <a:gd name="connsiteX94" fmla="*/ 396610 w 455613"/>
                <a:gd name="connsiteY94" fmla="*/ 164974 h 409576"/>
                <a:gd name="connsiteX95" fmla="*/ 396876 w 455613"/>
                <a:gd name="connsiteY95" fmla="*/ 167096 h 409576"/>
                <a:gd name="connsiteX96" fmla="*/ 396876 w 455613"/>
                <a:gd name="connsiteY96" fmla="*/ 409575 h 409576"/>
                <a:gd name="connsiteX97" fmla="*/ 357188 w 455613"/>
                <a:gd name="connsiteY97" fmla="*/ 409575 h 409576"/>
                <a:gd name="connsiteX98" fmla="*/ 357188 w 455613"/>
                <a:gd name="connsiteY98" fmla="*/ 206338 h 409576"/>
                <a:gd name="connsiteX99" fmla="*/ 357454 w 455613"/>
                <a:gd name="connsiteY99" fmla="*/ 203421 h 409576"/>
                <a:gd name="connsiteX100" fmla="*/ 358120 w 455613"/>
                <a:gd name="connsiteY100" fmla="*/ 200239 h 409576"/>
                <a:gd name="connsiteX101" fmla="*/ 359319 w 455613"/>
                <a:gd name="connsiteY101" fmla="*/ 197057 h 409576"/>
                <a:gd name="connsiteX102" fmla="*/ 360784 w 455613"/>
                <a:gd name="connsiteY102" fmla="*/ 194008 h 409576"/>
                <a:gd name="connsiteX103" fmla="*/ 362515 w 455613"/>
                <a:gd name="connsiteY103" fmla="*/ 191224 h 409576"/>
                <a:gd name="connsiteX104" fmla="*/ 364380 w 455613"/>
                <a:gd name="connsiteY104" fmla="*/ 189103 h 409576"/>
                <a:gd name="connsiteX105" fmla="*/ 389684 w 455613"/>
                <a:gd name="connsiteY105" fmla="*/ 164046 h 409576"/>
                <a:gd name="connsiteX106" fmla="*/ 391283 w 455613"/>
                <a:gd name="connsiteY106" fmla="*/ 162721 h 409576"/>
                <a:gd name="connsiteX107" fmla="*/ 392881 w 455613"/>
                <a:gd name="connsiteY107" fmla="*/ 162058 h 409576"/>
                <a:gd name="connsiteX108" fmla="*/ 290622 w 455613"/>
                <a:gd name="connsiteY108" fmla="*/ 0 h 409576"/>
                <a:gd name="connsiteX109" fmla="*/ 435205 w 455613"/>
                <a:gd name="connsiteY109" fmla="*/ 0 h 409576"/>
                <a:gd name="connsiteX110" fmla="*/ 439180 w 455613"/>
                <a:gd name="connsiteY110" fmla="*/ 395 h 409576"/>
                <a:gd name="connsiteX111" fmla="*/ 442891 w 455613"/>
                <a:gd name="connsiteY111" fmla="*/ 1581 h 409576"/>
                <a:gd name="connsiteX112" fmla="*/ 446204 w 455613"/>
                <a:gd name="connsiteY112" fmla="*/ 3426 h 409576"/>
                <a:gd name="connsiteX113" fmla="*/ 449252 w 455613"/>
                <a:gd name="connsiteY113" fmla="*/ 5798 h 409576"/>
                <a:gd name="connsiteX114" fmla="*/ 451903 w 455613"/>
                <a:gd name="connsiteY114" fmla="*/ 8697 h 409576"/>
                <a:gd name="connsiteX115" fmla="*/ 453890 w 455613"/>
                <a:gd name="connsiteY115" fmla="*/ 11991 h 409576"/>
                <a:gd name="connsiteX116" fmla="*/ 455216 w 455613"/>
                <a:gd name="connsiteY116" fmla="*/ 15549 h 409576"/>
                <a:gd name="connsiteX117" fmla="*/ 455613 w 455613"/>
                <a:gd name="connsiteY117" fmla="*/ 19239 h 409576"/>
                <a:gd name="connsiteX118" fmla="*/ 455613 w 455613"/>
                <a:gd name="connsiteY118" fmla="*/ 162870 h 409576"/>
                <a:gd name="connsiteX119" fmla="*/ 455348 w 455613"/>
                <a:gd name="connsiteY119" fmla="*/ 164978 h 409576"/>
                <a:gd name="connsiteX120" fmla="*/ 454818 w 455613"/>
                <a:gd name="connsiteY120" fmla="*/ 166559 h 409576"/>
                <a:gd name="connsiteX121" fmla="*/ 454023 w 455613"/>
                <a:gd name="connsiteY121" fmla="*/ 167482 h 409576"/>
                <a:gd name="connsiteX122" fmla="*/ 452830 w 455613"/>
                <a:gd name="connsiteY122" fmla="*/ 168009 h 409576"/>
                <a:gd name="connsiteX123" fmla="*/ 451637 w 455613"/>
                <a:gd name="connsiteY123" fmla="*/ 167877 h 409576"/>
                <a:gd name="connsiteX124" fmla="*/ 450047 w 455613"/>
                <a:gd name="connsiteY124" fmla="*/ 167086 h 409576"/>
                <a:gd name="connsiteX125" fmla="*/ 448457 w 455613"/>
                <a:gd name="connsiteY125" fmla="*/ 165769 h 409576"/>
                <a:gd name="connsiteX126" fmla="*/ 397701 w 455613"/>
                <a:gd name="connsiteY126" fmla="*/ 115695 h 409576"/>
                <a:gd name="connsiteX127" fmla="*/ 228072 w 455613"/>
                <a:gd name="connsiteY127" fmla="*/ 283309 h 409576"/>
                <a:gd name="connsiteX128" fmla="*/ 225951 w 455613"/>
                <a:gd name="connsiteY128" fmla="*/ 284890 h 409576"/>
                <a:gd name="connsiteX129" fmla="*/ 223433 w 455613"/>
                <a:gd name="connsiteY129" fmla="*/ 285944 h 409576"/>
                <a:gd name="connsiteX130" fmla="*/ 220783 w 455613"/>
                <a:gd name="connsiteY130" fmla="*/ 286208 h 409576"/>
                <a:gd name="connsiteX131" fmla="*/ 218265 w 455613"/>
                <a:gd name="connsiteY131" fmla="*/ 285944 h 409576"/>
                <a:gd name="connsiteX132" fmla="*/ 215880 w 455613"/>
                <a:gd name="connsiteY132" fmla="*/ 284890 h 409576"/>
                <a:gd name="connsiteX133" fmla="*/ 213627 w 455613"/>
                <a:gd name="connsiteY133" fmla="*/ 283309 h 409576"/>
                <a:gd name="connsiteX134" fmla="*/ 162208 w 455613"/>
                <a:gd name="connsiteY134" fmla="*/ 232445 h 409576"/>
                <a:gd name="connsiteX135" fmla="*/ 70502 w 455613"/>
                <a:gd name="connsiteY135" fmla="*/ 323235 h 409576"/>
                <a:gd name="connsiteX136" fmla="*/ 66394 w 455613"/>
                <a:gd name="connsiteY136" fmla="*/ 326793 h 409576"/>
                <a:gd name="connsiteX137" fmla="*/ 61756 w 455613"/>
                <a:gd name="connsiteY137" fmla="*/ 329561 h 409576"/>
                <a:gd name="connsiteX138" fmla="*/ 56985 w 455613"/>
                <a:gd name="connsiteY138" fmla="*/ 331932 h 409576"/>
                <a:gd name="connsiteX139" fmla="*/ 52082 w 455613"/>
                <a:gd name="connsiteY139" fmla="*/ 333645 h 409576"/>
                <a:gd name="connsiteX140" fmla="*/ 46913 w 455613"/>
                <a:gd name="connsiteY140" fmla="*/ 334568 h 409576"/>
                <a:gd name="connsiteX141" fmla="*/ 41745 w 455613"/>
                <a:gd name="connsiteY141" fmla="*/ 334963 h 409576"/>
                <a:gd name="connsiteX142" fmla="*/ 36444 w 455613"/>
                <a:gd name="connsiteY142" fmla="*/ 334568 h 409576"/>
                <a:gd name="connsiteX143" fmla="*/ 31408 w 455613"/>
                <a:gd name="connsiteY143" fmla="*/ 333645 h 409576"/>
                <a:gd name="connsiteX144" fmla="*/ 26372 w 455613"/>
                <a:gd name="connsiteY144" fmla="*/ 331932 h 409576"/>
                <a:gd name="connsiteX145" fmla="*/ 21601 w 455613"/>
                <a:gd name="connsiteY145" fmla="*/ 329561 h 409576"/>
                <a:gd name="connsiteX146" fmla="*/ 17096 w 455613"/>
                <a:gd name="connsiteY146" fmla="*/ 326793 h 409576"/>
                <a:gd name="connsiteX147" fmla="*/ 12855 w 455613"/>
                <a:gd name="connsiteY147" fmla="*/ 323235 h 409576"/>
                <a:gd name="connsiteX148" fmla="*/ 11927 w 455613"/>
                <a:gd name="connsiteY148" fmla="*/ 322050 h 409576"/>
                <a:gd name="connsiteX149" fmla="*/ 8349 w 455613"/>
                <a:gd name="connsiteY149" fmla="*/ 317965 h 409576"/>
                <a:gd name="connsiteX150" fmla="*/ 5301 w 455613"/>
                <a:gd name="connsiteY150" fmla="*/ 313616 h 409576"/>
                <a:gd name="connsiteX151" fmla="*/ 3048 w 455613"/>
                <a:gd name="connsiteY151" fmla="*/ 308741 h 409576"/>
                <a:gd name="connsiteX152" fmla="*/ 1325 w 455613"/>
                <a:gd name="connsiteY152" fmla="*/ 303865 h 409576"/>
                <a:gd name="connsiteX153" fmla="*/ 265 w 455613"/>
                <a:gd name="connsiteY153" fmla="*/ 298726 h 409576"/>
                <a:gd name="connsiteX154" fmla="*/ 0 w 455613"/>
                <a:gd name="connsiteY154" fmla="*/ 293719 h 409576"/>
                <a:gd name="connsiteX155" fmla="*/ 265 w 455613"/>
                <a:gd name="connsiteY155" fmla="*/ 288448 h 409576"/>
                <a:gd name="connsiteX156" fmla="*/ 1325 w 455613"/>
                <a:gd name="connsiteY156" fmla="*/ 283572 h 409576"/>
                <a:gd name="connsiteX157" fmla="*/ 3048 w 455613"/>
                <a:gd name="connsiteY157" fmla="*/ 278697 h 409576"/>
                <a:gd name="connsiteX158" fmla="*/ 5301 w 455613"/>
                <a:gd name="connsiteY158" fmla="*/ 273821 h 409576"/>
                <a:gd name="connsiteX159" fmla="*/ 8349 w 455613"/>
                <a:gd name="connsiteY159" fmla="*/ 269473 h 409576"/>
                <a:gd name="connsiteX160" fmla="*/ 11927 w 455613"/>
                <a:gd name="connsiteY160" fmla="*/ 265256 h 409576"/>
                <a:gd name="connsiteX161" fmla="*/ 155052 w 455613"/>
                <a:gd name="connsiteY161" fmla="*/ 123865 h 409576"/>
                <a:gd name="connsiteX162" fmla="*/ 157172 w 455613"/>
                <a:gd name="connsiteY162" fmla="*/ 122284 h 409576"/>
                <a:gd name="connsiteX163" fmla="*/ 159557 w 455613"/>
                <a:gd name="connsiteY163" fmla="*/ 121230 h 409576"/>
                <a:gd name="connsiteX164" fmla="*/ 162208 w 455613"/>
                <a:gd name="connsiteY164" fmla="*/ 120966 h 409576"/>
                <a:gd name="connsiteX165" fmla="*/ 164726 w 455613"/>
                <a:gd name="connsiteY165" fmla="*/ 121230 h 409576"/>
                <a:gd name="connsiteX166" fmla="*/ 167244 w 455613"/>
                <a:gd name="connsiteY166" fmla="*/ 122284 h 409576"/>
                <a:gd name="connsiteX167" fmla="*/ 169497 w 455613"/>
                <a:gd name="connsiteY167" fmla="*/ 123865 h 409576"/>
                <a:gd name="connsiteX168" fmla="*/ 220783 w 455613"/>
                <a:gd name="connsiteY168" fmla="*/ 174597 h 409576"/>
                <a:gd name="connsiteX169" fmla="*/ 318055 w 455613"/>
                <a:gd name="connsiteY169" fmla="*/ 78536 h 409576"/>
                <a:gd name="connsiteX170" fmla="*/ 338993 w 455613"/>
                <a:gd name="connsiteY170" fmla="*/ 57848 h 409576"/>
                <a:gd name="connsiteX171" fmla="*/ 287707 w 455613"/>
                <a:gd name="connsiteY171" fmla="*/ 7116 h 409576"/>
                <a:gd name="connsiteX172" fmla="*/ 286382 w 455613"/>
                <a:gd name="connsiteY172" fmla="*/ 5403 h 409576"/>
                <a:gd name="connsiteX173" fmla="*/ 285587 w 455613"/>
                <a:gd name="connsiteY173" fmla="*/ 3953 h 409576"/>
                <a:gd name="connsiteX174" fmla="*/ 285454 w 455613"/>
                <a:gd name="connsiteY174" fmla="*/ 2636 h 409576"/>
                <a:gd name="connsiteX175" fmla="*/ 285852 w 455613"/>
                <a:gd name="connsiteY175" fmla="*/ 1581 h 409576"/>
                <a:gd name="connsiteX176" fmla="*/ 286912 w 455613"/>
                <a:gd name="connsiteY176" fmla="*/ 791 h 409576"/>
                <a:gd name="connsiteX177" fmla="*/ 288502 w 455613"/>
                <a:gd name="connsiteY177" fmla="*/ 264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455613" h="409576">
                  <a:moveTo>
                    <a:pt x="86232" y="350838"/>
                  </a:moveTo>
                  <a:lnTo>
                    <a:pt x="87433" y="351240"/>
                  </a:lnTo>
                  <a:lnTo>
                    <a:pt x="88233" y="352313"/>
                  </a:lnTo>
                  <a:lnTo>
                    <a:pt x="88767" y="353788"/>
                  </a:lnTo>
                  <a:lnTo>
                    <a:pt x="88900" y="356068"/>
                  </a:lnTo>
                  <a:lnTo>
                    <a:pt x="88900" y="409576"/>
                  </a:lnTo>
                  <a:lnTo>
                    <a:pt x="41275" y="409576"/>
                  </a:lnTo>
                  <a:lnTo>
                    <a:pt x="41275" y="401530"/>
                  </a:lnTo>
                  <a:lnTo>
                    <a:pt x="41542" y="399116"/>
                  </a:lnTo>
                  <a:lnTo>
                    <a:pt x="42342" y="396568"/>
                  </a:lnTo>
                  <a:lnTo>
                    <a:pt x="43410" y="393752"/>
                  </a:lnTo>
                  <a:lnTo>
                    <a:pt x="44744" y="391070"/>
                  </a:lnTo>
                  <a:lnTo>
                    <a:pt x="46611" y="388388"/>
                  </a:lnTo>
                  <a:lnTo>
                    <a:pt x="48479" y="386376"/>
                  </a:lnTo>
                  <a:lnTo>
                    <a:pt x="62219" y="372563"/>
                  </a:lnTo>
                  <a:lnTo>
                    <a:pt x="81696" y="352984"/>
                  </a:lnTo>
                  <a:lnTo>
                    <a:pt x="83297" y="351643"/>
                  </a:lnTo>
                  <a:lnTo>
                    <a:pt x="84898" y="350972"/>
                  </a:lnTo>
                  <a:close/>
                  <a:moveTo>
                    <a:pt x="148113" y="290513"/>
                  </a:moveTo>
                  <a:lnTo>
                    <a:pt x="149142" y="291039"/>
                  </a:lnTo>
                  <a:lnTo>
                    <a:pt x="149913" y="291960"/>
                  </a:lnTo>
                  <a:lnTo>
                    <a:pt x="150427" y="293671"/>
                  </a:lnTo>
                  <a:lnTo>
                    <a:pt x="150813" y="295644"/>
                  </a:lnTo>
                  <a:lnTo>
                    <a:pt x="150813" y="409576"/>
                  </a:lnTo>
                  <a:lnTo>
                    <a:pt x="109538" y="409576"/>
                  </a:lnTo>
                  <a:lnTo>
                    <a:pt x="109538" y="337481"/>
                  </a:lnTo>
                  <a:lnTo>
                    <a:pt x="109667" y="334718"/>
                  </a:lnTo>
                  <a:lnTo>
                    <a:pt x="110438" y="331560"/>
                  </a:lnTo>
                  <a:lnTo>
                    <a:pt x="111595" y="328403"/>
                  </a:lnTo>
                  <a:lnTo>
                    <a:pt x="112881" y="325377"/>
                  </a:lnTo>
                  <a:lnTo>
                    <a:pt x="114681" y="322614"/>
                  </a:lnTo>
                  <a:lnTo>
                    <a:pt x="116482" y="320378"/>
                  </a:lnTo>
                  <a:lnTo>
                    <a:pt x="143741" y="292750"/>
                  </a:lnTo>
                  <a:lnTo>
                    <a:pt x="145413" y="291434"/>
                  </a:lnTo>
                  <a:lnTo>
                    <a:pt x="146827" y="290645"/>
                  </a:lnTo>
                  <a:close/>
                  <a:moveTo>
                    <a:pt x="174022" y="287338"/>
                  </a:moveTo>
                  <a:lnTo>
                    <a:pt x="175436" y="287471"/>
                  </a:lnTo>
                  <a:lnTo>
                    <a:pt x="176851" y="288136"/>
                  </a:lnTo>
                  <a:lnTo>
                    <a:pt x="178522" y="289599"/>
                  </a:lnTo>
                  <a:lnTo>
                    <a:pt x="199481" y="311147"/>
                  </a:lnTo>
                  <a:lnTo>
                    <a:pt x="206039" y="317931"/>
                  </a:lnTo>
                  <a:lnTo>
                    <a:pt x="207839" y="320059"/>
                  </a:lnTo>
                  <a:lnTo>
                    <a:pt x="209382" y="322719"/>
                  </a:lnTo>
                  <a:lnTo>
                    <a:pt x="210668" y="325646"/>
                  </a:lnTo>
                  <a:lnTo>
                    <a:pt x="211696" y="328705"/>
                  </a:lnTo>
                  <a:lnTo>
                    <a:pt x="212468" y="331897"/>
                  </a:lnTo>
                  <a:lnTo>
                    <a:pt x="212725" y="334823"/>
                  </a:lnTo>
                  <a:lnTo>
                    <a:pt x="212725" y="409576"/>
                  </a:lnTo>
                  <a:lnTo>
                    <a:pt x="171450" y="409576"/>
                  </a:lnTo>
                  <a:lnTo>
                    <a:pt x="171450" y="292659"/>
                  </a:lnTo>
                  <a:lnTo>
                    <a:pt x="171579" y="290397"/>
                  </a:lnTo>
                  <a:lnTo>
                    <a:pt x="172222" y="288934"/>
                  </a:lnTo>
                  <a:lnTo>
                    <a:pt x="172993" y="287737"/>
                  </a:lnTo>
                  <a:close/>
                  <a:moveTo>
                    <a:pt x="271938" y="282575"/>
                  </a:moveTo>
                  <a:lnTo>
                    <a:pt x="273095" y="283105"/>
                  </a:lnTo>
                  <a:lnTo>
                    <a:pt x="273995" y="284033"/>
                  </a:lnTo>
                  <a:lnTo>
                    <a:pt x="274510" y="285757"/>
                  </a:lnTo>
                  <a:lnTo>
                    <a:pt x="274638" y="287745"/>
                  </a:lnTo>
                  <a:lnTo>
                    <a:pt x="274638" y="409575"/>
                  </a:lnTo>
                  <a:lnTo>
                    <a:pt x="233363" y="409575"/>
                  </a:lnTo>
                  <a:lnTo>
                    <a:pt x="233363" y="329902"/>
                  </a:lnTo>
                  <a:lnTo>
                    <a:pt x="233620" y="326588"/>
                  </a:lnTo>
                  <a:lnTo>
                    <a:pt x="234263" y="323141"/>
                  </a:lnTo>
                  <a:lnTo>
                    <a:pt x="235035" y="320224"/>
                  </a:lnTo>
                  <a:lnTo>
                    <a:pt x="236192" y="317573"/>
                  </a:lnTo>
                  <a:lnTo>
                    <a:pt x="237478" y="315585"/>
                  </a:lnTo>
                  <a:lnTo>
                    <a:pt x="238764" y="314391"/>
                  </a:lnTo>
                  <a:lnTo>
                    <a:pt x="239921" y="313066"/>
                  </a:lnTo>
                  <a:lnTo>
                    <a:pt x="240821" y="312138"/>
                  </a:lnTo>
                  <a:lnTo>
                    <a:pt x="241335" y="311607"/>
                  </a:lnTo>
                  <a:lnTo>
                    <a:pt x="241592" y="311475"/>
                  </a:lnTo>
                  <a:lnTo>
                    <a:pt x="267566" y="284829"/>
                  </a:lnTo>
                  <a:lnTo>
                    <a:pt x="269238" y="283503"/>
                  </a:lnTo>
                  <a:lnTo>
                    <a:pt x="270781" y="282708"/>
                  </a:lnTo>
                  <a:close/>
                  <a:moveTo>
                    <a:pt x="335459" y="220663"/>
                  </a:moveTo>
                  <a:lnTo>
                    <a:pt x="336665" y="221061"/>
                  </a:lnTo>
                  <a:lnTo>
                    <a:pt x="337468" y="221990"/>
                  </a:lnTo>
                  <a:lnTo>
                    <a:pt x="338004" y="223714"/>
                  </a:lnTo>
                  <a:lnTo>
                    <a:pt x="338138" y="225704"/>
                  </a:lnTo>
                  <a:lnTo>
                    <a:pt x="338138" y="409576"/>
                  </a:lnTo>
                  <a:lnTo>
                    <a:pt x="295275" y="409576"/>
                  </a:lnTo>
                  <a:lnTo>
                    <a:pt x="295275" y="268157"/>
                  </a:lnTo>
                  <a:lnTo>
                    <a:pt x="295543" y="265238"/>
                  </a:lnTo>
                  <a:lnTo>
                    <a:pt x="296213" y="262054"/>
                  </a:lnTo>
                  <a:lnTo>
                    <a:pt x="297284" y="258870"/>
                  </a:lnTo>
                  <a:lnTo>
                    <a:pt x="298892" y="255819"/>
                  </a:lnTo>
                  <a:lnTo>
                    <a:pt x="300499" y="253033"/>
                  </a:lnTo>
                  <a:lnTo>
                    <a:pt x="302508" y="250910"/>
                  </a:lnTo>
                  <a:lnTo>
                    <a:pt x="330905" y="222786"/>
                  </a:lnTo>
                  <a:lnTo>
                    <a:pt x="332512" y="221459"/>
                  </a:lnTo>
                  <a:lnTo>
                    <a:pt x="334120" y="220796"/>
                  </a:lnTo>
                  <a:close/>
                  <a:moveTo>
                    <a:pt x="394079" y="161925"/>
                  </a:moveTo>
                  <a:lnTo>
                    <a:pt x="395278" y="162323"/>
                  </a:lnTo>
                  <a:lnTo>
                    <a:pt x="396077" y="163383"/>
                  </a:lnTo>
                  <a:lnTo>
                    <a:pt x="396610" y="164974"/>
                  </a:lnTo>
                  <a:lnTo>
                    <a:pt x="396876" y="167096"/>
                  </a:lnTo>
                  <a:lnTo>
                    <a:pt x="396876" y="409575"/>
                  </a:lnTo>
                  <a:lnTo>
                    <a:pt x="357188" y="409575"/>
                  </a:lnTo>
                  <a:lnTo>
                    <a:pt x="357188" y="206338"/>
                  </a:lnTo>
                  <a:lnTo>
                    <a:pt x="357454" y="203421"/>
                  </a:lnTo>
                  <a:lnTo>
                    <a:pt x="358120" y="200239"/>
                  </a:lnTo>
                  <a:lnTo>
                    <a:pt x="359319" y="197057"/>
                  </a:lnTo>
                  <a:lnTo>
                    <a:pt x="360784" y="194008"/>
                  </a:lnTo>
                  <a:lnTo>
                    <a:pt x="362515" y="191224"/>
                  </a:lnTo>
                  <a:lnTo>
                    <a:pt x="364380" y="189103"/>
                  </a:lnTo>
                  <a:lnTo>
                    <a:pt x="389684" y="164046"/>
                  </a:lnTo>
                  <a:lnTo>
                    <a:pt x="391283" y="162721"/>
                  </a:lnTo>
                  <a:lnTo>
                    <a:pt x="392881" y="162058"/>
                  </a:lnTo>
                  <a:close/>
                  <a:moveTo>
                    <a:pt x="290622" y="0"/>
                  </a:moveTo>
                  <a:lnTo>
                    <a:pt x="435205" y="0"/>
                  </a:lnTo>
                  <a:lnTo>
                    <a:pt x="439180" y="395"/>
                  </a:lnTo>
                  <a:lnTo>
                    <a:pt x="442891" y="1581"/>
                  </a:lnTo>
                  <a:lnTo>
                    <a:pt x="446204" y="3426"/>
                  </a:lnTo>
                  <a:lnTo>
                    <a:pt x="449252" y="5798"/>
                  </a:lnTo>
                  <a:lnTo>
                    <a:pt x="451903" y="8697"/>
                  </a:lnTo>
                  <a:lnTo>
                    <a:pt x="453890" y="11991"/>
                  </a:lnTo>
                  <a:lnTo>
                    <a:pt x="455216" y="15549"/>
                  </a:lnTo>
                  <a:lnTo>
                    <a:pt x="455613" y="19239"/>
                  </a:lnTo>
                  <a:lnTo>
                    <a:pt x="455613" y="162870"/>
                  </a:lnTo>
                  <a:lnTo>
                    <a:pt x="455348" y="164978"/>
                  </a:lnTo>
                  <a:lnTo>
                    <a:pt x="454818" y="166559"/>
                  </a:lnTo>
                  <a:lnTo>
                    <a:pt x="454023" y="167482"/>
                  </a:lnTo>
                  <a:lnTo>
                    <a:pt x="452830" y="168009"/>
                  </a:lnTo>
                  <a:lnTo>
                    <a:pt x="451637" y="167877"/>
                  </a:lnTo>
                  <a:lnTo>
                    <a:pt x="450047" y="167086"/>
                  </a:lnTo>
                  <a:lnTo>
                    <a:pt x="448457" y="165769"/>
                  </a:lnTo>
                  <a:lnTo>
                    <a:pt x="397701" y="115695"/>
                  </a:lnTo>
                  <a:lnTo>
                    <a:pt x="228072" y="283309"/>
                  </a:lnTo>
                  <a:lnTo>
                    <a:pt x="225951" y="284890"/>
                  </a:lnTo>
                  <a:lnTo>
                    <a:pt x="223433" y="285944"/>
                  </a:lnTo>
                  <a:lnTo>
                    <a:pt x="220783" y="286208"/>
                  </a:lnTo>
                  <a:lnTo>
                    <a:pt x="218265" y="285944"/>
                  </a:lnTo>
                  <a:lnTo>
                    <a:pt x="215880" y="284890"/>
                  </a:lnTo>
                  <a:lnTo>
                    <a:pt x="213627" y="283309"/>
                  </a:lnTo>
                  <a:lnTo>
                    <a:pt x="162208" y="232445"/>
                  </a:lnTo>
                  <a:lnTo>
                    <a:pt x="70502" y="323235"/>
                  </a:lnTo>
                  <a:lnTo>
                    <a:pt x="66394" y="326793"/>
                  </a:lnTo>
                  <a:lnTo>
                    <a:pt x="61756" y="329561"/>
                  </a:lnTo>
                  <a:lnTo>
                    <a:pt x="56985" y="331932"/>
                  </a:lnTo>
                  <a:lnTo>
                    <a:pt x="52082" y="333645"/>
                  </a:lnTo>
                  <a:lnTo>
                    <a:pt x="46913" y="334568"/>
                  </a:lnTo>
                  <a:lnTo>
                    <a:pt x="41745" y="334963"/>
                  </a:lnTo>
                  <a:lnTo>
                    <a:pt x="36444" y="334568"/>
                  </a:lnTo>
                  <a:lnTo>
                    <a:pt x="31408" y="333645"/>
                  </a:lnTo>
                  <a:lnTo>
                    <a:pt x="26372" y="331932"/>
                  </a:lnTo>
                  <a:lnTo>
                    <a:pt x="21601" y="329561"/>
                  </a:lnTo>
                  <a:lnTo>
                    <a:pt x="17096" y="326793"/>
                  </a:lnTo>
                  <a:lnTo>
                    <a:pt x="12855" y="323235"/>
                  </a:lnTo>
                  <a:lnTo>
                    <a:pt x="11927" y="322050"/>
                  </a:lnTo>
                  <a:lnTo>
                    <a:pt x="8349" y="317965"/>
                  </a:lnTo>
                  <a:lnTo>
                    <a:pt x="5301" y="313616"/>
                  </a:lnTo>
                  <a:lnTo>
                    <a:pt x="3048" y="308741"/>
                  </a:lnTo>
                  <a:lnTo>
                    <a:pt x="1325" y="303865"/>
                  </a:lnTo>
                  <a:lnTo>
                    <a:pt x="265" y="298726"/>
                  </a:lnTo>
                  <a:lnTo>
                    <a:pt x="0" y="293719"/>
                  </a:lnTo>
                  <a:lnTo>
                    <a:pt x="265" y="288448"/>
                  </a:lnTo>
                  <a:lnTo>
                    <a:pt x="1325" y="283572"/>
                  </a:lnTo>
                  <a:lnTo>
                    <a:pt x="3048" y="278697"/>
                  </a:lnTo>
                  <a:lnTo>
                    <a:pt x="5301" y="273821"/>
                  </a:lnTo>
                  <a:lnTo>
                    <a:pt x="8349" y="269473"/>
                  </a:lnTo>
                  <a:lnTo>
                    <a:pt x="11927" y="265256"/>
                  </a:lnTo>
                  <a:lnTo>
                    <a:pt x="155052" y="123865"/>
                  </a:lnTo>
                  <a:lnTo>
                    <a:pt x="157172" y="122284"/>
                  </a:lnTo>
                  <a:lnTo>
                    <a:pt x="159557" y="121230"/>
                  </a:lnTo>
                  <a:lnTo>
                    <a:pt x="162208" y="120966"/>
                  </a:lnTo>
                  <a:lnTo>
                    <a:pt x="164726" y="121230"/>
                  </a:lnTo>
                  <a:lnTo>
                    <a:pt x="167244" y="122284"/>
                  </a:lnTo>
                  <a:lnTo>
                    <a:pt x="169497" y="123865"/>
                  </a:lnTo>
                  <a:lnTo>
                    <a:pt x="220783" y="174597"/>
                  </a:lnTo>
                  <a:lnTo>
                    <a:pt x="318055" y="78536"/>
                  </a:lnTo>
                  <a:lnTo>
                    <a:pt x="338993" y="57848"/>
                  </a:lnTo>
                  <a:lnTo>
                    <a:pt x="287707" y="7116"/>
                  </a:lnTo>
                  <a:lnTo>
                    <a:pt x="286382" y="5403"/>
                  </a:lnTo>
                  <a:lnTo>
                    <a:pt x="285587" y="3953"/>
                  </a:lnTo>
                  <a:lnTo>
                    <a:pt x="285454" y="2636"/>
                  </a:lnTo>
                  <a:lnTo>
                    <a:pt x="285852" y="1581"/>
                  </a:lnTo>
                  <a:lnTo>
                    <a:pt x="286912" y="791"/>
                  </a:lnTo>
                  <a:lnTo>
                    <a:pt x="288502" y="264"/>
                  </a:lnTo>
                  <a:close/>
                </a:path>
              </a:pathLst>
            </a:custGeom>
            <a:solidFill>
              <a:schemeClr val="bg1"/>
            </a:solidFill>
            <a:ln w="0">
              <a:noFill/>
              <a:prstDash val="solid"/>
              <a:round/>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50000"/>
                </a:lnSpc>
                <a:spcBef>
                  <a:spcPts val="0"/>
                </a:spcBef>
                <a:spcAft>
                  <a:spcPts val="0"/>
                </a:spcAft>
                <a:buClrTx/>
                <a:buSzTx/>
                <a:buFontTx/>
                <a:buNone/>
                <a:defRPr/>
              </a:pPr>
              <a:endParaRPr kumimoji="0" lang="en-IN" sz="2800" b="0" i="0" u="none" strike="noStrike" kern="1200" cap="none" spc="0" normalizeH="0" baseline="0" noProof="0" dirty="0">
                <a:ln>
                  <a:noFill/>
                </a:ln>
                <a:solidFill>
                  <a:prstClr val="white">
                    <a:lumMod val="50000"/>
                  </a:prstClr>
                </a:solidFill>
                <a:effectLst/>
                <a:uLnTx/>
                <a:uFillTx/>
                <a:cs typeface="+mn-ea"/>
                <a:sym typeface="+mn-lt"/>
              </a:endParaRPr>
            </a:p>
          </p:txBody>
        </p:sp>
      </p:grpSp>
      <p:sp>
        <p:nvSpPr>
          <p:cNvPr id="11" name="文本框 14"/>
          <p:cNvSpPr txBox="1"/>
          <p:nvPr/>
        </p:nvSpPr>
        <p:spPr>
          <a:xfrm>
            <a:off x="1599565" y="508000"/>
            <a:ext cx="8466455" cy="2722880"/>
          </a:xfrm>
          <a:prstGeom prst="rect">
            <a:avLst/>
          </a:prstGeom>
          <a:noFill/>
        </p:spPr>
        <p:txBody>
          <a:bodyPr wrap="square" rtlCol="0">
            <a:spAutoFit/>
          </a:bodyPr>
          <a:lstStyle/>
          <a:p>
            <a:pPr>
              <a:lnSpc>
                <a:spcPct val="150000"/>
              </a:lnSpc>
            </a:pPr>
            <a:r>
              <a:rPr lang="en-US" altLang="zh-CN" dirty="0"/>
              <a:t>《</a:t>
            </a:r>
            <a:r>
              <a:rPr lang="zh-CN" altLang="en-US" dirty="0"/>
              <a:t>教育行业信息系统安全等级保护定级指南</a:t>
            </a:r>
            <a:r>
              <a:rPr lang="en-US" altLang="zh-CN" dirty="0"/>
              <a:t>》</a:t>
            </a:r>
            <a:r>
              <a:rPr lang="zh-CN" altLang="en-US" dirty="0"/>
              <a:t>（</a:t>
            </a:r>
            <a:r>
              <a:rPr lang="en-US" altLang="zh-CN" dirty="0"/>
              <a:t>2014</a:t>
            </a:r>
            <a:r>
              <a:rPr lang="zh-CN" altLang="en-US" dirty="0"/>
              <a:t>年）（教育部办公厅）</a:t>
            </a:r>
            <a:endParaRPr lang="en-US" altLang="zh-CN" dirty="0"/>
          </a:p>
          <a:p>
            <a:pPr algn="l">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学校信息系统可分为：</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重点建设类高等学校信息系统（ I 类）、</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高等学校信息系统（Ⅱ类） 、</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中小学校（含中职中专院校）信息系统（Ⅲ类） ；</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一类信息系统的部分系统，定义为三级等保，</a:t>
            </a:r>
            <a:endParaRPr lang="zh-CN" altLang="en-US" sz="1200">
              <a:latin typeface="宋体" panose="02010600030101010101" pitchFamily="2" charset="-122"/>
              <a:ea typeface="宋体" panose="02010600030101010101" pitchFamily="2" charset="-122"/>
              <a:cs typeface="宋体" panose="02010600030101010101" pitchFamily="2" charset="-122"/>
              <a:sym typeface="+mn-ea"/>
            </a:endParaRPr>
          </a:p>
          <a:p>
            <a:pPr algn="l" fontAlgn="auto">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学校门户网站、财务管理系统、校园一卡通系统</a:t>
            </a:r>
            <a:r>
              <a:rPr lang="zh-CN" altLang="en-US" sz="1200">
                <a:latin typeface="宋体" panose="02010600030101010101" pitchFamily="2" charset="-122"/>
                <a:ea typeface="宋体" panose="02010600030101010101" pitchFamily="2" charset="-122"/>
                <a:cs typeface="宋体" panose="02010600030101010101" pitchFamily="2" charset="-122"/>
                <a:sym typeface="+mn-ea"/>
              </a:rPr>
              <a:t>、教务管理系统）</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二类信息系统，均定义为二级等保，</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r>
              <a:rPr lang="zh-CN" altLang="en-US" sz="1200">
                <a:latin typeface="宋体" panose="02010600030101010101" pitchFamily="2" charset="-122"/>
                <a:ea typeface="宋体" panose="02010600030101010101" pitchFamily="2" charset="-122"/>
                <a:cs typeface="宋体" panose="02010600030101010101" pitchFamily="2" charset="-122"/>
                <a:sym typeface="+mn-ea"/>
              </a:rPr>
              <a:t>三类信息系统，均定义为一级等保，</a:t>
            </a:r>
            <a:endParaRPr lang="zh-CN" altLang="en-US" sz="1200" dirty="0">
              <a:latin typeface="宋体" panose="02010600030101010101" pitchFamily="2" charset="-122"/>
              <a:ea typeface="宋体" panose="02010600030101010101" pitchFamily="2" charset="-122"/>
              <a:cs typeface="宋体" panose="02010600030101010101" pitchFamily="2" charset="-122"/>
            </a:endParaRPr>
          </a:p>
        </p:txBody>
      </p:sp>
      <p:sp>
        <p:nvSpPr>
          <p:cNvPr id="12" name="文本框 15"/>
          <p:cNvSpPr txBox="1"/>
          <p:nvPr/>
        </p:nvSpPr>
        <p:spPr>
          <a:xfrm>
            <a:off x="1694815" y="3516630"/>
            <a:ext cx="8487410" cy="922020"/>
          </a:xfrm>
          <a:prstGeom prst="rect">
            <a:avLst/>
          </a:prstGeom>
          <a:noFill/>
        </p:spPr>
        <p:txBody>
          <a:bodyPr wrap="square" rtlCol="0">
            <a:spAutoFit/>
          </a:bodyPr>
          <a:lstStyle/>
          <a:p>
            <a:pPr>
              <a:lnSpc>
                <a:spcPct val="150000"/>
              </a:lnSpc>
            </a:pPr>
            <a:r>
              <a:rPr lang="en-US" altLang="zh-CN" dirty="0"/>
              <a:t>《</a:t>
            </a:r>
            <a:r>
              <a:rPr lang="zh-CN" altLang="en-US" dirty="0"/>
              <a:t>电力行业信息系统安全等级保护定级工作指导意见</a:t>
            </a:r>
            <a:r>
              <a:rPr lang="en-US" altLang="zh-CN" dirty="0"/>
              <a:t>》</a:t>
            </a:r>
            <a:r>
              <a:rPr lang="zh-CN" altLang="en-US" dirty="0"/>
              <a:t>（国家电力监管委员会）</a:t>
            </a:r>
            <a:endParaRPr lang="en-US" altLang="zh-CN" dirty="0"/>
          </a:p>
          <a:p>
            <a:pPr>
              <a:lnSpc>
                <a:spcPct val="150000"/>
              </a:lnSpc>
            </a:pPr>
            <a:endParaRPr lang="en-US" altLang="zh-CN" dirty="0"/>
          </a:p>
        </p:txBody>
      </p:sp>
      <p:pic>
        <p:nvPicPr>
          <p:cNvPr id="2" name="图片 1"/>
          <p:cNvPicPr>
            <a:picLocks noChangeAspect="1"/>
          </p:cNvPicPr>
          <p:nvPr/>
        </p:nvPicPr>
        <p:blipFill>
          <a:blip r:embed="rId1"/>
          <a:stretch>
            <a:fillRect/>
          </a:stretch>
        </p:blipFill>
        <p:spPr>
          <a:xfrm>
            <a:off x="1960880" y="4213860"/>
            <a:ext cx="2679700" cy="2174240"/>
          </a:xfrm>
          <a:prstGeom prst="rect">
            <a:avLst/>
          </a:prstGeom>
        </p:spPr>
      </p:pic>
      <p:pic>
        <p:nvPicPr>
          <p:cNvPr id="3" name="图片 2"/>
          <p:cNvPicPr>
            <a:picLocks noChangeAspect="1"/>
          </p:cNvPicPr>
          <p:nvPr/>
        </p:nvPicPr>
        <p:blipFill>
          <a:blip r:embed="rId2"/>
          <a:stretch>
            <a:fillRect/>
          </a:stretch>
        </p:blipFill>
        <p:spPr>
          <a:xfrm>
            <a:off x="4790440" y="4213860"/>
            <a:ext cx="3397250" cy="1854200"/>
          </a:xfrm>
          <a:prstGeom prst="rect">
            <a:avLst/>
          </a:prstGeom>
        </p:spPr>
      </p:pic>
    </p:spTree>
    <p:custDataLst>
      <p:tags r:id="rId3"/>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7252335" y="2272030"/>
            <a:ext cx="4716145" cy="4172585"/>
          </a:xfrm>
          <a:prstGeom prst="rect">
            <a:avLst/>
          </a:prstGeom>
        </p:spPr>
      </p:pic>
      <p:sp>
        <p:nvSpPr>
          <p:cNvPr id="6" name="object 2"/>
          <p:cNvSpPr txBox="1">
            <a:spLocks noGrp="1"/>
          </p:cNvSpPr>
          <p:nvPr>
            <p:ph type="title"/>
          </p:nvPr>
        </p:nvSpPr>
        <p:spPr>
          <a:xfrm>
            <a:off x="329096" y="-99392"/>
            <a:ext cx="8647224" cy="632926"/>
          </a:xfrm>
          <a:prstGeom prst="rect">
            <a:avLst/>
          </a:prstGeom>
        </p:spPr>
        <p:txBody>
          <a:bodyPr vert="horz" wrap="square" lIns="0" tIns="147023" rIns="0" bIns="0" rtlCol="0">
            <a:noAutofit/>
          </a:bodyPr>
          <a:lstStyle/>
          <a:p>
            <a:pPr marL="448945">
              <a:lnSpc>
                <a:spcPct val="100000"/>
              </a:lnSpc>
            </a:pP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信息系统定级依据</a:t>
            </a:r>
            <a:endParaRPr sz="28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Group 81" descr="e7d195523061f1c021b92b3d25e54ab5e788c0576048880950C3AFFA1066A7153250F1349197BA8C5246BA9D557EC0274B8DA272D2431748978789E76D2CD7D1F11E7447C1D163F5D9CA1CD35DC7B6F0BB9237EE4B0D7ABCBCFF7D0CF688DED91A1FAA3FF605C63B75DEB3C6F72C375F09B1A3C86C0D92F026B9DFA34810B545F19B41AAA637C7BDD1EF44226E98F9D1"/>
          <p:cNvGrpSpPr/>
          <p:nvPr/>
        </p:nvGrpSpPr>
        <p:grpSpPr>
          <a:xfrm>
            <a:off x="1127183" y="1258818"/>
            <a:ext cx="811106" cy="792088"/>
            <a:chOff x="8390573" y="2363064"/>
            <a:chExt cx="855596" cy="855596"/>
          </a:xfrm>
        </p:grpSpPr>
        <p:sp>
          <p:nvSpPr>
            <p:cNvPr id="8" name="Oval 82"/>
            <p:cNvSpPr/>
            <p:nvPr/>
          </p:nvSpPr>
          <p:spPr>
            <a:xfrm>
              <a:off x="8390573" y="2363064"/>
              <a:ext cx="855596" cy="85559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en-IN" sz="44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9" name="Freeform 6"/>
            <p:cNvSpPr>
              <a:spLocks noEditPoints="1"/>
            </p:cNvSpPr>
            <p:nvPr/>
          </p:nvSpPr>
          <p:spPr bwMode="auto">
            <a:xfrm>
              <a:off x="8619741" y="2594772"/>
              <a:ext cx="397260" cy="443060"/>
            </a:xfrm>
            <a:custGeom>
              <a:avLst/>
              <a:gdLst>
                <a:gd name="T0" fmla="*/ 2085 w 3189"/>
                <a:gd name="T1" fmla="*/ 914 h 3556"/>
                <a:gd name="T2" fmla="*/ 1369 w 3189"/>
                <a:gd name="T3" fmla="*/ 1616 h 3556"/>
                <a:gd name="T4" fmla="*/ 1104 w 3189"/>
                <a:gd name="T5" fmla="*/ 1366 h 3556"/>
                <a:gd name="T6" fmla="*/ 1029 w 3189"/>
                <a:gd name="T7" fmla="*/ 1358 h 3556"/>
                <a:gd name="T8" fmla="*/ 963 w 3189"/>
                <a:gd name="T9" fmla="*/ 1394 h 3556"/>
                <a:gd name="T10" fmla="*/ 860 w 3189"/>
                <a:gd name="T11" fmla="*/ 1511 h 3556"/>
                <a:gd name="T12" fmla="*/ 853 w 3189"/>
                <a:gd name="T13" fmla="*/ 1584 h 3556"/>
                <a:gd name="T14" fmla="*/ 888 w 3189"/>
                <a:gd name="T15" fmla="*/ 1650 h 3556"/>
                <a:gd name="T16" fmla="*/ 1320 w 3189"/>
                <a:gd name="T17" fmla="*/ 2068 h 3556"/>
                <a:gd name="T18" fmla="*/ 1395 w 3189"/>
                <a:gd name="T19" fmla="*/ 2076 h 3556"/>
                <a:gd name="T20" fmla="*/ 1460 w 3189"/>
                <a:gd name="T21" fmla="*/ 2040 h 3556"/>
                <a:gd name="T22" fmla="*/ 2330 w 3189"/>
                <a:gd name="T23" fmla="*/ 1157 h 3556"/>
                <a:gd name="T24" fmla="*/ 2336 w 3189"/>
                <a:gd name="T25" fmla="*/ 1085 h 3556"/>
                <a:gd name="T26" fmla="*/ 2301 w 3189"/>
                <a:gd name="T27" fmla="*/ 1018 h 3556"/>
                <a:gd name="T28" fmla="*/ 2184 w 3189"/>
                <a:gd name="T29" fmla="*/ 914 h 3556"/>
                <a:gd name="T30" fmla="*/ 1595 w 3189"/>
                <a:gd name="T31" fmla="*/ 0 h 3556"/>
                <a:gd name="T32" fmla="*/ 1943 w 3189"/>
                <a:gd name="T33" fmla="*/ 11 h 3556"/>
                <a:gd name="T34" fmla="*/ 2242 w 3189"/>
                <a:gd name="T35" fmla="*/ 39 h 3556"/>
                <a:gd name="T36" fmla="*/ 2493 w 3189"/>
                <a:gd name="T37" fmla="*/ 79 h 3556"/>
                <a:gd name="T38" fmla="*/ 2699 w 3189"/>
                <a:gd name="T39" fmla="*/ 127 h 3556"/>
                <a:gd name="T40" fmla="*/ 2860 w 3189"/>
                <a:gd name="T41" fmla="*/ 175 h 3556"/>
                <a:gd name="T42" fmla="*/ 2978 w 3189"/>
                <a:gd name="T43" fmla="*/ 220 h 3556"/>
                <a:gd name="T44" fmla="*/ 3056 w 3189"/>
                <a:gd name="T45" fmla="*/ 255 h 3556"/>
                <a:gd name="T46" fmla="*/ 3094 w 3189"/>
                <a:gd name="T47" fmla="*/ 275 h 3556"/>
                <a:gd name="T48" fmla="*/ 3142 w 3189"/>
                <a:gd name="T49" fmla="*/ 315 h 3556"/>
                <a:gd name="T50" fmla="*/ 3182 w 3189"/>
                <a:gd name="T51" fmla="*/ 390 h 3556"/>
                <a:gd name="T52" fmla="*/ 3189 w 3189"/>
                <a:gd name="T53" fmla="*/ 455 h 3556"/>
                <a:gd name="T54" fmla="*/ 3184 w 3189"/>
                <a:gd name="T55" fmla="*/ 520 h 3556"/>
                <a:gd name="T56" fmla="*/ 3171 w 3189"/>
                <a:gd name="T57" fmla="*/ 643 h 3556"/>
                <a:gd name="T58" fmla="*/ 3149 w 3189"/>
                <a:gd name="T59" fmla="*/ 819 h 3556"/>
                <a:gd name="T60" fmla="*/ 3110 w 3189"/>
                <a:gd name="T61" fmla="*/ 1037 h 3556"/>
                <a:gd name="T62" fmla="*/ 3053 w 3189"/>
                <a:gd name="T63" fmla="*/ 1292 h 3556"/>
                <a:gd name="T64" fmla="*/ 2975 w 3189"/>
                <a:gd name="T65" fmla="*/ 1574 h 3556"/>
                <a:gd name="T66" fmla="*/ 2811 w 3189"/>
                <a:gd name="T67" fmla="*/ 2026 h 3556"/>
                <a:gd name="T68" fmla="*/ 2610 w 3189"/>
                <a:gd name="T69" fmla="*/ 2444 h 3556"/>
                <a:gd name="T70" fmla="*/ 2377 w 3189"/>
                <a:gd name="T71" fmla="*/ 2816 h 3556"/>
                <a:gd name="T72" fmla="*/ 2112 w 3189"/>
                <a:gd name="T73" fmla="*/ 3145 h 3556"/>
                <a:gd name="T74" fmla="*/ 1817 w 3189"/>
                <a:gd name="T75" fmla="*/ 3431 h 3556"/>
                <a:gd name="T76" fmla="*/ 1656 w 3189"/>
                <a:gd name="T77" fmla="*/ 3546 h 3556"/>
                <a:gd name="T78" fmla="*/ 1564 w 3189"/>
                <a:gd name="T79" fmla="*/ 3554 h 3556"/>
                <a:gd name="T80" fmla="*/ 1478 w 3189"/>
                <a:gd name="T81" fmla="*/ 3516 h 3556"/>
                <a:gd name="T82" fmla="*/ 1172 w 3189"/>
                <a:gd name="T83" fmla="*/ 3245 h 3556"/>
                <a:gd name="T84" fmla="*/ 897 w 3189"/>
                <a:gd name="T85" fmla="*/ 2930 h 3556"/>
                <a:gd name="T86" fmla="*/ 654 w 3189"/>
                <a:gd name="T87" fmla="*/ 2573 h 3556"/>
                <a:gd name="T88" fmla="*/ 441 w 3189"/>
                <a:gd name="T89" fmla="*/ 2170 h 3556"/>
                <a:gd name="T90" fmla="*/ 265 w 3189"/>
                <a:gd name="T91" fmla="*/ 1729 h 3556"/>
                <a:gd name="T92" fmla="*/ 160 w 3189"/>
                <a:gd name="T93" fmla="*/ 1383 h 3556"/>
                <a:gd name="T94" fmla="*/ 96 w 3189"/>
                <a:gd name="T95" fmla="*/ 1119 h 3556"/>
                <a:gd name="T96" fmla="*/ 52 w 3189"/>
                <a:gd name="T97" fmla="*/ 887 h 3556"/>
                <a:gd name="T98" fmla="*/ 24 w 3189"/>
                <a:gd name="T99" fmla="*/ 696 h 3556"/>
                <a:gd name="T100" fmla="*/ 8 w 3189"/>
                <a:gd name="T101" fmla="*/ 555 h 3556"/>
                <a:gd name="T102" fmla="*/ 1 w 3189"/>
                <a:gd name="T103" fmla="*/ 469 h 3556"/>
                <a:gd name="T104" fmla="*/ 1 w 3189"/>
                <a:gd name="T105" fmla="*/ 419 h 3556"/>
                <a:gd name="T106" fmla="*/ 29 w 3189"/>
                <a:gd name="T107" fmla="*/ 339 h 3556"/>
                <a:gd name="T108" fmla="*/ 91 w 3189"/>
                <a:gd name="T109" fmla="*/ 278 h 3556"/>
                <a:gd name="T110" fmla="*/ 117 w 3189"/>
                <a:gd name="T111" fmla="*/ 264 h 3556"/>
                <a:gd name="T112" fmla="*/ 181 w 3189"/>
                <a:gd name="T113" fmla="*/ 233 h 3556"/>
                <a:gd name="T114" fmla="*/ 286 w 3189"/>
                <a:gd name="T115" fmla="*/ 190 h 3556"/>
                <a:gd name="T116" fmla="*/ 433 w 3189"/>
                <a:gd name="T117" fmla="*/ 143 h 3556"/>
                <a:gd name="T118" fmla="*/ 623 w 3189"/>
                <a:gd name="T119" fmla="*/ 94 h 3556"/>
                <a:gd name="T120" fmla="*/ 858 w 3189"/>
                <a:gd name="T121" fmla="*/ 51 h 3556"/>
                <a:gd name="T122" fmla="*/ 1142 w 3189"/>
                <a:gd name="T123" fmla="*/ 18 h 3556"/>
                <a:gd name="T124" fmla="*/ 1473 w 3189"/>
                <a:gd name="T125" fmla="*/ 1 h 3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89" h="3556">
                  <a:moveTo>
                    <a:pt x="2135" y="904"/>
                  </a:moveTo>
                  <a:lnTo>
                    <a:pt x="2109" y="907"/>
                  </a:lnTo>
                  <a:lnTo>
                    <a:pt x="2085" y="914"/>
                  </a:lnTo>
                  <a:lnTo>
                    <a:pt x="2063" y="926"/>
                  </a:lnTo>
                  <a:lnTo>
                    <a:pt x="2043" y="942"/>
                  </a:lnTo>
                  <a:lnTo>
                    <a:pt x="1369" y="1616"/>
                  </a:lnTo>
                  <a:lnTo>
                    <a:pt x="1145" y="1394"/>
                  </a:lnTo>
                  <a:lnTo>
                    <a:pt x="1125" y="1378"/>
                  </a:lnTo>
                  <a:lnTo>
                    <a:pt x="1104" y="1366"/>
                  </a:lnTo>
                  <a:lnTo>
                    <a:pt x="1080" y="1358"/>
                  </a:lnTo>
                  <a:lnTo>
                    <a:pt x="1054" y="1356"/>
                  </a:lnTo>
                  <a:lnTo>
                    <a:pt x="1029" y="1358"/>
                  </a:lnTo>
                  <a:lnTo>
                    <a:pt x="1005" y="1366"/>
                  </a:lnTo>
                  <a:lnTo>
                    <a:pt x="982" y="1378"/>
                  </a:lnTo>
                  <a:lnTo>
                    <a:pt x="963" y="1394"/>
                  </a:lnTo>
                  <a:lnTo>
                    <a:pt x="888" y="1468"/>
                  </a:lnTo>
                  <a:lnTo>
                    <a:pt x="872" y="1489"/>
                  </a:lnTo>
                  <a:lnTo>
                    <a:pt x="860" y="1511"/>
                  </a:lnTo>
                  <a:lnTo>
                    <a:pt x="853" y="1534"/>
                  </a:lnTo>
                  <a:lnTo>
                    <a:pt x="850" y="1559"/>
                  </a:lnTo>
                  <a:lnTo>
                    <a:pt x="853" y="1584"/>
                  </a:lnTo>
                  <a:lnTo>
                    <a:pt x="860" y="1608"/>
                  </a:lnTo>
                  <a:lnTo>
                    <a:pt x="872" y="1631"/>
                  </a:lnTo>
                  <a:lnTo>
                    <a:pt x="888" y="1650"/>
                  </a:lnTo>
                  <a:lnTo>
                    <a:pt x="1278" y="2040"/>
                  </a:lnTo>
                  <a:lnTo>
                    <a:pt x="1297" y="2057"/>
                  </a:lnTo>
                  <a:lnTo>
                    <a:pt x="1320" y="2068"/>
                  </a:lnTo>
                  <a:lnTo>
                    <a:pt x="1344" y="2076"/>
                  </a:lnTo>
                  <a:lnTo>
                    <a:pt x="1369" y="2078"/>
                  </a:lnTo>
                  <a:lnTo>
                    <a:pt x="1395" y="2076"/>
                  </a:lnTo>
                  <a:lnTo>
                    <a:pt x="1419" y="2068"/>
                  </a:lnTo>
                  <a:lnTo>
                    <a:pt x="1440" y="2057"/>
                  </a:lnTo>
                  <a:lnTo>
                    <a:pt x="1460" y="2040"/>
                  </a:lnTo>
                  <a:lnTo>
                    <a:pt x="2301" y="1200"/>
                  </a:lnTo>
                  <a:lnTo>
                    <a:pt x="2318" y="1180"/>
                  </a:lnTo>
                  <a:lnTo>
                    <a:pt x="2330" y="1157"/>
                  </a:lnTo>
                  <a:lnTo>
                    <a:pt x="2336" y="1133"/>
                  </a:lnTo>
                  <a:lnTo>
                    <a:pt x="2338" y="1109"/>
                  </a:lnTo>
                  <a:lnTo>
                    <a:pt x="2336" y="1085"/>
                  </a:lnTo>
                  <a:lnTo>
                    <a:pt x="2330" y="1061"/>
                  </a:lnTo>
                  <a:lnTo>
                    <a:pt x="2318" y="1038"/>
                  </a:lnTo>
                  <a:lnTo>
                    <a:pt x="2301" y="1018"/>
                  </a:lnTo>
                  <a:lnTo>
                    <a:pt x="2226" y="942"/>
                  </a:lnTo>
                  <a:lnTo>
                    <a:pt x="2206" y="926"/>
                  </a:lnTo>
                  <a:lnTo>
                    <a:pt x="2184" y="914"/>
                  </a:lnTo>
                  <a:lnTo>
                    <a:pt x="2160" y="907"/>
                  </a:lnTo>
                  <a:lnTo>
                    <a:pt x="2135" y="904"/>
                  </a:lnTo>
                  <a:close/>
                  <a:moveTo>
                    <a:pt x="1595" y="0"/>
                  </a:moveTo>
                  <a:lnTo>
                    <a:pt x="1716" y="1"/>
                  </a:lnTo>
                  <a:lnTo>
                    <a:pt x="1832" y="4"/>
                  </a:lnTo>
                  <a:lnTo>
                    <a:pt x="1943" y="11"/>
                  </a:lnTo>
                  <a:lnTo>
                    <a:pt x="2048" y="18"/>
                  </a:lnTo>
                  <a:lnTo>
                    <a:pt x="2148" y="28"/>
                  </a:lnTo>
                  <a:lnTo>
                    <a:pt x="2242" y="39"/>
                  </a:lnTo>
                  <a:lnTo>
                    <a:pt x="2331" y="51"/>
                  </a:lnTo>
                  <a:lnTo>
                    <a:pt x="2414" y="65"/>
                  </a:lnTo>
                  <a:lnTo>
                    <a:pt x="2493" y="79"/>
                  </a:lnTo>
                  <a:lnTo>
                    <a:pt x="2567" y="94"/>
                  </a:lnTo>
                  <a:lnTo>
                    <a:pt x="2635" y="110"/>
                  </a:lnTo>
                  <a:lnTo>
                    <a:pt x="2699" y="127"/>
                  </a:lnTo>
                  <a:lnTo>
                    <a:pt x="2757" y="143"/>
                  </a:lnTo>
                  <a:lnTo>
                    <a:pt x="2811" y="159"/>
                  </a:lnTo>
                  <a:lnTo>
                    <a:pt x="2860" y="175"/>
                  </a:lnTo>
                  <a:lnTo>
                    <a:pt x="2904" y="190"/>
                  </a:lnTo>
                  <a:lnTo>
                    <a:pt x="2943" y="206"/>
                  </a:lnTo>
                  <a:lnTo>
                    <a:pt x="2978" y="220"/>
                  </a:lnTo>
                  <a:lnTo>
                    <a:pt x="3008" y="233"/>
                  </a:lnTo>
                  <a:lnTo>
                    <a:pt x="3034" y="244"/>
                  </a:lnTo>
                  <a:lnTo>
                    <a:pt x="3056" y="255"/>
                  </a:lnTo>
                  <a:lnTo>
                    <a:pt x="3073" y="264"/>
                  </a:lnTo>
                  <a:lnTo>
                    <a:pt x="3086" y="270"/>
                  </a:lnTo>
                  <a:lnTo>
                    <a:pt x="3094" y="275"/>
                  </a:lnTo>
                  <a:lnTo>
                    <a:pt x="3098" y="278"/>
                  </a:lnTo>
                  <a:lnTo>
                    <a:pt x="3122" y="295"/>
                  </a:lnTo>
                  <a:lnTo>
                    <a:pt x="3142" y="315"/>
                  </a:lnTo>
                  <a:lnTo>
                    <a:pt x="3160" y="339"/>
                  </a:lnTo>
                  <a:lnTo>
                    <a:pt x="3174" y="363"/>
                  </a:lnTo>
                  <a:lnTo>
                    <a:pt x="3182" y="390"/>
                  </a:lnTo>
                  <a:lnTo>
                    <a:pt x="3188" y="419"/>
                  </a:lnTo>
                  <a:lnTo>
                    <a:pt x="3189" y="448"/>
                  </a:lnTo>
                  <a:lnTo>
                    <a:pt x="3189" y="455"/>
                  </a:lnTo>
                  <a:lnTo>
                    <a:pt x="3188" y="469"/>
                  </a:lnTo>
                  <a:lnTo>
                    <a:pt x="3187" y="491"/>
                  </a:lnTo>
                  <a:lnTo>
                    <a:pt x="3184" y="520"/>
                  </a:lnTo>
                  <a:lnTo>
                    <a:pt x="3181" y="555"/>
                  </a:lnTo>
                  <a:lnTo>
                    <a:pt x="3177" y="596"/>
                  </a:lnTo>
                  <a:lnTo>
                    <a:pt x="3171" y="643"/>
                  </a:lnTo>
                  <a:lnTo>
                    <a:pt x="3165" y="696"/>
                  </a:lnTo>
                  <a:lnTo>
                    <a:pt x="3157" y="755"/>
                  </a:lnTo>
                  <a:lnTo>
                    <a:pt x="3149" y="819"/>
                  </a:lnTo>
                  <a:lnTo>
                    <a:pt x="3137" y="887"/>
                  </a:lnTo>
                  <a:lnTo>
                    <a:pt x="3125" y="960"/>
                  </a:lnTo>
                  <a:lnTo>
                    <a:pt x="3110" y="1037"/>
                  </a:lnTo>
                  <a:lnTo>
                    <a:pt x="3094" y="1119"/>
                  </a:lnTo>
                  <a:lnTo>
                    <a:pt x="3074" y="1203"/>
                  </a:lnTo>
                  <a:lnTo>
                    <a:pt x="3053" y="1292"/>
                  </a:lnTo>
                  <a:lnTo>
                    <a:pt x="3030" y="1383"/>
                  </a:lnTo>
                  <a:lnTo>
                    <a:pt x="3004" y="1477"/>
                  </a:lnTo>
                  <a:lnTo>
                    <a:pt x="2975" y="1574"/>
                  </a:lnTo>
                  <a:lnTo>
                    <a:pt x="2925" y="1729"/>
                  </a:lnTo>
                  <a:lnTo>
                    <a:pt x="2870" y="1879"/>
                  </a:lnTo>
                  <a:lnTo>
                    <a:pt x="2811" y="2026"/>
                  </a:lnTo>
                  <a:lnTo>
                    <a:pt x="2748" y="2170"/>
                  </a:lnTo>
                  <a:lnTo>
                    <a:pt x="2681" y="2308"/>
                  </a:lnTo>
                  <a:lnTo>
                    <a:pt x="2610" y="2444"/>
                  </a:lnTo>
                  <a:lnTo>
                    <a:pt x="2535" y="2573"/>
                  </a:lnTo>
                  <a:lnTo>
                    <a:pt x="2458" y="2697"/>
                  </a:lnTo>
                  <a:lnTo>
                    <a:pt x="2377" y="2816"/>
                  </a:lnTo>
                  <a:lnTo>
                    <a:pt x="2293" y="2930"/>
                  </a:lnTo>
                  <a:lnTo>
                    <a:pt x="2204" y="3039"/>
                  </a:lnTo>
                  <a:lnTo>
                    <a:pt x="2112" y="3145"/>
                  </a:lnTo>
                  <a:lnTo>
                    <a:pt x="2017" y="3245"/>
                  </a:lnTo>
                  <a:lnTo>
                    <a:pt x="1918" y="3340"/>
                  </a:lnTo>
                  <a:lnTo>
                    <a:pt x="1817" y="3431"/>
                  </a:lnTo>
                  <a:lnTo>
                    <a:pt x="1712" y="3516"/>
                  </a:lnTo>
                  <a:lnTo>
                    <a:pt x="1685" y="3533"/>
                  </a:lnTo>
                  <a:lnTo>
                    <a:pt x="1656" y="3546"/>
                  </a:lnTo>
                  <a:lnTo>
                    <a:pt x="1625" y="3554"/>
                  </a:lnTo>
                  <a:lnTo>
                    <a:pt x="1595" y="3556"/>
                  </a:lnTo>
                  <a:lnTo>
                    <a:pt x="1564" y="3554"/>
                  </a:lnTo>
                  <a:lnTo>
                    <a:pt x="1533" y="3546"/>
                  </a:lnTo>
                  <a:lnTo>
                    <a:pt x="1505" y="3533"/>
                  </a:lnTo>
                  <a:lnTo>
                    <a:pt x="1478" y="3516"/>
                  </a:lnTo>
                  <a:lnTo>
                    <a:pt x="1373" y="3431"/>
                  </a:lnTo>
                  <a:lnTo>
                    <a:pt x="1270" y="3340"/>
                  </a:lnTo>
                  <a:lnTo>
                    <a:pt x="1172" y="3245"/>
                  </a:lnTo>
                  <a:lnTo>
                    <a:pt x="1077" y="3145"/>
                  </a:lnTo>
                  <a:lnTo>
                    <a:pt x="986" y="3039"/>
                  </a:lnTo>
                  <a:lnTo>
                    <a:pt x="897" y="2930"/>
                  </a:lnTo>
                  <a:lnTo>
                    <a:pt x="813" y="2816"/>
                  </a:lnTo>
                  <a:lnTo>
                    <a:pt x="731" y="2697"/>
                  </a:lnTo>
                  <a:lnTo>
                    <a:pt x="654" y="2573"/>
                  </a:lnTo>
                  <a:lnTo>
                    <a:pt x="579" y="2444"/>
                  </a:lnTo>
                  <a:lnTo>
                    <a:pt x="509" y="2308"/>
                  </a:lnTo>
                  <a:lnTo>
                    <a:pt x="441" y="2170"/>
                  </a:lnTo>
                  <a:lnTo>
                    <a:pt x="378" y="2026"/>
                  </a:lnTo>
                  <a:lnTo>
                    <a:pt x="319" y="1879"/>
                  </a:lnTo>
                  <a:lnTo>
                    <a:pt x="265" y="1729"/>
                  </a:lnTo>
                  <a:lnTo>
                    <a:pt x="214" y="1574"/>
                  </a:lnTo>
                  <a:lnTo>
                    <a:pt x="186" y="1477"/>
                  </a:lnTo>
                  <a:lnTo>
                    <a:pt x="160" y="1383"/>
                  </a:lnTo>
                  <a:lnTo>
                    <a:pt x="136" y="1292"/>
                  </a:lnTo>
                  <a:lnTo>
                    <a:pt x="115" y="1203"/>
                  </a:lnTo>
                  <a:lnTo>
                    <a:pt x="96" y="1119"/>
                  </a:lnTo>
                  <a:lnTo>
                    <a:pt x="79" y="1037"/>
                  </a:lnTo>
                  <a:lnTo>
                    <a:pt x="65" y="960"/>
                  </a:lnTo>
                  <a:lnTo>
                    <a:pt x="52" y="887"/>
                  </a:lnTo>
                  <a:lnTo>
                    <a:pt x="41" y="819"/>
                  </a:lnTo>
                  <a:lnTo>
                    <a:pt x="31" y="755"/>
                  </a:lnTo>
                  <a:lnTo>
                    <a:pt x="24" y="696"/>
                  </a:lnTo>
                  <a:lnTo>
                    <a:pt x="17" y="643"/>
                  </a:lnTo>
                  <a:lnTo>
                    <a:pt x="12" y="596"/>
                  </a:lnTo>
                  <a:lnTo>
                    <a:pt x="8" y="555"/>
                  </a:lnTo>
                  <a:lnTo>
                    <a:pt x="5" y="520"/>
                  </a:lnTo>
                  <a:lnTo>
                    <a:pt x="3" y="491"/>
                  </a:lnTo>
                  <a:lnTo>
                    <a:pt x="1" y="469"/>
                  </a:lnTo>
                  <a:lnTo>
                    <a:pt x="0" y="455"/>
                  </a:lnTo>
                  <a:lnTo>
                    <a:pt x="0" y="448"/>
                  </a:lnTo>
                  <a:lnTo>
                    <a:pt x="1" y="419"/>
                  </a:lnTo>
                  <a:lnTo>
                    <a:pt x="6" y="390"/>
                  </a:lnTo>
                  <a:lnTo>
                    <a:pt x="16" y="363"/>
                  </a:lnTo>
                  <a:lnTo>
                    <a:pt x="29" y="339"/>
                  </a:lnTo>
                  <a:lnTo>
                    <a:pt x="47" y="315"/>
                  </a:lnTo>
                  <a:lnTo>
                    <a:pt x="67" y="295"/>
                  </a:lnTo>
                  <a:lnTo>
                    <a:pt x="91" y="278"/>
                  </a:lnTo>
                  <a:lnTo>
                    <a:pt x="95" y="275"/>
                  </a:lnTo>
                  <a:lnTo>
                    <a:pt x="104" y="270"/>
                  </a:lnTo>
                  <a:lnTo>
                    <a:pt x="117" y="264"/>
                  </a:lnTo>
                  <a:lnTo>
                    <a:pt x="133" y="255"/>
                  </a:lnTo>
                  <a:lnTo>
                    <a:pt x="155" y="244"/>
                  </a:lnTo>
                  <a:lnTo>
                    <a:pt x="181" y="233"/>
                  </a:lnTo>
                  <a:lnTo>
                    <a:pt x="211" y="220"/>
                  </a:lnTo>
                  <a:lnTo>
                    <a:pt x="246" y="206"/>
                  </a:lnTo>
                  <a:lnTo>
                    <a:pt x="286" y="190"/>
                  </a:lnTo>
                  <a:lnTo>
                    <a:pt x="330" y="175"/>
                  </a:lnTo>
                  <a:lnTo>
                    <a:pt x="379" y="159"/>
                  </a:lnTo>
                  <a:lnTo>
                    <a:pt x="433" y="143"/>
                  </a:lnTo>
                  <a:lnTo>
                    <a:pt x="491" y="127"/>
                  </a:lnTo>
                  <a:lnTo>
                    <a:pt x="554" y="110"/>
                  </a:lnTo>
                  <a:lnTo>
                    <a:pt x="623" y="94"/>
                  </a:lnTo>
                  <a:lnTo>
                    <a:pt x="696" y="79"/>
                  </a:lnTo>
                  <a:lnTo>
                    <a:pt x="775" y="65"/>
                  </a:lnTo>
                  <a:lnTo>
                    <a:pt x="858" y="51"/>
                  </a:lnTo>
                  <a:lnTo>
                    <a:pt x="948" y="39"/>
                  </a:lnTo>
                  <a:lnTo>
                    <a:pt x="1042" y="28"/>
                  </a:lnTo>
                  <a:lnTo>
                    <a:pt x="1142" y="18"/>
                  </a:lnTo>
                  <a:lnTo>
                    <a:pt x="1247" y="11"/>
                  </a:lnTo>
                  <a:lnTo>
                    <a:pt x="1357" y="4"/>
                  </a:lnTo>
                  <a:lnTo>
                    <a:pt x="1473" y="1"/>
                  </a:lnTo>
                  <a:lnTo>
                    <a:pt x="1595" y="0"/>
                  </a:lnTo>
                  <a:close/>
                </a:path>
              </a:pathLst>
            </a:custGeom>
            <a:solidFill>
              <a:schemeClr val="bg1"/>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spcBef>
                  <a:spcPts val="0"/>
                </a:spcBef>
                <a:spcAft>
                  <a:spcPts val="0"/>
                </a:spcAft>
                <a:buClrTx/>
                <a:buSzTx/>
                <a:buFontTx/>
                <a:buNone/>
                <a:defRPr/>
              </a:pPr>
              <a:endParaRPr kumimoji="0" lang="en-IN" sz="2800" b="0" i="0" u="none" strike="noStrike" kern="1200" cap="none" spc="0" normalizeH="0" baseline="0" noProof="0" dirty="0">
                <a:ln>
                  <a:noFill/>
                </a:ln>
                <a:solidFill>
                  <a:prstClr val="white">
                    <a:lumMod val="50000"/>
                  </a:prstClr>
                </a:solidFill>
                <a:effectLst/>
                <a:uLnTx/>
                <a:uFillTx/>
                <a:cs typeface="+mn-ea"/>
                <a:sym typeface="+mn-lt"/>
              </a:endParaRPr>
            </a:p>
          </p:txBody>
        </p:sp>
      </p:grpSp>
      <p:grpSp>
        <p:nvGrpSpPr>
          <p:cNvPr id="10" name="Group 91" descr="e7d195523061f1c021b92b3d25e54ab5e788c0576048880950C3AFFA1066A7153250F1349197BA8C5246BA9D557EC0274B8DA272D2431748978789E76D2CD7D1F11E7447C1D163F5D9CA1CD35DC7B6F0BB9237EE4B0D7ABCBCFF7D0CF688DED91A1FAA3FF605C63B75DEB3C6F72C375F09B1A3C86C0D92F026B9DFA34810B545F19B41AAA637C7BDD1EF44226E98F9D1"/>
          <p:cNvGrpSpPr/>
          <p:nvPr/>
        </p:nvGrpSpPr>
        <p:grpSpPr>
          <a:xfrm>
            <a:off x="1127448" y="3434826"/>
            <a:ext cx="811106" cy="746728"/>
            <a:chOff x="4441833" y="2363064"/>
            <a:chExt cx="855596" cy="855596"/>
          </a:xfrm>
        </p:grpSpPr>
        <p:sp>
          <p:nvSpPr>
            <p:cNvPr id="11" name="Oval 92"/>
            <p:cNvSpPr/>
            <p:nvPr/>
          </p:nvSpPr>
          <p:spPr>
            <a:xfrm>
              <a:off x="4441833" y="2363064"/>
              <a:ext cx="855596" cy="85559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defRPr/>
              </a:pPr>
              <a:endParaRPr kumimoji="0" lang="en-IN" sz="44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12" name="Freeform 93"/>
            <p:cNvSpPr/>
            <p:nvPr/>
          </p:nvSpPr>
          <p:spPr bwMode="auto">
            <a:xfrm>
              <a:off x="4659210" y="2599817"/>
              <a:ext cx="420843" cy="378319"/>
            </a:xfrm>
            <a:custGeom>
              <a:avLst/>
              <a:gdLst>
                <a:gd name="connsiteX0" fmla="*/ 86232 w 455613"/>
                <a:gd name="connsiteY0" fmla="*/ 350838 h 409576"/>
                <a:gd name="connsiteX1" fmla="*/ 87433 w 455613"/>
                <a:gd name="connsiteY1" fmla="*/ 351240 h 409576"/>
                <a:gd name="connsiteX2" fmla="*/ 88233 w 455613"/>
                <a:gd name="connsiteY2" fmla="*/ 352313 h 409576"/>
                <a:gd name="connsiteX3" fmla="*/ 88767 w 455613"/>
                <a:gd name="connsiteY3" fmla="*/ 353788 h 409576"/>
                <a:gd name="connsiteX4" fmla="*/ 88900 w 455613"/>
                <a:gd name="connsiteY4" fmla="*/ 356068 h 409576"/>
                <a:gd name="connsiteX5" fmla="*/ 88900 w 455613"/>
                <a:gd name="connsiteY5" fmla="*/ 409576 h 409576"/>
                <a:gd name="connsiteX6" fmla="*/ 41275 w 455613"/>
                <a:gd name="connsiteY6" fmla="*/ 409576 h 409576"/>
                <a:gd name="connsiteX7" fmla="*/ 41275 w 455613"/>
                <a:gd name="connsiteY7" fmla="*/ 401530 h 409576"/>
                <a:gd name="connsiteX8" fmla="*/ 41542 w 455613"/>
                <a:gd name="connsiteY8" fmla="*/ 399116 h 409576"/>
                <a:gd name="connsiteX9" fmla="*/ 42342 w 455613"/>
                <a:gd name="connsiteY9" fmla="*/ 396568 h 409576"/>
                <a:gd name="connsiteX10" fmla="*/ 43410 w 455613"/>
                <a:gd name="connsiteY10" fmla="*/ 393752 h 409576"/>
                <a:gd name="connsiteX11" fmla="*/ 44744 w 455613"/>
                <a:gd name="connsiteY11" fmla="*/ 391070 h 409576"/>
                <a:gd name="connsiteX12" fmla="*/ 46611 w 455613"/>
                <a:gd name="connsiteY12" fmla="*/ 388388 h 409576"/>
                <a:gd name="connsiteX13" fmla="*/ 48479 w 455613"/>
                <a:gd name="connsiteY13" fmla="*/ 386376 h 409576"/>
                <a:gd name="connsiteX14" fmla="*/ 62219 w 455613"/>
                <a:gd name="connsiteY14" fmla="*/ 372563 h 409576"/>
                <a:gd name="connsiteX15" fmla="*/ 81696 w 455613"/>
                <a:gd name="connsiteY15" fmla="*/ 352984 h 409576"/>
                <a:gd name="connsiteX16" fmla="*/ 83297 w 455613"/>
                <a:gd name="connsiteY16" fmla="*/ 351643 h 409576"/>
                <a:gd name="connsiteX17" fmla="*/ 84898 w 455613"/>
                <a:gd name="connsiteY17" fmla="*/ 350972 h 409576"/>
                <a:gd name="connsiteX18" fmla="*/ 148113 w 455613"/>
                <a:gd name="connsiteY18" fmla="*/ 290513 h 409576"/>
                <a:gd name="connsiteX19" fmla="*/ 149142 w 455613"/>
                <a:gd name="connsiteY19" fmla="*/ 291039 h 409576"/>
                <a:gd name="connsiteX20" fmla="*/ 149913 w 455613"/>
                <a:gd name="connsiteY20" fmla="*/ 291960 h 409576"/>
                <a:gd name="connsiteX21" fmla="*/ 150427 w 455613"/>
                <a:gd name="connsiteY21" fmla="*/ 293671 h 409576"/>
                <a:gd name="connsiteX22" fmla="*/ 150813 w 455613"/>
                <a:gd name="connsiteY22" fmla="*/ 295644 h 409576"/>
                <a:gd name="connsiteX23" fmla="*/ 150813 w 455613"/>
                <a:gd name="connsiteY23" fmla="*/ 409576 h 409576"/>
                <a:gd name="connsiteX24" fmla="*/ 109538 w 455613"/>
                <a:gd name="connsiteY24" fmla="*/ 409576 h 409576"/>
                <a:gd name="connsiteX25" fmla="*/ 109538 w 455613"/>
                <a:gd name="connsiteY25" fmla="*/ 337481 h 409576"/>
                <a:gd name="connsiteX26" fmla="*/ 109667 w 455613"/>
                <a:gd name="connsiteY26" fmla="*/ 334718 h 409576"/>
                <a:gd name="connsiteX27" fmla="*/ 110438 w 455613"/>
                <a:gd name="connsiteY27" fmla="*/ 331560 h 409576"/>
                <a:gd name="connsiteX28" fmla="*/ 111595 w 455613"/>
                <a:gd name="connsiteY28" fmla="*/ 328403 h 409576"/>
                <a:gd name="connsiteX29" fmla="*/ 112881 w 455613"/>
                <a:gd name="connsiteY29" fmla="*/ 325377 h 409576"/>
                <a:gd name="connsiteX30" fmla="*/ 114681 w 455613"/>
                <a:gd name="connsiteY30" fmla="*/ 322614 h 409576"/>
                <a:gd name="connsiteX31" fmla="*/ 116482 w 455613"/>
                <a:gd name="connsiteY31" fmla="*/ 320378 h 409576"/>
                <a:gd name="connsiteX32" fmla="*/ 143741 w 455613"/>
                <a:gd name="connsiteY32" fmla="*/ 292750 h 409576"/>
                <a:gd name="connsiteX33" fmla="*/ 145413 w 455613"/>
                <a:gd name="connsiteY33" fmla="*/ 291434 h 409576"/>
                <a:gd name="connsiteX34" fmla="*/ 146827 w 455613"/>
                <a:gd name="connsiteY34" fmla="*/ 290645 h 409576"/>
                <a:gd name="connsiteX35" fmla="*/ 174022 w 455613"/>
                <a:gd name="connsiteY35" fmla="*/ 287338 h 409576"/>
                <a:gd name="connsiteX36" fmla="*/ 175436 w 455613"/>
                <a:gd name="connsiteY36" fmla="*/ 287471 h 409576"/>
                <a:gd name="connsiteX37" fmla="*/ 176851 w 455613"/>
                <a:gd name="connsiteY37" fmla="*/ 288136 h 409576"/>
                <a:gd name="connsiteX38" fmla="*/ 178522 w 455613"/>
                <a:gd name="connsiteY38" fmla="*/ 289599 h 409576"/>
                <a:gd name="connsiteX39" fmla="*/ 199481 w 455613"/>
                <a:gd name="connsiteY39" fmla="*/ 311147 h 409576"/>
                <a:gd name="connsiteX40" fmla="*/ 206039 w 455613"/>
                <a:gd name="connsiteY40" fmla="*/ 317931 h 409576"/>
                <a:gd name="connsiteX41" fmla="*/ 207839 w 455613"/>
                <a:gd name="connsiteY41" fmla="*/ 320059 h 409576"/>
                <a:gd name="connsiteX42" fmla="*/ 209382 w 455613"/>
                <a:gd name="connsiteY42" fmla="*/ 322719 h 409576"/>
                <a:gd name="connsiteX43" fmla="*/ 210668 w 455613"/>
                <a:gd name="connsiteY43" fmla="*/ 325646 h 409576"/>
                <a:gd name="connsiteX44" fmla="*/ 211696 w 455613"/>
                <a:gd name="connsiteY44" fmla="*/ 328705 h 409576"/>
                <a:gd name="connsiteX45" fmla="*/ 212468 w 455613"/>
                <a:gd name="connsiteY45" fmla="*/ 331897 h 409576"/>
                <a:gd name="connsiteX46" fmla="*/ 212725 w 455613"/>
                <a:gd name="connsiteY46" fmla="*/ 334823 h 409576"/>
                <a:gd name="connsiteX47" fmla="*/ 212725 w 455613"/>
                <a:gd name="connsiteY47" fmla="*/ 409576 h 409576"/>
                <a:gd name="connsiteX48" fmla="*/ 171450 w 455613"/>
                <a:gd name="connsiteY48" fmla="*/ 409576 h 409576"/>
                <a:gd name="connsiteX49" fmla="*/ 171450 w 455613"/>
                <a:gd name="connsiteY49" fmla="*/ 292659 h 409576"/>
                <a:gd name="connsiteX50" fmla="*/ 171579 w 455613"/>
                <a:gd name="connsiteY50" fmla="*/ 290397 h 409576"/>
                <a:gd name="connsiteX51" fmla="*/ 172222 w 455613"/>
                <a:gd name="connsiteY51" fmla="*/ 288934 h 409576"/>
                <a:gd name="connsiteX52" fmla="*/ 172993 w 455613"/>
                <a:gd name="connsiteY52" fmla="*/ 287737 h 409576"/>
                <a:gd name="connsiteX53" fmla="*/ 271938 w 455613"/>
                <a:gd name="connsiteY53" fmla="*/ 282575 h 409576"/>
                <a:gd name="connsiteX54" fmla="*/ 273095 w 455613"/>
                <a:gd name="connsiteY54" fmla="*/ 283105 h 409576"/>
                <a:gd name="connsiteX55" fmla="*/ 273995 w 455613"/>
                <a:gd name="connsiteY55" fmla="*/ 284033 h 409576"/>
                <a:gd name="connsiteX56" fmla="*/ 274510 w 455613"/>
                <a:gd name="connsiteY56" fmla="*/ 285757 h 409576"/>
                <a:gd name="connsiteX57" fmla="*/ 274638 w 455613"/>
                <a:gd name="connsiteY57" fmla="*/ 287745 h 409576"/>
                <a:gd name="connsiteX58" fmla="*/ 274638 w 455613"/>
                <a:gd name="connsiteY58" fmla="*/ 409575 h 409576"/>
                <a:gd name="connsiteX59" fmla="*/ 233363 w 455613"/>
                <a:gd name="connsiteY59" fmla="*/ 409575 h 409576"/>
                <a:gd name="connsiteX60" fmla="*/ 233363 w 455613"/>
                <a:gd name="connsiteY60" fmla="*/ 329902 h 409576"/>
                <a:gd name="connsiteX61" fmla="*/ 233620 w 455613"/>
                <a:gd name="connsiteY61" fmla="*/ 326588 h 409576"/>
                <a:gd name="connsiteX62" fmla="*/ 234263 w 455613"/>
                <a:gd name="connsiteY62" fmla="*/ 323141 h 409576"/>
                <a:gd name="connsiteX63" fmla="*/ 235035 w 455613"/>
                <a:gd name="connsiteY63" fmla="*/ 320224 h 409576"/>
                <a:gd name="connsiteX64" fmla="*/ 236192 w 455613"/>
                <a:gd name="connsiteY64" fmla="*/ 317573 h 409576"/>
                <a:gd name="connsiteX65" fmla="*/ 237478 w 455613"/>
                <a:gd name="connsiteY65" fmla="*/ 315585 h 409576"/>
                <a:gd name="connsiteX66" fmla="*/ 238764 w 455613"/>
                <a:gd name="connsiteY66" fmla="*/ 314391 h 409576"/>
                <a:gd name="connsiteX67" fmla="*/ 239921 w 455613"/>
                <a:gd name="connsiteY67" fmla="*/ 313066 h 409576"/>
                <a:gd name="connsiteX68" fmla="*/ 240821 w 455613"/>
                <a:gd name="connsiteY68" fmla="*/ 312138 h 409576"/>
                <a:gd name="connsiteX69" fmla="*/ 241335 w 455613"/>
                <a:gd name="connsiteY69" fmla="*/ 311607 h 409576"/>
                <a:gd name="connsiteX70" fmla="*/ 241592 w 455613"/>
                <a:gd name="connsiteY70" fmla="*/ 311475 h 409576"/>
                <a:gd name="connsiteX71" fmla="*/ 267566 w 455613"/>
                <a:gd name="connsiteY71" fmla="*/ 284829 h 409576"/>
                <a:gd name="connsiteX72" fmla="*/ 269238 w 455613"/>
                <a:gd name="connsiteY72" fmla="*/ 283503 h 409576"/>
                <a:gd name="connsiteX73" fmla="*/ 270781 w 455613"/>
                <a:gd name="connsiteY73" fmla="*/ 282708 h 409576"/>
                <a:gd name="connsiteX74" fmla="*/ 335459 w 455613"/>
                <a:gd name="connsiteY74" fmla="*/ 220663 h 409576"/>
                <a:gd name="connsiteX75" fmla="*/ 336665 w 455613"/>
                <a:gd name="connsiteY75" fmla="*/ 221061 h 409576"/>
                <a:gd name="connsiteX76" fmla="*/ 337468 w 455613"/>
                <a:gd name="connsiteY76" fmla="*/ 221990 h 409576"/>
                <a:gd name="connsiteX77" fmla="*/ 338004 w 455613"/>
                <a:gd name="connsiteY77" fmla="*/ 223714 h 409576"/>
                <a:gd name="connsiteX78" fmla="*/ 338138 w 455613"/>
                <a:gd name="connsiteY78" fmla="*/ 225704 h 409576"/>
                <a:gd name="connsiteX79" fmla="*/ 338138 w 455613"/>
                <a:gd name="connsiteY79" fmla="*/ 409576 h 409576"/>
                <a:gd name="connsiteX80" fmla="*/ 295275 w 455613"/>
                <a:gd name="connsiteY80" fmla="*/ 409576 h 409576"/>
                <a:gd name="connsiteX81" fmla="*/ 295275 w 455613"/>
                <a:gd name="connsiteY81" fmla="*/ 268157 h 409576"/>
                <a:gd name="connsiteX82" fmla="*/ 295543 w 455613"/>
                <a:gd name="connsiteY82" fmla="*/ 265238 h 409576"/>
                <a:gd name="connsiteX83" fmla="*/ 296213 w 455613"/>
                <a:gd name="connsiteY83" fmla="*/ 262054 h 409576"/>
                <a:gd name="connsiteX84" fmla="*/ 297284 w 455613"/>
                <a:gd name="connsiteY84" fmla="*/ 258870 h 409576"/>
                <a:gd name="connsiteX85" fmla="*/ 298892 w 455613"/>
                <a:gd name="connsiteY85" fmla="*/ 255819 h 409576"/>
                <a:gd name="connsiteX86" fmla="*/ 300499 w 455613"/>
                <a:gd name="connsiteY86" fmla="*/ 253033 h 409576"/>
                <a:gd name="connsiteX87" fmla="*/ 302508 w 455613"/>
                <a:gd name="connsiteY87" fmla="*/ 250910 h 409576"/>
                <a:gd name="connsiteX88" fmla="*/ 330905 w 455613"/>
                <a:gd name="connsiteY88" fmla="*/ 222786 h 409576"/>
                <a:gd name="connsiteX89" fmla="*/ 332512 w 455613"/>
                <a:gd name="connsiteY89" fmla="*/ 221459 h 409576"/>
                <a:gd name="connsiteX90" fmla="*/ 334120 w 455613"/>
                <a:gd name="connsiteY90" fmla="*/ 220796 h 409576"/>
                <a:gd name="connsiteX91" fmla="*/ 394079 w 455613"/>
                <a:gd name="connsiteY91" fmla="*/ 161925 h 409576"/>
                <a:gd name="connsiteX92" fmla="*/ 395278 w 455613"/>
                <a:gd name="connsiteY92" fmla="*/ 162323 h 409576"/>
                <a:gd name="connsiteX93" fmla="*/ 396077 w 455613"/>
                <a:gd name="connsiteY93" fmla="*/ 163383 h 409576"/>
                <a:gd name="connsiteX94" fmla="*/ 396610 w 455613"/>
                <a:gd name="connsiteY94" fmla="*/ 164974 h 409576"/>
                <a:gd name="connsiteX95" fmla="*/ 396876 w 455613"/>
                <a:gd name="connsiteY95" fmla="*/ 167096 h 409576"/>
                <a:gd name="connsiteX96" fmla="*/ 396876 w 455613"/>
                <a:gd name="connsiteY96" fmla="*/ 409575 h 409576"/>
                <a:gd name="connsiteX97" fmla="*/ 357188 w 455613"/>
                <a:gd name="connsiteY97" fmla="*/ 409575 h 409576"/>
                <a:gd name="connsiteX98" fmla="*/ 357188 w 455613"/>
                <a:gd name="connsiteY98" fmla="*/ 206338 h 409576"/>
                <a:gd name="connsiteX99" fmla="*/ 357454 w 455613"/>
                <a:gd name="connsiteY99" fmla="*/ 203421 h 409576"/>
                <a:gd name="connsiteX100" fmla="*/ 358120 w 455613"/>
                <a:gd name="connsiteY100" fmla="*/ 200239 h 409576"/>
                <a:gd name="connsiteX101" fmla="*/ 359319 w 455613"/>
                <a:gd name="connsiteY101" fmla="*/ 197057 h 409576"/>
                <a:gd name="connsiteX102" fmla="*/ 360784 w 455613"/>
                <a:gd name="connsiteY102" fmla="*/ 194008 h 409576"/>
                <a:gd name="connsiteX103" fmla="*/ 362515 w 455613"/>
                <a:gd name="connsiteY103" fmla="*/ 191224 h 409576"/>
                <a:gd name="connsiteX104" fmla="*/ 364380 w 455613"/>
                <a:gd name="connsiteY104" fmla="*/ 189103 h 409576"/>
                <a:gd name="connsiteX105" fmla="*/ 389684 w 455613"/>
                <a:gd name="connsiteY105" fmla="*/ 164046 h 409576"/>
                <a:gd name="connsiteX106" fmla="*/ 391283 w 455613"/>
                <a:gd name="connsiteY106" fmla="*/ 162721 h 409576"/>
                <a:gd name="connsiteX107" fmla="*/ 392881 w 455613"/>
                <a:gd name="connsiteY107" fmla="*/ 162058 h 409576"/>
                <a:gd name="connsiteX108" fmla="*/ 290622 w 455613"/>
                <a:gd name="connsiteY108" fmla="*/ 0 h 409576"/>
                <a:gd name="connsiteX109" fmla="*/ 435205 w 455613"/>
                <a:gd name="connsiteY109" fmla="*/ 0 h 409576"/>
                <a:gd name="connsiteX110" fmla="*/ 439180 w 455613"/>
                <a:gd name="connsiteY110" fmla="*/ 395 h 409576"/>
                <a:gd name="connsiteX111" fmla="*/ 442891 w 455613"/>
                <a:gd name="connsiteY111" fmla="*/ 1581 h 409576"/>
                <a:gd name="connsiteX112" fmla="*/ 446204 w 455613"/>
                <a:gd name="connsiteY112" fmla="*/ 3426 h 409576"/>
                <a:gd name="connsiteX113" fmla="*/ 449252 w 455613"/>
                <a:gd name="connsiteY113" fmla="*/ 5798 h 409576"/>
                <a:gd name="connsiteX114" fmla="*/ 451903 w 455613"/>
                <a:gd name="connsiteY114" fmla="*/ 8697 h 409576"/>
                <a:gd name="connsiteX115" fmla="*/ 453890 w 455613"/>
                <a:gd name="connsiteY115" fmla="*/ 11991 h 409576"/>
                <a:gd name="connsiteX116" fmla="*/ 455216 w 455613"/>
                <a:gd name="connsiteY116" fmla="*/ 15549 h 409576"/>
                <a:gd name="connsiteX117" fmla="*/ 455613 w 455613"/>
                <a:gd name="connsiteY117" fmla="*/ 19239 h 409576"/>
                <a:gd name="connsiteX118" fmla="*/ 455613 w 455613"/>
                <a:gd name="connsiteY118" fmla="*/ 162870 h 409576"/>
                <a:gd name="connsiteX119" fmla="*/ 455348 w 455613"/>
                <a:gd name="connsiteY119" fmla="*/ 164978 h 409576"/>
                <a:gd name="connsiteX120" fmla="*/ 454818 w 455613"/>
                <a:gd name="connsiteY120" fmla="*/ 166559 h 409576"/>
                <a:gd name="connsiteX121" fmla="*/ 454023 w 455613"/>
                <a:gd name="connsiteY121" fmla="*/ 167482 h 409576"/>
                <a:gd name="connsiteX122" fmla="*/ 452830 w 455613"/>
                <a:gd name="connsiteY122" fmla="*/ 168009 h 409576"/>
                <a:gd name="connsiteX123" fmla="*/ 451637 w 455613"/>
                <a:gd name="connsiteY123" fmla="*/ 167877 h 409576"/>
                <a:gd name="connsiteX124" fmla="*/ 450047 w 455613"/>
                <a:gd name="connsiteY124" fmla="*/ 167086 h 409576"/>
                <a:gd name="connsiteX125" fmla="*/ 448457 w 455613"/>
                <a:gd name="connsiteY125" fmla="*/ 165769 h 409576"/>
                <a:gd name="connsiteX126" fmla="*/ 397701 w 455613"/>
                <a:gd name="connsiteY126" fmla="*/ 115695 h 409576"/>
                <a:gd name="connsiteX127" fmla="*/ 228072 w 455613"/>
                <a:gd name="connsiteY127" fmla="*/ 283309 h 409576"/>
                <a:gd name="connsiteX128" fmla="*/ 225951 w 455613"/>
                <a:gd name="connsiteY128" fmla="*/ 284890 h 409576"/>
                <a:gd name="connsiteX129" fmla="*/ 223433 w 455613"/>
                <a:gd name="connsiteY129" fmla="*/ 285944 h 409576"/>
                <a:gd name="connsiteX130" fmla="*/ 220783 w 455613"/>
                <a:gd name="connsiteY130" fmla="*/ 286208 h 409576"/>
                <a:gd name="connsiteX131" fmla="*/ 218265 w 455613"/>
                <a:gd name="connsiteY131" fmla="*/ 285944 h 409576"/>
                <a:gd name="connsiteX132" fmla="*/ 215880 w 455613"/>
                <a:gd name="connsiteY132" fmla="*/ 284890 h 409576"/>
                <a:gd name="connsiteX133" fmla="*/ 213627 w 455613"/>
                <a:gd name="connsiteY133" fmla="*/ 283309 h 409576"/>
                <a:gd name="connsiteX134" fmla="*/ 162208 w 455613"/>
                <a:gd name="connsiteY134" fmla="*/ 232445 h 409576"/>
                <a:gd name="connsiteX135" fmla="*/ 70502 w 455613"/>
                <a:gd name="connsiteY135" fmla="*/ 323235 h 409576"/>
                <a:gd name="connsiteX136" fmla="*/ 66394 w 455613"/>
                <a:gd name="connsiteY136" fmla="*/ 326793 h 409576"/>
                <a:gd name="connsiteX137" fmla="*/ 61756 w 455613"/>
                <a:gd name="connsiteY137" fmla="*/ 329561 h 409576"/>
                <a:gd name="connsiteX138" fmla="*/ 56985 w 455613"/>
                <a:gd name="connsiteY138" fmla="*/ 331932 h 409576"/>
                <a:gd name="connsiteX139" fmla="*/ 52082 w 455613"/>
                <a:gd name="connsiteY139" fmla="*/ 333645 h 409576"/>
                <a:gd name="connsiteX140" fmla="*/ 46913 w 455613"/>
                <a:gd name="connsiteY140" fmla="*/ 334568 h 409576"/>
                <a:gd name="connsiteX141" fmla="*/ 41745 w 455613"/>
                <a:gd name="connsiteY141" fmla="*/ 334963 h 409576"/>
                <a:gd name="connsiteX142" fmla="*/ 36444 w 455613"/>
                <a:gd name="connsiteY142" fmla="*/ 334568 h 409576"/>
                <a:gd name="connsiteX143" fmla="*/ 31408 w 455613"/>
                <a:gd name="connsiteY143" fmla="*/ 333645 h 409576"/>
                <a:gd name="connsiteX144" fmla="*/ 26372 w 455613"/>
                <a:gd name="connsiteY144" fmla="*/ 331932 h 409576"/>
                <a:gd name="connsiteX145" fmla="*/ 21601 w 455613"/>
                <a:gd name="connsiteY145" fmla="*/ 329561 h 409576"/>
                <a:gd name="connsiteX146" fmla="*/ 17096 w 455613"/>
                <a:gd name="connsiteY146" fmla="*/ 326793 h 409576"/>
                <a:gd name="connsiteX147" fmla="*/ 12855 w 455613"/>
                <a:gd name="connsiteY147" fmla="*/ 323235 h 409576"/>
                <a:gd name="connsiteX148" fmla="*/ 11927 w 455613"/>
                <a:gd name="connsiteY148" fmla="*/ 322050 h 409576"/>
                <a:gd name="connsiteX149" fmla="*/ 8349 w 455613"/>
                <a:gd name="connsiteY149" fmla="*/ 317965 h 409576"/>
                <a:gd name="connsiteX150" fmla="*/ 5301 w 455613"/>
                <a:gd name="connsiteY150" fmla="*/ 313616 h 409576"/>
                <a:gd name="connsiteX151" fmla="*/ 3048 w 455613"/>
                <a:gd name="connsiteY151" fmla="*/ 308741 h 409576"/>
                <a:gd name="connsiteX152" fmla="*/ 1325 w 455613"/>
                <a:gd name="connsiteY152" fmla="*/ 303865 h 409576"/>
                <a:gd name="connsiteX153" fmla="*/ 265 w 455613"/>
                <a:gd name="connsiteY153" fmla="*/ 298726 h 409576"/>
                <a:gd name="connsiteX154" fmla="*/ 0 w 455613"/>
                <a:gd name="connsiteY154" fmla="*/ 293719 h 409576"/>
                <a:gd name="connsiteX155" fmla="*/ 265 w 455613"/>
                <a:gd name="connsiteY155" fmla="*/ 288448 h 409576"/>
                <a:gd name="connsiteX156" fmla="*/ 1325 w 455613"/>
                <a:gd name="connsiteY156" fmla="*/ 283572 h 409576"/>
                <a:gd name="connsiteX157" fmla="*/ 3048 w 455613"/>
                <a:gd name="connsiteY157" fmla="*/ 278697 h 409576"/>
                <a:gd name="connsiteX158" fmla="*/ 5301 w 455613"/>
                <a:gd name="connsiteY158" fmla="*/ 273821 h 409576"/>
                <a:gd name="connsiteX159" fmla="*/ 8349 w 455613"/>
                <a:gd name="connsiteY159" fmla="*/ 269473 h 409576"/>
                <a:gd name="connsiteX160" fmla="*/ 11927 w 455613"/>
                <a:gd name="connsiteY160" fmla="*/ 265256 h 409576"/>
                <a:gd name="connsiteX161" fmla="*/ 155052 w 455613"/>
                <a:gd name="connsiteY161" fmla="*/ 123865 h 409576"/>
                <a:gd name="connsiteX162" fmla="*/ 157172 w 455613"/>
                <a:gd name="connsiteY162" fmla="*/ 122284 h 409576"/>
                <a:gd name="connsiteX163" fmla="*/ 159557 w 455613"/>
                <a:gd name="connsiteY163" fmla="*/ 121230 h 409576"/>
                <a:gd name="connsiteX164" fmla="*/ 162208 w 455613"/>
                <a:gd name="connsiteY164" fmla="*/ 120966 h 409576"/>
                <a:gd name="connsiteX165" fmla="*/ 164726 w 455613"/>
                <a:gd name="connsiteY165" fmla="*/ 121230 h 409576"/>
                <a:gd name="connsiteX166" fmla="*/ 167244 w 455613"/>
                <a:gd name="connsiteY166" fmla="*/ 122284 h 409576"/>
                <a:gd name="connsiteX167" fmla="*/ 169497 w 455613"/>
                <a:gd name="connsiteY167" fmla="*/ 123865 h 409576"/>
                <a:gd name="connsiteX168" fmla="*/ 220783 w 455613"/>
                <a:gd name="connsiteY168" fmla="*/ 174597 h 409576"/>
                <a:gd name="connsiteX169" fmla="*/ 318055 w 455613"/>
                <a:gd name="connsiteY169" fmla="*/ 78536 h 409576"/>
                <a:gd name="connsiteX170" fmla="*/ 338993 w 455613"/>
                <a:gd name="connsiteY170" fmla="*/ 57848 h 409576"/>
                <a:gd name="connsiteX171" fmla="*/ 287707 w 455613"/>
                <a:gd name="connsiteY171" fmla="*/ 7116 h 409576"/>
                <a:gd name="connsiteX172" fmla="*/ 286382 w 455613"/>
                <a:gd name="connsiteY172" fmla="*/ 5403 h 409576"/>
                <a:gd name="connsiteX173" fmla="*/ 285587 w 455613"/>
                <a:gd name="connsiteY173" fmla="*/ 3953 h 409576"/>
                <a:gd name="connsiteX174" fmla="*/ 285454 w 455613"/>
                <a:gd name="connsiteY174" fmla="*/ 2636 h 409576"/>
                <a:gd name="connsiteX175" fmla="*/ 285852 w 455613"/>
                <a:gd name="connsiteY175" fmla="*/ 1581 h 409576"/>
                <a:gd name="connsiteX176" fmla="*/ 286912 w 455613"/>
                <a:gd name="connsiteY176" fmla="*/ 791 h 409576"/>
                <a:gd name="connsiteX177" fmla="*/ 288502 w 455613"/>
                <a:gd name="connsiteY177" fmla="*/ 264 h 40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455613" h="409576">
                  <a:moveTo>
                    <a:pt x="86232" y="350838"/>
                  </a:moveTo>
                  <a:lnTo>
                    <a:pt x="87433" y="351240"/>
                  </a:lnTo>
                  <a:lnTo>
                    <a:pt x="88233" y="352313"/>
                  </a:lnTo>
                  <a:lnTo>
                    <a:pt x="88767" y="353788"/>
                  </a:lnTo>
                  <a:lnTo>
                    <a:pt x="88900" y="356068"/>
                  </a:lnTo>
                  <a:lnTo>
                    <a:pt x="88900" y="409576"/>
                  </a:lnTo>
                  <a:lnTo>
                    <a:pt x="41275" y="409576"/>
                  </a:lnTo>
                  <a:lnTo>
                    <a:pt x="41275" y="401530"/>
                  </a:lnTo>
                  <a:lnTo>
                    <a:pt x="41542" y="399116"/>
                  </a:lnTo>
                  <a:lnTo>
                    <a:pt x="42342" y="396568"/>
                  </a:lnTo>
                  <a:lnTo>
                    <a:pt x="43410" y="393752"/>
                  </a:lnTo>
                  <a:lnTo>
                    <a:pt x="44744" y="391070"/>
                  </a:lnTo>
                  <a:lnTo>
                    <a:pt x="46611" y="388388"/>
                  </a:lnTo>
                  <a:lnTo>
                    <a:pt x="48479" y="386376"/>
                  </a:lnTo>
                  <a:lnTo>
                    <a:pt x="62219" y="372563"/>
                  </a:lnTo>
                  <a:lnTo>
                    <a:pt x="81696" y="352984"/>
                  </a:lnTo>
                  <a:lnTo>
                    <a:pt x="83297" y="351643"/>
                  </a:lnTo>
                  <a:lnTo>
                    <a:pt x="84898" y="350972"/>
                  </a:lnTo>
                  <a:close/>
                  <a:moveTo>
                    <a:pt x="148113" y="290513"/>
                  </a:moveTo>
                  <a:lnTo>
                    <a:pt x="149142" y="291039"/>
                  </a:lnTo>
                  <a:lnTo>
                    <a:pt x="149913" y="291960"/>
                  </a:lnTo>
                  <a:lnTo>
                    <a:pt x="150427" y="293671"/>
                  </a:lnTo>
                  <a:lnTo>
                    <a:pt x="150813" y="295644"/>
                  </a:lnTo>
                  <a:lnTo>
                    <a:pt x="150813" y="409576"/>
                  </a:lnTo>
                  <a:lnTo>
                    <a:pt x="109538" y="409576"/>
                  </a:lnTo>
                  <a:lnTo>
                    <a:pt x="109538" y="337481"/>
                  </a:lnTo>
                  <a:lnTo>
                    <a:pt x="109667" y="334718"/>
                  </a:lnTo>
                  <a:lnTo>
                    <a:pt x="110438" y="331560"/>
                  </a:lnTo>
                  <a:lnTo>
                    <a:pt x="111595" y="328403"/>
                  </a:lnTo>
                  <a:lnTo>
                    <a:pt x="112881" y="325377"/>
                  </a:lnTo>
                  <a:lnTo>
                    <a:pt x="114681" y="322614"/>
                  </a:lnTo>
                  <a:lnTo>
                    <a:pt x="116482" y="320378"/>
                  </a:lnTo>
                  <a:lnTo>
                    <a:pt x="143741" y="292750"/>
                  </a:lnTo>
                  <a:lnTo>
                    <a:pt x="145413" y="291434"/>
                  </a:lnTo>
                  <a:lnTo>
                    <a:pt x="146827" y="290645"/>
                  </a:lnTo>
                  <a:close/>
                  <a:moveTo>
                    <a:pt x="174022" y="287338"/>
                  </a:moveTo>
                  <a:lnTo>
                    <a:pt x="175436" y="287471"/>
                  </a:lnTo>
                  <a:lnTo>
                    <a:pt x="176851" y="288136"/>
                  </a:lnTo>
                  <a:lnTo>
                    <a:pt x="178522" y="289599"/>
                  </a:lnTo>
                  <a:lnTo>
                    <a:pt x="199481" y="311147"/>
                  </a:lnTo>
                  <a:lnTo>
                    <a:pt x="206039" y="317931"/>
                  </a:lnTo>
                  <a:lnTo>
                    <a:pt x="207839" y="320059"/>
                  </a:lnTo>
                  <a:lnTo>
                    <a:pt x="209382" y="322719"/>
                  </a:lnTo>
                  <a:lnTo>
                    <a:pt x="210668" y="325646"/>
                  </a:lnTo>
                  <a:lnTo>
                    <a:pt x="211696" y="328705"/>
                  </a:lnTo>
                  <a:lnTo>
                    <a:pt x="212468" y="331897"/>
                  </a:lnTo>
                  <a:lnTo>
                    <a:pt x="212725" y="334823"/>
                  </a:lnTo>
                  <a:lnTo>
                    <a:pt x="212725" y="409576"/>
                  </a:lnTo>
                  <a:lnTo>
                    <a:pt x="171450" y="409576"/>
                  </a:lnTo>
                  <a:lnTo>
                    <a:pt x="171450" y="292659"/>
                  </a:lnTo>
                  <a:lnTo>
                    <a:pt x="171579" y="290397"/>
                  </a:lnTo>
                  <a:lnTo>
                    <a:pt x="172222" y="288934"/>
                  </a:lnTo>
                  <a:lnTo>
                    <a:pt x="172993" y="287737"/>
                  </a:lnTo>
                  <a:close/>
                  <a:moveTo>
                    <a:pt x="271938" y="282575"/>
                  </a:moveTo>
                  <a:lnTo>
                    <a:pt x="273095" y="283105"/>
                  </a:lnTo>
                  <a:lnTo>
                    <a:pt x="273995" y="284033"/>
                  </a:lnTo>
                  <a:lnTo>
                    <a:pt x="274510" y="285757"/>
                  </a:lnTo>
                  <a:lnTo>
                    <a:pt x="274638" y="287745"/>
                  </a:lnTo>
                  <a:lnTo>
                    <a:pt x="274638" y="409575"/>
                  </a:lnTo>
                  <a:lnTo>
                    <a:pt x="233363" y="409575"/>
                  </a:lnTo>
                  <a:lnTo>
                    <a:pt x="233363" y="329902"/>
                  </a:lnTo>
                  <a:lnTo>
                    <a:pt x="233620" y="326588"/>
                  </a:lnTo>
                  <a:lnTo>
                    <a:pt x="234263" y="323141"/>
                  </a:lnTo>
                  <a:lnTo>
                    <a:pt x="235035" y="320224"/>
                  </a:lnTo>
                  <a:lnTo>
                    <a:pt x="236192" y="317573"/>
                  </a:lnTo>
                  <a:lnTo>
                    <a:pt x="237478" y="315585"/>
                  </a:lnTo>
                  <a:lnTo>
                    <a:pt x="238764" y="314391"/>
                  </a:lnTo>
                  <a:lnTo>
                    <a:pt x="239921" y="313066"/>
                  </a:lnTo>
                  <a:lnTo>
                    <a:pt x="240821" y="312138"/>
                  </a:lnTo>
                  <a:lnTo>
                    <a:pt x="241335" y="311607"/>
                  </a:lnTo>
                  <a:lnTo>
                    <a:pt x="241592" y="311475"/>
                  </a:lnTo>
                  <a:lnTo>
                    <a:pt x="267566" y="284829"/>
                  </a:lnTo>
                  <a:lnTo>
                    <a:pt x="269238" y="283503"/>
                  </a:lnTo>
                  <a:lnTo>
                    <a:pt x="270781" y="282708"/>
                  </a:lnTo>
                  <a:close/>
                  <a:moveTo>
                    <a:pt x="335459" y="220663"/>
                  </a:moveTo>
                  <a:lnTo>
                    <a:pt x="336665" y="221061"/>
                  </a:lnTo>
                  <a:lnTo>
                    <a:pt x="337468" y="221990"/>
                  </a:lnTo>
                  <a:lnTo>
                    <a:pt x="338004" y="223714"/>
                  </a:lnTo>
                  <a:lnTo>
                    <a:pt x="338138" y="225704"/>
                  </a:lnTo>
                  <a:lnTo>
                    <a:pt x="338138" y="409576"/>
                  </a:lnTo>
                  <a:lnTo>
                    <a:pt x="295275" y="409576"/>
                  </a:lnTo>
                  <a:lnTo>
                    <a:pt x="295275" y="268157"/>
                  </a:lnTo>
                  <a:lnTo>
                    <a:pt x="295543" y="265238"/>
                  </a:lnTo>
                  <a:lnTo>
                    <a:pt x="296213" y="262054"/>
                  </a:lnTo>
                  <a:lnTo>
                    <a:pt x="297284" y="258870"/>
                  </a:lnTo>
                  <a:lnTo>
                    <a:pt x="298892" y="255819"/>
                  </a:lnTo>
                  <a:lnTo>
                    <a:pt x="300499" y="253033"/>
                  </a:lnTo>
                  <a:lnTo>
                    <a:pt x="302508" y="250910"/>
                  </a:lnTo>
                  <a:lnTo>
                    <a:pt x="330905" y="222786"/>
                  </a:lnTo>
                  <a:lnTo>
                    <a:pt x="332512" y="221459"/>
                  </a:lnTo>
                  <a:lnTo>
                    <a:pt x="334120" y="220796"/>
                  </a:lnTo>
                  <a:close/>
                  <a:moveTo>
                    <a:pt x="394079" y="161925"/>
                  </a:moveTo>
                  <a:lnTo>
                    <a:pt x="395278" y="162323"/>
                  </a:lnTo>
                  <a:lnTo>
                    <a:pt x="396077" y="163383"/>
                  </a:lnTo>
                  <a:lnTo>
                    <a:pt x="396610" y="164974"/>
                  </a:lnTo>
                  <a:lnTo>
                    <a:pt x="396876" y="167096"/>
                  </a:lnTo>
                  <a:lnTo>
                    <a:pt x="396876" y="409575"/>
                  </a:lnTo>
                  <a:lnTo>
                    <a:pt x="357188" y="409575"/>
                  </a:lnTo>
                  <a:lnTo>
                    <a:pt x="357188" y="206338"/>
                  </a:lnTo>
                  <a:lnTo>
                    <a:pt x="357454" y="203421"/>
                  </a:lnTo>
                  <a:lnTo>
                    <a:pt x="358120" y="200239"/>
                  </a:lnTo>
                  <a:lnTo>
                    <a:pt x="359319" y="197057"/>
                  </a:lnTo>
                  <a:lnTo>
                    <a:pt x="360784" y="194008"/>
                  </a:lnTo>
                  <a:lnTo>
                    <a:pt x="362515" y="191224"/>
                  </a:lnTo>
                  <a:lnTo>
                    <a:pt x="364380" y="189103"/>
                  </a:lnTo>
                  <a:lnTo>
                    <a:pt x="389684" y="164046"/>
                  </a:lnTo>
                  <a:lnTo>
                    <a:pt x="391283" y="162721"/>
                  </a:lnTo>
                  <a:lnTo>
                    <a:pt x="392881" y="162058"/>
                  </a:lnTo>
                  <a:close/>
                  <a:moveTo>
                    <a:pt x="290622" y="0"/>
                  </a:moveTo>
                  <a:lnTo>
                    <a:pt x="435205" y="0"/>
                  </a:lnTo>
                  <a:lnTo>
                    <a:pt x="439180" y="395"/>
                  </a:lnTo>
                  <a:lnTo>
                    <a:pt x="442891" y="1581"/>
                  </a:lnTo>
                  <a:lnTo>
                    <a:pt x="446204" y="3426"/>
                  </a:lnTo>
                  <a:lnTo>
                    <a:pt x="449252" y="5798"/>
                  </a:lnTo>
                  <a:lnTo>
                    <a:pt x="451903" y="8697"/>
                  </a:lnTo>
                  <a:lnTo>
                    <a:pt x="453890" y="11991"/>
                  </a:lnTo>
                  <a:lnTo>
                    <a:pt x="455216" y="15549"/>
                  </a:lnTo>
                  <a:lnTo>
                    <a:pt x="455613" y="19239"/>
                  </a:lnTo>
                  <a:lnTo>
                    <a:pt x="455613" y="162870"/>
                  </a:lnTo>
                  <a:lnTo>
                    <a:pt x="455348" y="164978"/>
                  </a:lnTo>
                  <a:lnTo>
                    <a:pt x="454818" y="166559"/>
                  </a:lnTo>
                  <a:lnTo>
                    <a:pt x="454023" y="167482"/>
                  </a:lnTo>
                  <a:lnTo>
                    <a:pt x="452830" y="168009"/>
                  </a:lnTo>
                  <a:lnTo>
                    <a:pt x="451637" y="167877"/>
                  </a:lnTo>
                  <a:lnTo>
                    <a:pt x="450047" y="167086"/>
                  </a:lnTo>
                  <a:lnTo>
                    <a:pt x="448457" y="165769"/>
                  </a:lnTo>
                  <a:lnTo>
                    <a:pt x="397701" y="115695"/>
                  </a:lnTo>
                  <a:lnTo>
                    <a:pt x="228072" y="283309"/>
                  </a:lnTo>
                  <a:lnTo>
                    <a:pt x="225951" y="284890"/>
                  </a:lnTo>
                  <a:lnTo>
                    <a:pt x="223433" y="285944"/>
                  </a:lnTo>
                  <a:lnTo>
                    <a:pt x="220783" y="286208"/>
                  </a:lnTo>
                  <a:lnTo>
                    <a:pt x="218265" y="285944"/>
                  </a:lnTo>
                  <a:lnTo>
                    <a:pt x="215880" y="284890"/>
                  </a:lnTo>
                  <a:lnTo>
                    <a:pt x="213627" y="283309"/>
                  </a:lnTo>
                  <a:lnTo>
                    <a:pt x="162208" y="232445"/>
                  </a:lnTo>
                  <a:lnTo>
                    <a:pt x="70502" y="323235"/>
                  </a:lnTo>
                  <a:lnTo>
                    <a:pt x="66394" y="326793"/>
                  </a:lnTo>
                  <a:lnTo>
                    <a:pt x="61756" y="329561"/>
                  </a:lnTo>
                  <a:lnTo>
                    <a:pt x="56985" y="331932"/>
                  </a:lnTo>
                  <a:lnTo>
                    <a:pt x="52082" y="333645"/>
                  </a:lnTo>
                  <a:lnTo>
                    <a:pt x="46913" y="334568"/>
                  </a:lnTo>
                  <a:lnTo>
                    <a:pt x="41745" y="334963"/>
                  </a:lnTo>
                  <a:lnTo>
                    <a:pt x="36444" y="334568"/>
                  </a:lnTo>
                  <a:lnTo>
                    <a:pt x="31408" y="333645"/>
                  </a:lnTo>
                  <a:lnTo>
                    <a:pt x="26372" y="331932"/>
                  </a:lnTo>
                  <a:lnTo>
                    <a:pt x="21601" y="329561"/>
                  </a:lnTo>
                  <a:lnTo>
                    <a:pt x="17096" y="326793"/>
                  </a:lnTo>
                  <a:lnTo>
                    <a:pt x="12855" y="323235"/>
                  </a:lnTo>
                  <a:lnTo>
                    <a:pt x="11927" y="322050"/>
                  </a:lnTo>
                  <a:lnTo>
                    <a:pt x="8349" y="317965"/>
                  </a:lnTo>
                  <a:lnTo>
                    <a:pt x="5301" y="313616"/>
                  </a:lnTo>
                  <a:lnTo>
                    <a:pt x="3048" y="308741"/>
                  </a:lnTo>
                  <a:lnTo>
                    <a:pt x="1325" y="303865"/>
                  </a:lnTo>
                  <a:lnTo>
                    <a:pt x="265" y="298726"/>
                  </a:lnTo>
                  <a:lnTo>
                    <a:pt x="0" y="293719"/>
                  </a:lnTo>
                  <a:lnTo>
                    <a:pt x="265" y="288448"/>
                  </a:lnTo>
                  <a:lnTo>
                    <a:pt x="1325" y="283572"/>
                  </a:lnTo>
                  <a:lnTo>
                    <a:pt x="3048" y="278697"/>
                  </a:lnTo>
                  <a:lnTo>
                    <a:pt x="5301" y="273821"/>
                  </a:lnTo>
                  <a:lnTo>
                    <a:pt x="8349" y="269473"/>
                  </a:lnTo>
                  <a:lnTo>
                    <a:pt x="11927" y="265256"/>
                  </a:lnTo>
                  <a:lnTo>
                    <a:pt x="155052" y="123865"/>
                  </a:lnTo>
                  <a:lnTo>
                    <a:pt x="157172" y="122284"/>
                  </a:lnTo>
                  <a:lnTo>
                    <a:pt x="159557" y="121230"/>
                  </a:lnTo>
                  <a:lnTo>
                    <a:pt x="162208" y="120966"/>
                  </a:lnTo>
                  <a:lnTo>
                    <a:pt x="164726" y="121230"/>
                  </a:lnTo>
                  <a:lnTo>
                    <a:pt x="167244" y="122284"/>
                  </a:lnTo>
                  <a:lnTo>
                    <a:pt x="169497" y="123865"/>
                  </a:lnTo>
                  <a:lnTo>
                    <a:pt x="220783" y="174597"/>
                  </a:lnTo>
                  <a:lnTo>
                    <a:pt x="318055" y="78536"/>
                  </a:lnTo>
                  <a:lnTo>
                    <a:pt x="338993" y="57848"/>
                  </a:lnTo>
                  <a:lnTo>
                    <a:pt x="287707" y="7116"/>
                  </a:lnTo>
                  <a:lnTo>
                    <a:pt x="286382" y="5403"/>
                  </a:lnTo>
                  <a:lnTo>
                    <a:pt x="285587" y="3953"/>
                  </a:lnTo>
                  <a:lnTo>
                    <a:pt x="285454" y="2636"/>
                  </a:lnTo>
                  <a:lnTo>
                    <a:pt x="285852" y="1581"/>
                  </a:lnTo>
                  <a:lnTo>
                    <a:pt x="286912" y="791"/>
                  </a:lnTo>
                  <a:lnTo>
                    <a:pt x="288502" y="264"/>
                  </a:lnTo>
                  <a:close/>
                </a:path>
              </a:pathLst>
            </a:custGeom>
            <a:solidFill>
              <a:schemeClr val="bg1"/>
            </a:solidFill>
            <a:ln w="0">
              <a:noFill/>
              <a:prstDash val="solid"/>
              <a:round/>
            </a:ln>
          </p:spPr>
          <p:txBody>
            <a:bodyPr vert="horz" wrap="square" lIns="91440" tIns="45720" rIns="91440" bIns="45720" numCol="1" anchor="t" anchorCtr="0" compatLnSpc="1">
              <a:noAutofit/>
            </a:bodyPr>
            <a:lstStyle/>
            <a:p>
              <a:pPr marL="0" marR="0" lvl="0" indent="0" algn="l" defTabSz="914400" rtl="0" eaLnBrk="1" fontAlgn="auto" latinLnBrk="0" hangingPunct="1">
                <a:spcBef>
                  <a:spcPts val="0"/>
                </a:spcBef>
                <a:spcAft>
                  <a:spcPts val="0"/>
                </a:spcAft>
                <a:buClrTx/>
                <a:buSzTx/>
                <a:buFontTx/>
                <a:buNone/>
                <a:defRPr/>
              </a:pPr>
              <a:endParaRPr kumimoji="0" lang="en-IN" sz="2800" b="0" i="0" u="none" strike="noStrike" kern="1200" cap="none" spc="0" normalizeH="0" baseline="0" noProof="0" dirty="0">
                <a:ln>
                  <a:noFill/>
                </a:ln>
                <a:solidFill>
                  <a:prstClr val="white">
                    <a:lumMod val="50000"/>
                  </a:prstClr>
                </a:solidFill>
                <a:effectLst/>
                <a:uLnTx/>
                <a:uFillTx/>
                <a:cs typeface="+mn-ea"/>
                <a:sym typeface="+mn-lt"/>
              </a:endParaRPr>
            </a:p>
          </p:txBody>
        </p:sp>
      </p:grpSp>
      <p:sp>
        <p:nvSpPr>
          <p:cNvPr id="13" name="文本框 16"/>
          <p:cNvSpPr txBox="1"/>
          <p:nvPr/>
        </p:nvSpPr>
        <p:spPr>
          <a:xfrm>
            <a:off x="1938655" y="1473200"/>
            <a:ext cx="9789795" cy="2030095"/>
          </a:xfrm>
          <a:prstGeom prst="rect">
            <a:avLst/>
          </a:prstGeom>
          <a:noFill/>
        </p:spPr>
        <p:txBody>
          <a:bodyPr wrap="square" rtlCol="0">
            <a:spAutoFit/>
          </a:bodyPr>
          <a:lstStyle/>
          <a:p>
            <a:r>
              <a:rPr lang="en-US" altLang="zh-CN" dirty="0"/>
              <a:t>《</a:t>
            </a:r>
            <a:r>
              <a:rPr lang="zh-CN" altLang="en-US" dirty="0"/>
              <a:t>卫生部办公厅关于全面开展卫生行业信息安全等级保护工作的通知</a:t>
            </a:r>
            <a:r>
              <a:rPr lang="en-US" altLang="zh-CN" dirty="0"/>
              <a:t>》</a:t>
            </a:r>
            <a:r>
              <a:rPr lang="zh-CN" altLang="en-US" dirty="0"/>
              <a:t>（卫生部办公厅）</a:t>
            </a:r>
            <a:endParaRPr lang="en-US" altLang="zh-CN" dirty="0"/>
          </a:p>
          <a:p>
            <a:r>
              <a:rPr lang="en-US" altLang="zh-CN" dirty="0"/>
              <a:t>1</a:t>
            </a:r>
            <a:r>
              <a:rPr lang="zh-CN" altLang="en-US" dirty="0"/>
              <a:t>、</a:t>
            </a:r>
            <a:r>
              <a:rPr lang="en-US" altLang="zh-CN" dirty="0"/>
              <a:t>HIS</a:t>
            </a:r>
            <a:r>
              <a:rPr lang="zh-CN" altLang="en-US" dirty="0"/>
              <a:t>系统</a:t>
            </a:r>
            <a:endParaRPr lang="en-US" altLang="zh-CN" dirty="0"/>
          </a:p>
          <a:p>
            <a:r>
              <a:rPr lang="en-US" altLang="zh-CN" dirty="0"/>
              <a:t>2</a:t>
            </a:r>
            <a:r>
              <a:rPr lang="zh-CN" altLang="en-US" dirty="0"/>
              <a:t>、</a:t>
            </a:r>
            <a:r>
              <a:rPr lang="en-US" altLang="zh-CN" dirty="0"/>
              <a:t>LIS</a:t>
            </a:r>
            <a:r>
              <a:rPr lang="zh-CN" altLang="en-US" dirty="0"/>
              <a:t>系统</a:t>
            </a:r>
            <a:endParaRPr lang="en-US" altLang="zh-CN" dirty="0"/>
          </a:p>
          <a:p>
            <a:r>
              <a:rPr lang="en-US" altLang="zh-CN" dirty="0"/>
              <a:t>3</a:t>
            </a:r>
            <a:r>
              <a:rPr lang="zh-CN" altLang="en-US" dirty="0"/>
              <a:t>、</a:t>
            </a:r>
            <a:r>
              <a:rPr lang="en-US" altLang="zh-CN" dirty="0"/>
              <a:t>EMR</a:t>
            </a:r>
            <a:r>
              <a:rPr lang="zh-CN" altLang="en-US" dirty="0"/>
              <a:t>系统</a:t>
            </a:r>
            <a:endParaRPr lang="en-US" altLang="zh-CN" dirty="0"/>
          </a:p>
          <a:p>
            <a:r>
              <a:rPr lang="en-US" altLang="zh-CN" dirty="0"/>
              <a:t>4</a:t>
            </a:r>
            <a:r>
              <a:rPr lang="zh-CN" altLang="en-US" dirty="0"/>
              <a:t>、</a:t>
            </a:r>
            <a:r>
              <a:rPr lang="en-US" altLang="zh-CN" dirty="0"/>
              <a:t>PACS</a:t>
            </a:r>
            <a:r>
              <a:rPr lang="zh-CN" altLang="en-US" dirty="0"/>
              <a:t>系统</a:t>
            </a:r>
            <a:endParaRPr lang="en-US" altLang="zh-CN" dirty="0"/>
          </a:p>
          <a:p>
            <a:r>
              <a:rPr lang="en-US" altLang="zh-CN" dirty="0"/>
              <a:t>5</a:t>
            </a:r>
            <a:r>
              <a:rPr lang="zh-CN" altLang="en-US" dirty="0"/>
              <a:t>、办公系统</a:t>
            </a:r>
            <a:endParaRPr lang="en-US" altLang="zh-CN" dirty="0"/>
          </a:p>
          <a:p>
            <a:r>
              <a:rPr lang="en-US" altLang="zh-CN" dirty="0"/>
              <a:t>6</a:t>
            </a:r>
            <a:r>
              <a:rPr lang="zh-CN" altLang="en-US" dirty="0"/>
              <a:t>、门户网站系统</a:t>
            </a:r>
            <a:endParaRPr lang="zh-CN" altLang="en-US" dirty="0"/>
          </a:p>
        </p:txBody>
      </p:sp>
      <p:sp>
        <p:nvSpPr>
          <p:cNvPr id="14" name="文本框 17"/>
          <p:cNvSpPr txBox="1"/>
          <p:nvPr/>
        </p:nvSpPr>
        <p:spPr>
          <a:xfrm>
            <a:off x="1938283" y="3641703"/>
            <a:ext cx="7470019" cy="2976880"/>
          </a:xfrm>
          <a:prstGeom prst="rect">
            <a:avLst/>
          </a:prstGeom>
          <a:noFill/>
        </p:spPr>
        <p:txBody>
          <a:bodyPr wrap="square" rtlCol="0">
            <a:spAutoFit/>
          </a:bodyPr>
          <a:lstStyle/>
          <a:p>
            <a:pPr>
              <a:lnSpc>
                <a:spcPts val="2500"/>
              </a:lnSpc>
            </a:pPr>
            <a:r>
              <a:rPr lang="en-US" altLang="zh-CN" dirty="0"/>
              <a:t>《</a:t>
            </a:r>
            <a:r>
              <a:rPr lang="zh-CN" altLang="en-US" dirty="0"/>
              <a:t>信息安全技术  信息安全等级保护基本要求</a:t>
            </a:r>
            <a:r>
              <a:rPr lang="en-US" altLang="zh-CN" dirty="0"/>
              <a:t>》</a:t>
            </a:r>
            <a:endParaRPr lang="en-US" altLang="zh-CN" dirty="0"/>
          </a:p>
          <a:p>
            <a:pPr>
              <a:lnSpc>
                <a:spcPts val="2500"/>
              </a:lnSpc>
            </a:pPr>
            <a:r>
              <a:rPr lang="en-US" altLang="zh-CN" dirty="0"/>
              <a:t>GB/T 22239-2008</a:t>
            </a:r>
            <a:r>
              <a:rPr lang="zh-CN" altLang="en-US" dirty="0"/>
              <a:t>（国家标准管理委员会）</a:t>
            </a:r>
            <a:endParaRPr lang="en-US" altLang="zh-CN" dirty="0"/>
          </a:p>
          <a:p>
            <a:pPr>
              <a:lnSpc>
                <a:spcPts val="2500"/>
              </a:lnSpc>
            </a:pPr>
            <a:r>
              <a:rPr lang="en-US" altLang="zh-CN" dirty="0"/>
              <a:t>1</a:t>
            </a:r>
            <a:r>
              <a:rPr lang="zh-CN" altLang="en-US" dirty="0"/>
              <a:t>、门户网站</a:t>
            </a:r>
            <a:endParaRPr lang="en-US" altLang="zh-CN" dirty="0"/>
          </a:p>
          <a:p>
            <a:pPr>
              <a:lnSpc>
                <a:spcPts val="2500"/>
              </a:lnSpc>
            </a:pPr>
            <a:r>
              <a:rPr lang="en-US" altLang="zh-CN" dirty="0"/>
              <a:t>2</a:t>
            </a:r>
            <a:r>
              <a:rPr lang="zh-CN" altLang="en-US" dirty="0"/>
              <a:t>、电子政务网络</a:t>
            </a:r>
            <a:endParaRPr lang="en-US" altLang="zh-CN" dirty="0"/>
          </a:p>
          <a:p>
            <a:pPr>
              <a:lnSpc>
                <a:spcPts val="2500"/>
              </a:lnSpc>
            </a:pPr>
            <a:r>
              <a:rPr lang="en-US" altLang="zh-CN" dirty="0"/>
              <a:t>3</a:t>
            </a:r>
            <a:r>
              <a:rPr lang="zh-CN" altLang="en-US" dirty="0"/>
              <a:t>、邮件系统</a:t>
            </a:r>
            <a:endParaRPr lang="en-US" altLang="zh-CN" dirty="0"/>
          </a:p>
          <a:p>
            <a:pPr>
              <a:lnSpc>
                <a:spcPts val="2500"/>
              </a:lnSpc>
            </a:pPr>
            <a:r>
              <a:rPr lang="en-US" altLang="zh-CN" dirty="0"/>
              <a:t>4</a:t>
            </a:r>
            <a:r>
              <a:rPr lang="zh-CN" altLang="en-US" dirty="0"/>
              <a:t>、应急管理系统</a:t>
            </a:r>
            <a:endParaRPr lang="en-US" altLang="zh-CN" dirty="0"/>
          </a:p>
          <a:p>
            <a:pPr>
              <a:lnSpc>
                <a:spcPts val="2500"/>
              </a:lnSpc>
            </a:pPr>
            <a:r>
              <a:rPr lang="en-US" altLang="zh-CN" dirty="0"/>
              <a:t>5</a:t>
            </a:r>
            <a:r>
              <a:rPr lang="zh-CN" altLang="en-US" dirty="0"/>
              <a:t>、数字城管系统</a:t>
            </a:r>
            <a:endParaRPr lang="en-US" altLang="zh-CN" dirty="0"/>
          </a:p>
          <a:p>
            <a:pPr>
              <a:lnSpc>
                <a:spcPts val="2500"/>
              </a:lnSpc>
            </a:pPr>
            <a:r>
              <a:rPr lang="en-US" altLang="zh-CN" dirty="0"/>
              <a:t>6</a:t>
            </a:r>
            <a:r>
              <a:rPr lang="zh-CN" altLang="en-US" dirty="0"/>
              <a:t>、公共资源交易系统</a:t>
            </a:r>
            <a:endParaRPr lang="en-US" altLang="zh-CN" dirty="0"/>
          </a:p>
          <a:p>
            <a:pPr>
              <a:lnSpc>
                <a:spcPts val="2500"/>
              </a:lnSpc>
            </a:pPr>
            <a:r>
              <a:rPr lang="en-US" altLang="zh-CN" dirty="0"/>
              <a:t>7</a:t>
            </a:r>
            <a:r>
              <a:rPr lang="zh-CN" altLang="en-US" dirty="0"/>
              <a:t>、大数据云计算中心</a:t>
            </a:r>
            <a:endParaRPr lang="en-US" altLang="zh-CN" dirty="0"/>
          </a:p>
        </p:txBody>
      </p:sp>
    </p:spTree>
    <p:custDataLst>
      <p:tags r:id="rId2"/>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txBox="1">
            <a:spLocks noGrp="1"/>
          </p:cNvSpPr>
          <p:nvPr>
            <p:ph type="title"/>
          </p:nvPr>
        </p:nvSpPr>
        <p:spPr>
          <a:xfrm>
            <a:off x="248387" y="172085"/>
            <a:ext cx="8647224" cy="632926"/>
          </a:xfrm>
          <a:prstGeom prst="rect">
            <a:avLst/>
          </a:prstGeom>
        </p:spPr>
        <p:txBody>
          <a:bodyPr vert="horz" wrap="square" lIns="0" tIns="147023" rIns="0" bIns="0" rtlCol="0">
            <a:noAutofit/>
          </a:bodyPr>
          <a:lstStyle/>
          <a:p>
            <a:pPr marL="448945">
              <a:lnSpc>
                <a:spcPct val="100000"/>
              </a:lnSpc>
            </a:pPr>
            <a:r>
              <a:rPr lang="zh-CN" altLang="en-US" sz="28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信息系统定级依据</a:t>
            </a:r>
            <a:endParaRPr sz="28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Group 81" descr="e7d195523061f1c021b92b3d25e54ab5e788c0576048880950C3AFFA1066A7153250F1349197BA8C5246BA9D557EC0274B8DA272D2431748978789E76D2CD7D1F11E7447C1D163F5D9CA1CD35DC7B6F0BB9237EE4B0D7ABCBCFF7D0CF688DED91A1FAA3FF605C63B75DEB3C6F72C375F09B1A3C86C0D92F026B9DFA34810B545F19B41AAA637C7BDD1EF44226E98F9D1"/>
          <p:cNvGrpSpPr/>
          <p:nvPr/>
        </p:nvGrpSpPr>
        <p:grpSpPr>
          <a:xfrm>
            <a:off x="1100647" y="1356295"/>
            <a:ext cx="554352" cy="554352"/>
            <a:chOff x="8390573" y="2363064"/>
            <a:chExt cx="855596" cy="855596"/>
          </a:xfrm>
        </p:grpSpPr>
        <p:sp>
          <p:nvSpPr>
            <p:cNvPr id="8" name="Oval 82"/>
            <p:cNvSpPr/>
            <p:nvPr/>
          </p:nvSpPr>
          <p:spPr>
            <a:xfrm>
              <a:off x="8390573" y="2363064"/>
              <a:ext cx="855596" cy="85559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32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9" name="Freeform 6"/>
            <p:cNvSpPr>
              <a:spLocks noEditPoints="1"/>
            </p:cNvSpPr>
            <p:nvPr/>
          </p:nvSpPr>
          <p:spPr bwMode="auto">
            <a:xfrm>
              <a:off x="8619741" y="2594772"/>
              <a:ext cx="397260" cy="443060"/>
            </a:xfrm>
            <a:custGeom>
              <a:avLst/>
              <a:gdLst>
                <a:gd name="T0" fmla="*/ 2085 w 3189"/>
                <a:gd name="T1" fmla="*/ 914 h 3556"/>
                <a:gd name="T2" fmla="*/ 1369 w 3189"/>
                <a:gd name="T3" fmla="*/ 1616 h 3556"/>
                <a:gd name="T4" fmla="*/ 1104 w 3189"/>
                <a:gd name="T5" fmla="*/ 1366 h 3556"/>
                <a:gd name="T6" fmla="*/ 1029 w 3189"/>
                <a:gd name="T7" fmla="*/ 1358 h 3556"/>
                <a:gd name="T8" fmla="*/ 963 w 3189"/>
                <a:gd name="T9" fmla="*/ 1394 h 3556"/>
                <a:gd name="T10" fmla="*/ 860 w 3189"/>
                <a:gd name="T11" fmla="*/ 1511 h 3556"/>
                <a:gd name="T12" fmla="*/ 853 w 3189"/>
                <a:gd name="T13" fmla="*/ 1584 h 3556"/>
                <a:gd name="T14" fmla="*/ 888 w 3189"/>
                <a:gd name="T15" fmla="*/ 1650 h 3556"/>
                <a:gd name="T16" fmla="*/ 1320 w 3189"/>
                <a:gd name="T17" fmla="*/ 2068 h 3556"/>
                <a:gd name="T18" fmla="*/ 1395 w 3189"/>
                <a:gd name="T19" fmla="*/ 2076 h 3556"/>
                <a:gd name="T20" fmla="*/ 1460 w 3189"/>
                <a:gd name="T21" fmla="*/ 2040 h 3556"/>
                <a:gd name="T22" fmla="*/ 2330 w 3189"/>
                <a:gd name="T23" fmla="*/ 1157 h 3556"/>
                <a:gd name="T24" fmla="*/ 2336 w 3189"/>
                <a:gd name="T25" fmla="*/ 1085 h 3556"/>
                <a:gd name="T26" fmla="*/ 2301 w 3189"/>
                <a:gd name="T27" fmla="*/ 1018 h 3556"/>
                <a:gd name="T28" fmla="*/ 2184 w 3189"/>
                <a:gd name="T29" fmla="*/ 914 h 3556"/>
                <a:gd name="T30" fmla="*/ 1595 w 3189"/>
                <a:gd name="T31" fmla="*/ 0 h 3556"/>
                <a:gd name="T32" fmla="*/ 1943 w 3189"/>
                <a:gd name="T33" fmla="*/ 11 h 3556"/>
                <a:gd name="T34" fmla="*/ 2242 w 3189"/>
                <a:gd name="T35" fmla="*/ 39 h 3556"/>
                <a:gd name="T36" fmla="*/ 2493 w 3189"/>
                <a:gd name="T37" fmla="*/ 79 h 3556"/>
                <a:gd name="T38" fmla="*/ 2699 w 3189"/>
                <a:gd name="T39" fmla="*/ 127 h 3556"/>
                <a:gd name="T40" fmla="*/ 2860 w 3189"/>
                <a:gd name="T41" fmla="*/ 175 h 3556"/>
                <a:gd name="T42" fmla="*/ 2978 w 3189"/>
                <a:gd name="T43" fmla="*/ 220 h 3556"/>
                <a:gd name="T44" fmla="*/ 3056 w 3189"/>
                <a:gd name="T45" fmla="*/ 255 h 3556"/>
                <a:gd name="T46" fmla="*/ 3094 w 3189"/>
                <a:gd name="T47" fmla="*/ 275 h 3556"/>
                <a:gd name="T48" fmla="*/ 3142 w 3189"/>
                <a:gd name="T49" fmla="*/ 315 h 3556"/>
                <a:gd name="T50" fmla="*/ 3182 w 3189"/>
                <a:gd name="T51" fmla="*/ 390 h 3556"/>
                <a:gd name="T52" fmla="*/ 3189 w 3189"/>
                <a:gd name="T53" fmla="*/ 455 h 3556"/>
                <a:gd name="T54" fmla="*/ 3184 w 3189"/>
                <a:gd name="T55" fmla="*/ 520 h 3556"/>
                <a:gd name="T56" fmla="*/ 3171 w 3189"/>
                <a:gd name="T57" fmla="*/ 643 h 3556"/>
                <a:gd name="T58" fmla="*/ 3149 w 3189"/>
                <a:gd name="T59" fmla="*/ 819 h 3556"/>
                <a:gd name="T60" fmla="*/ 3110 w 3189"/>
                <a:gd name="T61" fmla="*/ 1037 h 3556"/>
                <a:gd name="T62" fmla="*/ 3053 w 3189"/>
                <a:gd name="T63" fmla="*/ 1292 h 3556"/>
                <a:gd name="T64" fmla="*/ 2975 w 3189"/>
                <a:gd name="T65" fmla="*/ 1574 h 3556"/>
                <a:gd name="T66" fmla="*/ 2811 w 3189"/>
                <a:gd name="T67" fmla="*/ 2026 h 3556"/>
                <a:gd name="T68" fmla="*/ 2610 w 3189"/>
                <a:gd name="T69" fmla="*/ 2444 h 3556"/>
                <a:gd name="T70" fmla="*/ 2377 w 3189"/>
                <a:gd name="T71" fmla="*/ 2816 h 3556"/>
                <a:gd name="T72" fmla="*/ 2112 w 3189"/>
                <a:gd name="T73" fmla="*/ 3145 h 3556"/>
                <a:gd name="T74" fmla="*/ 1817 w 3189"/>
                <a:gd name="T75" fmla="*/ 3431 h 3556"/>
                <a:gd name="T76" fmla="*/ 1656 w 3189"/>
                <a:gd name="T77" fmla="*/ 3546 h 3556"/>
                <a:gd name="T78" fmla="*/ 1564 w 3189"/>
                <a:gd name="T79" fmla="*/ 3554 h 3556"/>
                <a:gd name="T80" fmla="*/ 1478 w 3189"/>
                <a:gd name="T81" fmla="*/ 3516 h 3556"/>
                <a:gd name="T82" fmla="*/ 1172 w 3189"/>
                <a:gd name="T83" fmla="*/ 3245 h 3556"/>
                <a:gd name="T84" fmla="*/ 897 w 3189"/>
                <a:gd name="T85" fmla="*/ 2930 h 3556"/>
                <a:gd name="T86" fmla="*/ 654 w 3189"/>
                <a:gd name="T87" fmla="*/ 2573 h 3556"/>
                <a:gd name="T88" fmla="*/ 441 w 3189"/>
                <a:gd name="T89" fmla="*/ 2170 h 3556"/>
                <a:gd name="T90" fmla="*/ 265 w 3189"/>
                <a:gd name="T91" fmla="*/ 1729 h 3556"/>
                <a:gd name="T92" fmla="*/ 160 w 3189"/>
                <a:gd name="T93" fmla="*/ 1383 h 3556"/>
                <a:gd name="T94" fmla="*/ 96 w 3189"/>
                <a:gd name="T95" fmla="*/ 1119 h 3556"/>
                <a:gd name="T96" fmla="*/ 52 w 3189"/>
                <a:gd name="T97" fmla="*/ 887 h 3556"/>
                <a:gd name="T98" fmla="*/ 24 w 3189"/>
                <a:gd name="T99" fmla="*/ 696 h 3556"/>
                <a:gd name="T100" fmla="*/ 8 w 3189"/>
                <a:gd name="T101" fmla="*/ 555 h 3556"/>
                <a:gd name="T102" fmla="*/ 1 w 3189"/>
                <a:gd name="T103" fmla="*/ 469 h 3556"/>
                <a:gd name="T104" fmla="*/ 1 w 3189"/>
                <a:gd name="T105" fmla="*/ 419 h 3556"/>
                <a:gd name="T106" fmla="*/ 29 w 3189"/>
                <a:gd name="T107" fmla="*/ 339 h 3556"/>
                <a:gd name="T108" fmla="*/ 91 w 3189"/>
                <a:gd name="T109" fmla="*/ 278 h 3556"/>
                <a:gd name="T110" fmla="*/ 117 w 3189"/>
                <a:gd name="T111" fmla="*/ 264 h 3556"/>
                <a:gd name="T112" fmla="*/ 181 w 3189"/>
                <a:gd name="T113" fmla="*/ 233 h 3556"/>
                <a:gd name="T114" fmla="*/ 286 w 3189"/>
                <a:gd name="T115" fmla="*/ 190 h 3556"/>
                <a:gd name="T116" fmla="*/ 433 w 3189"/>
                <a:gd name="T117" fmla="*/ 143 h 3556"/>
                <a:gd name="T118" fmla="*/ 623 w 3189"/>
                <a:gd name="T119" fmla="*/ 94 h 3556"/>
                <a:gd name="T120" fmla="*/ 858 w 3189"/>
                <a:gd name="T121" fmla="*/ 51 h 3556"/>
                <a:gd name="T122" fmla="*/ 1142 w 3189"/>
                <a:gd name="T123" fmla="*/ 18 h 3556"/>
                <a:gd name="T124" fmla="*/ 1473 w 3189"/>
                <a:gd name="T125" fmla="*/ 1 h 3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89" h="3556">
                  <a:moveTo>
                    <a:pt x="2135" y="904"/>
                  </a:moveTo>
                  <a:lnTo>
                    <a:pt x="2109" y="907"/>
                  </a:lnTo>
                  <a:lnTo>
                    <a:pt x="2085" y="914"/>
                  </a:lnTo>
                  <a:lnTo>
                    <a:pt x="2063" y="926"/>
                  </a:lnTo>
                  <a:lnTo>
                    <a:pt x="2043" y="942"/>
                  </a:lnTo>
                  <a:lnTo>
                    <a:pt x="1369" y="1616"/>
                  </a:lnTo>
                  <a:lnTo>
                    <a:pt x="1145" y="1394"/>
                  </a:lnTo>
                  <a:lnTo>
                    <a:pt x="1125" y="1378"/>
                  </a:lnTo>
                  <a:lnTo>
                    <a:pt x="1104" y="1366"/>
                  </a:lnTo>
                  <a:lnTo>
                    <a:pt x="1080" y="1358"/>
                  </a:lnTo>
                  <a:lnTo>
                    <a:pt x="1054" y="1356"/>
                  </a:lnTo>
                  <a:lnTo>
                    <a:pt x="1029" y="1358"/>
                  </a:lnTo>
                  <a:lnTo>
                    <a:pt x="1005" y="1366"/>
                  </a:lnTo>
                  <a:lnTo>
                    <a:pt x="982" y="1378"/>
                  </a:lnTo>
                  <a:lnTo>
                    <a:pt x="963" y="1394"/>
                  </a:lnTo>
                  <a:lnTo>
                    <a:pt x="888" y="1468"/>
                  </a:lnTo>
                  <a:lnTo>
                    <a:pt x="872" y="1489"/>
                  </a:lnTo>
                  <a:lnTo>
                    <a:pt x="860" y="1511"/>
                  </a:lnTo>
                  <a:lnTo>
                    <a:pt x="853" y="1534"/>
                  </a:lnTo>
                  <a:lnTo>
                    <a:pt x="850" y="1559"/>
                  </a:lnTo>
                  <a:lnTo>
                    <a:pt x="853" y="1584"/>
                  </a:lnTo>
                  <a:lnTo>
                    <a:pt x="860" y="1608"/>
                  </a:lnTo>
                  <a:lnTo>
                    <a:pt x="872" y="1631"/>
                  </a:lnTo>
                  <a:lnTo>
                    <a:pt x="888" y="1650"/>
                  </a:lnTo>
                  <a:lnTo>
                    <a:pt x="1278" y="2040"/>
                  </a:lnTo>
                  <a:lnTo>
                    <a:pt x="1297" y="2057"/>
                  </a:lnTo>
                  <a:lnTo>
                    <a:pt x="1320" y="2068"/>
                  </a:lnTo>
                  <a:lnTo>
                    <a:pt x="1344" y="2076"/>
                  </a:lnTo>
                  <a:lnTo>
                    <a:pt x="1369" y="2078"/>
                  </a:lnTo>
                  <a:lnTo>
                    <a:pt x="1395" y="2076"/>
                  </a:lnTo>
                  <a:lnTo>
                    <a:pt x="1419" y="2068"/>
                  </a:lnTo>
                  <a:lnTo>
                    <a:pt x="1440" y="2057"/>
                  </a:lnTo>
                  <a:lnTo>
                    <a:pt x="1460" y="2040"/>
                  </a:lnTo>
                  <a:lnTo>
                    <a:pt x="2301" y="1200"/>
                  </a:lnTo>
                  <a:lnTo>
                    <a:pt x="2318" y="1180"/>
                  </a:lnTo>
                  <a:lnTo>
                    <a:pt x="2330" y="1157"/>
                  </a:lnTo>
                  <a:lnTo>
                    <a:pt x="2336" y="1133"/>
                  </a:lnTo>
                  <a:lnTo>
                    <a:pt x="2338" y="1109"/>
                  </a:lnTo>
                  <a:lnTo>
                    <a:pt x="2336" y="1085"/>
                  </a:lnTo>
                  <a:lnTo>
                    <a:pt x="2330" y="1061"/>
                  </a:lnTo>
                  <a:lnTo>
                    <a:pt x="2318" y="1038"/>
                  </a:lnTo>
                  <a:lnTo>
                    <a:pt x="2301" y="1018"/>
                  </a:lnTo>
                  <a:lnTo>
                    <a:pt x="2226" y="942"/>
                  </a:lnTo>
                  <a:lnTo>
                    <a:pt x="2206" y="926"/>
                  </a:lnTo>
                  <a:lnTo>
                    <a:pt x="2184" y="914"/>
                  </a:lnTo>
                  <a:lnTo>
                    <a:pt x="2160" y="907"/>
                  </a:lnTo>
                  <a:lnTo>
                    <a:pt x="2135" y="904"/>
                  </a:lnTo>
                  <a:close/>
                  <a:moveTo>
                    <a:pt x="1595" y="0"/>
                  </a:moveTo>
                  <a:lnTo>
                    <a:pt x="1716" y="1"/>
                  </a:lnTo>
                  <a:lnTo>
                    <a:pt x="1832" y="4"/>
                  </a:lnTo>
                  <a:lnTo>
                    <a:pt x="1943" y="11"/>
                  </a:lnTo>
                  <a:lnTo>
                    <a:pt x="2048" y="18"/>
                  </a:lnTo>
                  <a:lnTo>
                    <a:pt x="2148" y="28"/>
                  </a:lnTo>
                  <a:lnTo>
                    <a:pt x="2242" y="39"/>
                  </a:lnTo>
                  <a:lnTo>
                    <a:pt x="2331" y="51"/>
                  </a:lnTo>
                  <a:lnTo>
                    <a:pt x="2414" y="65"/>
                  </a:lnTo>
                  <a:lnTo>
                    <a:pt x="2493" y="79"/>
                  </a:lnTo>
                  <a:lnTo>
                    <a:pt x="2567" y="94"/>
                  </a:lnTo>
                  <a:lnTo>
                    <a:pt x="2635" y="110"/>
                  </a:lnTo>
                  <a:lnTo>
                    <a:pt x="2699" y="127"/>
                  </a:lnTo>
                  <a:lnTo>
                    <a:pt x="2757" y="143"/>
                  </a:lnTo>
                  <a:lnTo>
                    <a:pt x="2811" y="159"/>
                  </a:lnTo>
                  <a:lnTo>
                    <a:pt x="2860" y="175"/>
                  </a:lnTo>
                  <a:lnTo>
                    <a:pt x="2904" y="190"/>
                  </a:lnTo>
                  <a:lnTo>
                    <a:pt x="2943" y="206"/>
                  </a:lnTo>
                  <a:lnTo>
                    <a:pt x="2978" y="220"/>
                  </a:lnTo>
                  <a:lnTo>
                    <a:pt x="3008" y="233"/>
                  </a:lnTo>
                  <a:lnTo>
                    <a:pt x="3034" y="244"/>
                  </a:lnTo>
                  <a:lnTo>
                    <a:pt x="3056" y="255"/>
                  </a:lnTo>
                  <a:lnTo>
                    <a:pt x="3073" y="264"/>
                  </a:lnTo>
                  <a:lnTo>
                    <a:pt x="3086" y="270"/>
                  </a:lnTo>
                  <a:lnTo>
                    <a:pt x="3094" y="275"/>
                  </a:lnTo>
                  <a:lnTo>
                    <a:pt x="3098" y="278"/>
                  </a:lnTo>
                  <a:lnTo>
                    <a:pt x="3122" y="295"/>
                  </a:lnTo>
                  <a:lnTo>
                    <a:pt x="3142" y="315"/>
                  </a:lnTo>
                  <a:lnTo>
                    <a:pt x="3160" y="339"/>
                  </a:lnTo>
                  <a:lnTo>
                    <a:pt x="3174" y="363"/>
                  </a:lnTo>
                  <a:lnTo>
                    <a:pt x="3182" y="390"/>
                  </a:lnTo>
                  <a:lnTo>
                    <a:pt x="3188" y="419"/>
                  </a:lnTo>
                  <a:lnTo>
                    <a:pt x="3189" y="448"/>
                  </a:lnTo>
                  <a:lnTo>
                    <a:pt x="3189" y="455"/>
                  </a:lnTo>
                  <a:lnTo>
                    <a:pt x="3188" y="469"/>
                  </a:lnTo>
                  <a:lnTo>
                    <a:pt x="3187" y="491"/>
                  </a:lnTo>
                  <a:lnTo>
                    <a:pt x="3184" y="520"/>
                  </a:lnTo>
                  <a:lnTo>
                    <a:pt x="3181" y="555"/>
                  </a:lnTo>
                  <a:lnTo>
                    <a:pt x="3177" y="596"/>
                  </a:lnTo>
                  <a:lnTo>
                    <a:pt x="3171" y="643"/>
                  </a:lnTo>
                  <a:lnTo>
                    <a:pt x="3165" y="696"/>
                  </a:lnTo>
                  <a:lnTo>
                    <a:pt x="3157" y="755"/>
                  </a:lnTo>
                  <a:lnTo>
                    <a:pt x="3149" y="819"/>
                  </a:lnTo>
                  <a:lnTo>
                    <a:pt x="3137" y="887"/>
                  </a:lnTo>
                  <a:lnTo>
                    <a:pt x="3125" y="960"/>
                  </a:lnTo>
                  <a:lnTo>
                    <a:pt x="3110" y="1037"/>
                  </a:lnTo>
                  <a:lnTo>
                    <a:pt x="3094" y="1119"/>
                  </a:lnTo>
                  <a:lnTo>
                    <a:pt x="3074" y="1203"/>
                  </a:lnTo>
                  <a:lnTo>
                    <a:pt x="3053" y="1292"/>
                  </a:lnTo>
                  <a:lnTo>
                    <a:pt x="3030" y="1383"/>
                  </a:lnTo>
                  <a:lnTo>
                    <a:pt x="3004" y="1477"/>
                  </a:lnTo>
                  <a:lnTo>
                    <a:pt x="2975" y="1574"/>
                  </a:lnTo>
                  <a:lnTo>
                    <a:pt x="2925" y="1729"/>
                  </a:lnTo>
                  <a:lnTo>
                    <a:pt x="2870" y="1879"/>
                  </a:lnTo>
                  <a:lnTo>
                    <a:pt x="2811" y="2026"/>
                  </a:lnTo>
                  <a:lnTo>
                    <a:pt x="2748" y="2170"/>
                  </a:lnTo>
                  <a:lnTo>
                    <a:pt x="2681" y="2308"/>
                  </a:lnTo>
                  <a:lnTo>
                    <a:pt x="2610" y="2444"/>
                  </a:lnTo>
                  <a:lnTo>
                    <a:pt x="2535" y="2573"/>
                  </a:lnTo>
                  <a:lnTo>
                    <a:pt x="2458" y="2697"/>
                  </a:lnTo>
                  <a:lnTo>
                    <a:pt x="2377" y="2816"/>
                  </a:lnTo>
                  <a:lnTo>
                    <a:pt x="2293" y="2930"/>
                  </a:lnTo>
                  <a:lnTo>
                    <a:pt x="2204" y="3039"/>
                  </a:lnTo>
                  <a:lnTo>
                    <a:pt x="2112" y="3145"/>
                  </a:lnTo>
                  <a:lnTo>
                    <a:pt x="2017" y="3245"/>
                  </a:lnTo>
                  <a:lnTo>
                    <a:pt x="1918" y="3340"/>
                  </a:lnTo>
                  <a:lnTo>
                    <a:pt x="1817" y="3431"/>
                  </a:lnTo>
                  <a:lnTo>
                    <a:pt x="1712" y="3516"/>
                  </a:lnTo>
                  <a:lnTo>
                    <a:pt x="1685" y="3533"/>
                  </a:lnTo>
                  <a:lnTo>
                    <a:pt x="1656" y="3546"/>
                  </a:lnTo>
                  <a:lnTo>
                    <a:pt x="1625" y="3554"/>
                  </a:lnTo>
                  <a:lnTo>
                    <a:pt x="1595" y="3556"/>
                  </a:lnTo>
                  <a:lnTo>
                    <a:pt x="1564" y="3554"/>
                  </a:lnTo>
                  <a:lnTo>
                    <a:pt x="1533" y="3546"/>
                  </a:lnTo>
                  <a:lnTo>
                    <a:pt x="1505" y="3533"/>
                  </a:lnTo>
                  <a:lnTo>
                    <a:pt x="1478" y="3516"/>
                  </a:lnTo>
                  <a:lnTo>
                    <a:pt x="1373" y="3431"/>
                  </a:lnTo>
                  <a:lnTo>
                    <a:pt x="1270" y="3340"/>
                  </a:lnTo>
                  <a:lnTo>
                    <a:pt x="1172" y="3245"/>
                  </a:lnTo>
                  <a:lnTo>
                    <a:pt x="1077" y="3145"/>
                  </a:lnTo>
                  <a:lnTo>
                    <a:pt x="986" y="3039"/>
                  </a:lnTo>
                  <a:lnTo>
                    <a:pt x="897" y="2930"/>
                  </a:lnTo>
                  <a:lnTo>
                    <a:pt x="813" y="2816"/>
                  </a:lnTo>
                  <a:lnTo>
                    <a:pt x="731" y="2697"/>
                  </a:lnTo>
                  <a:lnTo>
                    <a:pt x="654" y="2573"/>
                  </a:lnTo>
                  <a:lnTo>
                    <a:pt x="579" y="2444"/>
                  </a:lnTo>
                  <a:lnTo>
                    <a:pt x="509" y="2308"/>
                  </a:lnTo>
                  <a:lnTo>
                    <a:pt x="441" y="2170"/>
                  </a:lnTo>
                  <a:lnTo>
                    <a:pt x="378" y="2026"/>
                  </a:lnTo>
                  <a:lnTo>
                    <a:pt x="319" y="1879"/>
                  </a:lnTo>
                  <a:lnTo>
                    <a:pt x="265" y="1729"/>
                  </a:lnTo>
                  <a:lnTo>
                    <a:pt x="214" y="1574"/>
                  </a:lnTo>
                  <a:lnTo>
                    <a:pt x="186" y="1477"/>
                  </a:lnTo>
                  <a:lnTo>
                    <a:pt x="160" y="1383"/>
                  </a:lnTo>
                  <a:lnTo>
                    <a:pt x="136" y="1292"/>
                  </a:lnTo>
                  <a:lnTo>
                    <a:pt x="115" y="1203"/>
                  </a:lnTo>
                  <a:lnTo>
                    <a:pt x="96" y="1119"/>
                  </a:lnTo>
                  <a:lnTo>
                    <a:pt x="79" y="1037"/>
                  </a:lnTo>
                  <a:lnTo>
                    <a:pt x="65" y="960"/>
                  </a:lnTo>
                  <a:lnTo>
                    <a:pt x="52" y="887"/>
                  </a:lnTo>
                  <a:lnTo>
                    <a:pt x="41" y="819"/>
                  </a:lnTo>
                  <a:lnTo>
                    <a:pt x="31" y="755"/>
                  </a:lnTo>
                  <a:lnTo>
                    <a:pt x="24" y="696"/>
                  </a:lnTo>
                  <a:lnTo>
                    <a:pt x="17" y="643"/>
                  </a:lnTo>
                  <a:lnTo>
                    <a:pt x="12" y="596"/>
                  </a:lnTo>
                  <a:lnTo>
                    <a:pt x="8" y="555"/>
                  </a:lnTo>
                  <a:lnTo>
                    <a:pt x="5" y="520"/>
                  </a:lnTo>
                  <a:lnTo>
                    <a:pt x="3" y="491"/>
                  </a:lnTo>
                  <a:lnTo>
                    <a:pt x="1" y="469"/>
                  </a:lnTo>
                  <a:lnTo>
                    <a:pt x="0" y="455"/>
                  </a:lnTo>
                  <a:lnTo>
                    <a:pt x="0" y="448"/>
                  </a:lnTo>
                  <a:lnTo>
                    <a:pt x="1" y="419"/>
                  </a:lnTo>
                  <a:lnTo>
                    <a:pt x="6" y="390"/>
                  </a:lnTo>
                  <a:lnTo>
                    <a:pt x="16" y="363"/>
                  </a:lnTo>
                  <a:lnTo>
                    <a:pt x="29" y="339"/>
                  </a:lnTo>
                  <a:lnTo>
                    <a:pt x="47" y="315"/>
                  </a:lnTo>
                  <a:lnTo>
                    <a:pt x="67" y="295"/>
                  </a:lnTo>
                  <a:lnTo>
                    <a:pt x="91" y="278"/>
                  </a:lnTo>
                  <a:lnTo>
                    <a:pt x="95" y="275"/>
                  </a:lnTo>
                  <a:lnTo>
                    <a:pt x="104" y="270"/>
                  </a:lnTo>
                  <a:lnTo>
                    <a:pt x="117" y="264"/>
                  </a:lnTo>
                  <a:lnTo>
                    <a:pt x="133" y="255"/>
                  </a:lnTo>
                  <a:lnTo>
                    <a:pt x="155" y="244"/>
                  </a:lnTo>
                  <a:lnTo>
                    <a:pt x="181" y="233"/>
                  </a:lnTo>
                  <a:lnTo>
                    <a:pt x="211" y="220"/>
                  </a:lnTo>
                  <a:lnTo>
                    <a:pt x="246" y="206"/>
                  </a:lnTo>
                  <a:lnTo>
                    <a:pt x="286" y="190"/>
                  </a:lnTo>
                  <a:lnTo>
                    <a:pt x="330" y="175"/>
                  </a:lnTo>
                  <a:lnTo>
                    <a:pt x="379" y="159"/>
                  </a:lnTo>
                  <a:lnTo>
                    <a:pt x="433" y="143"/>
                  </a:lnTo>
                  <a:lnTo>
                    <a:pt x="491" y="127"/>
                  </a:lnTo>
                  <a:lnTo>
                    <a:pt x="554" y="110"/>
                  </a:lnTo>
                  <a:lnTo>
                    <a:pt x="623" y="94"/>
                  </a:lnTo>
                  <a:lnTo>
                    <a:pt x="696" y="79"/>
                  </a:lnTo>
                  <a:lnTo>
                    <a:pt x="775" y="65"/>
                  </a:lnTo>
                  <a:lnTo>
                    <a:pt x="858" y="51"/>
                  </a:lnTo>
                  <a:lnTo>
                    <a:pt x="948" y="39"/>
                  </a:lnTo>
                  <a:lnTo>
                    <a:pt x="1042" y="28"/>
                  </a:lnTo>
                  <a:lnTo>
                    <a:pt x="1142" y="18"/>
                  </a:lnTo>
                  <a:lnTo>
                    <a:pt x="1247" y="11"/>
                  </a:lnTo>
                  <a:lnTo>
                    <a:pt x="1357" y="4"/>
                  </a:lnTo>
                  <a:lnTo>
                    <a:pt x="1473" y="1"/>
                  </a:lnTo>
                  <a:lnTo>
                    <a:pt x="1595" y="0"/>
                  </a:lnTo>
                  <a:close/>
                </a:path>
              </a:pathLst>
            </a:custGeom>
            <a:solidFill>
              <a:schemeClr val="bg1"/>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prstClr val="white">
                    <a:lumMod val="50000"/>
                  </a:prstClr>
                </a:solidFill>
                <a:effectLst/>
                <a:uLnTx/>
                <a:uFillTx/>
                <a:cs typeface="+mn-ea"/>
                <a:sym typeface="+mn-lt"/>
              </a:endParaRPr>
            </a:p>
          </p:txBody>
        </p:sp>
      </p:grpSp>
      <p:sp>
        <p:nvSpPr>
          <p:cNvPr id="10" name="文本框 16"/>
          <p:cNvSpPr txBox="1"/>
          <p:nvPr/>
        </p:nvSpPr>
        <p:spPr>
          <a:xfrm>
            <a:off x="1767205" y="1305560"/>
            <a:ext cx="9242425" cy="4246245"/>
          </a:xfrm>
          <a:prstGeom prst="rect">
            <a:avLst/>
          </a:prstGeom>
          <a:noFill/>
        </p:spPr>
        <p:txBody>
          <a:bodyPr wrap="square" rtlCol="0">
            <a:spAutoFit/>
          </a:bodyPr>
          <a:lstStyle/>
          <a:p>
            <a:pPr>
              <a:lnSpc>
                <a:spcPct val="150000"/>
              </a:lnSpc>
            </a:pPr>
            <a:r>
              <a:rPr lang="zh-CN" altLang="en-US" b="1" dirty="0"/>
              <a:t>其他行业标准：</a:t>
            </a:r>
            <a:endParaRPr lang="en-US" altLang="zh-CN" b="1" dirty="0"/>
          </a:p>
          <a:p>
            <a:pPr>
              <a:lnSpc>
                <a:spcPct val="150000"/>
              </a:lnSpc>
            </a:pPr>
            <a:endParaRPr lang="en-US" altLang="zh-CN" b="1" dirty="0"/>
          </a:p>
          <a:p>
            <a:pPr>
              <a:lnSpc>
                <a:spcPct val="150000"/>
              </a:lnSpc>
            </a:pPr>
            <a:r>
              <a:rPr lang="en-US" altLang="zh-CN" b="1" dirty="0"/>
              <a:t>《</a:t>
            </a:r>
            <a:r>
              <a:rPr lang="zh-CN" altLang="en-US" b="1" dirty="0"/>
              <a:t>证券期货业信息系统安全等级保护基本要求</a:t>
            </a:r>
            <a:r>
              <a:rPr lang="en-US" altLang="zh-CN" b="1" dirty="0"/>
              <a:t>》JR/T 0060-2010  </a:t>
            </a:r>
            <a:endParaRPr lang="en-US" altLang="zh-CN" b="1" dirty="0"/>
          </a:p>
          <a:p>
            <a:pPr>
              <a:lnSpc>
                <a:spcPct val="150000"/>
              </a:lnSpc>
            </a:pPr>
            <a:r>
              <a:rPr lang="zh-CN" altLang="en-US" b="1" dirty="0"/>
              <a:t>（中国证券监督管理委员会公告）</a:t>
            </a:r>
            <a:endParaRPr lang="en-US" altLang="zh-CN" b="1" dirty="0"/>
          </a:p>
          <a:p>
            <a:pPr>
              <a:lnSpc>
                <a:spcPct val="150000"/>
              </a:lnSpc>
            </a:pPr>
            <a:r>
              <a:rPr lang="en-US" altLang="zh-CN" b="1" dirty="0"/>
              <a:t>《</a:t>
            </a:r>
            <a:r>
              <a:rPr lang="zh-CN" altLang="en-US" b="1" dirty="0"/>
              <a:t>金融行业信息系统信息安全等级保护实施指引</a:t>
            </a:r>
            <a:r>
              <a:rPr lang="en-US" altLang="zh-CN" b="1" dirty="0"/>
              <a:t>》JR/T 0071-2012 </a:t>
            </a:r>
            <a:endParaRPr lang="en-US" altLang="zh-CN" b="1" dirty="0"/>
          </a:p>
          <a:p>
            <a:pPr>
              <a:lnSpc>
                <a:spcPct val="150000"/>
              </a:lnSpc>
            </a:pPr>
            <a:r>
              <a:rPr lang="zh-CN" altLang="en-US" b="1" dirty="0"/>
              <a:t>（</a:t>
            </a:r>
            <a:r>
              <a:rPr lang="en-US" altLang="zh-CN" sz="1400" b="1" dirty="0"/>
              <a:t>中国人民银行发布</a:t>
            </a:r>
            <a:r>
              <a:rPr lang="zh-CN" altLang="en-US" sz="1400" b="1" dirty="0"/>
              <a:t>）</a:t>
            </a:r>
            <a:endParaRPr lang="en-US" altLang="zh-CN" b="1" dirty="0"/>
          </a:p>
          <a:p>
            <a:pPr>
              <a:lnSpc>
                <a:spcPct val="150000"/>
              </a:lnSpc>
            </a:pPr>
            <a:r>
              <a:rPr lang="en-US" altLang="zh-CN" b="1" dirty="0"/>
              <a:t>《</a:t>
            </a:r>
            <a:r>
              <a:rPr lang="zh-CN" altLang="en-US" b="1" dirty="0"/>
              <a:t>烟草行业信息系统安全等级保护实施规范</a:t>
            </a:r>
            <a:r>
              <a:rPr lang="en-US" altLang="zh-CN" b="1" dirty="0"/>
              <a:t>》YC/T 495-2014</a:t>
            </a:r>
            <a:endParaRPr lang="en-US" altLang="zh-CN" b="1" dirty="0"/>
          </a:p>
          <a:p>
            <a:pPr>
              <a:lnSpc>
                <a:spcPct val="150000"/>
              </a:lnSpc>
            </a:pPr>
            <a:r>
              <a:rPr lang="en-US" altLang="zh-CN" b="1" dirty="0"/>
              <a:t> </a:t>
            </a:r>
            <a:r>
              <a:rPr lang="zh-CN" altLang="en-US" b="1" dirty="0"/>
              <a:t>（国家烟草专卖局）</a:t>
            </a:r>
            <a:endParaRPr lang="en-US" altLang="zh-CN" b="1" dirty="0"/>
          </a:p>
          <a:p>
            <a:pPr>
              <a:lnSpc>
                <a:spcPct val="150000"/>
              </a:lnSpc>
            </a:pPr>
            <a:r>
              <a:rPr lang="en-US" altLang="zh-CN" b="1" dirty="0"/>
              <a:t>《</a:t>
            </a:r>
            <a:r>
              <a:rPr lang="zh-CN" altLang="en-US" b="1" dirty="0"/>
              <a:t>税务系统信息安全等级保护基本要求</a:t>
            </a:r>
            <a:r>
              <a:rPr lang="en-US" altLang="zh-CN" b="1" dirty="0"/>
              <a:t>》</a:t>
            </a:r>
            <a:r>
              <a:rPr lang="zh-CN" altLang="en-US" b="1" dirty="0"/>
              <a:t>（试行）</a:t>
            </a:r>
            <a:endParaRPr lang="zh-CN" altLang="en-US" b="1" dirty="0"/>
          </a:p>
          <a:p>
            <a:pPr>
              <a:lnSpc>
                <a:spcPct val="150000"/>
              </a:lnSpc>
            </a:pPr>
            <a:r>
              <a:rPr lang="zh-CN" altLang="en-US" b="1" dirty="0"/>
              <a:t>（国家税务总局）</a:t>
            </a:r>
            <a:endParaRPr lang="zh-CN" altLang="en-US" b="1" dirty="0"/>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392" y="18255"/>
            <a:ext cx="2975483" cy="890465"/>
          </a:xfrm>
        </p:spPr>
        <p:txBody>
          <a:bodyPr/>
          <a:lstStyle/>
          <a:p>
            <a:r>
              <a:rPr lang="zh-CN" altLang="en-US" dirty="0"/>
              <a:t>测评流程</a:t>
            </a:r>
            <a:endParaRPr lang="zh-CN" altLang="en-US" dirty="0"/>
          </a:p>
        </p:txBody>
      </p:sp>
      <p:grpSp>
        <p:nvGrpSpPr>
          <p:cNvPr id="7" name="组合 6"/>
          <p:cNvGrpSpPr/>
          <p:nvPr>
            <p:custDataLst>
              <p:tags r:id="rId1"/>
            </p:custDataLst>
          </p:nvPr>
        </p:nvGrpSpPr>
        <p:grpSpPr>
          <a:xfrm>
            <a:off x="268949" y="3313387"/>
            <a:ext cx="2265718" cy="810252"/>
            <a:chOff x="1436370" y="1984470"/>
            <a:chExt cx="2636520" cy="1447800"/>
          </a:xfrm>
          <a:solidFill>
            <a:srgbClr val="FF3300"/>
          </a:solidFill>
        </p:grpSpPr>
        <p:sp>
          <p:nvSpPr>
            <p:cNvPr id="8" name="任意多边形 40"/>
            <p:cNvSpPr/>
            <p:nvPr>
              <p:custDataLst>
                <p:tags r:id="rId2"/>
              </p:custDataLst>
            </p:nvPr>
          </p:nvSpPr>
          <p:spPr>
            <a:xfrm>
              <a:off x="1436370"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9" name="文本框 43"/>
            <p:cNvSpPr txBox="1"/>
            <p:nvPr>
              <p:custDataLst>
                <p:tags r:id="rId3"/>
              </p:custDataLst>
            </p:nvPr>
          </p:nvSpPr>
          <p:spPr>
            <a:xfrm>
              <a:off x="1709209" y="2295910"/>
              <a:ext cx="2293960" cy="824927"/>
            </a:xfrm>
            <a:prstGeom prst="rect">
              <a:avLst/>
            </a:prstGeom>
            <a:noFill/>
          </p:spPr>
          <p:txBody>
            <a:bodyPr wrap="square" rtlCol="0" anchor="ctr">
              <a:spAutoFit/>
            </a:bodyPr>
            <a:lstStyle/>
            <a:p>
              <a:r>
                <a:rPr lang="zh-CN" altLang="en-US" sz="2400" b="0" dirty="0">
                  <a:solidFill>
                    <a:schemeClr val="bg1"/>
                  </a:solidFill>
                  <a:latin typeface="微软雅黑" panose="020B0503020204020204" pitchFamily="34" charset="-122"/>
                  <a:ea typeface="微软雅黑" panose="020B0503020204020204" pitchFamily="34" charset="-122"/>
                </a:rPr>
                <a:t>   资产调研</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grpSp>
        <p:nvGrpSpPr>
          <p:cNvPr id="13" name="组合 12"/>
          <p:cNvGrpSpPr/>
          <p:nvPr>
            <p:custDataLst>
              <p:tags r:id="rId4"/>
            </p:custDataLst>
          </p:nvPr>
        </p:nvGrpSpPr>
        <p:grpSpPr>
          <a:xfrm>
            <a:off x="4056368" y="3313387"/>
            <a:ext cx="2265718" cy="810252"/>
            <a:chOff x="5897092" y="1984470"/>
            <a:chExt cx="2636520" cy="1447800"/>
          </a:xfrm>
          <a:solidFill>
            <a:srgbClr val="FF0000"/>
          </a:solidFill>
        </p:grpSpPr>
        <p:sp>
          <p:nvSpPr>
            <p:cNvPr id="14" name="任意多边形 46"/>
            <p:cNvSpPr/>
            <p:nvPr>
              <p:custDataLst>
                <p:tags r:id="rId5"/>
              </p:custDataLst>
            </p:nvPr>
          </p:nvSpPr>
          <p:spPr>
            <a:xfrm>
              <a:off x="5897092"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5" name="文本框 49"/>
            <p:cNvSpPr txBox="1"/>
            <p:nvPr>
              <p:custDataLst>
                <p:tags r:id="rId6"/>
              </p:custDataLst>
            </p:nvPr>
          </p:nvSpPr>
          <p:spPr>
            <a:xfrm>
              <a:off x="6227710" y="2295913"/>
              <a:ext cx="2205654" cy="824927"/>
            </a:xfrm>
            <a:prstGeom prst="rect">
              <a:avLst/>
            </a:prstGeom>
            <a:noFill/>
          </p:spPr>
          <p:txBody>
            <a:bodyPr wrap="square" rtlCol="0" anchor="ctr">
              <a:spAutoFit/>
            </a:bodyPr>
            <a:lstStyle/>
            <a:p>
              <a:r>
                <a:rPr lang="zh-CN" altLang="en-US" sz="2400" b="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现场评估</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sp>
        <p:nvSpPr>
          <p:cNvPr id="16" name="矩形 47"/>
          <p:cNvSpPr>
            <a:spLocks noChangeArrowheads="1"/>
          </p:cNvSpPr>
          <p:nvPr>
            <p:custDataLst>
              <p:tags r:id="rId7"/>
            </p:custDataLst>
          </p:nvPr>
        </p:nvSpPr>
        <p:spPr bwMode="auto">
          <a:xfrm>
            <a:off x="163356" y="1671844"/>
            <a:ext cx="2651456" cy="1555849"/>
          </a:xfrm>
          <a:prstGeom prst="rect">
            <a:avLst/>
          </a:prstGeom>
          <a:noFill/>
          <a:ln w="9525">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square" lIns="77762" tIns="38881" rIns="77762" bIns="38881">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2000" b="0" dirty="0">
                <a:solidFill>
                  <a:schemeClr val="accent1">
                    <a:lumMod val="50000"/>
                  </a:schemeClr>
                </a:solidFill>
                <a:sym typeface="微软雅黑" panose="020B0503020204020204" pitchFamily="34" charset="-122"/>
              </a:rPr>
              <a:t>对测评对象的网络架构、系统构成、主要业务、管理制度进行前期调研。</a:t>
            </a:r>
            <a:endParaRPr lang="zh-CN" altLang="en-US" sz="2000" b="0" dirty="0">
              <a:solidFill>
                <a:schemeClr val="accent1">
                  <a:lumMod val="50000"/>
                </a:schemeClr>
              </a:solidFill>
              <a:sym typeface="微软雅黑" panose="020B0503020204020204" pitchFamily="34" charset="-122"/>
            </a:endParaRPr>
          </a:p>
        </p:txBody>
      </p:sp>
      <p:grpSp>
        <p:nvGrpSpPr>
          <p:cNvPr id="24" name="组合 23"/>
          <p:cNvGrpSpPr/>
          <p:nvPr>
            <p:custDataLst>
              <p:tags r:id="rId8"/>
            </p:custDataLst>
          </p:nvPr>
        </p:nvGrpSpPr>
        <p:grpSpPr>
          <a:xfrm>
            <a:off x="2164091" y="3302441"/>
            <a:ext cx="2265718" cy="810252"/>
            <a:chOff x="3666731" y="1984470"/>
            <a:chExt cx="2636520" cy="1447800"/>
          </a:xfrm>
          <a:solidFill>
            <a:srgbClr val="FFC000"/>
          </a:solidFill>
        </p:grpSpPr>
        <p:sp>
          <p:nvSpPr>
            <p:cNvPr id="25" name="任意多边形 28"/>
            <p:cNvSpPr/>
            <p:nvPr>
              <p:custDataLst>
                <p:tags r:id="rId9"/>
              </p:custDataLst>
            </p:nvPr>
          </p:nvSpPr>
          <p:spPr>
            <a:xfrm>
              <a:off x="3666731"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26" name="文本框 35"/>
            <p:cNvSpPr txBox="1"/>
            <p:nvPr>
              <p:custDataLst>
                <p:tags r:id="rId10"/>
              </p:custDataLst>
            </p:nvPr>
          </p:nvSpPr>
          <p:spPr>
            <a:xfrm>
              <a:off x="3971727" y="2295911"/>
              <a:ext cx="2230360" cy="824927"/>
            </a:xfrm>
            <a:prstGeom prst="rect">
              <a:avLst/>
            </a:prstGeom>
            <a:noFill/>
          </p:spPr>
          <p:txBody>
            <a:bodyPr wrap="square" rtlCol="0" anchor="ctr">
              <a:spAutoFit/>
            </a:bodyPr>
            <a:lstStyle/>
            <a:p>
              <a:r>
                <a:rPr lang="zh-CN" altLang="en-US" sz="2400" b="0" dirty="0">
                  <a:solidFill>
                    <a:schemeClr val="bg1"/>
                  </a:solidFill>
                  <a:latin typeface="微软雅黑" panose="020B0503020204020204" pitchFamily="34" charset="-122"/>
                  <a:ea typeface="微软雅黑" panose="020B0503020204020204" pitchFamily="34" charset="-122"/>
                </a:rPr>
                <a:t>   启动会议</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sp>
        <p:nvSpPr>
          <p:cNvPr id="32" name="文本框 49"/>
          <p:cNvSpPr txBox="1"/>
          <p:nvPr/>
        </p:nvSpPr>
        <p:spPr>
          <a:xfrm>
            <a:off x="10256895" y="3403975"/>
            <a:ext cx="1895450" cy="461665"/>
          </a:xfrm>
          <a:prstGeom prst="rect">
            <a:avLst/>
          </a:prstGeom>
          <a:noFill/>
        </p:spPr>
        <p:txBody>
          <a:bodyPr wrap="square" rtlCol="0" anchor="ctr">
            <a:spAutoFit/>
          </a:bodyPr>
          <a:lstStyle/>
          <a:p>
            <a:r>
              <a:rPr lang="zh-CN" altLang="en-US" sz="2400" b="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报告交付</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nvGrpSpPr>
          <p:cNvPr id="38" name="组合 37"/>
          <p:cNvGrpSpPr/>
          <p:nvPr>
            <p:custDataLst>
              <p:tags r:id="rId11"/>
            </p:custDataLst>
          </p:nvPr>
        </p:nvGrpSpPr>
        <p:grpSpPr>
          <a:xfrm>
            <a:off x="5951510" y="3302441"/>
            <a:ext cx="2265718" cy="810252"/>
            <a:chOff x="1436370" y="1984470"/>
            <a:chExt cx="2636520" cy="1447800"/>
          </a:xfrm>
          <a:solidFill>
            <a:srgbClr val="FF3300"/>
          </a:solidFill>
        </p:grpSpPr>
        <p:sp>
          <p:nvSpPr>
            <p:cNvPr id="39" name="任意多边形 40"/>
            <p:cNvSpPr/>
            <p:nvPr>
              <p:custDataLst>
                <p:tags r:id="rId12"/>
              </p:custDataLst>
            </p:nvPr>
          </p:nvSpPr>
          <p:spPr>
            <a:xfrm>
              <a:off x="1436370"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40" name="文本框 43"/>
            <p:cNvSpPr txBox="1"/>
            <p:nvPr>
              <p:custDataLst>
                <p:tags r:id="rId13"/>
              </p:custDataLst>
            </p:nvPr>
          </p:nvSpPr>
          <p:spPr>
            <a:xfrm>
              <a:off x="1709209" y="2295910"/>
              <a:ext cx="2293960" cy="824927"/>
            </a:xfrm>
            <a:prstGeom prst="rect">
              <a:avLst/>
            </a:prstGeom>
            <a:noFill/>
          </p:spPr>
          <p:txBody>
            <a:bodyPr wrap="square" rtlCol="0" anchor="ctr">
              <a:spAutoFit/>
            </a:bodyPr>
            <a:lstStyle/>
            <a:p>
              <a:r>
                <a:rPr lang="zh-CN" altLang="en-US" sz="2400" b="0" dirty="0">
                  <a:solidFill>
                    <a:schemeClr val="bg1"/>
                  </a:solidFill>
                  <a:latin typeface="微软雅黑" panose="020B0503020204020204" pitchFamily="34" charset="-122"/>
                  <a:ea typeface="微软雅黑" panose="020B0503020204020204" pitchFamily="34" charset="-122"/>
                </a:rPr>
                <a:t>   末次会议</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grpSp>
        <p:nvGrpSpPr>
          <p:cNvPr id="41" name="组合 40"/>
          <p:cNvGrpSpPr/>
          <p:nvPr>
            <p:custDataLst>
              <p:tags r:id="rId14"/>
            </p:custDataLst>
          </p:nvPr>
        </p:nvGrpSpPr>
        <p:grpSpPr>
          <a:xfrm>
            <a:off x="9738929" y="3302441"/>
            <a:ext cx="2265718" cy="810252"/>
            <a:chOff x="5897092" y="1984470"/>
            <a:chExt cx="2636520" cy="1447800"/>
          </a:xfrm>
          <a:solidFill>
            <a:srgbClr val="FF0000"/>
          </a:solidFill>
        </p:grpSpPr>
        <p:sp>
          <p:nvSpPr>
            <p:cNvPr id="42" name="任意多边形 46"/>
            <p:cNvSpPr/>
            <p:nvPr>
              <p:custDataLst>
                <p:tags r:id="rId15"/>
              </p:custDataLst>
            </p:nvPr>
          </p:nvSpPr>
          <p:spPr>
            <a:xfrm>
              <a:off x="5897092"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43" name="文本框 49"/>
            <p:cNvSpPr txBox="1"/>
            <p:nvPr>
              <p:custDataLst>
                <p:tags r:id="rId16"/>
              </p:custDataLst>
            </p:nvPr>
          </p:nvSpPr>
          <p:spPr>
            <a:xfrm>
              <a:off x="6227710" y="2295913"/>
              <a:ext cx="2205654" cy="824927"/>
            </a:xfrm>
            <a:prstGeom prst="rect">
              <a:avLst/>
            </a:prstGeom>
            <a:noFill/>
          </p:spPr>
          <p:txBody>
            <a:bodyPr wrap="square" rtlCol="0" anchor="ctr">
              <a:spAutoFit/>
            </a:bodyPr>
            <a:lstStyle/>
            <a:p>
              <a:r>
                <a:rPr lang="zh-CN" altLang="en-US" sz="2400" b="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报告交付</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grpSp>
        <p:nvGrpSpPr>
          <p:cNvPr id="44" name="组合 43"/>
          <p:cNvGrpSpPr/>
          <p:nvPr>
            <p:custDataLst>
              <p:tags r:id="rId17"/>
            </p:custDataLst>
          </p:nvPr>
        </p:nvGrpSpPr>
        <p:grpSpPr>
          <a:xfrm>
            <a:off x="7846652" y="3291495"/>
            <a:ext cx="2265718" cy="810252"/>
            <a:chOff x="3666731" y="1984470"/>
            <a:chExt cx="2636520" cy="1447800"/>
          </a:xfrm>
          <a:solidFill>
            <a:srgbClr val="FFC000"/>
          </a:solidFill>
        </p:grpSpPr>
        <p:sp>
          <p:nvSpPr>
            <p:cNvPr id="45" name="任意多边形 28"/>
            <p:cNvSpPr/>
            <p:nvPr>
              <p:custDataLst>
                <p:tags r:id="rId18"/>
              </p:custDataLst>
            </p:nvPr>
          </p:nvSpPr>
          <p:spPr>
            <a:xfrm>
              <a:off x="3666731"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3600" b="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46" name="文本框 35"/>
            <p:cNvSpPr txBox="1"/>
            <p:nvPr>
              <p:custDataLst>
                <p:tags r:id="rId19"/>
              </p:custDataLst>
            </p:nvPr>
          </p:nvSpPr>
          <p:spPr>
            <a:xfrm>
              <a:off x="3971727" y="2295911"/>
              <a:ext cx="2230360" cy="824927"/>
            </a:xfrm>
            <a:prstGeom prst="rect">
              <a:avLst/>
            </a:prstGeom>
            <a:noFill/>
          </p:spPr>
          <p:txBody>
            <a:bodyPr wrap="square" rtlCol="0" anchor="ctr">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 </a:t>
              </a:r>
              <a:r>
                <a:rPr lang="zh-CN" altLang="en-US" sz="2400" dirty="0">
                  <a:solidFill>
                    <a:schemeClr val="bg1"/>
                  </a:solidFill>
                  <a:latin typeface="微软雅黑" panose="020B0503020204020204" pitchFamily="34" charset="-122"/>
                  <a:ea typeface="微软雅黑" panose="020B0503020204020204" pitchFamily="34" charset="-122"/>
                </a:rPr>
                <a:t> 整改加固</a:t>
              </a:r>
              <a:endParaRPr lang="zh-CN" altLang="en-US" sz="2400" b="0" dirty="0">
                <a:solidFill>
                  <a:schemeClr val="bg1"/>
                </a:solidFill>
                <a:latin typeface="微软雅黑" panose="020B0503020204020204" pitchFamily="34" charset="-122"/>
                <a:ea typeface="微软雅黑" panose="020B0503020204020204" pitchFamily="34" charset="-122"/>
              </a:endParaRPr>
            </a:p>
          </p:txBody>
        </p:sp>
      </p:grpSp>
      <p:sp>
        <p:nvSpPr>
          <p:cNvPr id="47" name="矩形 47"/>
          <p:cNvSpPr>
            <a:spLocks noChangeArrowheads="1"/>
          </p:cNvSpPr>
          <p:nvPr>
            <p:custDataLst>
              <p:tags r:id="rId20"/>
            </p:custDataLst>
          </p:nvPr>
        </p:nvSpPr>
        <p:spPr bwMode="auto">
          <a:xfrm>
            <a:off x="3598875" y="1650027"/>
            <a:ext cx="2651456" cy="1555849"/>
          </a:xfrm>
          <a:prstGeom prst="rect">
            <a:avLst/>
          </a:prstGeom>
          <a:noFill/>
          <a:ln w="9525">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square" lIns="77762" tIns="38881" rIns="77762" bIns="38881">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2000" b="0" dirty="0">
                <a:solidFill>
                  <a:schemeClr val="accent1">
                    <a:lumMod val="50000"/>
                  </a:schemeClr>
                </a:solidFill>
                <a:sym typeface="微软雅黑" panose="020B0503020204020204" pitchFamily="34" charset="-122"/>
              </a:rPr>
              <a:t>对管理制度及措施、人员组织、网络架构、系统配置、安全漏洞进行全面评估。</a:t>
            </a:r>
            <a:endParaRPr lang="zh-CN" altLang="en-US" sz="2000" b="0" dirty="0">
              <a:solidFill>
                <a:schemeClr val="accent1">
                  <a:lumMod val="50000"/>
                </a:schemeClr>
              </a:solidFill>
              <a:sym typeface="微软雅黑" panose="020B0503020204020204" pitchFamily="34" charset="-122"/>
            </a:endParaRPr>
          </a:p>
        </p:txBody>
      </p:sp>
      <p:sp>
        <p:nvSpPr>
          <p:cNvPr id="48" name="矩形 47"/>
          <p:cNvSpPr>
            <a:spLocks noChangeArrowheads="1"/>
          </p:cNvSpPr>
          <p:nvPr>
            <p:custDataLst>
              <p:tags r:id="rId21"/>
            </p:custDataLst>
          </p:nvPr>
        </p:nvSpPr>
        <p:spPr bwMode="auto">
          <a:xfrm>
            <a:off x="7653783" y="1659443"/>
            <a:ext cx="2651456" cy="1555849"/>
          </a:xfrm>
          <a:prstGeom prst="rect">
            <a:avLst/>
          </a:prstGeom>
          <a:noFill/>
          <a:ln w="9525">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square" lIns="77762" tIns="38881" rIns="77762" bIns="38881">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2000" b="0" dirty="0">
                <a:solidFill>
                  <a:schemeClr val="accent1">
                    <a:lumMod val="50000"/>
                  </a:schemeClr>
                </a:solidFill>
                <a:sym typeface="微软雅黑" panose="020B0503020204020204" pitchFamily="34" charset="-122"/>
              </a:rPr>
              <a:t>提供整改加固建议，协助对信息系统整改加固的有效性进行判断。</a:t>
            </a:r>
            <a:endParaRPr lang="zh-CN" altLang="en-US" sz="2000" b="0" dirty="0">
              <a:solidFill>
                <a:schemeClr val="accent1">
                  <a:lumMod val="50000"/>
                </a:schemeClr>
              </a:solidFill>
              <a:sym typeface="微软雅黑" panose="020B0503020204020204" pitchFamily="34" charset="-122"/>
            </a:endParaRPr>
          </a:p>
        </p:txBody>
      </p:sp>
      <p:sp>
        <p:nvSpPr>
          <p:cNvPr id="49" name="矩形 47"/>
          <p:cNvSpPr>
            <a:spLocks noChangeArrowheads="1"/>
          </p:cNvSpPr>
          <p:nvPr>
            <p:custDataLst>
              <p:tags r:id="rId22"/>
            </p:custDataLst>
          </p:nvPr>
        </p:nvSpPr>
        <p:spPr bwMode="auto">
          <a:xfrm>
            <a:off x="1971222" y="4198387"/>
            <a:ext cx="2651456" cy="1186517"/>
          </a:xfrm>
          <a:prstGeom prst="rect">
            <a:avLst/>
          </a:prstGeom>
          <a:noFill/>
          <a:ln w="9525">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square" lIns="77762" tIns="38881" rIns="77762" bIns="38881">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2000" b="0" dirty="0">
                <a:solidFill>
                  <a:schemeClr val="accent1">
                    <a:lumMod val="75000"/>
                  </a:schemeClr>
                </a:solidFill>
                <a:sym typeface="微软雅黑" panose="020B0503020204020204" pitchFamily="34" charset="-122"/>
              </a:rPr>
              <a:t>召开现场测评启动会议，为现场评估工作的顺利展开提供帮助。</a:t>
            </a:r>
            <a:endParaRPr lang="zh-CN" altLang="en-US" sz="2000" b="0" dirty="0">
              <a:solidFill>
                <a:schemeClr val="accent1">
                  <a:lumMod val="75000"/>
                </a:schemeClr>
              </a:solidFill>
              <a:sym typeface="微软雅黑" panose="020B0503020204020204" pitchFamily="34" charset="-122"/>
            </a:endParaRPr>
          </a:p>
        </p:txBody>
      </p:sp>
      <p:sp>
        <p:nvSpPr>
          <p:cNvPr id="50" name="矩形 47"/>
          <p:cNvSpPr>
            <a:spLocks noChangeArrowheads="1"/>
          </p:cNvSpPr>
          <p:nvPr>
            <p:custDataLst>
              <p:tags r:id="rId23"/>
            </p:custDataLst>
          </p:nvPr>
        </p:nvSpPr>
        <p:spPr bwMode="auto">
          <a:xfrm>
            <a:off x="5758641" y="4168667"/>
            <a:ext cx="2651456" cy="1186517"/>
          </a:xfrm>
          <a:prstGeom prst="rect">
            <a:avLst/>
          </a:prstGeom>
          <a:noFill/>
          <a:ln w="9525">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square" lIns="77762" tIns="38881" rIns="77762" bIns="38881">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2000" dirty="0">
                <a:solidFill>
                  <a:schemeClr val="accent1">
                    <a:lumMod val="75000"/>
                  </a:schemeClr>
                </a:solidFill>
                <a:sym typeface="微软雅黑" panose="020B0503020204020204" pitchFamily="34" charset="-122"/>
              </a:rPr>
              <a:t>召开现场测评末次会议，总结现场测评发现的问题。</a:t>
            </a:r>
            <a:endParaRPr lang="zh-CN" altLang="en-US" sz="2000" b="0" dirty="0">
              <a:solidFill>
                <a:schemeClr val="accent1">
                  <a:lumMod val="75000"/>
                </a:schemeClr>
              </a:solidFill>
              <a:sym typeface="微软雅黑" panose="020B0503020204020204" pitchFamily="34" charset="-122"/>
            </a:endParaRPr>
          </a:p>
        </p:txBody>
      </p:sp>
      <p:sp>
        <p:nvSpPr>
          <p:cNvPr id="51" name="矩形 47"/>
          <p:cNvSpPr>
            <a:spLocks noChangeArrowheads="1"/>
          </p:cNvSpPr>
          <p:nvPr>
            <p:custDataLst>
              <p:tags r:id="rId24"/>
            </p:custDataLst>
          </p:nvPr>
        </p:nvSpPr>
        <p:spPr bwMode="auto">
          <a:xfrm>
            <a:off x="9425831" y="4143769"/>
            <a:ext cx="2651456" cy="1186517"/>
          </a:xfrm>
          <a:prstGeom prst="rect">
            <a:avLst/>
          </a:prstGeom>
          <a:noFill/>
          <a:ln w="9525">
            <a:solidFill>
              <a:srgbClr val="0070C0"/>
            </a:solidFill>
            <a:prstDash val="dash"/>
            <a:miter lim="800000"/>
          </a:ln>
          <a:extLst>
            <a:ext uri="{909E8E84-426E-40DD-AFC4-6F175D3DCCD1}">
              <a14:hiddenFill xmlns:a14="http://schemas.microsoft.com/office/drawing/2010/main">
                <a:solidFill>
                  <a:srgbClr val="FFFFFF"/>
                </a:solidFill>
              </a14:hiddenFill>
            </a:ext>
          </a:extLst>
        </p:spPr>
        <p:txBody>
          <a:bodyPr wrap="square" lIns="77762" tIns="38881" rIns="77762" bIns="38881">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nSpc>
                <a:spcPct val="120000"/>
              </a:lnSpc>
              <a:spcBef>
                <a:spcPct val="0"/>
              </a:spcBef>
              <a:buNone/>
            </a:pPr>
            <a:r>
              <a:rPr lang="zh-CN" altLang="en-US" sz="2000" dirty="0">
                <a:solidFill>
                  <a:schemeClr val="accent1">
                    <a:lumMod val="75000"/>
                  </a:schemeClr>
                </a:solidFill>
                <a:sym typeface="微软雅黑" panose="020B0503020204020204" pitchFamily="34" charset="-122"/>
              </a:rPr>
              <a:t>交付</a:t>
            </a:r>
            <a:r>
              <a:rPr lang="zh-CN" altLang="en-US" sz="2000" b="0" dirty="0">
                <a:solidFill>
                  <a:schemeClr val="accent1">
                    <a:lumMod val="75000"/>
                  </a:schemeClr>
                </a:solidFill>
                <a:sym typeface="微软雅黑" panose="020B0503020204020204" pitchFamily="34" charset="-122"/>
              </a:rPr>
              <a:t>正式的等级保护测评报告，测评工作宣告结束。</a:t>
            </a:r>
            <a:endParaRPr lang="zh-CN" altLang="en-US" sz="2000" b="0" dirty="0">
              <a:solidFill>
                <a:schemeClr val="accent1">
                  <a:lumMod val="75000"/>
                </a:schemeClr>
              </a:solidFill>
              <a:sym typeface="微软雅黑" panose="020B0503020204020204" pitchFamily="34" charset="-122"/>
            </a:endParaRPr>
          </a:p>
        </p:txBody>
      </p:sp>
      <p:sp>
        <p:nvSpPr>
          <p:cNvPr id="28" name="文本框 3"/>
          <p:cNvSpPr txBox="1"/>
          <p:nvPr/>
        </p:nvSpPr>
        <p:spPr>
          <a:xfrm>
            <a:off x="9552384" y="1115452"/>
            <a:ext cx="1863823" cy="369332"/>
          </a:xfrm>
          <a:prstGeom prst="rect">
            <a:avLst/>
          </a:prstGeom>
          <a:noFill/>
        </p:spPr>
        <p:txBody>
          <a:bodyPr wrap="square" rtlCol="0">
            <a:spAutoFit/>
          </a:bodyPr>
          <a:lstStyle/>
          <a:p>
            <a:r>
              <a:rPr lang="zh-CN" altLang="en-US" b="1" dirty="0">
                <a:solidFill>
                  <a:srgbClr val="FF0000"/>
                </a:solidFill>
              </a:rPr>
              <a:t>工期：</a:t>
            </a:r>
            <a:r>
              <a:rPr lang="en-US" altLang="zh-CN" b="1" dirty="0">
                <a:solidFill>
                  <a:srgbClr val="FF0000"/>
                </a:solidFill>
              </a:rPr>
              <a:t>30-60</a:t>
            </a:r>
            <a:r>
              <a:rPr lang="zh-CN" altLang="en-US" b="1" dirty="0">
                <a:solidFill>
                  <a:srgbClr val="FF0000"/>
                </a:solidFill>
              </a:rPr>
              <a:t>天</a:t>
            </a:r>
            <a:endParaRPr lang="zh-CN" altLang="en-US" b="1" dirty="0">
              <a:solidFill>
                <a:srgbClr val="FF0000"/>
              </a:solidFill>
            </a:endParaRPr>
          </a:p>
        </p:txBody>
      </p:sp>
    </p:spTree>
    <p:custDataLst>
      <p:tags r:id="rId2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descr="备案"/>
          <p:cNvPicPr>
            <a:picLocks noChangeAspect="1"/>
          </p:cNvPicPr>
          <p:nvPr/>
        </p:nvPicPr>
        <p:blipFill>
          <a:blip r:embed="rId1"/>
          <a:stretch>
            <a:fillRect/>
          </a:stretch>
        </p:blipFill>
        <p:spPr>
          <a:xfrm>
            <a:off x="6737350" y="3016250"/>
            <a:ext cx="5429250" cy="3834130"/>
          </a:xfrm>
          <a:prstGeom prst="rect">
            <a:avLst/>
          </a:prstGeom>
        </p:spPr>
      </p:pic>
      <p:sp>
        <p:nvSpPr>
          <p:cNvPr id="2" name="标题 1"/>
          <p:cNvSpPr>
            <a:spLocks noGrp="1"/>
          </p:cNvSpPr>
          <p:nvPr>
            <p:ph type="title"/>
          </p:nvPr>
        </p:nvSpPr>
        <p:spPr>
          <a:xfrm>
            <a:off x="623392" y="18255"/>
            <a:ext cx="10515600" cy="962473"/>
          </a:xfrm>
        </p:spPr>
        <p:txBody>
          <a:bodyPr/>
          <a:lstStyle/>
          <a:p>
            <a:r>
              <a:rPr lang="zh-CN" altLang="en-US" dirty="0"/>
              <a:t>交付成果</a:t>
            </a:r>
            <a:endParaRPr lang="zh-CN" altLang="en-US" dirty="0"/>
          </a:p>
        </p:txBody>
      </p:sp>
      <p:sp>
        <p:nvSpPr>
          <p:cNvPr id="3" name="内容占位符 2"/>
          <p:cNvSpPr>
            <a:spLocks noGrp="1"/>
          </p:cNvSpPr>
          <p:nvPr>
            <p:ph idx="1"/>
          </p:nvPr>
        </p:nvSpPr>
        <p:spPr>
          <a:xfrm>
            <a:off x="1130935" y="1939925"/>
            <a:ext cx="8569960" cy="1607185"/>
          </a:xfrm>
          <a:ln>
            <a:solidFill>
              <a:schemeClr val="accent1"/>
            </a:solidFill>
          </a:ln>
        </p:spPr>
        <p:txBody>
          <a:bodyPr>
            <a:normAutofit/>
          </a:bodyPr>
          <a:lstStyle/>
          <a:p>
            <a:r>
              <a:rPr lang="zh-CN" altLang="zh-CN" dirty="0"/>
              <a:t>《</a:t>
            </a:r>
            <a:r>
              <a:rPr lang="en-US" altLang="zh-CN" dirty="0"/>
              <a:t>XX</a:t>
            </a:r>
            <a:r>
              <a:rPr lang="zh-CN" altLang="zh-CN" dirty="0"/>
              <a:t>信息系统信息安全等级保护测评报告》</a:t>
            </a:r>
            <a:r>
              <a:rPr lang="zh-CN" altLang="en-US" dirty="0"/>
              <a:t>共</a:t>
            </a:r>
            <a:r>
              <a:rPr lang="en-US" altLang="zh-CN" dirty="0"/>
              <a:t>3</a:t>
            </a:r>
            <a:r>
              <a:rPr lang="zh-CN" altLang="en-US" dirty="0"/>
              <a:t>份</a:t>
            </a:r>
            <a:endParaRPr lang="en-US" altLang="zh-CN" dirty="0"/>
          </a:p>
          <a:p>
            <a:pPr marL="0" indent="0">
              <a:buNone/>
            </a:pPr>
            <a:r>
              <a:rPr lang="zh-CN" altLang="en-US" dirty="0"/>
              <a:t>（用户单位、测评机构、公安部门）</a:t>
            </a:r>
            <a:endParaRPr lang="en-US" altLang="zh-CN" dirty="0"/>
          </a:p>
          <a:p>
            <a:r>
              <a:rPr lang="en-US" altLang="zh-CN" dirty="0"/>
              <a:t>《XX</a:t>
            </a:r>
            <a:r>
              <a:rPr lang="zh-CN" altLang="en-US" dirty="0"/>
              <a:t>单位</a:t>
            </a:r>
            <a:r>
              <a:rPr lang="zh-CN" altLang="zh-CN" dirty="0"/>
              <a:t>信息系统信息安全等级保护建设整改方案》</a:t>
            </a:r>
            <a:endParaRPr lang="en-US" altLang="zh-CN" dirty="0"/>
          </a:p>
        </p:txBody>
      </p:sp>
      <p:grpSp>
        <p:nvGrpSpPr>
          <p:cNvPr id="4" name="组合 109"/>
          <p:cNvGrpSpPr/>
          <p:nvPr/>
        </p:nvGrpSpPr>
        <p:grpSpPr bwMode="auto">
          <a:xfrm>
            <a:off x="856109" y="1292540"/>
            <a:ext cx="392113" cy="484188"/>
            <a:chOff x="7300913" y="3284538"/>
            <a:chExt cx="423863" cy="523875"/>
          </a:xfrm>
          <a:solidFill>
            <a:schemeClr val="accent2"/>
          </a:solidFill>
        </p:grpSpPr>
        <p:sp>
          <p:nvSpPr>
            <p:cNvPr id="5" name="Rectangle 94"/>
            <p:cNvSpPr>
              <a:spLocks noChangeArrowheads="1"/>
            </p:cNvSpPr>
            <p:nvPr/>
          </p:nvSpPr>
          <p:spPr bwMode="auto">
            <a:xfrm>
              <a:off x="7597776" y="3284538"/>
              <a:ext cx="85725"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6" name="Rectangle 95"/>
            <p:cNvSpPr>
              <a:spLocks noChangeArrowheads="1"/>
            </p:cNvSpPr>
            <p:nvPr/>
          </p:nvSpPr>
          <p:spPr bwMode="auto">
            <a:xfrm>
              <a:off x="7597776" y="3284538"/>
              <a:ext cx="85725"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7" name="Rectangle 96"/>
            <p:cNvSpPr>
              <a:spLocks noChangeArrowheads="1"/>
            </p:cNvSpPr>
            <p:nvPr/>
          </p:nvSpPr>
          <p:spPr bwMode="auto">
            <a:xfrm>
              <a:off x="7597776" y="3284538"/>
              <a:ext cx="85725"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8" name="Rectangle 97"/>
            <p:cNvSpPr>
              <a:spLocks noChangeArrowheads="1"/>
            </p:cNvSpPr>
            <p:nvPr/>
          </p:nvSpPr>
          <p:spPr bwMode="auto">
            <a:xfrm>
              <a:off x="7597776" y="3284538"/>
              <a:ext cx="85725"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9" name="Rectangle 98"/>
            <p:cNvSpPr>
              <a:spLocks noChangeArrowheads="1"/>
            </p:cNvSpPr>
            <p:nvPr/>
          </p:nvSpPr>
          <p:spPr bwMode="auto">
            <a:xfrm>
              <a:off x="7343776" y="3284538"/>
              <a:ext cx="84138"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10" name="Rectangle 99"/>
            <p:cNvSpPr>
              <a:spLocks noChangeArrowheads="1"/>
            </p:cNvSpPr>
            <p:nvPr/>
          </p:nvSpPr>
          <p:spPr bwMode="auto">
            <a:xfrm>
              <a:off x="7343776" y="3284538"/>
              <a:ext cx="84138"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11" name="Rectangle 100"/>
            <p:cNvSpPr>
              <a:spLocks noChangeArrowheads="1"/>
            </p:cNvSpPr>
            <p:nvPr/>
          </p:nvSpPr>
          <p:spPr bwMode="auto">
            <a:xfrm>
              <a:off x="7343776" y="3284538"/>
              <a:ext cx="84138"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12" name="Rectangle 101"/>
            <p:cNvSpPr>
              <a:spLocks noChangeArrowheads="1"/>
            </p:cNvSpPr>
            <p:nvPr/>
          </p:nvSpPr>
          <p:spPr bwMode="auto">
            <a:xfrm>
              <a:off x="7343776" y="3284538"/>
              <a:ext cx="84138" cy="2555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13" name="Freeform 102"/>
            <p:cNvSpPr/>
            <p:nvPr/>
          </p:nvSpPr>
          <p:spPr bwMode="auto">
            <a:xfrm>
              <a:off x="7300913" y="3405188"/>
              <a:ext cx="423863" cy="403225"/>
            </a:xfrm>
            <a:custGeom>
              <a:avLst/>
              <a:gdLst>
                <a:gd name="T0" fmla="*/ 212725 w 267"/>
                <a:gd name="T1" fmla="*/ 0 h 254"/>
                <a:gd name="T2" fmla="*/ 265113 w 267"/>
                <a:gd name="T3" fmla="*/ 152400 h 254"/>
                <a:gd name="T4" fmla="*/ 423863 w 267"/>
                <a:gd name="T5" fmla="*/ 155575 h 254"/>
                <a:gd name="T6" fmla="*/ 296863 w 267"/>
                <a:gd name="T7" fmla="*/ 250825 h 254"/>
                <a:gd name="T8" fmla="*/ 342900 w 267"/>
                <a:gd name="T9" fmla="*/ 403225 h 254"/>
                <a:gd name="T10" fmla="*/ 212725 w 267"/>
                <a:gd name="T11" fmla="*/ 315913 h 254"/>
                <a:gd name="T12" fmla="*/ 80963 w 267"/>
                <a:gd name="T13" fmla="*/ 403225 h 254"/>
                <a:gd name="T14" fmla="*/ 127000 w 267"/>
                <a:gd name="T15" fmla="*/ 250825 h 254"/>
                <a:gd name="T16" fmla="*/ 0 w 267"/>
                <a:gd name="T17" fmla="*/ 155575 h 254"/>
                <a:gd name="T18" fmla="*/ 158750 w 267"/>
                <a:gd name="T19" fmla="*/ 152400 h 254"/>
                <a:gd name="T20" fmla="*/ 212725 w 267"/>
                <a:gd name="T21" fmla="*/ 0 h 2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7" h="254">
                  <a:moveTo>
                    <a:pt x="134" y="0"/>
                  </a:moveTo>
                  <a:lnTo>
                    <a:pt x="167" y="96"/>
                  </a:lnTo>
                  <a:lnTo>
                    <a:pt x="267" y="98"/>
                  </a:lnTo>
                  <a:lnTo>
                    <a:pt x="187" y="158"/>
                  </a:lnTo>
                  <a:lnTo>
                    <a:pt x="216" y="254"/>
                  </a:lnTo>
                  <a:lnTo>
                    <a:pt x="134" y="199"/>
                  </a:lnTo>
                  <a:lnTo>
                    <a:pt x="51" y="254"/>
                  </a:lnTo>
                  <a:lnTo>
                    <a:pt x="80" y="158"/>
                  </a:lnTo>
                  <a:lnTo>
                    <a:pt x="0" y="98"/>
                  </a:lnTo>
                  <a:lnTo>
                    <a:pt x="100" y="96"/>
                  </a:lnTo>
                  <a:lnTo>
                    <a:pt x="134" y="0"/>
                  </a:lnTo>
                  <a:close/>
                </a:path>
              </a:pathLst>
            </a:custGeom>
            <a:grpFill/>
            <a:ln>
              <a:noFill/>
            </a:ln>
          </p:spPr>
          <p:txBody>
            <a:bodyPr/>
            <a:lstStyle/>
            <a:p>
              <a:pPr eaLnBrk="1" fontAlgn="auto" hangingPunct="1">
                <a:spcBef>
                  <a:spcPts val="0"/>
                </a:spcBef>
                <a:spcAft>
                  <a:spcPts val="0"/>
                </a:spcAft>
                <a:defRPr/>
              </a:pPr>
              <a:endParaRPr lang="zh-CN" altLang="en-US">
                <a:latin typeface="+mn-lt"/>
                <a:ea typeface="+mn-ea"/>
              </a:endParaRPr>
            </a:p>
          </p:txBody>
        </p:sp>
        <p:sp>
          <p:nvSpPr>
            <p:cNvPr id="14" name="Freeform 103"/>
            <p:cNvSpPr/>
            <p:nvPr/>
          </p:nvSpPr>
          <p:spPr bwMode="auto">
            <a:xfrm>
              <a:off x="7300913" y="3405188"/>
              <a:ext cx="423863" cy="403225"/>
            </a:xfrm>
            <a:custGeom>
              <a:avLst/>
              <a:gdLst>
                <a:gd name="T0" fmla="*/ 212725 w 267"/>
                <a:gd name="T1" fmla="*/ 0 h 254"/>
                <a:gd name="T2" fmla="*/ 265113 w 267"/>
                <a:gd name="T3" fmla="*/ 152400 h 254"/>
                <a:gd name="T4" fmla="*/ 423863 w 267"/>
                <a:gd name="T5" fmla="*/ 155575 h 254"/>
                <a:gd name="T6" fmla="*/ 296863 w 267"/>
                <a:gd name="T7" fmla="*/ 250825 h 254"/>
                <a:gd name="T8" fmla="*/ 342900 w 267"/>
                <a:gd name="T9" fmla="*/ 403225 h 254"/>
                <a:gd name="T10" fmla="*/ 212725 w 267"/>
                <a:gd name="T11" fmla="*/ 315913 h 254"/>
                <a:gd name="T12" fmla="*/ 80963 w 267"/>
                <a:gd name="T13" fmla="*/ 403225 h 254"/>
                <a:gd name="T14" fmla="*/ 127000 w 267"/>
                <a:gd name="T15" fmla="*/ 250825 h 254"/>
                <a:gd name="T16" fmla="*/ 0 w 267"/>
                <a:gd name="T17" fmla="*/ 155575 h 254"/>
                <a:gd name="T18" fmla="*/ 158750 w 267"/>
                <a:gd name="T19" fmla="*/ 152400 h 254"/>
                <a:gd name="T20" fmla="*/ 212725 w 267"/>
                <a:gd name="T21" fmla="*/ 0 h 25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67" h="254">
                  <a:moveTo>
                    <a:pt x="134" y="0"/>
                  </a:moveTo>
                  <a:lnTo>
                    <a:pt x="167" y="96"/>
                  </a:lnTo>
                  <a:lnTo>
                    <a:pt x="267" y="98"/>
                  </a:lnTo>
                  <a:lnTo>
                    <a:pt x="187" y="158"/>
                  </a:lnTo>
                  <a:lnTo>
                    <a:pt x="216" y="254"/>
                  </a:lnTo>
                  <a:lnTo>
                    <a:pt x="134" y="199"/>
                  </a:lnTo>
                  <a:lnTo>
                    <a:pt x="51" y="254"/>
                  </a:lnTo>
                  <a:lnTo>
                    <a:pt x="80" y="158"/>
                  </a:lnTo>
                  <a:lnTo>
                    <a:pt x="0" y="98"/>
                  </a:lnTo>
                  <a:lnTo>
                    <a:pt x="100" y="96"/>
                  </a:lnTo>
                  <a:lnTo>
                    <a:pt x="134" y="0"/>
                  </a:lnTo>
                </a:path>
              </a:pathLst>
            </a:custGeom>
            <a:grpFill/>
            <a:ln>
              <a:noFill/>
            </a:ln>
          </p:spPr>
          <p:txBody>
            <a:bodyPr/>
            <a:lstStyle/>
            <a:p>
              <a:pPr eaLnBrk="1" fontAlgn="auto" hangingPunct="1">
                <a:spcBef>
                  <a:spcPts val="0"/>
                </a:spcBef>
                <a:spcAft>
                  <a:spcPts val="0"/>
                </a:spcAft>
                <a:defRPr/>
              </a:pPr>
              <a:endParaRPr lang="zh-CN" altLang="en-US">
                <a:latin typeface="+mn-lt"/>
                <a:ea typeface="+mn-ea"/>
              </a:endParaRPr>
            </a:p>
          </p:txBody>
        </p:sp>
        <p:sp>
          <p:nvSpPr>
            <p:cNvPr id="15" name="Rectangle 104"/>
            <p:cNvSpPr>
              <a:spLocks noChangeArrowheads="1"/>
            </p:cNvSpPr>
            <p:nvPr/>
          </p:nvSpPr>
          <p:spPr bwMode="auto">
            <a:xfrm>
              <a:off x="7470776" y="3284538"/>
              <a:ext cx="84138" cy="1920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16" name="Rectangle 105"/>
            <p:cNvSpPr>
              <a:spLocks noChangeArrowheads="1"/>
            </p:cNvSpPr>
            <p:nvPr/>
          </p:nvSpPr>
          <p:spPr bwMode="auto">
            <a:xfrm>
              <a:off x="7470776" y="3284538"/>
              <a:ext cx="84138" cy="192088"/>
            </a:xfrm>
            <a:prstGeom prst="rect">
              <a:avLst/>
            </a:prstGeom>
            <a:grpFill/>
            <a:ln>
              <a:noFill/>
            </a:ln>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宋体" panose="02010600030101010101" pitchFamily="2" charset="-122"/>
                </a:defRPr>
              </a:lvl9pPr>
            </a:lstStyle>
            <a:p>
              <a:pPr eaLnBrk="1" fontAlgn="auto" hangingPunct="1">
                <a:spcBef>
                  <a:spcPts val="0"/>
                </a:spcBef>
                <a:spcAft>
                  <a:spcPts val="0"/>
                </a:spcAft>
                <a:defRPr/>
              </a:pPr>
              <a:endParaRPr lang="zh-CN" altLang="en-US">
                <a:solidFill>
                  <a:srgbClr val="000000"/>
                </a:solidFill>
              </a:endParaRPr>
            </a:p>
          </p:txBody>
        </p:sp>
        <p:sp>
          <p:nvSpPr>
            <p:cNvPr id="17" name="Freeform 106"/>
            <p:cNvSpPr/>
            <p:nvPr/>
          </p:nvSpPr>
          <p:spPr bwMode="auto">
            <a:xfrm>
              <a:off x="7470776" y="3284538"/>
              <a:ext cx="84138" cy="192088"/>
            </a:xfrm>
            <a:custGeom>
              <a:avLst/>
              <a:gdLst>
                <a:gd name="T0" fmla="*/ 84138 w 53"/>
                <a:gd name="T1" fmla="*/ 0 h 121"/>
                <a:gd name="T2" fmla="*/ 0 w 53"/>
                <a:gd name="T3" fmla="*/ 0 h 121"/>
                <a:gd name="T4" fmla="*/ 0 w 53"/>
                <a:gd name="T5" fmla="*/ 192088 h 121"/>
                <a:gd name="T6" fmla="*/ 42863 w 53"/>
                <a:gd name="T7" fmla="*/ 68263 h 121"/>
                <a:gd name="T8" fmla="*/ 84138 w 53"/>
                <a:gd name="T9" fmla="*/ 192088 h 121"/>
                <a:gd name="T10" fmla="*/ 84138 w 53"/>
                <a:gd name="T11" fmla="*/ 0 h 1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 h="121">
                  <a:moveTo>
                    <a:pt x="53" y="0"/>
                  </a:moveTo>
                  <a:lnTo>
                    <a:pt x="0" y="0"/>
                  </a:lnTo>
                  <a:lnTo>
                    <a:pt x="0" y="121"/>
                  </a:lnTo>
                  <a:lnTo>
                    <a:pt x="27" y="43"/>
                  </a:lnTo>
                  <a:lnTo>
                    <a:pt x="53" y="121"/>
                  </a:lnTo>
                  <a:lnTo>
                    <a:pt x="53" y="0"/>
                  </a:lnTo>
                  <a:close/>
                </a:path>
              </a:pathLst>
            </a:custGeom>
            <a:grpFill/>
            <a:ln>
              <a:noFill/>
            </a:ln>
          </p:spPr>
          <p:txBody>
            <a:bodyPr/>
            <a:lstStyle/>
            <a:p>
              <a:pPr eaLnBrk="1" fontAlgn="auto" hangingPunct="1">
                <a:spcBef>
                  <a:spcPts val="0"/>
                </a:spcBef>
                <a:spcAft>
                  <a:spcPts val="0"/>
                </a:spcAft>
                <a:defRPr/>
              </a:pPr>
              <a:endParaRPr lang="zh-CN" altLang="en-US">
                <a:latin typeface="+mn-lt"/>
                <a:ea typeface="+mn-ea"/>
              </a:endParaRPr>
            </a:p>
          </p:txBody>
        </p:sp>
        <p:sp>
          <p:nvSpPr>
            <p:cNvPr id="18" name="Freeform 107"/>
            <p:cNvSpPr/>
            <p:nvPr/>
          </p:nvSpPr>
          <p:spPr bwMode="auto">
            <a:xfrm>
              <a:off x="7470776" y="3284538"/>
              <a:ext cx="84138" cy="192088"/>
            </a:xfrm>
            <a:custGeom>
              <a:avLst/>
              <a:gdLst>
                <a:gd name="T0" fmla="*/ 84138 w 53"/>
                <a:gd name="T1" fmla="*/ 0 h 121"/>
                <a:gd name="T2" fmla="*/ 0 w 53"/>
                <a:gd name="T3" fmla="*/ 0 h 121"/>
                <a:gd name="T4" fmla="*/ 0 w 53"/>
                <a:gd name="T5" fmla="*/ 192088 h 121"/>
                <a:gd name="T6" fmla="*/ 42863 w 53"/>
                <a:gd name="T7" fmla="*/ 68263 h 121"/>
                <a:gd name="T8" fmla="*/ 84138 w 53"/>
                <a:gd name="T9" fmla="*/ 192088 h 121"/>
                <a:gd name="T10" fmla="*/ 84138 w 53"/>
                <a:gd name="T11" fmla="*/ 0 h 1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3" h="121">
                  <a:moveTo>
                    <a:pt x="53" y="0"/>
                  </a:moveTo>
                  <a:lnTo>
                    <a:pt x="0" y="0"/>
                  </a:lnTo>
                  <a:lnTo>
                    <a:pt x="0" y="121"/>
                  </a:lnTo>
                  <a:lnTo>
                    <a:pt x="27" y="43"/>
                  </a:lnTo>
                  <a:lnTo>
                    <a:pt x="53" y="121"/>
                  </a:lnTo>
                  <a:lnTo>
                    <a:pt x="53" y="0"/>
                  </a:lnTo>
                </a:path>
              </a:pathLst>
            </a:custGeom>
            <a:grpFill/>
            <a:ln>
              <a:noFill/>
            </a:ln>
          </p:spPr>
          <p:txBody>
            <a:bodyPr/>
            <a:lstStyle/>
            <a:p>
              <a:pPr eaLnBrk="1" fontAlgn="auto" hangingPunct="1">
                <a:spcBef>
                  <a:spcPts val="0"/>
                </a:spcBef>
                <a:spcAft>
                  <a:spcPts val="0"/>
                </a:spcAft>
                <a:defRPr/>
              </a:pPr>
              <a:endParaRPr lang="zh-CN" altLang="en-US">
                <a:latin typeface="+mn-lt"/>
                <a:ea typeface="+mn-ea"/>
              </a:endParaRPr>
            </a:p>
          </p:txBody>
        </p:sp>
      </p:gr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49464" y="2689288"/>
            <a:ext cx="3233171" cy="2021497"/>
            <a:chOff x="1055440" y="2906252"/>
            <a:chExt cx="2290660" cy="1432205"/>
          </a:xfrm>
        </p:grpSpPr>
        <p:grpSp>
          <p:nvGrpSpPr>
            <p:cNvPr id="72" name="组合 71"/>
            <p:cNvGrpSpPr/>
            <p:nvPr/>
          </p:nvGrpSpPr>
          <p:grpSpPr>
            <a:xfrm>
              <a:off x="1582579" y="3060862"/>
              <a:ext cx="1277595" cy="1277595"/>
              <a:chOff x="1677608" y="2996952"/>
              <a:chExt cx="1395643" cy="1395643"/>
            </a:xfrm>
          </p:grpSpPr>
          <p:sp>
            <p:nvSpPr>
              <p:cNvPr id="73"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prstClr val="white"/>
                  </a:solidFill>
                  <a:latin typeface="微软雅黑" panose="020B0503020204020204" pitchFamily="34" charset="-122"/>
                  <a:ea typeface="微软雅黑" panose="020B0503020204020204" pitchFamily="34" charset="-122"/>
                </a:endParaRPr>
              </a:p>
            </p:txBody>
          </p:sp>
          <p:sp>
            <p:nvSpPr>
              <p:cNvPr id="74" name="Oval 29"/>
              <p:cNvSpPr>
                <a:spLocks noChangeAspect="1"/>
              </p:cNvSpPr>
              <p:nvPr/>
            </p:nvSpPr>
            <p:spPr>
              <a:xfrm>
                <a:off x="1850114" y="3169458"/>
                <a:ext cx="1050630" cy="1050630"/>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75" name="标题 4"/>
            <p:cNvSpPr txBox="1"/>
            <p:nvPr/>
          </p:nvSpPr>
          <p:spPr>
            <a:xfrm>
              <a:off x="1816436" y="3553975"/>
              <a:ext cx="809879" cy="27651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800" b="1" dirty="0">
                  <a:solidFill>
                    <a:schemeClr val="bg1"/>
                  </a:solidFill>
                  <a:latin typeface="微软雅黑" panose="020B0503020204020204" pitchFamily="34" charset="-122"/>
                  <a:ea typeface="微软雅黑" panose="020B0503020204020204" pitchFamily="34" charset="-122"/>
                </a:rPr>
                <a:t>主要内容</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76" name="椭圆 75"/>
            <p:cNvSpPr/>
            <p:nvPr/>
          </p:nvSpPr>
          <p:spPr>
            <a:xfrm>
              <a:off x="2626315" y="2906252"/>
              <a:ext cx="311401" cy="307477"/>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7" name="椭圆 76"/>
            <p:cNvSpPr/>
            <p:nvPr/>
          </p:nvSpPr>
          <p:spPr>
            <a:xfrm>
              <a:off x="2995116" y="3309437"/>
              <a:ext cx="350984" cy="390219"/>
            </a:xfrm>
            <a:prstGeom prst="ellipse">
              <a:avLst/>
            </a:prstGeom>
            <a:solidFill>
              <a:schemeClr val="tx2">
                <a:lumMod val="60000"/>
                <a:lumOff val="4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8" name="椭圆 77"/>
            <p:cNvSpPr/>
            <p:nvPr/>
          </p:nvSpPr>
          <p:spPr>
            <a:xfrm>
              <a:off x="1055440" y="3509963"/>
              <a:ext cx="379388" cy="379388"/>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9" name="椭圆 78"/>
            <p:cNvSpPr/>
            <p:nvPr/>
          </p:nvSpPr>
          <p:spPr>
            <a:xfrm>
              <a:off x="1361104" y="3889351"/>
              <a:ext cx="221474" cy="221474"/>
            </a:xfrm>
            <a:prstGeom prst="ellipse">
              <a:avLst/>
            </a:prstGeom>
            <a:solidFill>
              <a:srgbClr val="00B0F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0" name="椭圆 79"/>
            <p:cNvSpPr/>
            <p:nvPr/>
          </p:nvSpPr>
          <p:spPr>
            <a:xfrm>
              <a:off x="1445957" y="3334077"/>
              <a:ext cx="130332" cy="130332"/>
            </a:xfrm>
            <a:prstGeom prst="ellipse">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92" name="圆角矩形 191"/>
          <p:cNvSpPr/>
          <p:nvPr/>
        </p:nvSpPr>
        <p:spPr>
          <a:xfrm>
            <a:off x="5611587" y="2371319"/>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193" name="组合 192"/>
          <p:cNvGrpSpPr/>
          <p:nvPr/>
        </p:nvGrpSpPr>
        <p:grpSpPr>
          <a:xfrm>
            <a:off x="4439816" y="3331512"/>
            <a:ext cx="834872" cy="768824"/>
            <a:chOff x="1677608" y="2996952"/>
            <a:chExt cx="1395643" cy="1395643"/>
          </a:xfrm>
        </p:grpSpPr>
        <p:sp>
          <p:nvSpPr>
            <p:cNvPr id="194"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195"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三</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196" name="文本框 9"/>
          <p:cNvSpPr txBox="1"/>
          <p:nvPr/>
        </p:nvSpPr>
        <p:spPr>
          <a:xfrm>
            <a:off x="5734316" y="3515919"/>
            <a:ext cx="2063479" cy="421256"/>
          </a:xfrm>
          <a:prstGeom prst="rect">
            <a:avLst/>
          </a:prstGeom>
          <a:noFill/>
        </p:spPr>
        <p:txBody>
          <a:bodyPr wrap="square" lIns="51422" tIns="25711" rIns="51422" bIns="25711" rtlCol="0">
            <a:spAutoFit/>
          </a:bodyPr>
          <a:lstStyle/>
          <a:p>
            <a:pPr marL="0" lvl="1" algn="ctr"/>
            <a:r>
              <a:rPr lang="zh-CN" altLang="en-US" sz="2400" b="1" dirty="0">
                <a:solidFill>
                  <a:schemeClr val="bg1"/>
                </a:solidFill>
                <a:latin typeface="微软雅黑" panose="020B0503020204020204" pitchFamily="34" charset="-122"/>
                <a:ea typeface="微软雅黑" panose="020B0503020204020204" pitchFamily="34" charset="-122"/>
              </a:rPr>
              <a:t>测评介绍</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sp>
        <p:nvSpPr>
          <p:cNvPr id="199" name="圆角矩形 198"/>
          <p:cNvSpPr/>
          <p:nvPr/>
        </p:nvSpPr>
        <p:spPr>
          <a:xfrm>
            <a:off x="5611587" y="4437112"/>
            <a:ext cx="2381066" cy="569078"/>
          </a:xfrm>
          <a:prstGeom prst="roundRect">
            <a:avLst>
              <a:gd name="adj" fmla="val 50000"/>
            </a:avLst>
          </a:prstGeom>
          <a:solidFill>
            <a:srgbClr val="C00000"/>
          </a:soli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0" name="组合 199"/>
          <p:cNvGrpSpPr/>
          <p:nvPr/>
        </p:nvGrpSpPr>
        <p:grpSpPr>
          <a:xfrm>
            <a:off x="4469041" y="1315288"/>
            <a:ext cx="834871" cy="812968"/>
            <a:chOff x="1677608" y="2996952"/>
            <a:chExt cx="1395643" cy="1395643"/>
          </a:xfrm>
        </p:grpSpPr>
        <p:sp>
          <p:nvSpPr>
            <p:cNvPr id="20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rgbClr val="FA783A"/>
                </a:solidFill>
              </a:endParaRPr>
            </a:p>
          </p:txBody>
        </p:sp>
        <p:sp>
          <p:nvSpPr>
            <p:cNvPr id="202" name="Oval 29"/>
            <p:cNvSpPr>
              <a:spLocks noChangeAspect="1"/>
            </p:cNvSpPr>
            <p:nvPr/>
          </p:nvSpPr>
          <p:spPr>
            <a:xfrm>
              <a:off x="1850114" y="3169457"/>
              <a:ext cx="1050630" cy="1050629"/>
            </a:xfrm>
            <a:prstGeom prst="ellipse">
              <a:avLst/>
            </a:prstGeom>
            <a:solidFill>
              <a:srgbClr val="00B0F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100" dirty="0">
                <a:solidFill>
                  <a:schemeClr val="bg1"/>
                </a:solidFill>
                <a:effectLst>
                  <a:outerShdw blurRad="38100" dist="38100" dir="2700000" algn="tl">
                    <a:srgbClr val="000000">
                      <a:alpha val="43137"/>
                    </a:srgbClr>
                  </a:outerShdw>
                </a:effectLst>
                <a:latin typeface="DIN-BoldItalic" pitchFamily="50" charset="0"/>
              </a:endParaRPr>
            </a:p>
            <a:p>
              <a:pPr algn="ctr"/>
              <a:r>
                <a:rPr lang="zh-CN" altLang="en-US" sz="28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a:t>
              </a:r>
              <a:r>
                <a:rPr lang="en-US" sz="2100" dirty="0">
                  <a:solidFill>
                    <a:srgbClr val="FA783A"/>
                  </a:solidFill>
                  <a:effectLst>
                    <a:outerShdw blurRad="38100" dist="38100" dir="2700000" algn="tl">
                      <a:srgbClr val="000000">
                        <a:alpha val="43137"/>
                      </a:srgbClr>
                    </a:outerShdw>
                  </a:effectLst>
                  <a:latin typeface="DIN-BoldItalic" pitchFamily="50" charset="0"/>
                </a:rPr>
                <a:t></a:t>
              </a:r>
              <a:endParaRPr lang="en-US" sz="2100" dirty="0">
                <a:solidFill>
                  <a:srgbClr val="FA783A"/>
                </a:solidFill>
                <a:effectLst>
                  <a:outerShdw blurRad="38100" dist="38100" dir="2700000" algn="tl">
                    <a:srgbClr val="000000">
                      <a:alpha val="43137"/>
                    </a:srgbClr>
                  </a:outerShdw>
                </a:effectLst>
                <a:latin typeface="DIN-BoldItalic" pitchFamily="50" charset="0"/>
              </a:endParaRPr>
            </a:p>
          </p:txBody>
        </p:sp>
      </p:grpSp>
      <p:sp>
        <p:nvSpPr>
          <p:cNvPr id="206" name="圆角矩形 205"/>
          <p:cNvSpPr/>
          <p:nvPr/>
        </p:nvSpPr>
        <p:spPr>
          <a:xfrm>
            <a:off x="5591943" y="1415773"/>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207" name="组合 206"/>
          <p:cNvGrpSpPr/>
          <p:nvPr/>
        </p:nvGrpSpPr>
        <p:grpSpPr>
          <a:xfrm>
            <a:off x="4439816" y="2323400"/>
            <a:ext cx="834871" cy="768824"/>
            <a:chOff x="1677608" y="2996952"/>
            <a:chExt cx="1395643" cy="1395643"/>
          </a:xfrm>
        </p:grpSpPr>
        <p:sp>
          <p:nvSpPr>
            <p:cNvPr id="208"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209" name="Oval 29"/>
            <p:cNvSpPr>
              <a:spLocks noChangeAspect="1"/>
            </p:cNvSpPr>
            <p:nvPr/>
          </p:nvSpPr>
          <p:spPr>
            <a:xfrm>
              <a:off x="1918358" y="3216153"/>
              <a:ext cx="910867" cy="910866"/>
            </a:xfrm>
            <a:prstGeom prst="ellipse">
              <a:avLst/>
            </a:prstGeom>
            <a:solidFill>
              <a:srgbClr val="2684E2"/>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10" name="文本框 9"/>
          <p:cNvSpPr txBox="1"/>
          <p:nvPr/>
        </p:nvSpPr>
        <p:spPr>
          <a:xfrm>
            <a:off x="5871279" y="2430959"/>
            <a:ext cx="1842346" cy="421256"/>
          </a:xfrm>
          <a:prstGeom prst="rect">
            <a:avLst/>
          </a:prstGeom>
          <a:noFill/>
        </p:spPr>
        <p:txBody>
          <a:bodyPr wrap="square" lIns="51422" tIns="25711" rIns="51422" bIns="25711" rtlCol="0">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等保政策</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226" name="TextBox 225"/>
          <p:cNvSpPr txBox="1"/>
          <p:nvPr/>
        </p:nvSpPr>
        <p:spPr>
          <a:xfrm>
            <a:off x="13181169" y="6986517"/>
            <a:ext cx="704039" cy="300082"/>
          </a:xfrm>
          <a:prstGeom prst="rect">
            <a:avLst/>
          </a:prstGeom>
          <a:noFill/>
        </p:spPr>
        <p:txBody>
          <a:bodyPr wrap="none" rtlCol="0">
            <a:spAutoFit/>
          </a:bodyPr>
          <a:lstStyle/>
          <a:p>
            <a:r>
              <a:rPr lang="zh-CN" altLang="en-US" sz="1350" dirty="0"/>
              <a:t>延时符</a:t>
            </a:r>
            <a:endParaRPr lang="zh-CN" altLang="en-US" sz="1350" dirty="0"/>
          </a:p>
        </p:txBody>
      </p:sp>
      <p:sp>
        <p:nvSpPr>
          <p:cNvPr id="38" name="KSO_Shape"/>
          <p:cNvSpPr/>
          <p:nvPr/>
        </p:nvSpPr>
        <p:spPr bwMode="auto">
          <a:xfrm>
            <a:off x="4684909" y="4516524"/>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sp>
        <p:nvSpPr>
          <p:cNvPr id="39" name="圆角矩形 191"/>
          <p:cNvSpPr/>
          <p:nvPr/>
        </p:nvSpPr>
        <p:spPr>
          <a:xfrm>
            <a:off x="5611587" y="3429000"/>
            <a:ext cx="2361729" cy="569078"/>
          </a:xfrm>
          <a:prstGeom prst="roundRect">
            <a:avLst>
              <a:gd name="adj" fmla="val 50000"/>
            </a:avLst>
          </a:prstGeom>
          <a:gradFill>
            <a:gsLst>
              <a:gs pos="100000">
                <a:schemeClr val="bg1"/>
              </a:gs>
              <a:gs pos="0">
                <a:srgbClr val="EEEEEE"/>
              </a:gs>
            </a:gsLst>
            <a:lin ang="8100000" scaled="0"/>
          </a:gradFill>
          <a:ln w="19050">
            <a:gradFill>
              <a:gsLst>
                <a:gs pos="0">
                  <a:schemeClr val="accent1">
                    <a:lumMod val="5000"/>
                    <a:lumOff val="95000"/>
                  </a:schemeClr>
                </a:gs>
                <a:gs pos="100000">
                  <a:srgbClr val="EEEEEE"/>
                </a:gs>
              </a:gsLst>
              <a:lin ang="8100000" scaled="0"/>
            </a:gradFill>
          </a:ln>
          <a:effectLst>
            <a:outerShdw blurRad="127000" dist="635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olidFill>
                <a:srgbClr val="1C76CE"/>
              </a:solidFill>
            </a:endParaRPr>
          </a:p>
        </p:txBody>
      </p:sp>
      <p:grpSp>
        <p:nvGrpSpPr>
          <p:cNvPr id="40" name="组合 39"/>
          <p:cNvGrpSpPr/>
          <p:nvPr/>
        </p:nvGrpSpPr>
        <p:grpSpPr>
          <a:xfrm>
            <a:off x="4454351" y="4411632"/>
            <a:ext cx="834872" cy="768824"/>
            <a:chOff x="1677608" y="2996952"/>
            <a:chExt cx="1395643" cy="1395643"/>
          </a:xfrm>
        </p:grpSpPr>
        <p:sp>
          <p:nvSpPr>
            <p:cNvPr id="41" name="Oval 60"/>
            <p:cNvSpPr>
              <a:spLocks noChangeAspect="1"/>
            </p:cNvSpPr>
            <p:nvPr/>
          </p:nvSpPr>
          <p:spPr>
            <a:xfrm>
              <a:off x="1677608" y="2996952"/>
              <a:ext cx="1395643" cy="1395643"/>
            </a:xfrm>
            <a:prstGeom prst="ellipse">
              <a:avLst/>
            </a:prstGeom>
            <a:gradFill flip="none" rotWithShape="1">
              <a:gsLst>
                <a:gs pos="100000">
                  <a:schemeClr val="bg1">
                    <a:lumMod val="81000"/>
                  </a:schemeClr>
                </a:gs>
                <a:gs pos="0">
                  <a:schemeClr val="bg1">
                    <a:lumMod val="99000"/>
                  </a:schemeClr>
                </a:gs>
              </a:gsLst>
              <a:lin ang="5400000" scaled="1"/>
              <a:tileRect/>
            </a:gradFill>
            <a:ln>
              <a:noFill/>
            </a:ln>
            <a:effectLst>
              <a:outerShdw blurRad="3175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rgbClr val="FA783A"/>
                </a:solidFill>
              </a:endParaRPr>
            </a:p>
          </p:txBody>
        </p:sp>
        <p:sp>
          <p:nvSpPr>
            <p:cNvPr id="42" name="Oval 29"/>
            <p:cNvSpPr>
              <a:spLocks noChangeAspect="1"/>
            </p:cNvSpPr>
            <p:nvPr/>
          </p:nvSpPr>
          <p:spPr>
            <a:xfrm>
              <a:off x="1850114" y="3169458"/>
              <a:ext cx="1050630" cy="1050630"/>
            </a:xfrm>
            <a:prstGeom prst="ellipse">
              <a:avLst/>
            </a:prstGeom>
            <a:solidFill>
              <a:srgbClr val="0070C0"/>
            </a:solidFill>
            <a:ln w="120650">
              <a:gradFill flip="none" rotWithShape="1">
                <a:gsLst>
                  <a:gs pos="0">
                    <a:schemeClr val="bg1">
                      <a:lumMod val="78000"/>
                    </a:schemeClr>
                  </a:gs>
                  <a:gs pos="100000">
                    <a:schemeClr val="bg1">
                      <a:lumMod val="98000"/>
                    </a:schemeClr>
                  </a:gs>
                </a:gsLst>
                <a:lin ang="5400000" scaled="1"/>
                <a:tileRect/>
              </a:gradFill>
            </a:ln>
            <a:effectLst>
              <a:innerShdw blurRad="330200" dist="165100" dir="16200000">
                <a:prstClr val="black">
                  <a:alpha val="5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a:t>
              </a:r>
              <a:endParaRPr 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43" name="文本框 9"/>
          <p:cNvSpPr txBox="1"/>
          <p:nvPr/>
        </p:nvSpPr>
        <p:spPr>
          <a:xfrm>
            <a:off x="5760713" y="4509120"/>
            <a:ext cx="2063479" cy="421256"/>
          </a:xfrm>
          <a:prstGeom prst="rect">
            <a:avLst/>
          </a:prstGeom>
          <a:noFill/>
        </p:spPr>
        <p:txBody>
          <a:bodyPr wrap="square" lIns="51422" tIns="25711" rIns="51422" bIns="25711" rtlCol="0">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解决方案</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2" name="矩形 1"/>
          <p:cNvSpPr/>
          <p:nvPr/>
        </p:nvSpPr>
        <p:spPr>
          <a:xfrm>
            <a:off x="6084565" y="1490939"/>
            <a:ext cx="1415773" cy="461665"/>
          </a:xfrm>
          <a:prstGeom prst="rect">
            <a:avLst/>
          </a:prstGeom>
        </p:spPr>
        <p:txBody>
          <a:bodyPr wrap="none">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等保介绍</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3" name="矩形 2"/>
          <p:cNvSpPr/>
          <p:nvPr/>
        </p:nvSpPr>
        <p:spPr>
          <a:xfrm>
            <a:off x="6058169" y="3495714"/>
            <a:ext cx="1415772" cy="461665"/>
          </a:xfrm>
          <a:prstGeom prst="rect">
            <a:avLst/>
          </a:prstGeom>
        </p:spPr>
        <p:txBody>
          <a:bodyPr wrap="none">
            <a:spAutoFit/>
          </a:bodyPr>
          <a:lstStyle/>
          <a:p>
            <a:pPr marL="0" lvl="1" algn="ctr"/>
            <a:r>
              <a:rPr lang="zh-CN" altLang="en-US" sz="2400" b="1" dirty="0">
                <a:solidFill>
                  <a:srgbClr val="257FD9"/>
                </a:solidFill>
                <a:latin typeface="微软雅黑" panose="020B0503020204020204" pitchFamily="34" charset="-122"/>
                <a:ea typeface="微软雅黑" panose="020B0503020204020204" pitchFamily="34" charset="-122"/>
              </a:rPr>
              <a:t>测评介绍</a:t>
            </a:r>
            <a:endParaRPr lang="en-US" altLang="zh-CN" sz="2400" b="1" dirty="0">
              <a:solidFill>
                <a:srgbClr val="257FD9"/>
              </a:solidFill>
              <a:latin typeface="微软雅黑" panose="020B0503020204020204" pitchFamily="34" charset="-122"/>
              <a:ea typeface="微软雅黑" panose="020B0503020204020204" pitchFamily="34" charset="-122"/>
            </a:endParaRPr>
          </a:p>
        </p:txBody>
      </p:sp>
      <p:sp>
        <p:nvSpPr>
          <p:cNvPr id="35" name="KSO_Shape"/>
          <p:cNvSpPr/>
          <p:nvPr/>
        </p:nvSpPr>
        <p:spPr bwMode="auto">
          <a:xfrm>
            <a:off x="4670374" y="5501372"/>
            <a:ext cx="403495" cy="255147"/>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b="1">
              <a:solidFill>
                <a:srgbClr val="1C666E"/>
              </a:solidFill>
              <a:ea typeface="宋体" panose="02010600030101010101" pitchFamily="2" charset="-122"/>
            </a:endParaRPr>
          </a:p>
        </p:txBody>
      </p:sp>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nvGraphicFramePr>
        <p:xfrm>
          <a:off x="157162" y="571499"/>
          <a:ext cx="12034837" cy="596240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ustDataLst>
      <p:tags r:id="rId6"/>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256115" y="104188"/>
            <a:ext cx="10075822" cy="81982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网络安全解读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6"/>
          <p:cNvGrpSpPr/>
          <p:nvPr/>
        </p:nvGrpSpPr>
        <p:grpSpPr>
          <a:xfrm>
            <a:off x="3450985" y="1888414"/>
            <a:ext cx="4497183" cy="3628818"/>
            <a:chOff x="2511644" y="1353001"/>
            <a:chExt cx="3689562" cy="2584260"/>
          </a:xfrm>
        </p:grpSpPr>
        <p:sp>
          <p:nvSpPr>
            <p:cNvPr id="8" name="Oval 5"/>
            <p:cNvSpPr>
              <a:spLocks noChangeArrowheads="1"/>
            </p:cNvSpPr>
            <p:nvPr/>
          </p:nvSpPr>
          <p:spPr bwMode="auto">
            <a:xfrm>
              <a:off x="3927018" y="2498903"/>
              <a:ext cx="933180" cy="339034"/>
            </a:xfrm>
            <a:prstGeom prst="ellipse">
              <a:avLst/>
            </a:prstGeom>
            <a:solidFill>
              <a:srgbClr val="FFFFFF">
                <a:lumMod val="50000"/>
              </a:srgbClr>
            </a:solidFill>
            <a:ln>
              <a:noFill/>
            </a:ln>
            <a:effectLst/>
          </p:spPr>
          <p:txBody>
            <a:bodyPr anchor="ctr">
              <a:spAutoFit/>
            </a:bodyPr>
            <a:lstStyle/>
            <a:p>
              <a:pPr defTabSz="685800">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9" name="AutoShape 6"/>
            <p:cNvSpPr>
              <a:spLocks noChangeAspect="1" noChangeArrowheads="1"/>
            </p:cNvSpPr>
            <p:nvPr/>
          </p:nvSpPr>
          <p:spPr bwMode="auto">
            <a:xfrm>
              <a:off x="3676296" y="2179915"/>
              <a:ext cx="1436097" cy="977011"/>
            </a:xfrm>
            <a:custGeom>
              <a:avLst/>
              <a:gdLst>
                <a:gd name="G0" fmla="+- 2546 0 0"/>
                <a:gd name="G1" fmla="+- 21600 0 2546"/>
                <a:gd name="G2" fmla="+- 21600 0 254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546" y="10800"/>
                  </a:moveTo>
                  <a:cubicBezTo>
                    <a:pt x="2546" y="15359"/>
                    <a:pt x="6241" y="19054"/>
                    <a:pt x="10800" y="19054"/>
                  </a:cubicBezTo>
                  <a:cubicBezTo>
                    <a:pt x="15359" y="19054"/>
                    <a:pt x="19054" y="15359"/>
                    <a:pt x="19054" y="10800"/>
                  </a:cubicBezTo>
                  <a:cubicBezTo>
                    <a:pt x="19054" y="6241"/>
                    <a:pt x="15359" y="2546"/>
                    <a:pt x="10800" y="2546"/>
                  </a:cubicBezTo>
                  <a:cubicBezTo>
                    <a:pt x="6241" y="2546"/>
                    <a:pt x="2546" y="6241"/>
                    <a:pt x="2546" y="10800"/>
                  </a:cubicBezTo>
                  <a:close/>
                </a:path>
              </a:pathLst>
            </a:custGeom>
            <a:solidFill>
              <a:srgbClr val="34EDF4">
                <a:alpha val="50000"/>
              </a:srgbClr>
            </a:solidFill>
            <a:ln>
              <a:noFill/>
            </a:ln>
            <a:effectLst/>
            <a:extLst>
              <a:ext uri="{91240B29-F687-4F45-9708-019B960494DF}">
                <a14:hiddenLine xmlns:a14="http://schemas.microsoft.com/office/drawing/2010/main" w="12700">
                  <a:solidFill>
                    <a:srgbClr val="000000"/>
                  </a:solidFill>
                  <a:rou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wrap="none" lIns="116417" tIns="59267" rIns="116417" bIns="59267" anchor="ctr"/>
            <a:lstStyle/>
            <a:p>
              <a:pPr defTabSz="685800">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10" name="AutoShape 7"/>
            <p:cNvSpPr>
              <a:spLocks noChangeAspect="1" noChangeArrowheads="1"/>
            </p:cNvSpPr>
            <p:nvPr/>
          </p:nvSpPr>
          <p:spPr bwMode="auto">
            <a:xfrm>
              <a:off x="3788014" y="2255998"/>
              <a:ext cx="1212658" cy="824843"/>
            </a:xfrm>
            <a:custGeom>
              <a:avLst/>
              <a:gdLst>
                <a:gd name="G0" fmla="+- 1157 0 0"/>
                <a:gd name="G1" fmla="+- 21600 0 1157"/>
                <a:gd name="G2" fmla="+- 21600 0 1157"/>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157" y="10800"/>
                  </a:moveTo>
                  <a:cubicBezTo>
                    <a:pt x="1157" y="16126"/>
                    <a:pt x="5474" y="20443"/>
                    <a:pt x="10800" y="20443"/>
                  </a:cubicBezTo>
                  <a:cubicBezTo>
                    <a:pt x="16126" y="20443"/>
                    <a:pt x="20443" y="16126"/>
                    <a:pt x="20443" y="10800"/>
                  </a:cubicBezTo>
                  <a:cubicBezTo>
                    <a:pt x="20443" y="5474"/>
                    <a:pt x="16126" y="1157"/>
                    <a:pt x="10800" y="1157"/>
                  </a:cubicBezTo>
                  <a:cubicBezTo>
                    <a:pt x="5474" y="1157"/>
                    <a:pt x="1157" y="5474"/>
                    <a:pt x="1157" y="10800"/>
                  </a:cubicBezTo>
                  <a:close/>
                </a:path>
              </a:pathLst>
            </a:custGeom>
            <a:solidFill>
              <a:srgbClr val="34EDF4">
                <a:alpha val="60001"/>
              </a:srgbClr>
            </a:solidFill>
            <a:ln>
              <a:noFill/>
            </a:ln>
            <a:effectLst/>
            <a:extLst>
              <a:ext uri="{91240B29-F687-4F45-9708-019B960494DF}">
                <a14:hiddenLine xmlns:a14="http://schemas.microsoft.com/office/drawing/2010/main" w="12700">
                  <a:solidFill>
                    <a:schemeClr val="bg1"/>
                  </a:solidFill>
                  <a:rou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wrap="none" lIns="116417" tIns="59267" rIns="116417" bIns="59267" anchor="ctr"/>
            <a:lstStyle/>
            <a:p>
              <a:pPr defTabSz="685800">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11" name="Rectangle 21"/>
            <p:cNvSpPr>
              <a:spLocks noChangeArrowheads="1"/>
            </p:cNvSpPr>
            <p:nvPr/>
          </p:nvSpPr>
          <p:spPr bwMode="auto">
            <a:xfrm>
              <a:off x="4010595" y="2584382"/>
              <a:ext cx="808058" cy="157582"/>
            </a:xfrm>
            <a:prstGeom prst="rect">
              <a:avLst/>
            </a:prstGeom>
            <a:noFill/>
            <a:ln>
              <a:noFill/>
            </a:ln>
            <a:effectLst>
              <a:outerShdw dist="17961" dir="2700000" algn="ctr" rotWithShape="0">
                <a:srgbClr val="000000">
                  <a:alpha val="5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defTabSz="857250">
                <a:defRPr kumimoji="1">
                  <a:solidFill>
                    <a:schemeClr val="tx1"/>
                  </a:solidFill>
                  <a:latin typeface="Gulim" panose="020B0600000101010101" pitchFamily="50" charset="-127"/>
                  <a:ea typeface="Gulim" panose="020B0600000101010101" pitchFamily="50" charset="-127"/>
                </a:defRPr>
              </a:lvl1pPr>
              <a:lvl2pPr defTabSz="857250">
                <a:defRPr kumimoji="1">
                  <a:solidFill>
                    <a:schemeClr val="tx1"/>
                  </a:solidFill>
                  <a:latin typeface="Gulim" panose="020B0600000101010101" pitchFamily="50" charset="-127"/>
                  <a:ea typeface="Gulim" panose="020B0600000101010101" pitchFamily="50" charset="-127"/>
                </a:defRPr>
              </a:lvl2pPr>
              <a:lvl3pPr defTabSz="857250">
                <a:defRPr kumimoji="1">
                  <a:solidFill>
                    <a:schemeClr val="tx1"/>
                  </a:solidFill>
                  <a:latin typeface="Gulim" panose="020B0600000101010101" pitchFamily="50" charset="-127"/>
                  <a:ea typeface="Gulim" panose="020B0600000101010101" pitchFamily="50" charset="-127"/>
                </a:defRPr>
              </a:lvl3pPr>
              <a:lvl4pPr defTabSz="857250">
                <a:defRPr kumimoji="1">
                  <a:solidFill>
                    <a:schemeClr val="tx1"/>
                  </a:solidFill>
                  <a:latin typeface="Gulim" panose="020B0600000101010101" pitchFamily="50" charset="-127"/>
                  <a:ea typeface="Gulim" panose="020B0600000101010101" pitchFamily="50" charset="-127"/>
                </a:defRPr>
              </a:lvl4pPr>
              <a:lvl5pPr defTabSz="857250">
                <a:defRPr kumimoji="1">
                  <a:solidFill>
                    <a:schemeClr val="tx1"/>
                  </a:solidFill>
                  <a:latin typeface="Gulim" panose="020B0600000101010101" pitchFamily="50" charset="-127"/>
                  <a:ea typeface="Gulim" panose="020B0600000101010101" pitchFamily="50" charset="-127"/>
                </a:defRPr>
              </a:lvl5pPr>
              <a:lvl6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6pPr>
              <a:lvl7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7pPr>
              <a:lvl8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8pPr>
              <a:lvl9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9pPr>
            </a:lstStyle>
            <a:p>
              <a:pPr algn="ctr" defTabSz="642620" eaLnBrk="0" hangingPunct="0">
                <a:defRPr/>
              </a:pPr>
              <a:r>
                <a:rPr lang="zh-CN" altLang="en-US" sz="1400" b="1" kern="0" dirty="0">
                  <a:solidFill>
                    <a:srgbClr val="FFFFFF"/>
                  </a:solidFill>
                  <a:latin typeface="微软雅黑" panose="020B0503020204020204" pitchFamily="34" charset="-122"/>
                  <a:ea typeface="微软雅黑" panose="020B0503020204020204" pitchFamily="34" charset="-122"/>
                </a:rPr>
                <a:t>网络安全</a:t>
              </a:r>
              <a:endParaRPr lang="en-US" altLang="ko-KR" sz="1400" b="1" kern="0" dirty="0">
                <a:solidFill>
                  <a:srgbClr val="FFFFFF"/>
                </a:solidFill>
                <a:latin typeface="微软雅黑" panose="020B0503020204020204" pitchFamily="34" charset="-122"/>
                <a:ea typeface="微软雅黑" panose="020B0503020204020204" pitchFamily="34" charset="-122"/>
              </a:endParaRPr>
            </a:p>
          </p:txBody>
        </p:sp>
        <p:sp>
          <p:nvSpPr>
            <p:cNvPr id="12" name="Oval 22"/>
            <p:cNvSpPr>
              <a:spLocks noChangeArrowheads="1"/>
            </p:cNvSpPr>
            <p:nvPr/>
          </p:nvSpPr>
          <p:spPr bwMode="auto">
            <a:xfrm rot="19011496">
              <a:off x="3418627" y="2106455"/>
              <a:ext cx="683799" cy="339034"/>
            </a:xfrm>
            <a:prstGeom prst="ellipse">
              <a:avLst/>
            </a:prstGeom>
            <a:gradFill rotWithShape="1">
              <a:gsLst>
                <a:gs pos="0">
                  <a:srgbClr val="FFFFFF">
                    <a:alpha val="39999"/>
                  </a:srgbClr>
                </a:gs>
                <a:gs pos="100000">
                  <a:srgbClr val="FFFFFF">
                    <a:gamma/>
                    <a:shade val="46275"/>
                    <a:invGamma/>
                    <a:alpha val="0"/>
                  </a:srgb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685800">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cxnSp>
          <p:nvCxnSpPr>
            <p:cNvPr id="13" name="直接箭头连接符 12"/>
            <p:cNvCxnSpPr/>
            <p:nvPr/>
          </p:nvCxnSpPr>
          <p:spPr bwMode="auto">
            <a:xfrm flipV="1">
              <a:off x="4381530" y="1884315"/>
              <a:ext cx="5228" cy="419722"/>
            </a:xfrm>
            <a:prstGeom prst="straightConnector1">
              <a:avLst/>
            </a:prstGeom>
            <a:solidFill>
              <a:srgbClr val="FFCC66"/>
            </a:solidFill>
            <a:ln w="28575" cap="flat" cmpd="sng" algn="ctr">
              <a:solidFill>
                <a:srgbClr val="0070C0"/>
              </a:solidFill>
              <a:prstDash val="solid"/>
              <a:round/>
              <a:headEnd type="none" w="med" len="med"/>
              <a:tailEnd type="arrow"/>
            </a:ln>
            <a:effectLst/>
          </p:spPr>
        </p:cxnSp>
        <p:cxnSp>
          <p:nvCxnSpPr>
            <p:cNvPr id="14" name="直接箭头连接符 13"/>
            <p:cNvCxnSpPr/>
            <p:nvPr/>
          </p:nvCxnSpPr>
          <p:spPr bwMode="auto">
            <a:xfrm flipV="1">
              <a:off x="4779219" y="2114728"/>
              <a:ext cx="425280" cy="309011"/>
            </a:xfrm>
            <a:prstGeom prst="straightConnector1">
              <a:avLst/>
            </a:prstGeom>
            <a:solidFill>
              <a:srgbClr val="FFCC66"/>
            </a:solidFill>
            <a:ln w="28575" cap="flat" cmpd="sng" algn="ctr">
              <a:solidFill>
                <a:srgbClr val="0070C0"/>
              </a:solidFill>
              <a:prstDash val="solid"/>
              <a:round/>
              <a:headEnd type="none" w="med" len="med"/>
              <a:tailEnd type="arrow"/>
            </a:ln>
            <a:effectLst/>
          </p:spPr>
        </p:cxnSp>
        <p:cxnSp>
          <p:nvCxnSpPr>
            <p:cNvPr id="15" name="直接箭头连接符 14"/>
            <p:cNvCxnSpPr/>
            <p:nvPr/>
          </p:nvCxnSpPr>
          <p:spPr bwMode="auto">
            <a:xfrm>
              <a:off x="4895442" y="2767542"/>
              <a:ext cx="554593" cy="162848"/>
            </a:xfrm>
            <a:prstGeom prst="straightConnector1">
              <a:avLst/>
            </a:prstGeom>
            <a:solidFill>
              <a:srgbClr val="FFCC66"/>
            </a:solidFill>
            <a:ln w="28575" cap="flat" cmpd="sng" algn="ctr">
              <a:solidFill>
                <a:srgbClr val="0070C0"/>
              </a:solidFill>
              <a:prstDash val="solid"/>
              <a:round/>
              <a:headEnd type="none" w="med" len="med"/>
              <a:tailEnd type="arrow"/>
            </a:ln>
            <a:effectLst/>
          </p:spPr>
        </p:cxnSp>
        <p:cxnSp>
          <p:nvCxnSpPr>
            <p:cNvPr id="16" name="直接箭头连接符 15"/>
            <p:cNvCxnSpPr/>
            <p:nvPr/>
          </p:nvCxnSpPr>
          <p:spPr bwMode="auto">
            <a:xfrm>
              <a:off x="4581874" y="3009264"/>
              <a:ext cx="313568" cy="375057"/>
            </a:xfrm>
            <a:prstGeom prst="straightConnector1">
              <a:avLst/>
            </a:prstGeom>
            <a:solidFill>
              <a:srgbClr val="FFCC66"/>
            </a:solidFill>
            <a:ln w="28575" cap="flat" cmpd="sng" algn="ctr">
              <a:solidFill>
                <a:srgbClr val="0070C0"/>
              </a:solidFill>
              <a:prstDash val="solid"/>
              <a:round/>
              <a:headEnd type="none" w="med" len="med"/>
              <a:tailEnd type="arrow"/>
            </a:ln>
            <a:effectLst/>
          </p:spPr>
        </p:cxnSp>
        <p:cxnSp>
          <p:nvCxnSpPr>
            <p:cNvPr id="17" name="直接箭头连接符 16"/>
            <p:cNvCxnSpPr/>
            <p:nvPr/>
          </p:nvCxnSpPr>
          <p:spPr bwMode="auto">
            <a:xfrm flipH="1">
              <a:off x="3854864" y="2991551"/>
              <a:ext cx="267077" cy="392771"/>
            </a:xfrm>
            <a:prstGeom prst="straightConnector1">
              <a:avLst/>
            </a:prstGeom>
            <a:solidFill>
              <a:srgbClr val="FFCC66"/>
            </a:solidFill>
            <a:ln w="28575" cap="flat" cmpd="sng" algn="ctr">
              <a:solidFill>
                <a:srgbClr val="0070C0"/>
              </a:solidFill>
              <a:prstDash val="solid"/>
              <a:round/>
              <a:headEnd type="none" w="med" len="med"/>
              <a:tailEnd type="arrow"/>
            </a:ln>
            <a:effectLst/>
          </p:spPr>
        </p:cxnSp>
        <p:cxnSp>
          <p:nvCxnSpPr>
            <p:cNvPr id="18" name="直接箭头连接符 17"/>
            <p:cNvCxnSpPr/>
            <p:nvPr/>
          </p:nvCxnSpPr>
          <p:spPr bwMode="auto">
            <a:xfrm flipH="1">
              <a:off x="3260480" y="2751528"/>
              <a:ext cx="593074" cy="69166"/>
            </a:xfrm>
            <a:prstGeom prst="straightConnector1">
              <a:avLst/>
            </a:prstGeom>
            <a:solidFill>
              <a:srgbClr val="FFCC66"/>
            </a:solidFill>
            <a:ln w="28575" cap="flat" cmpd="sng" algn="ctr">
              <a:solidFill>
                <a:srgbClr val="0070C0"/>
              </a:solidFill>
              <a:prstDash val="solid"/>
              <a:round/>
              <a:headEnd type="none" w="med" len="med"/>
              <a:tailEnd type="arrow"/>
            </a:ln>
            <a:effectLst/>
          </p:spPr>
        </p:cxnSp>
        <p:cxnSp>
          <p:nvCxnSpPr>
            <p:cNvPr id="19" name="直接箭头连接符 18"/>
            <p:cNvCxnSpPr/>
            <p:nvPr/>
          </p:nvCxnSpPr>
          <p:spPr bwMode="auto">
            <a:xfrm flipH="1" flipV="1">
              <a:off x="3482795" y="2163130"/>
              <a:ext cx="481918" cy="295685"/>
            </a:xfrm>
            <a:prstGeom prst="straightConnector1">
              <a:avLst/>
            </a:prstGeom>
            <a:solidFill>
              <a:srgbClr val="FFCC66"/>
            </a:solidFill>
            <a:ln w="28575" cap="flat" cmpd="sng" algn="ctr">
              <a:solidFill>
                <a:srgbClr val="0070C0"/>
              </a:solidFill>
              <a:prstDash val="solid"/>
              <a:round/>
              <a:headEnd type="none" w="med" len="med"/>
              <a:tailEnd type="arrow"/>
            </a:ln>
            <a:effectLst/>
          </p:spPr>
        </p:cxnSp>
        <p:sp>
          <p:nvSpPr>
            <p:cNvPr id="20" name="AutoShape 6"/>
            <p:cNvSpPr>
              <a:spLocks noChangeAspect="1" noChangeArrowheads="1"/>
            </p:cNvSpPr>
            <p:nvPr/>
          </p:nvSpPr>
          <p:spPr bwMode="auto">
            <a:xfrm>
              <a:off x="3431034" y="2020857"/>
              <a:ext cx="1911446" cy="1300400"/>
            </a:xfrm>
            <a:custGeom>
              <a:avLst/>
              <a:gdLst>
                <a:gd name="G0" fmla="+- 2546 0 0"/>
                <a:gd name="G1" fmla="+- 21600 0 2546"/>
                <a:gd name="G2" fmla="+- 21600 0 254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546" y="10800"/>
                  </a:moveTo>
                  <a:cubicBezTo>
                    <a:pt x="2546" y="15359"/>
                    <a:pt x="6241" y="19054"/>
                    <a:pt x="10800" y="19054"/>
                  </a:cubicBezTo>
                  <a:cubicBezTo>
                    <a:pt x="15359" y="19054"/>
                    <a:pt x="19054" y="15359"/>
                    <a:pt x="19054" y="10800"/>
                  </a:cubicBezTo>
                  <a:cubicBezTo>
                    <a:pt x="19054" y="6241"/>
                    <a:pt x="15359" y="2546"/>
                    <a:pt x="10800" y="2546"/>
                  </a:cubicBezTo>
                  <a:cubicBezTo>
                    <a:pt x="6241" y="2546"/>
                    <a:pt x="2546" y="6241"/>
                    <a:pt x="2546" y="10800"/>
                  </a:cubicBezTo>
                  <a:close/>
                </a:path>
              </a:pathLst>
            </a:custGeom>
            <a:solidFill>
              <a:srgbClr val="00B0F0">
                <a:alpha val="50000"/>
              </a:srgbClr>
            </a:solidFill>
            <a:ln>
              <a:noFill/>
            </a:ln>
            <a:effectLst/>
          </p:spPr>
          <p:txBody>
            <a:bodyPr wrap="none" lIns="116417" tIns="59267" rIns="116417" bIns="59267" anchor="ctr"/>
            <a:lstStyle/>
            <a:p>
              <a:pPr defTabSz="685800">
                <a:defRPr/>
              </a:pPr>
              <a:endParaRPr lang="zh-CN" altLang="en-US" sz="1600" kern="0">
                <a:solidFill>
                  <a:srgbClr val="000000"/>
                </a:solidFill>
                <a:latin typeface="微软雅黑" panose="020B0503020204020204" pitchFamily="34" charset="-122"/>
                <a:ea typeface="微软雅黑" panose="020B0503020204020204" pitchFamily="34" charset="-122"/>
              </a:endParaRPr>
            </a:p>
          </p:txBody>
        </p:sp>
        <p:sp>
          <p:nvSpPr>
            <p:cNvPr id="21" name="流程图: 联系 53"/>
            <p:cNvSpPr/>
            <p:nvPr/>
          </p:nvSpPr>
          <p:spPr bwMode="auto">
            <a:xfrm>
              <a:off x="2828979" y="1740409"/>
              <a:ext cx="751171" cy="535563"/>
            </a:xfrm>
            <a:prstGeom prst="flowChartConnector">
              <a:avLst/>
            </a:prstGeom>
            <a:solidFill>
              <a:srgbClr val="FBC69F"/>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2" name="流程图: 联系 54"/>
            <p:cNvSpPr/>
            <p:nvPr/>
          </p:nvSpPr>
          <p:spPr bwMode="auto">
            <a:xfrm>
              <a:off x="2511644" y="2574193"/>
              <a:ext cx="751171" cy="506648"/>
            </a:xfrm>
            <a:prstGeom prst="flowChartConnector">
              <a:avLst/>
            </a:prstGeom>
            <a:solidFill>
              <a:srgbClr val="92D050"/>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3" name="流程图: 联系 55"/>
            <p:cNvSpPr/>
            <p:nvPr/>
          </p:nvSpPr>
          <p:spPr bwMode="auto">
            <a:xfrm>
              <a:off x="3363232" y="3372665"/>
              <a:ext cx="751171" cy="563161"/>
            </a:xfrm>
            <a:prstGeom prst="flowChartConnector">
              <a:avLst/>
            </a:prstGeom>
            <a:solidFill>
              <a:srgbClr val="97E4FF"/>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4" name="流程图: 联系 56"/>
            <p:cNvSpPr/>
            <p:nvPr/>
          </p:nvSpPr>
          <p:spPr bwMode="auto">
            <a:xfrm>
              <a:off x="3980839" y="1353001"/>
              <a:ext cx="751171" cy="515492"/>
            </a:xfrm>
            <a:prstGeom prst="flowChartConnector">
              <a:avLst/>
            </a:prstGeom>
            <a:solidFill>
              <a:srgbClr val="00B0F0"/>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5" name="流程图: 联系 57"/>
            <p:cNvSpPr/>
            <p:nvPr/>
          </p:nvSpPr>
          <p:spPr bwMode="auto">
            <a:xfrm>
              <a:off x="5099554" y="1681784"/>
              <a:ext cx="751171" cy="574214"/>
            </a:xfrm>
            <a:prstGeom prst="flowChartConnector">
              <a:avLst/>
            </a:prstGeom>
            <a:solidFill>
              <a:srgbClr val="FFFFFF">
                <a:lumMod val="65000"/>
              </a:srgb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6" name="流程图: 联系 58"/>
            <p:cNvSpPr/>
            <p:nvPr/>
          </p:nvSpPr>
          <p:spPr bwMode="auto">
            <a:xfrm>
              <a:off x="5450035" y="2715100"/>
              <a:ext cx="751171" cy="606157"/>
            </a:xfrm>
            <a:prstGeom prst="flowChartConnector">
              <a:avLst/>
            </a:prstGeom>
            <a:solidFill>
              <a:srgbClr val="F68632"/>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7" name="流程图: 联系 59"/>
            <p:cNvSpPr/>
            <p:nvPr/>
          </p:nvSpPr>
          <p:spPr bwMode="auto">
            <a:xfrm>
              <a:off x="4704526" y="3374100"/>
              <a:ext cx="811761" cy="563161"/>
            </a:xfrm>
            <a:prstGeom prst="flowChartConnector">
              <a:avLst/>
            </a:prstGeom>
            <a:solidFill>
              <a:srgbClr val="FFCC99">
                <a:lumMod val="40000"/>
                <a:lumOff val="60000"/>
              </a:srgb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noAutofit/>
            </a:bodyPr>
            <a:lstStyle/>
            <a:p>
              <a:pPr algn="ctr" defTabSz="685800" eaLnBrk="0" hangingPunct="0">
                <a:defRPr/>
              </a:pPr>
              <a:endParaRPr lang="zh-CN" altLang="en-US" sz="800" kern="0">
                <a:solidFill>
                  <a:srgbClr val="FFFFFF"/>
                </a:solidFill>
                <a:latin typeface="微软雅黑" panose="020B0503020204020204" pitchFamily="34" charset="-122"/>
                <a:ea typeface="微软雅黑" panose="020B0503020204020204" pitchFamily="34" charset="-122"/>
              </a:endParaRPr>
            </a:p>
          </p:txBody>
        </p:sp>
        <p:sp>
          <p:nvSpPr>
            <p:cNvPr id="28" name="TextBox 42"/>
            <p:cNvSpPr txBox="1"/>
            <p:nvPr/>
          </p:nvSpPr>
          <p:spPr>
            <a:xfrm>
              <a:off x="4121047" y="1412486"/>
              <a:ext cx="446092" cy="372611"/>
            </a:xfrm>
            <a:prstGeom prst="rect">
              <a:avLst/>
            </a:prstGeom>
            <a:noFill/>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结构</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安全</a:t>
              </a:r>
              <a:endParaRPr lang="zh-CN" altLang="en-US" sz="1400" b="1" kern="0" dirty="0">
                <a:solidFill>
                  <a:srgbClr val="000000"/>
                </a:solidFill>
                <a:latin typeface="微软雅黑" panose="020B0503020204020204" pitchFamily="34" charset="-122"/>
                <a:ea typeface="微软雅黑" panose="020B0503020204020204" pitchFamily="34" charset="-122"/>
              </a:endParaRPr>
            </a:p>
          </p:txBody>
        </p:sp>
        <p:sp>
          <p:nvSpPr>
            <p:cNvPr id="29" name="TextBox 79"/>
            <p:cNvSpPr txBox="1"/>
            <p:nvPr/>
          </p:nvSpPr>
          <p:spPr>
            <a:xfrm>
              <a:off x="2977662" y="1819539"/>
              <a:ext cx="446092" cy="372611"/>
            </a:xfrm>
            <a:prstGeom prst="rect">
              <a:avLst/>
            </a:prstGeom>
            <a:noFill/>
            <a:ln>
              <a:noFill/>
            </a:ln>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访问</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控制</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30" name="TextBox 80"/>
            <p:cNvSpPr txBox="1"/>
            <p:nvPr/>
          </p:nvSpPr>
          <p:spPr>
            <a:xfrm>
              <a:off x="2660200" y="2638964"/>
              <a:ext cx="446092" cy="372611"/>
            </a:xfrm>
            <a:prstGeom prst="rect">
              <a:avLst/>
            </a:prstGeom>
            <a:noFill/>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安全</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审计</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31" name="TextBox 81"/>
            <p:cNvSpPr txBox="1"/>
            <p:nvPr/>
          </p:nvSpPr>
          <p:spPr>
            <a:xfrm>
              <a:off x="3414821" y="3443833"/>
              <a:ext cx="593387" cy="372611"/>
            </a:xfrm>
            <a:prstGeom prst="rect">
              <a:avLst/>
            </a:prstGeom>
            <a:noFill/>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边界安</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全检查</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32" name="TextBox 82"/>
            <p:cNvSpPr txBox="1"/>
            <p:nvPr/>
          </p:nvSpPr>
          <p:spPr>
            <a:xfrm>
              <a:off x="4893664" y="3449844"/>
              <a:ext cx="446092" cy="372611"/>
            </a:xfrm>
            <a:prstGeom prst="rect">
              <a:avLst/>
            </a:prstGeom>
            <a:noFill/>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入侵</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防范</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33" name="TextBox 83"/>
            <p:cNvSpPr txBox="1"/>
            <p:nvPr/>
          </p:nvSpPr>
          <p:spPr>
            <a:xfrm>
              <a:off x="5527198" y="2798714"/>
              <a:ext cx="593387" cy="372611"/>
            </a:xfrm>
            <a:prstGeom prst="rect">
              <a:avLst/>
            </a:prstGeom>
            <a:noFill/>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恶意代</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码防范</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34" name="TextBox 84"/>
            <p:cNvSpPr txBox="1"/>
            <p:nvPr/>
          </p:nvSpPr>
          <p:spPr>
            <a:xfrm>
              <a:off x="5235822" y="1758324"/>
              <a:ext cx="446092" cy="372611"/>
            </a:xfrm>
            <a:prstGeom prst="rect">
              <a:avLst/>
            </a:prstGeom>
            <a:noFill/>
          </p:spPr>
          <p:txBody>
            <a:bodyPr wrap="none"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设备</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防护</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grpSp>
      <p:sp>
        <p:nvSpPr>
          <p:cNvPr id="35" name="TextBox 43"/>
          <p:cNvSpPr txBox="1"/>
          <p:nvPr/>
        </p:nvSpPr>
        <p:spPr>
          <a:xfrm>
            <a:off x="6829024" y="1547095"/>
            <a:ext cx="3697652" cy="715562"/>
          </a:xfrm>
          <a:prstGeom prst="accentBorderCallout2">
            <a:avLst>
              <a:gd name="adj1" fmla="val 18750"/>
              <a:gd name="adj2" fmla="val -8333"/>
              <a:gd name="adj3" fmla="val 18750"/>
              <a:gd name="adj4" fmla="val -16667"/>
              <a:gd name="adj5" fmla="val 64191"/>
              <a:gd name="adj6" fmla="val -24398"/>
            </a:avLst>
          </a:prstGeom>
          <a:noFill/>
          <a:ln>
            <a:solidFill>
              <a:srgbClr val="000000"/>
            </a:solidFill>
            <a:prstDash val="sysDot"/>
          </a:ln>
        </p:spPr>
        <p:txBody>
          <a:bodyPr wrap="square" lIns="68562" tIns="34281" rIns="68562" bIns="34281"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要点：</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主要设备冗余空间、安全路径控制、整体网络带宽、带宽优先级、重要网段部署</a:t>
            </a:r>
            <a:endParaRPr lang="zh-CN" altLang="en-US" sz="1400" b="1" kern="0" dirty="0">
              <a:solidFill>
                <a:srgbClr val="000000"/>
              </a:solidFill>
              <a:latin typeface="微软雅黑" panose="020B0503020204020204" pitchFamily="34" charset="-122"/>
              <a:ea typeface="微软雅黑" panose="020B0503020204020204" pitchFamily="34" charset="-122"/>
            </a:endParaRPr>
          </a:p>
        </p:txBody>
      </p:sp>
      <p:sp>
        <p:nvSpPr>
          <p:cNvPr id="36" name="TextBox 87"/>
          <p:cNvSpPr txBox="1"/>
          <p:nvPr/>
        </p:nvSpPr>
        <p:spPr>
          <a:xfrm flipH="1">
            <a:off x="1138544" y="1788173"/>
            <a:ext cx="2264827" cy="931006"/>
          </a:xfrm>
          <a:prstGeom prst="accentBorderCallout2">
            <a:avLst>
              <a:gd name="adj1" fmla="val 18750"/>
              <a:gd name="adj2" fmla="val -8333"/>
              <a:gd name="adj3" fmla="val 18750"/>
              <a:gd name="adj4" fmla="val -16667"/>
              <a:gd name="adj5" fmla="val 78952"/>
              <a:gd name="adj6" fmla="val -31531"/>
            </a:avLst>
          </a:prstGeom>
          <a:noFill/>
          <a:ln w="3175">
            <a:solidFill>
              <a:srgbClr val="000000"/>
            </a:solidFill>
            <a:prstDash val="sysDot"/>
          </a:ln>
        </p:spPr>
        <p:txBody>
          <a:bodyPr wrap="square" lIns="68562" tIns="34281" rIns="68562" bIns="34281" rtlCol="0">
            <a:spAutoFit/>
          </a:bodyPr>
          <a:lstStyle/>
          <a:p>
            <a:pPr defTabSz="685800">
              <a:defRPr/>
            </a:pPr>
            <a:r>
              <a:rPr lang="zh-CN" altLang="en-US" sz="1400" b="1" kern="0" dirty="0">
                <a:latin typeface="微软雅黑" panose="020B0503020204020204" pitchFamily="34" charset="-122"/>
                <a:ea typeface="微软雅黑" panose="020B0503020204020204" pitchFamily="34" charset="-122"/>
              </a:rPr>
              <a:t>要点：</a:t>
            </a:r>
            <a:endParaRPr lang="en-US" altLang="zh-CN" sz="1400" b="1" kern="0" dirty="0">
              <a:latin typeface="微软雅黑" panose="020B0503020204020204" pitchFamily="34" charset="-122"/>
              <a:ea typeface="微软雅黑" panose="020B0503020204020204" pitchFamily="34" charset="-122"/>
            </a:endParaRPr>
          </a:p>
          <a:p>
            <a:pPr defTabSz="685800">
              <a:defRPr/>
            </a:pPr>
            <a:r>
              <a:rPr lang="zh-CN" altLang="en-US" sz="1400" b="1" kern="0" dirty="0">
                <a:latin typeface="微软雅黑" panose="020B0503020204020204" pitchFamily="34" charset="-122"/>
                <a:ea typeface="微软雅黑" panose="020B0503020204020204" pitchFamily="34" charset="-122"/>
              </a:rPr>
              <a:t>端口控制、防地址欺骗</a:t>
            </a:r>
            <a:endParaRPr lang="en-US" altLang="zh-CN" sz="1400" b="1" kern="0" dirty="0">
              <a:latin typeface="微软雅黑" panose="020B0503020204020204" pitchFamily="34" charset="-122"/>
              <a:ea typeface="微软雅黑" panose="020B0503020204020204" pitchFamily="34" charset="-122"/>
            </a:endParaRPr>
          </a:p>
          <a:p>
            <a:pPr defTabSz="685800">
              <a:defRPr/>
            </a:pPr>
            <a:r>
              <a:rPr lang="zh-CN" altLang="en-US" sz="1400" b="1" kern="0" dirty="0">
                <a:latin typeface="微软雅黑" panose="020B0503020204020204" pitchFamily="34" charset="-122"/>
                <a:ea typeface="微软雅黑" panose="020B0503020204020204" pitchFamily="34" charset="-122"/>
              </a:rPr>
              <a:t>协议过滤、会话控制</a:t>
            </a:r>
            <a:endParaRPr lang="en-US" altLang="zh-CN" sz="1400" b="1" kern="0" dirty="0">
              <a:latin typeface="微软雅黑" panose="020B0503020204020204" pitchFamily="34" charset="-122"/>
              <a:ea typeface="微软雅黑" panose="020B0503020204020204" pitchFamily="34" charset="-122"/>
            </a:endParaRPr>
          </a:p>
          <a:p>
            <a:pPr defTabSz="685800">
              <a:defRPr/>
            </a:pPr>
            <a:r>
              <a:rPr lang="zh-CN" altLang="en-US" sz="1400" b="1" kern="0" dirty="0">
                <a:latin typeface="微软雅黑" panose="020B0503020204020204" pitchFamily="34" charset="-122"/>
                <a:ea typeface="微软雅黑" panose="020B0503020204020204" pitchFamily="34" charset="-122"/>
              </a:rPr>
              <a:t>最大流量数及最大连接数</a:t>
            </a:r>
            <a:endParaRPr lang="zh-CN" altLang="en-US" sz="1400" b="1" kern="0" dirty="0">
              <a:latin typeface="微软雅黑" panose="020B0503020204020204" pitchFamily="34" charset="-122"/>
              <a:ea typeface="微软雅黑" panose="020B0503020204020204" pitchFamily="34" charset="-122"/>
            </a:endParaRPr>
          </a:p>
        </p:txBody>
      </p:sp>
      <p:sp>
        <p:nvSpPr>
          <p:cNvPr id="37" name="TextBox 89"/>
          <p:cNvSpPr txBox="1"/>
          <p:nvPr/>
        </p:nvSpPr>
        <p:spPr>
          <a:xfrm flipH="1">
            <a:off x="807607" y="2980789"/>
            <a:ext cx="2264829" cy="931006"/>
          </a:xfrm>
          <a:prstGeom prst="accentBorderCallout1">
            <a:avLst>
              <a:gd name="adj1" fmla="val 18750"/>
              <a:gd name="adj2" fmla="val -8333"/>
              <a:gd name="adj3" fmla="val 77860"/>
              <a:gd name="adj4" fmla="val -25044"/>
            </a:avLst>
          </a:prstGeom>
          <a:noFill/>
          <a:ln w="3175">
            <a:solidFill>
              <a:srgbClr val="000000"/>
            </a:solidFill>
            <a:prstDash val="sysDot"/>
          </a:ln>
        </p:spPr>
        <p:txBody>
          <a:bodyPr wrap="square" lIns="68562" tIns="34281" rIns="68562" bIns="34281" rtlCol="0">
            <a:spAutoFit/>
          </a:bodyPr>
          <a:lstStyle/>
          <a:p>
            <a:pPr defTabSz="685800">
              <a:defRPr/>
            </a:pPr>
            <a:r>
              <a:rPr lang="zh-CN" altLang="en-US" sz="1400" b="1" kern="0" dirty="0">
                <a:latin typeface="微软雅黑" panose="020B0503020204020204" pitchFamily="34" charset="-122"/>
                <a:ea typeface="微软雅黑" panose="020B0503020204020204" pitchFamily="34" charset="-122"/>
              </a:rPr>
              <a:t>要点：</a:t>
            </a:r>
            <a:endParaRPr lang="en-US" altLang="zh-CN" sz="1400" b="1" kern="0" dirty="0">
              <a:latin typeface="微软雅黑" panose="020B0503020204020204" pitchFamily="34" charset="-122"/>
              <a:ea typeface="微软雅黑" panose="020B0503020204020204" pitchFamily="34" charset="-122"/>
            </a:endParaRPr>
          </a:p>
          <a:p>
            <a:pPr defTabSz="685800">
              <a:defRPr/>
            </a:pPr>
            <a:r>
              <a:rPr lang="zh-CN" altLang="en-US" sz="1400" b="1" kern="0" dirty="0">
                <a:latin typeface="微软雅黑" panose="020B0503020204020204" pitchFamily="34" charset="-122"/>
                <a:ea typeface="微软雅黑" panose="020B0503020204020204" pitchFamily="34" charset="-122"/>
              </a:rPr>
              <a:t>审计记录</a:t>
            </a:r>
            <a:endParaRPr lang="en-US" altLang="zh-CN" sz="1400" b="1" kern="0" dirty="0">
              <a:latin typeface="微软雅黑" panose="020B0503020204020204" pitchFamily="34" charset="-122"/>
              <a:ea typeface="微软雅黑" panose="020B0503020204020204" pitchFamily="34" charset="-122"/>
            </a:endParaRPr>
          </a:p>
          <a:p>
            <a:pPr defTabSz="685800">
              <a:defRPr/>
            </a:pPr>
            <a:r>
              <a:rPr lang="zh-CN" altLang="en-US" sz="1400" b="1" kern="0" dirty="0">
                <a:latin typeface="微软雅黑" panose="020B0503020204020204" pitchFamily="34" charset="-122"/>
                <a:ea typeface="微软雅黑" panose="020B0503020204020204" pitchFamily="34" charset="-122"/>
              </a:rPr>
              <a:t>审计报表</a:t>
            </a:r>
            <a:endParaRPr lang="en-US" altLang="zh-CN" sz="1400" b="1" kern="0" dirty="0">
              <a:latin typeface="微软雅黑" panose="020B0503020204020204" pitchFamily="34" charset="-122"/>
              <a:ea typeface="微软雅黑" panose="020B0503020204020204" pitchFamily="34" charset="-122"/>
            </a:endParaRPr>
          </a:p>
          <a:p>
            <a:pPr defTabSz="685800">
              <a:defRPr/>
            </a:pPr>
            <a:r>
              <a:rPr lang="zh-CN" altLang="en-US" sz="1400" b="1" kern="0" dirty="0">
                <a:latin typeface="微软雅黑" panose="020B0503020204020204" pitchFamily="34" charset="-122"/>
                <a:ea typeface="微软雅黑" panose="020B0503020204020204" pitchFamily="34" charset="-122"/>
              </a:rPr>
              <a:t>审计记录的保护</a:t>
            </a:r>
            <a:endParaRPr lang="en-US" altLang="zh-CN" sz="1400" b="1" kern="0" dirty="0">
              <a:latin typeface="微软雅黑" panose="020B0503020204020204" pitchFamily="34" charset="-122"/>
              <a:ea typeface="微软雅黑" panose="020B0503020204020204" pitchFamily="34" charset="-122"/>
            </a:endParaRPr>
          </a:p>
        </p:txBody>
      </p:sp>
      <p:sp>
        <p:nvSpPr>
          <p:cNvPr id="38" name="TextBox 92"/>
          <p:cNvSpPr txBox="1"/>
          <p:nvPr/>
        </p:nvSpPr>
        <p:spPr>
          <a:xfrm flipH="1">
            <a:off x="974624" y="4907376"/>
            <a:ext cx="2266058" cy="715562"/>
          </a:xfrm>
          <a:prstGeom prst="accentBorderCallout2">
            <a:avLst>
              <a:gd name="adj1" fmla="val 18750"/>
              <a:gd name="adj2" fmla="val -8333"/>
              <a:gd name="adj3" fmla="val 18750"/>
              <a:gd name="adj4" fmla="val -16667"/>
              <a:gd name="adj5" fmla="val 18765"/>
              <a:gd name="adj6" fmla="val -61211"/>
            </a:avLst>
          </a:prstGeom>
          <a:noFill/>
          <a:ln w="3175">
            <a:solidFill>
              <a:srgbClr val="000000"/>
            </a:solidFill>
            <a:prstDash val="sysDot"/>
          </a:ln>
        </p:spPr>
        <p:txBody>
          <a:bodyPr wrap="square" lIns="68562" tIns="34281" rIns="68562" bIns="34281"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要点：</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非授权设备接入</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非授权网络联出</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39" name="TextBox 95"/>
          <p:cNvSpPr txBox="1"/>
          <p:nvPr/>
        </p:nvSpPr>
        <p:spPr>
          <a:xfrm>
            <a:off x="8677850" y="5015098"/>
            <a:ext cx="1789268" cy="500119"/>
          </a:xfrm>
          <a:prstGeom prst="accentBorderCallout2">
            <a:avLst>
              <a:gd name="adj1" fmla="val 18750"/>
              <a:gd name="adj2" fmla="val -8333"/>
              <a:gd name="adj3" fmla="val 18750"/>
              <a:gd name="adj4" fmla="val -16667"/>
              <a:gd name="adj5" fmla="val 11051"/>
              <a:gd name="adj6" fmla="val -95309"/>
            </a:avLst>
          </a:prstGeom>
          <a:noFill/>
          <a:ln w="3175">
            <a:solidFill>
              <a:srgbClr val="000000"/>
            </a:solidFill>
            <a:prstDash val="sysDot"/>
          </a:ln>
        </p:spPr>
        <p:txBody>
          <a:bodyPr wrap="square" lIns="68562" tIns="34281" rIns="68562" bIns="34281"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要点：</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记录、报警、阻断</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40" name="TextBox 101"/>
          <p:cNvSpPr txBox="1"/>
          <p:nvPr/>
        </p:nvSpPr>
        <p:spPr>
          <a:xfrm>
            <a:off x="8677850" y="4128434"/>
            <a:ext cx="1789268" cy="500119"/>
          </a:xfrm>
          <a:prstGeom prst="accentBorderCallout2">
            <a:avLst>
              <a:gd name="adj1" fmla="val 18750"/>
              <a:gd name="adj2" fmla="val -8333"/>
              <a:gd name="adj3" fmla="val 18750"/>
              <a:gd name="adj4" fmla="val -16667"/>
              <a:gd name="adj5" fmla="val -3441"/>
              <a:gd name="adj6" fmla="val -49571"/>
            </a:avLst>
          </a:prstGeom>
          <a:noFill/>
          <a:ln w="3175">
            <a:solidFill>
              <a:srgbClr val="000000"/>
            </a:solidFill>
            <a:prstDash val="sysDot"/>
          </a:ln>
        </p:spPr>
        <p:txBody>
          <a:bodyPr wrap="square" lIns="68562" tIns="34281" rIns="68562" bIns="34281"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要点：</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记录、报警、阻断</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
        <p:nvSpPr>
          <p:cNvPr id="41" name="TextBox 107"/>
          <p:cNvSpPr txBox="1"/>
          <p:nvPr/>
        </p:nvSpPr>
        <p:spPr>
          <a:xfrm>
            <a:off x="8585280" y="2597481"/>
            <a:ext cx="1776475" cy="715562"/>
          </a:xfrm>
          <a:prstGeom prst="accentBorderCallout2">
            <a:avLst>
              <a:gd name="adj1" fmla="val 18750"/>
              <a:gd name="adj2" fmla="val -8333"/>
              <a:gd name="adj3" fmla="val 18750"/>
              <a:gd name="adj4" fmla="val -16667"/>
              <a:gd name="adj5" fmla="val 15883"/>
              <a:gd name="adj6" fmla="val -69074"/>
            </a:avLst>
          </a:prstGeom>
          <a:noFill/>
          <a:ln w="3175">
            <a:solidFill>
              <a:srgbClr val="000000"/>
            </a:solidFill>
            <a:prstDash val="sysDot"/>
          </a:ln>
        </p:spPr>
        <p:txBody>
          <a:bodyPr wrap="square" lIns="68562" tIns="34281" rIns="68562" bIns="34281" rtlCol="0">
            <a:spAutoFit/>
          </a:bodyPr>
          <a:lstStyle/>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要点：</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组合鉴别技术</a:t>
            </a:r>
            <a:endParaRPr lang="en-US" altLang="zh-CN" sz="1400" b="1" kern="0" dirty="0">
              <a:solidFill>
                <a:srgbClr val="000000"/>
              </a:solidFill>
              <a:latin typeface="微软雅黑" panose="020B0503020204020204" pitchFamily="34" charset="-122"/>
              <a:ea typeface="微软雅黑" panose="020B0503020204020204" pitchFamily="34" charset="-122"/>
            </a:endParaRPr>
          </a:p>
          <a:p>
            <a:pPr defTabSz="685800">
              <a:defRPr/>
            </a:pPr>
            <a:r>
              <a:rPr lang="zh-CN" altLang="en-US" sz="1400" b="1" kern="0" dirty="0">
                <a:solidFill>
                  <a:srgbClr val="000000"/>
                </a:solidFill>
                <a:latin typeface="微软雅黑" panose="020B0503020204020204" pitchFamily="34" charset="-122"/>
                <a:ea typeface="微软雅黑" panose="020B0503020204020204" pitchFamily="34" charset="-122"/>
              </a:rPr>
              <a:t>特权用户权限分离</a:t>
            </a:r>
            <a:endParaRPr lang="en-US" altLang="zh-CN" sz="1400" b="1" kern="0" dirty="0">
              <a:solidFill>
                <a:srgbClr val="00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256115" y="104188"/>
            <a:ext cx="10075822" cy="81982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网络安全解读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a:graphicFrameLocks noGrp="1"/>
          </p:cNvGraphicFramePr>
          <p:nvPr/>
        </p:nvGraphicFramePr>
        <p:xfrm>
          <a:off x="695400" y="1268760"/>
          <a:ext cx="10513168" cy="5040559"/>
        </p:xfrm>
        <a:graphic>
          <a:graphicData uri="http://schemas.openxmlformats.org/drawingml/2006/table">
            <a:tbl>
              <a:tblPr>
                <a:tableStyleId>{3C2FFA5D-87B4-456A-9821-1D502468CF0F}</a:tableStyleId>
              </a:tblPr>
              <a:tblGrid>
                <a:gridCol w="958338"/>
                <a:gridCol w="1192310"/>
                <a:gridCol w="4010498"/>
                <a:gridCol w="2167837"/>
                <a:gridCol w="2184185"/>
              </a:tblGrid>
              <a:tr h="368924">
                <a:tc gridSpan="2">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分类</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h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基本要求</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说明及技术方案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产品部署</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575648">
                <a:tc rowSpan="7">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网络安全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7">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结构安全（</a:t>
                      </a:r>
                      <a:r>
                        <a:rPr lang="en-US" altLang="zh-CN" sz="1200" u="none" strike="noStrike" dirty="0">
                          <a:effectLst/>
                          <a:latin typeface="微软雅黑" panose="020B0503020204020204" pitchFamily="34" charset="-122"/>
                          <a:ea typeface="微软雅黑" panose="020B0503020204020204" pitchFamily="34" charset="-122"/>
                        </a:rPr>
                        <a:t>G3</a:t>
                      </a:r>
                      <a:r>
                        <a:rPr lang="zh-CN" altLang="en-US" sz="1200" u="none" strike="noStrike" dirty="0">
                          <a:effectLst/>
                          <a:latin typeface="微软雅黑" panose="020B0503020204020204" pitchFamily="34" charset="-122"/>
                          <a:ea typeface="微软雅黑" panose="020B0503020204020204" pitchFamily="34" charset="-122"/>
                        </a:rPr>
                        <a:t>）</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应保证主要网络设备的业务处理能力具备冗余空间，满足业务高峰期需要；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主要设备、部件冗余</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方案及网络设备保证</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76227">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b)  </a:t>
                      </a:r>
                      <a:r>
                        <a:rPr lang="zh-CN" altLang="en-US" sz="1200" u="none" strike="noStrike" dirty="0">
                          <a:effectLst/>
                          <a:latin typeface="微软雅黑" panose="020B0503020204020204" pitchFamily="34" charset="-122"/>
                          <a:ea typeface="微软雅黑" panose="020B0503020204020204" pitchFamily="34" charset="-122"/>
                        </a:rPr>
                        <a:t>应保证网络各个部分的带宽满足业务高峰期需要；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带宽预留</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方案及网络设备保证</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575648">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c)  </a:t>
                      </a:r>
                      <a:r>
                        <a:rPr lang="zh-CN" altLang="en-US" sz="1200" u="none" strike="noStrike" dirty="0">
                          <a:effectLst/>
                          <a:latin typeface="微软雅黑" panose="020B0503020204020204" pitchFamily="34" charset="-122"/>
                          <a:ea typeface="微软雅黑" panose="020B0503020204020204" pitchFamily="34" charset="-122"/>
                        </a:rPr>
                        <a:t>应在业务终端与业务服务器之间进行路由控制建立安全的访问路径；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策略路由、静态路由、动态路由协议认证</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方案及网络设备保证</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684205">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d)  </a:t>
                      </a:r>
                      <a:r>
                        <a:rPr lang="zh-CN" altLang="en-US" sz="1200" u="none" strike="noStrike" dirty="0">
                          <a:effectLst/>
                          <a:latin typeface="微软雅黑" panose="020B0503020204020204" pitchFamily="34" charset="-122"/>
                          <a:ea typeface="微软雅黑" panose="020B0503020204020204" pitchFamily="34" charset="-122"/>
                        </a:rPr>
                        <a:t>应绘制与当前运行情况相符的网络拓扑结构图；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根据实际情况绘制、更新拓扑图（纸质或管理软件生成）</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941839">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e)  </a:t>
                      </a:r>
                      <a:r>
                        <a:rPr lang="zh-CN" altLang="en-US" sz="1200" u="none" strike="noStrike" dirty="0">
                          <a:effectLst/>
                          <a:latin typeface="微软雅黑" panose="020B0503020204020204" pitchFamily="34" charset="-122"/>
                          <a:ea typeface="微软雅黑" panose="020B0503020204020204" pitchFamily="34" charset="-122"/>
                        </a:rPr>
                        <a:t>应根据各部门的工作职能、重要性和所涉及信息的重要程度等因素，划分不同的子网或网段，并按照方便管理和控制的原则为各子网、网段分配地址段；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合理划分网段</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整体方案保证</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70903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f)  </a:t>
                      </a:r>
                      <a:r>
                        <a:rPr lang="zh-CN" altLang="en-US" sz="1200" u="none" strike="noStrike" dirty="0">
                          <a:effectLst/>
                          <a:latin typeface="微软雅黑" panose="020B0503020204020204" pitchFamily="34" charset="-122"/>
                          <a:ea typeface="微软雅黑" panose="020B0503020204020204" pitchFamily="34" charset="-122"/>
                        </a:rPr>
                        <a:t>应避免将重要网段部署在网络边界处且直接连接外部信息系统，重要网段与其他网段之间采取可靠的技术隔离手段；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防火墙策略</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防火墙</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70903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g)  </a:t>
                      </a:r>
                      <a:r>
                        <a:rPr lang="zh-CN" altLang="en-US" sz="1200" u="none" strike="noStrike" dirty="0">
                          <a:effectLst/>
                          <a:latin typeface="微软雅黑" panose="020B0503020204020204" pitchFamily="34" charset="-122"/>
                          <a:ea typeface="微软雅黑" panose="020B0503020204020204" pitchFamily="34" charset="-122"/>
                        </a:rPr>
                        <a:t>应按照对业务服务的重要次序来指定带宽分配优先级别，保证在网络发生拥堵的时候优先保护重要主机。</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辅助防火墙设备部署</a:t>
                      </a:r>
                      <a:r>
                        <a:rPr lang="en-US" altLang="zh-CN" sz="1200" u="none" strike="noStrike" dirty="0">
                          <a:effectLst/>
                          <a:latin typeface="微软雅黑" panose="020B0503020204020204" pitchFamily="34" charset="-122"/>
                          <a:ea typeface="微软雅黑" panose="020B0503020204020204" pitchFamily="34" charset="-122"/>
                        </a:rPr>
                        <a:t>QOS</a:t>
                      </a:r>
                      <a:r>
                        <a:rPr lang="zh-CN" altLang="en-US" sz="1200" u="none" strike="noStrike" dirty="0">
                          <a:effectLst/>
                          <a:latin typeface="微软雅黑" panose="020B0503020204020204" pitchFamily="34" charset="-122"/>
                          <a:ea typeface="微软雅黑" panose="020B0503020204020204" pitchFamily="34" charset="-122"/>
                        </a:rPr>
                        <a:t>策略</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防火墙、流控系统</a:t>
                      </a:r>
                      <a:endParaRPr lang="en-US" altLang="zh-CN" sz="1200" u="none" strike="noStrike" dirty="0">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bl>
          </a:graphicData>
        </a:graphic>
      </p:graphicFrame>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256115" y="104188"/>
            <a:ext cx="10075822" cy="81982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网络安全解读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a:graphicFrameLocks noGrp="1"/>
          </p:cNvGraphicFramePr>
          <p:nvPr/>
        </p:nvGraphicFramePr>
        <p:xfrm>
          <a:off x="911424" y="1270376"/>
          <a:ext cx="10297144" cy="4966911"/>
        </p:xfrm>
        <a:graphic>
          <a:graphicData uri="http://schemas.openxmlformats.org/drawingml/2006/table">
            <a:tbl>
              <a:tblPr>
                <a:tableStyleId>{3C2FFA5D-87B4-456A-9821-1D502468CF0F}</a:tableStyleId>
              </a:tblPr>
              <a:tblGrid>
                <a:gridCol w="1025088"/>
                <a:gridCol w="978582"/>
                <a:gridCol w="3981265"/>
                <a:gridCol w="2582442"/>
                <a:gridCol w="1729767"/>
              </a:tblGrid>
              <a:tr h="396875">
                <a:tc gridSpan="2">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分类</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h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基本要求</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说明及技术方案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产品部署</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37534">
                <a:tc rowSpan="8">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网络安全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8">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访问控制（</a:t>
                      </a:r>
                      <a:r>
                        <a:rPr lang="en-US" altLang="zh-CN" sz="1200" u="none" strike="noStrike" dirty="0">
                          <a:effectLst/>
                          <a:latin typeface="微软雅黑" panose="020B0503020204020204" pitchFamily="34" charset="-122"/>
                          <a:ea typeface="微软雅黑" panose="020B0503020204020204" pitchFamily="34" charset="-122"/>
                        </a:rPr>
                        <a:t>G3</a:t>
                      </a:r>
                      <a:r>
                        <a:rPr lang="zh-CN" altLang="en-US" sz="1200" u="none" strike="noStrike" dirty="0">
                          <a:effectLst/>
                          <a:latin typeface="微软雅黑" panose="020B0503020204020204" pitchFamily="34" charset="-122"/>
                          <a:ea typeface="微软雅黑" panose="020B0503020204020204" pitchFamily="34" charset="-122"/>
                        </a:rPr>
                        <a:t>）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应在网络边界部署访问控制设备，启用访问控制功能；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防火墙做边界访问控制</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640799">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b)  </a:t>
                      </a:r>
                      <a:r>
                        <a:rPr lang="zh-CN" altLang="en-US" sz="1200" u="none" strike="noStrike" dirty="0">
                          <a:effectLst/>
                          <a:latin typeface="微软雅黑" panose="020B0503020204020204" pitchFamily="34" charset="-122"/>
                          <a:ea typeface="微软雅黑" panose="020B0503020204020204" pitchFamily="34" charset="-122"/>
                        </a:rPr>
                        <a:t>应能根据会话状态信息为数据流提供明确的允许</a:t>
                      </a:r>
                      <a:r>
                        <a:rPr lang="en-US" altLang="zh-CN" sz="1200" u="none" strike="noStrike" dirty="0">
                          <a:effectLst/>
                          <a:latin typeface="微软雅黑" panose="020B0503020204020204" pitchFamily="34" charset="-122"/>
                          <a:ea typeface="微软雅黑" panose="020B0503020204020204" pitchFamily="34" charset="-122"/>
                        </a:rPr>
                        <a:t>/</a:t>
                      </a:r>
                      <a:r>
                        <a:rPr lang="zh-CN" altLang="en-US" sz="1200" u="none" strike="noStrike" dirty="0">
                          <a:effectLst/>
                          <a:latin typeface="微软雅黑" panose="020B0503020204020204" pitchFamily="34" charset="-122"/>
                          <a:ea typeface="微软雅黑" panose="020B0503020204020204" pitchFamily="34" charset="-122"/>
                        </a:rPr>
                        <a:t>拒绝访问的能力，控制粒度为端口级；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a:effectLst/>
                          <a:latin typeface="微软雅黑" panose="020B0503020204020204" pitchFamily="34" charset="-122"/>
                          <a:ea typeface="微软雅黑" panose="020B0503020204020204" pitchFamily="34" charset="-122"/>
                        </a:rPr>
                        <a:t>防火墙策略</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651423">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c)  </a:t>
                      </a:r>
                      <a:r>
                        <a:rPr lang="zh-CN" altLang="en-US" sz="1200" u="none" strike="noStrike" dirty="0">
                          <a:effectLst/>
                          <a:latin typeface="微软雅黑" panose="020B0503020204020204" pitchFamily="34" charset="-122"/>
                          <a:ea typeface="微软雅黑" panose="020B0503020204020204" pitchFamily="34" charset="-122"/>
                        </a:rPr>
                        <a:t>应对进出网络的信息内容进行过滤，实现对应用层 </a:t>
                      </a:r>
                      <a:r>
                        <a:rPr lang="en-US" altLang="zh-CN" sz="1200" u="none" strike="noStrike" dirty="0">
                          <a:effectLst/>
                          <a:latin typeface="微软雅黑" panose="020B0503020204020204" pitchFamily="34" charset="-122"/>
                          <a:ea typeface="微软雅黑" panose="020B0503020204020204" pitchFamily="34" charset="-122"/>
                        </a:rPr>
                        <a:t>HTTP</a:t>
                      </a:r>
                      <a:r>
                        <a:rPr lang="zh-CN" altLang="en-US" sz="1200" u="none" strike="noStrike" dirty="0">
                          <a:effectLst/>
                          <a:latin typeface="微软雅黑" panose="020B0503020204020204" pitchFamily="34" charset="-122"/>
                          <a:ea typeface="微软雅黑" panose="020B0503020204020204" pitchFamily="34" charset="-122"/>
                        </a:rPr>
                        <a:t>、</a:t>
                      </a:r>
                      <a:r>
                        <a:rPr lang="en-US" altLang="zh-CN" sz="1200" u="none" strike="noStrike" dirty="0">
                          <a:effectLst/>
                          <a:latin typeface="微软雅黑" panose="020B0503020204020204" pitchFamily="34" charset="-122"/>
                          <a:ea typeface="微软雅黑" panose="020B0503020204020204" pitchFamily="34" charset="-122"/>
                        </a:rPr>
                        <a:t>FTP </a:t>
                      </a:r>
                      <a:r>
                        <a:rPr lang="zh-CN" altLang="en-US" sz="1200" u="none" strike="noStrike" dirty="0">
                          <a:effectLst/>
                          <a:latin typeface="微软雅黑" panose="020B0503020204020204" pitchFamily="34" charset="-122"/>
                          <a:ea typeface="微软雅黑" panose="020B0503020204020204" pitchFamily="34" charset="-122"/>
                        </a:rPr>
                        <a:t>、</a:t>
                      </a:r>
                      <a:r>
                        <a:rPr lang="en-US" altLang="zh-CN" sz="1200" u="none" strike="noStrike" dirty="0">
                          <a:effectLst/>
                          <a:latin typeface="微软雅黑" panose="020B0503020204020204" pitchFamily="34" charset="-122"/>
                          <a:ea typeface="微软雅黑" panose="020B0503020204020204" pitchFamily="34" charset="-122"/>
                        </a:rPr>
                        <a:t>TELNET</a:t>
                      </a:r>
                      <a:r>
                        <a:rPr lang="zh-CN" altLang="en-US" sz="1200" u="none" strike="noStrike" dirty="0">
                          <a:effectLst/>
                          <a:latin typeface="微软雅黑" panose="020B0503020204020204" pitchFamily="34" charset="-122"/>
                          <a:ea typeface="微软雅黑" panose="020B0503020204020204" pitchFamily="34" charset="-122"/>
                        </a:rPr>
                        <a:t>、</a:t>
                      </a:r>
                      <a:r>
                        <a:rPr lang="en-US" altLang="zh-CN" sz="1200" u="none" strike="noStrike" dirty="0">
                          <a:effectLst/>
                          <a:latin typeface="微软雅黑" panose="020B0503020204020204" pitchFamily="34" charset="-122"/>
                          <a:ea typeface="微软雅黑" panose="020B0503020204020204" pitchFamily="34" charset="-122"/>
                        </a:rPr>
                        <a:t>SMTP </a:t>
                      </a:r>
                      <a:r>
                        <a:rPr lang="zh-CN" altLang="en-US" sz="1200" u="none" strike="noStrike" dirty="0">
                          <a:effectLst/>
                          <a:latin typeface="微软雅黑" panose="020B0503020204020204" pitchFamily="34" charset="-122"/>
                          <a:ea typeface="微软雅黑" panose="020B0503020204020204" pitchFamily="34" charset="-122"/>
                        </a:rPr>
                        <a:t>、</a:t>
                      </a:r>
                      <a:r>
                        <a:rPr lang="en-US" altLang="zh-CN" sz="1200" u="none" strike="noStrike" dirty="0">
                          <a:effectLst/>
                          <a:latin typeface="微软雅黑" panose="020B0503020204020204" pitchFamily="34" charset="-122"/>
                          <a:ea typeface="微软雅黑" panose="020B0503020204020204" pitchFamily="34" charset="-122"/>
                        </a:rPr>
                        <a:t>POP3</a:t>
                      </a:r>
                      <a:r>
                        <a:rPr lang="zh-CN" altLang="en-US" sz="1200" u="none" strike="noStrike" dirty="0">
                          <a:effectLst/>
                          <a:latin typeface="微软雅黑" panose="020B0503020204020204" pitchFamily="34" charset="-122"/>
                          <a:ea typeface="微软雅黑" panose="020B0503020204020204" pitchFamily="34" charset="-122"/>
                        </a:rPr>
                        <a:t>等协议命令级的控制；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IPS</a:t>
                      </a:r>
                      <a:r>
                        <a:rPr lang="zh-CN" altLang="en-US" sz="1200" u="none" strike="noStrike" dirty="0">
                          <a:effectLst/>
                          <a:latin typeface="微软雅黑" panose="020B0503020204020204" pitchFamily="34" charset="-122"/>
                          <a:ea typeface="微软雅黑" panose="020B0503020204020204" pitchFamily="34" charset="-122"/>
                        </a:rPr>
                        <a:t>实现</a:t>
                      </a:r>
                      <a:r>
                        <a:rPr lang="en-US" altLang="zh-CN" sz="1200" u="none" strike="noStrike" dirty="0">
                          <a:effectLst/>
                          <a:latin typeface="微软雅黑" panose="020B0503020204020204" pitchFamily="34" charset="-122"/>
                          <a:ea typeface="微软雅黑" panose="020B0503020204020204" pitchFamily="34" charset="-122"/>
                        </a:rPr>
                        <a:t>4-7</a:t>
                      </a:r>
                      <a:r>
                        <a:rPr lang="zh-CN" altLang="en-US" sz="1200" u="none" strike="noStrike" dirty="0">
                          <a:effectLst/>
                          <a:latin typeface="微软雅黑" panose="020B0503020204020204" pitchFamily="34" charset="-122"/>
                          <a:ea typeface="微软雅黑" panose="020B0503020204020204" pitchFamily="34" charset="-122"/>
                        </a:rPr>
                        <a:t>层协议安全控制</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下一代防火墙</a:t>
                      </a:r>
                      <a:r>
                        <a:rPr lang="en-US" altLang="zh-CN" sz="1200" u="none" strike="noStrike" dirty="0">
                          <a:effectLst/>
                          <a:latin typeface="微软雅黑" panose="020B0503020204020204" pitchFamily="34" charset="-122"/>
                          <a:ea typeface="微软雅黑" panose="020B0503020204020204" pitchFamily="34" charset="-122"/>
                        </a:rPr>
                        <a:t>/WAF</a:t>
                      </a:r>
                      <a:endParaRPr 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3753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d)  </a:t>
                      </a:r>
                      <a:r>
                        <a:rPr lang="zh-CN" altLang="en-US" sz="1200" u="none" strike="noStrike" dirty="0">
                          <a:effectLst/>
                          <a:latin typeface="微软雅黑" panose="020B0503020204020204" pitchFamily="34" charset="-122"/>
                          <a:ea typeface="微软雅黑" panose="020B0503020204020204" pitchFamily="34" charset="-122"/>
                        </a:rPr>
                        <a:t>应在会话处于非活跃一定时间或会话结束后终止网络连接；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防火墙会话老化，设置会话超时时间</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3753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e)  </a:t>
                      </a:r>
                      <a:r>
                        <a:rPr lang="zh-CN" altLang="en-US" sz="1200" u="none" strike="noStrike" dirty="0">
                          <a:effectLst/>
                          <a:latin typeface="微软雅黑" panose="020B0503020204020204" pitchFamily="34" charset="-122"/>
                          <a:ea typeface="微软雅黑" panose="020B0503020204020204" pitchFamily="34" charset="-122"/>
                        </a:rPr>
                        <a:t>应限制网络最大流量数及网络连接数；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防火墙策略</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3753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f)  </a:t>
                      </a:r>
                      <a:r>
                        <a:rPr lang="zh-CN" altLang="en-US" sz="1200" u="none" strike="noStrike" dirty="0">
                          <a:effectLst/>
                          <a:latin typeface="微软雅黑" panose="020B0503020204020204" pitchFamily="34" charset="-122"/>
                          <a:ea typeface="微软雅黑" panose="020B0503020204020204" pitchFamily="34" charset="-122"/>
                        </a:rPr>
                        <a:t>重要网段应采取技术手段防止地址欺骗；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sz="1200" u="none" strike="noStrike" dirty="0" err="1">
                          <a:effectLst/>
                          <a:latin typeface="微软雅黑" panose="020B0503020204020204" pitchFamily="34" charset="-122"/>
                          <a:ea typeface="微软雅黑" panose="020B0503020204020204" pitchFamily="34" charset="-122"/>
                        </a:rPr>
                        <a:t>ip、mac</a:t>
                      </a:r>
                      <a:r>
                        <a:rPr lang="zh-CN" altLang="en-US" sz="1200" u="none" strike="noStrike" dirty="0">
                          <a:effectLst/>
                          <a:latin typeface="微软雅黑" panose="020B0503020204020204" pitchFamily="34" charset="-122"/>
                          <a:ea typeface="微软雅黑" panose="020B0503020204020204" pitchFamily="34" charset="-122"/>
                        </a:rPr>
                        <a:t>绑定</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防火墙、交换机组合方案保证</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109014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g)  </a:t>
                      </a:r>
                      <a:r>
                        <a:rPr lang="zh-CN" altLang="en-US" sz="1200" u="none" strike="noStrike" dirty="0">
                          <a:effectLst/>
                          <a:latin typeface="微软雅黑" panose="020B0503020204020204" pitchFamily="34" charset="-122"/>
                          <a:ea typeface="微软雅黑" panose="020B0503020204020204" pitchFamily="34" charset="-122"/>
                        </a:rPr>
                        <a:t>应按用户和系统之间的允许访问规则，决定允许或拒绝用户对受控系统进行资源访问，控制粒度为单个用户；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第一层次基于</a:t>
                      </a:r>
                      <a:r>
                        <a:rPr lang="en-US" altLang="zh-CN" sz="1200" u="none" strike="noStrike" dirty="0">
                          <a:effectLst/>
                          <a:latin typeface="微软雅黑" panose="020B0503020204020204" pitchFamily="34" charset="-122"/>
                          <a:ea typeface="微软雅黑" panose="020B0503020204020204" pitchFamily="34" charset="-122"/>
                        </a:rPr>
                        <a:t>IP</a:t>
                      </a:r>
                      <a:r>
                        <a:rPr lang="zh-CN" altLang="en-US" sz="1200" u="none" strike="noStrike" dirty="0">
                          <a:effectLst/>
                          <a:latin typeface="微软雅黑" panose="020B0503020204020204" pitchFamily="34" charset="-122"/>
                          <a:ea typeface="微软雅黑" panose="020B0503020204020204" pitchFamily="34" charset="-122"/>
                        </a:rPr>
                        <a:t>的访问控制，基本防火墙能力</a:t>
                      </a:r>
                      <a:br>
                        <a:rPr lang="zh-CN" altLang="en-US" sz="1200" u="none" strike="noStrike" dirty="0">
                          <a:effectLst/>
                          <a:latin typeface="微软雅黑" panose="020B0503020204020204" pitchFamily="34" charset="-122"/>
                          <a:ea typeface="微软雅黑" panose="020B0503020204020204" pitchFamily="34" charset="-122"/>
                        </a:rPr>
                      </a:br>
                      <a:r>
                        <a:rPr lang="zh-CN" altLang="en-US" sz="1200" u="none" strike="noStrike" dirty="0">
                          <a:effectLst/>
                          <a:latin typeface="微软雅黑" panose="020B0503020204020204" pitchFamily="34" charset="-122"/>
                          <a:ea typeface="微软雅黑" panose="020B0503020204020204" pitchFamily="34" charset="-122"/>
                        </a:rPr>
                        <a:t>第二层次基于用户身份的访问控制，下一代防火墙支持，配合</a:t>
                      </a:r>
                      <a:r>
                        <a:rPr lang="en-US" altLang="zh-CN" sz="1200" u="none" strike="noStrike" dirty="0">
                          <a:effectLst/>
                          <a:latin typeface="微软雅黑" panose="020B0503020204020204" pitchFamily="34" charset="-122"/>
                          <a:ea typeface="微软雅黑" panose="020B0503020204020204" pitchFamily="34" charset="-122"/>
                        </a:rPr>
                        <a:t>AAA</a:t>
                      </a:r>
                      <a:r>
                        <a:rPr lang="zh-CN" altLang="en-US" sz="1200" u="none" strike="noStrike" dirty="0">
                          <a:effectLst/>
                          <a:latin typeface="微软雅黑" panose="020B0503020204020204" pitchFamily="34" charset="-122"/>
                          <a:ea typeface="微软雅黑" panose="020B0503020204020204" pitchFamily="34" charset="-122"/>
                        </a:rPr>
                        <a:t>系统使用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37534">
                <a:tc vMerge="1">
                  <a:tcPr/>
                </a:tc>
                <a:tc vMerge="1">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en-US" altLang="zh-CN" sz="1200" u="none" strike="noStrike" dirty="0">
                          <a:effectLst/>
                          <a:latin typeface="微软雅黑" panose="020B0503020204020204" pitchFamily="34" charset="-122"/>
                          <a:ea typeface="微软雅黑" panose="020B0503020204020204" pitchFamily="34" charset="-122"/>
                        </a:rPr>
                        <a:t>h)  </a:t>
                      </a:r>
                      <a:r>
                        <a:rPr lang="zh-CN" altLang="en-US" sz="1200" u="none" strike="noStrike" dirty="0">
                          <a:effectLst/>
                          <a:latin typeface="微软雅黑" panose="020B0503020204020204" pitchFamily="34" charset="-122"/>
                          <a:ea typeface="微软雅黑" panose="020B0503020204020204" pitchFamily="34" charset="-122"/>
                        </a:rPr>
                        <a:t>应限制具有拨号访问权限的用户数量。</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l" fontAlgn="ctr"/>
                      <a:r>
                        <a:rPr lang="zh-CN" altLang="en-US" sz="1200" u="none" strike="noStrike" dirty="0">
                          <a:effectLst/>
                          <a:latin typeface="微软雅黑" panose="020B0503020204020204" pitchFamily="34" charset="-122"/>
                          <a:ea typeface="微软雅黑" panose="020B0503020204020204" pitchFamily="34" charset="-122"/>
                        </a:rPr>
                        <a:t>拨号接入设备控制（可能包括</a:t>
                      </a:r>
                      <a:r>
                        <a:rPr lang="en-US" altLang="zh-CN" sz="1200" u="none" strike="noStrike" dirty="0">
                          <a:effectLst/>
                          <a:latin typeface="微软雅黑" panose="020B0503020204020204" pitchFamily="34" charset="-122"/>
                          <a:ea typeface="微软雅黑" panose="020B0503020204020204" pitchFamily="34" charset="-122"/>
                        </a:rPr>
                        <a:t>PPTP</a:t>
                      </a:r>
                      <a:r>
                        <a:rPr lang="zh-CN" altLang="en-US" sz="1200" u="none" strike="noStrike" dirty="0">
                          <a:effectLst/>
                          <a:latin typeface="微软雅黑" panose="020B0503020204020204" pitchFamily="34" charset="-122"/>
                          <a:ea typeface="微软雅黑" panose="020B0503020204020204" pitchFamily="34" charset="-122"/>
                        </a:rPr>
                        <a:t>等</a:t>
                      </a:r>
                      <a:r>
                        <a:rPr lang="en-US" altLang="zh-CN" sz="1200" u="none" strike="noStrike" dirty="0">
                          <a:effectLst/>
                          <a:latin typeface="微软雅黑" panose="020B0503020204020204" pitchFamily="34" charset="-122"/>
                          <a:ea typeface="微软雅黑" panose="020B0503020204020204" pitchFamily="34" charset="-122"/>
                        </a:rPr>
                        <a:t>VPN</a:t>
                      </a:r>
                      <a:r>
                        <a:rPr lang="zh-CN" altLang="en-US" sz="1200" u="none" strike="noStrike" dirty="0">
                          <a:effectLst/>
                          <a:latin typeface="微软雅黑" panose="020B0503020204020204" pitchFamily="34" charset="-122"/>
                          <a:ea typeface="微软雅黑" panose="020B0503020204020204" pitchFamily="34" charset="-122"/>
                        </a:rPr>
                        <a:t>方式）</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lvl1pPr marL="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1pPr>
                      <a:lvl2pPr marL="4572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2pPr>
                      <a:lvl3pPr marL="91440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3pPr>
                      <a:lvl4pPr marL="13709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4pPr>
                      <a:lvl5pPr marL="18281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5pPr>
                      <a:lvl6pPr marL="22853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6pPr>
                      <a:lvl7pPr marL="27425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7pPr>
                      <a:lvl8pPr marL="3199765"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8pPr>
                      <a:lvl9pPr marL="3656330" algn="l" defTabSz="914400" rtl="0" eaLnBrk="1" latinLnBrk="0" hangingPunct="1">
                        <a:defRPr sz="1800" kern="1200">
                          <a:solidFill>
                            <a:schemeClr val="dk1"/>
                          </a:solidFill>
                          <a:latin typeface="FrutigerNext LT Medium"/>
                          <a:ea typeface="华文细黑" panose="02010600040101010101" pitchFamily="2" charset="-122"/>
                          <a:cs typeface="宋体" panose="02010600030101010101" pitchFamily="2" charset="-122"/>
                        </a:defRPr>
                      </a:lvl9p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防火墙</a:t>
                      </a:r>
                      <a:r>
                        <a:rPr lang="en-US" altLang="zh-CN" sz="1200" u="none" strike="noStrike" dirty="0">
                          <a:effectLst/>
                          <a:latin typeface="微软雅黑" panose="020B0503020204020204" pitchFamily="34" charset="-122"/>
                          <a:ea typeface="微软雅黑" panose="020B0503020204020204" pitchFamily="34" charset="-122"/>
                        </a:rPr>
                        <a:t>/VPN</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bl>
          </a:graphicData>
        </a:graphic>
      </p:graphicFrame>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256115" y="104188"/>
            <a:ext cx="10075822" cy="81982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网络安全解读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a:graphicFrameLocks noGrp="1"/>
          </p:cNvGraphicFramePr>
          <p:nvPr/>
        </p:nvGraphicFramePr>
        <p:xfrm>
          <a:off x="839417" y="1340768"/>
          <a:ext cx="10369152" cy="4824663"/>
        </p:xfrm>
        <a:graphic>
          <a:graphicData uri="http://schemas.openxmlformats.org/drawingml/2006/table">
            <a:tbl>
              <a:tblPr>
                <a:tableStyleId>{3C2FFA5D-87B4-456A-9821-1D502468CF0F}</a:tableStyleId>
              </a:tblPr>
              <a:tblGrid>
                <a:gridCol w="898660"/>
                <a:gridCol w="1106043"/>
                <a:gridCol w="4747272"/>
                <a:gridCol w="2321033"/>
                <a:gridCol w="1296144"/>
              </a:tblGrid>
              <a:tr h="515620">
                <a:tc gridSpan="2">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分类</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hMerge="1">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基本要求</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说明及技术方案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产品部署</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584529">
                <a:tc rowSpan="6">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网络安全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4">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安全审计（</a:t>
                      </a:r>
                      <a:r>
                        <a:rPr lang="en-US" altLang="zh-CN" sz="1200" u="none" strike="noStrike" dirty="0">
                          <a:effectLst/>
                          <a:latin typeface="微软雅黑" panose="020B0503020204020204" pitchFamily="34" charset="-122"/>
                          <a:ea typeface="微软雅黑" panose="020B0503020204020204" pitchFamily="34" charset="-122"/>
                        </a:rPr>
                        <a:t>G3</a:t>
                      </a:r>
                      <a:r>
                        <a:rPr lang="zh-CN" altLang="en-US" sz="1200" u="none" strike="noStrike" dirty="0">
                          <a:effectLst/>
                          <a:latin typeface="微软雅黑" panose="020B0503020204020204" pitchFamily="34" charset="-122"/>
                          <a:ea typeface="微软雅黑" panose="020B0503020204020204" pitchFamily="34" charset="-122"/>
                        </a:rPr>
                        <a:t>）</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应对网络系统中的网络设备运行状况、网络流量、用户行为等进行日志记录；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4">
                  <a:txBody>
                    <a:bodyPr/>
                    <a:lstStyle/>
                    <a:p>
                      <a:pPr algn="l" fontAlgn="ctr"/>
                      <a:r>
                        <a:rPr lang="zh-CN" altLang="en-US" sz="1200" u="none" strike="noStrike">
                          <a:effectLst/>
                          <a:latin typeface="微软雅黑" panose="020B0503020204020204" pitchFamily="34" charset="-122"/>
                          <a:ea typeface="微软雅黑" panose="020B0503020204020204" pitchFamily="34" charset="-122"/>
                        </a:rPr>
                        <a:t>技术点解析：</a:t>
                      </a:r>
                      <a:br>
                        <a:rPr lang="zh-CN" altLang="en-US" sz="1200" u="none" strike="noStrike">
                          <a:effectLst/>
                          <a:latin typeface="微软雅黑" panose="020B0503020204020204" pitchFamily="34" charset="-122"/>
                          <a:ea typeface="微软雅黑" panose="020B0503020204020204" pitchFamily="34" charset="-122"/>
                        </a:rPr>
                      </a:br>
                      <a:r>
                        <a:rPr lang="zh-CN" altLang="en-US" sz="1200" u="none" strike="noStrike">
                          <a:effectLst/>
                          <a:latin typeface="微软雅黑" panose="020B0503020204020204" pitchFamily="34" charset="-122"/>
                          <a:ea typeface="微软雅黑" panose="020B0503020204020204" pitchFamily="34" charset="-122"/>
                        </a:rPr>
                        <a:t>审计网络设备操作记录，提供有效展示，并确保日志安全存储。</a:t>
                      </a:r>
                      <a:br>
                        <a:rPr lang="zh-CN" altLang="en-US" sz="1200" u="none" strike="noStrike">
                          <a:effectLst/>
                          <a:latin typeface="微软雅黑" panose="020B0503020204020204" pitchFamily="34" charset="-122"/>
                          <a:ea typeface="微软雅黑" panose="020B0503020204020204" pitchFamily="34" charset="-122"/>
                        </a:rPr>
                      </a:br>
                      <a:r>
                        <a:rPr lang="zh-CN" altLang="en-US" sz="1200" u="none" strike="noStrike">
                          <a:effectLst/>
                          <a:latin typeface="微软雅黑" panose="020B0503020204020204" pitchFamily="34" charset="-122"/>
                          <a:ea typeface="微软雅黑" panose="020B0503020204020204" pitchFamily="34" charset="-122"/>
                        </a:rPr>
                        <a:t>应对方案：</a:t>
                      </a:r>
                      <a:br>
                        <a:rPr lang="zh-CN" altLang="en-US" sz="1200" u="none" strike="noStrike">
                          <a:effectLst/>
                          <a:latin typeface="微软雅黑" panose="020B0503020204020204" pitchFamily="34" charset="-122"/>
                          <a:ea typeface="微软雅黑" panose="020B0503020204020204" pitchFamily="34" charset="-122"/>
                        </a:rPr>
                      </a:br>
                      <a:r>
                        <a:rPr lang="zh-CN" altLang="en-US" sz="1200" u="none" strike="noStrike">
                          <a:effectLst/>
                          <a:latin typeface="微软雅黑" panose="020B0503020204020204" pitchFamily="34" charset="-122"/>
                          <a:ea typeface="微软雅黑" panose="020B0503020204020204" pitchFamily="34" charset="-122"/>
                        </a:rPr>
                        <a:t>通过流量分析系统、运维管理系统配合实现</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4">
                  <a:txBody>
                    <a:bodyPr/>
                    <a:lstStyle/>
                    <a:p>
                      <a:pPr algn="l" fontAlgn="ctr"/>
                      <a:r>
                        <a:rPr lang="zh-CN" altLang="en-US" sz="1200" u="none" strike="noStrike" dirty="0">
                          <a:solidFill>
                            <a:schemeClr val="tx1"/>
                          </a:solidFill>
                          <a:effectLst/>
                          <a:latin typeface="微软雅黑" panose="020B0503020204020204" pitchFamily="34" charset="-122"/>
                          <a:ea typeface="微软雅黑" panose="020B0503020204020204" pitchFamily="34" charset="-122"/>
                        </a:rPr>
                        <a:t>网络审计、日志审计、堡垒机</a:t>
                      </a:r>
                      <a:endParaRPr lang="en-US" altLang="zh-CN" sz="1200" b="0" i="0" u="none" strike="noStrike" dirty="0">
                        <a:solidFill>
                          <a:schemeClr val="tx1"/>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803910">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b)  </a:t>
                      </a:r>
                      <a:r>
                        <a:rPr lang="zh-CN" altLang="en-US" sz="1200" u="none" strike="noStrike" dirty="0">
                          <a:effectLst/>
                          <a:latin typeface="微软雅黑" panose="020B0503020204020204" pitchFamily="34" charset="-122"/>
                          <a:ea typeface="微软雅黑" panose="020B0503020204020204" pitchFamily="34" charset="-122"/>
                        </a:rPr>
                        <a:t>审计记录应包括：事件的日期和时间、用户、事件类型、事件是否成功及其他与审计相关的信息；</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c vMerge="1">
                  <a:tcPr/>
                </a:tc>
              </a:tr>
              <a:tr h="540311">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c)  </a:t>
                      </a:r>
                      <a:r>
                        <a:rPr lang="zh-CN" altLang="en-US" sz="1200" u="none" strike="noStrike" dirty="0">
                          <a:effectLst/>
                          <a:latin typeface="微软雅黑" panose="020B0503020204020204" pitchFamily="34" charset="-122"/>
                          <a:ea typeface="微软雅黑" panose="020B0503020204020204" pitchFamily="34" charset="-122"/>
                        </a:rPr>
                        <a:t>应能够根据记录数据进行分析，并生成审计报表；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c vMerge="1">
                  <a:tcPr/>
                </a:tc>
              </a:tr>
              <a:tr h="547424">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d)  </a:t>
                      </a:r>
                      <a:r>
                        <a:rPr lang="zh-CN" altLang="en-US" sz="1200" u="none" strike="noStrike" dirty="0">
                          <a:effectLst/>
                          <a:latin typeface="微软雅黑" panose="020B0503020204020204" pitchFamily="34" charset="-122"/>
                          <a:ea typeface="微软雅黑" panose="020B0503020204020204" pitchFamily="34" charset="-122"/>
                        </a:rPr>
                        <a:t>应对审计记录进行保护，避免受到未预期的删除、修改或覆盖等。</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c vMerge="1">
                  <a:tcPr/>
                </a:tc>
              </a:tr>
              <a:tr h="803910">
                <a:tc vMerge="1">
                  <a:tcPr/>
                </a:tc>
                <a:tc rowSpan="2">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边界完整性检查（</a:t>
                      </a:r>
                      <a:r>
                        <a:rPr lang="en-US" altLang="zh-CN" sz="1200" u="none" strike="noStrike" dirty="0">
                          <a:effectLst/>
                          <a:latin typeface="微软雅黑" panose="020B0503020204020204" pitchFamily="34" charset="-122"/>
                          <a:ea typeface="微软雅黑" panose="020B0503020204020204" pitchFamily="34" charset="-122"/>
                        </a:rPr>
                        <a:t>S3</a:t>
                      </a:r>
                      <a:r>
                        <a:rPr lang="zh-CN" altLang="en-US" sz="1200" u="none" strike="noStrike" dirty="0">
                          <a:effectLst/>
                          <a:latin typeface="微软雅黑" panose="020B0503020204020204" pitchFamily="34" charset="-122"/>
                          <a:ea typeface="微软雅黑" panose="020B0503020204020204" pitchFamily="34" charset="-122"/>
                        </a:rPr>
                        <a:t>）</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应能够对非授权设备私自联到内部网络的行为进行检查，准确定出位置，并对其进行有效阻断；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接入认证、</a:t>
                      </a:r>
                      <a:r>
                        <a:rPr lang="en-US" altLang="zh-CN" sz="1200" u="none" strike="noStrike" dirty="0">
                          <a:effectLst/>
                          <a:latin typeface="微软雅黑" panose="020B0503020204020204" pitchFamily="34" charset="-122"/>
                          <a:ea typeface="微软雅黑" panose="020B0503020204020204" pitchFamily="34" charset="-122"/>
                        </a:rPr>
                        <a:t>IP/MAC</a:t>
                      </a:r>
                      <a:r>
                        <a:rPr lang="zh-CN" altLang="en-US" sz="1200" u="none" strike="noStrike" dirty="0">
                          <a:effectLst/>
                          <a:latin typeface="微软雅黑" panose="020B0503020204020204" pitchFamily="34" charset="-122"/>
                          <a:ea typeface="微软雅黑" panose="020B0503020204020204" pitchFamily="34" charset="-122"/>
                        </a:rPr>
                        <a:t>绑定</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b="1" u="none" strike="noStrike" dirty="0">
                          <a:solidFill>
                            <a:srgbClr val="FF0000"/>
                          </a:solidFill>
                          <a:effectLst/>
                          <a:latin typeface="微软雅黑" panose="020B0503020204020204" pitchFamily="34" charset="-122"/>
                          <a:ea typeface="微软雅黑" panose="020B0503020204020204" pitchFamily="34" charset="-122"/>
                        </a:rPr>
                        <a:t>终端准入</a:t>
                      </a:r>
                      <a:endParaRPr lang="en-US" sz="1200" b="1" i="0" u="none" strike="noStrike" dirty="0">
                        <a:solidFill>
                          <a:srgbClr val="FF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1028959">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b)  </a:t>
                      </a:r>
                      <a:r>
                        <a:rPr lang="zh-CN" altLang="en-US" sz="1200" u="none" strike="noStrike" dirty="0">
                          <a:effectLst/>
                          <a:latin typeface="微软雅黑" panose="020B0503020204020204" pitchFamily="34" charset="-122"/>
                          <a:ea typeface="微软雅黑" panose="020B0503020204020204" pitchFamily="34" charset="-122"/>
                        </a:rPr>
                        <a:t>应能够对内部网络用户私自联到外部网络的行为进行检查，准确定出位置，并对其进行有效阻断。</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防私接</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b="1" i="0" u="none" strike="noStrike" dirty="0">
                          <a:solidFill>
                            <a:srgbClr val="FF0000"/>
                          </a:solidFill>
                          <a:effectLst/>
                          <a:latin typeface="微软雅黑" panose="020B0503020204020204" pitchFamily="34" charset="-122"/>
                          <a:ea typeface="微软雅黑" panose="020B0503020204020204" pitchFamily="34" charset="-122"/>
                        </a:rPr>
                        <a:t>终端准入</a:t>
                      </a:r>
                      <a:endParaRPr lang="en-US" altLang="zh-CN" sz="1200" b="1" i="0" u="none" strike="noStrike" dirty="0">
                        <a:solidFill>
                          <a:srgbClr val="FF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bl>
          </a:graphicData>
        </a:graphic>
      </p:graphicFrame>
    </p:spTree>
    <p:custDataLst>
      <p:tags r:id="rId1"/>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256115" y="104188"/>
            <a:ext cx="10075822" cy="81982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网络安全解读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4" name="表格 3"/>
          <p:cNvGraphicFramePr>
            <a:graphicFrameLocks noGrp="1"/>
          </p:cNvGraphicFramePr>
          <p:nvPr/>
        </p:nvGraphicFramePr>
        <p:xfrm>
          <a:off x="911424" y="1628800"/>
          <a:ext cx="9721080" cy="3672489"/>
        </p:xfrm>
        <a:graphic>
          <a:graphicData uri="http://schemas.openxmlformats.org/drawingml/2006/table">
            <a:tbl>
              <a:tblPr>
                <a:tableStyleId>{3C2FFA5D-87B4-456A-9821-1D502468CF0F}</a:tableStyleId>
              </a:tblPr>
              <a:tblGrid>
                <a:gridCol w="818968"/>
                <a:gridCol w="1225947"/>
                <a:gridCol w="4396568"/>
                <a:gridCol w="2047608"/>
                <a:gridCol w="1231989"/>
              </a:tblGrid>
              <a:tr h="485140">
                <a:tc gridSpan="2">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分类</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hMerge="1">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基本要求</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说明及技术方案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产品部署</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948757">
                <a:tc rowSpan="4">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网络安全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2">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入侵防范（</a:t>
                      </a:r>
                      <a:r>
                        <a:rPr lang="en-US" sz="1200" u="none" strike="noStrike" dirty="0">
                          <a:effectLst/>
                          <a:latin typeface="微软雅黑" panose="020B0503020204020204" pitchFamily="34" charset="-122"/>
                          <a:ea typeface="微软雅黑" panose="020B0503020204020204" pitchFamily="34" charset="-122"/>
                        </a:rPr>
                        <a:t>G3）</a:t>
                      </a:r>
                      <a:endParaRPr 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应在网络边界处监视以下攻击行为：端口扫描、强力攻击、木马后门攻击、拒绝服务攻击、缓冲区溢出攻击、</a:t>
                      </a:r>
                      <a:r>
                        <a:rPr lang="en-US" altLang="zh-CN" sz="1200" u="none" strike="noStrike" dirty="0">
                          <a:effectLst/>
                          <a:latin typeface="微软雅黑" panose="020B0503020204020204" pitchFamily="34" charset="-122"/>
                          <a:ea typeface="微软雅黑" panose="020B0503020204020204" pitchFamily="34" charset="-122"/>
                        </a:rPr>
                        <a:t>IP </a:t>
                      </a:r>
                      <a:r>
                        <a:rPr lang="zh-CN" altLang="en-US" sz="1200" u="none" strike="noStrike" dirty="0">
                          <a:effectLst/>
                          <a:latin typeface="微软雅黑" panose="020B0503020204020204" pitchFamily="34" charset="-122"/>
                          <a:ea typeface="微软雅黑" panose="020B0503020204020204" pitchFamily="34" charset="-122"/>
                        </a:rPr>
                        <a:t>碎片攻击和网络蠕虫攻击等；</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2">
                  <a:txBody>
                    <a:bodyPr/>
                    <a:lstStyle/>
                    <a:p>
                      <a:pPr algn="l" fontAlgn="ctr"/>
                      <a:r>
                        <a:rPr lang="zh-CN" altLang="en-US" sz="1200" u="none" strike="noStrike">
                          <a:effectLst/>
                          <a:latin typeface="微软雅黑" panose="020B0503020204020204" pitchFamily="34" charset="-122"/>
                          <a:ea typeface="微软雅黑" panose="020B0503020204020204" pitchFamily="34" charset="-122"/>
                        </a:rPr>
                        <a:t>攻击检测和防御</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2">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IDS</a:t>
                      </a:r>
                      <a:r>
                        <a:rPr lang="zh-CN" altLang="en-US" sz="1200" u="none" strike="noStrike" dirty="0">
                          <a:effectLst/>
                          <a:latin typeface="微软雅黑" panose="020B0503020204020204" pitchFamily="34" charset="-122"/>
                          <a:ea typeface="微软雅黑" panose="020B0503020204020204" pitchFamily="34" charset="-122"/>
                        </a:rPr>
                        <a:t>、</a:t>
                      </a:r>
                      <a:r>
                        <a:rPr lang="en-US" altLang="zh-CN" sz="1200" u="none" strike="noStrike" dirty="0">
                          <a:effectLst/>
                          <a:latin typeface="微软雅黑" panose="020B0503020204020204" pitchFamily="34" charset="-122"/>
                          <a:ea typeface="微软雅黑" panose="020B0503020204020204" pitchFamily="34" charset="-122"/>
                        </a:rPr>
                        <a:t>IPS</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842494">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b)  </a:t>
                      </a:r>
                      <a:r>
                        <a:rPr lang="zh-CN" altLang="en-US" sz="1200" u="none" strike="noStrike" dirty="0">
                          <a:effectLst/>
                          <a:latin typeface="微软雅黑" panose="020B0503020204020204" pitchFamily="34" charset="-122"/>
                          <a:ea typeface="微软雅黑" panose="020B0503020204020204" pitchFamily="34" charset="-122"/>
                        </a:rPr>
                        <a:t>当检测到攻击行为时，记录攻击源 </a:t>
                      </a:r>
                      <a:r>
                        <a:rPr lang="en-US" altLang="zh-CN" sz="1200" u="none" strike="noStrike" dirty="0">
                          <a:effectLst/>
                          <a:latin typeface="微软雅黑" panose="020B0503020204020204" pitchFamily="34" charset="-122"/>
                          <a:ea typeface="微软雅黑" panose="020B0503020204020204" pitchFamily="34" charset="-122"/>
                        </a:rPr>
                        <a:t>IP </a:t>
                      </a:r>
                      <a:r>
                        <a:rPr lang="zh-CN" altLang="en-US" sz="1200" u="none" strike="noStrike" dirty="0">
                          <a:effectLst/>
                          <a:latin typeface="微软雅黑" panose="020B0503020204020204" pitchFamily="34" charset="-122"/>
                          <a:ea typeface="微软雅黑" panose="020B0503020204020204" pitchFamily="34" charset="-122"/>
                        </a:rPr>
                        <a:t>、攻击类型、攻击目的、攻击时间，在发生严重入侵事件时应提供报警。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c vMerge="1">
                  <a:tcPr/>
                </a:tc>
              </a:tr>
              <a:tr h="833937">
                <a:tc vMerge="1">
                  <a:tcPr/>
                </a:tc>
                <a:tc rowSpan="2">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恶意代码防范（</a:t>
                      </a:r>
                      <a:r>
                        <a:rPr lang="en-US" altLang="zh-CN" sz="1200" u="none" strike="noStrike" dirty="0">
                          <a:effectLst/>
                          <a:latin typeface="微软雅黑" panose="020B0503020204020204" pitchFamily="34" charset="-122"/>
                          <a:ea typeface="微软雅黑" panose="020B0503020204020204" pitchFamily="34" charset="-122"/>
                        </a:rPr>
                        <a:t>G3</a:t>
                      </a:r>
                      <a:r>
                        <a:rPr lang="zh-CN" altLang="en-US" sz="1200" u="none" strike="noStrike" dirty="0">
                          <a:effectLst/>
                          <a:latin typeface="微软雅黑" panose="020B0503020204020204" pitchFamily="34" charset="-122"/>
                          <a:ea typeface="微软雅黑" panose="020B0503020204020204" pitchFamily="34" charset="-122"/>
                        </a:rPr>
                        <a:t>）</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应在网络边界处对恶意代码进行检测和清除；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攻击、病毒检测和防御</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2">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防毒墙</a:t>
                      </a:r>
                      <a:endParaRPr lang="en-US" sz="1200" b="1" u="none" strike="noStrike" dirty="0">
                        <a:solidFill>
                          <a:srgbClr val="FF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562161">
                <a:tc vMerge="1">
                  <a:tcPr/>
                </a:tc>
                <a:tc vMerge="1">
                  <a:tcPr/>
                </a:tc>
                <a:tc>
                  <a:txBody>
                    <a:bodyPr/>
                    <a:lstStyle/>
                    <a:p>
                      <a:pPr algn="l" fontAlgn="ctr"/>
                      <a:r>
                        <a:rPr lang="en-US" altLang="zh-CN" sz="1100" u="none" strike="noStrike" dirty="0">
                          <a:effectLst/>
                          <a:latin typeface="微软雅黑" panose="020B0503020204020204" pitchFamily="34" charset="-122"/>
                          <a:ea typeface="微软雅黑" panose="020B0503020204020204" pitchFamily="34" charset="-122"/>
                        </a:rPr>
                        <a:t>b)  </a:t>
                      </a:r>
                      <a:r>
                        <a:rPr lang="zh-CN" altLang="en-US" sz="1100" u="none" strike="noStrike" dirty="0">
                          <a:effectLst/>
                          <a:latin typeface="微软雅黑" panose="020B0503020204020204" pitchFamily="34" charset="-122"/>
                          <a:ea typeface="微软雅黑" panose="020B0503020204020204" pitchFamily="34" charset="-122"/>
                        </a:rPr>
                        <a:t>应维护恶意代码库的升级和检测系统的更新。</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100" u="none" strike="noStrike" dirty="0">
                          <a:effectLst/>
                          <a:latin typeface="微软雅黑" panose="020B0503020204020204" pitchFamily="34" charset="-122"/>
                          <a:ea typeface="微软雅黑" panose="020B0503020204020204" pitchFamily="34" charset="-122"/>
                        </a:rPr>
                        <a:t>定期升级特征库</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bl>
          </a:graphicData>
        </a:graphic>
      </p:graphicFrame>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p:nvPr/>
        </p:nvSpPr>
        <p:spPr>
          <a:xfrm>
            <a:off x="256115" y="104188"/>
            <a:ext cx="10075822" cy="81982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网络安全解读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表格 5"/>
          <p:cNvGraphicFramePr>
            <a:graphicFrameLocks noGrp="1"/>
          </p:cNvGraphicFramePr>
          <p:nvPr/>
        </p:nvGraphicFramePr>
        <p:xfrm>
          <a:off x="1042904" y="1628800"/>
          <a:ext cx="9805623" cy="4248691"/>
        </p:xfrm>
        <a:graphic>
          <a:graphicData uri="http://schemas.openxmlformats.org/drawingml/2006/table">
            <a:tbl>
              <a:tblPr>
                <a:tableStyleId>{3C2FFA5D-87B4-456A-9821-1D502468CF0F}</a:tableStyleId>
              </a:tblPr>
              <a:tblGrid>
                <a:gridCol w="1044864"/>
                <a:gridCol w="996631"/>
                <a:gridCol w="4257754"/>
                <a:gridCol w="2028397"/>
                <a:gridCol w="1477977"/>
              </a:tblGrid>
              <a:tr h="498475">
                <a:tc gridSpan="2">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分类</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hMerge="1">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基本要求</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说明及技术方案</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ctr" fontAlgn="ctr"/>
                      <a:r>
                        <a:rPr lang="zh-CN" altLang="en-US" sz="1600" b="1" u="none" strike="noStrike" dirty="0">
                          <a:effectLst/>
                          <a:latin typeface="微软雅黑" panose="020B0503020204020204" pitchFamily="34" charset="-122"/>
                          <a:ea typeface="微软雅黑" panose="020B0503020204020204" pitchFamily="34" charset="-122"/>
                        </a:rPr>
                        <a:t>产品部署</a:t>
                      </a:r>
                      <a:endParaRPr lang="zh-CN" altLang="en-US" sz="1600" b="1"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443136">
                <a:tc rowSpan="8">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网络安全</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8">
                  <a:txBody>
                    <a:bodyPr/>
                    <a:lstStyle/>
                    <a:p>
                      <a:pPr algn="ctr" fontAlgn="ctr"/>
                      <a:r>
                        <a:rPr lang="zh-CN" altLang="en-US" sz="1200" u="none" strike="noStrike" dirty="0">
                          <a:effectLst/>
                          <a:latin typeface="微软雅黑" panose="020B0503020204020204" pitchFamily="34" charset="-122"/>
                          <a:ea typeface="微软雅黑" panose="020B0503020204020204" pitchFamily="34" charset="-122"/>
                        </a:rPr>
                        <a:t>网络设备防护（</a:t>
                      </a:r>
                      <a:r>
                        <a:rPr lang="en-US" altLang="zh-CN" sz="1200" u="none" strike="noStrike" dirty="0">
                          <a:effectLst/>
                          <a:latin typeface="微软雅黑" panose="020B0503020204020204" pitchFamily="34" charset="-122"/>
                          <a:ea typeface="微软雅黑" panose="020B0503020204020204" pitchFamily="34" charset="-122"/>
                        </a:rPr>
                        <a:t>G3</a:t>
                      </a:r>
                      <a:r>
                        <a:rPr lang="zh-CN" altLang="en-US" sz="1200" u="none" strike="noStrike" dirty="0">
                          <a:effectLst/>
                          <a:latin typeface="微软雅黑" panose="020B0503020204020204" pitchFamily="34" charset="-122"/>
                          <a:ea typeface="微软雅黑" panose="020B0503020204020204" pitchFamily="34" charset="-122"/>
                        </a:rPr>
                        <a:t>）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a)  </a:t>
                      </a:r>
                      <a:r>
                        <a:rPr lang="zh-CN" altLang="en-US" sz="1200" u="none" strike="noStrike" dirty="0">
                          <a:effectLst/>
                          <a:latin typeface="微软雅黑" panose="020B0503020204020204" pitchFamily="34" charset="-122"/>
                          <a:ea typeface="微软雅黑" panose="020B0503020204020204" pitchFamily="34" charset="-122"/>
                        </a:rPr>
                        <a:t>应对登录网络设备的用户进行身份鉴别；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网络运维人员身份管理</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rowSpan="8">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网络设备安全策略控制设定</a:t>
                      </a:r>
                      <a:r>
                        <a:rPr lang="en-US" altLang="zh-CN" sz="1200" u="none" strike="noStrike" dirty="0">
                          <a:effectLst/>
                          <a:latin typeface="微软雅黑" panose="020B0503020204020204" pitchFamily="34" charset="-122"/>
                          <a:ea typeface="微软雅黑" panose="020B0503020204020204" pitchFamily="34" charset="-122"/>
                        </a:rPr>
                        <a:t>+</a:t>
                      </a:r>
                      <a:r>
                        <a:rPr lang="zh-CN" altLang="en-US" sz="1200" u="none" strike="noStrike" dirty="0">
                          <a:effectLst/>
                          <a:latin typeface="微软雅黑" panose="020B0503020204020204" pitchFamily="34" charset="-122"/>
                          <a:ea typeface="微软雅黑" panose="020B0503020204020204" pitchFamily="34" charset="-122"/>
                        </a:rPr>
                        <a:t>堡垒机辅助</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r>
              <a:tr h="364191">
                <a:tc vMerge="1">
                  <a:tcPr/>
                </a:tc>
                <a:tc vMerge="1">
                  <a:tcPr/>
                </a:tc>
                <a:tc>
                  <a:txBody>
                    <a:bodyPr/>
                    <a:lstStyle/>
                    <a:p>
                      <a:pPr algn="l" fontAlgn="ctr"/>
                      <a:r>
                        <a:rPr lang="en-US" altLang="zh-CN" sz="1200" u="none" strike="noStrike">
                          <a:effectLst/>
                          <a:latin typeface="微软雅黑" panose="020B0503020204020204" pitchFamily="34" charset="-122"/>
                          <a:ea typeface="微软雅黑" panose="020B0503020204020204" pitchFamily="34" charset="-122"/>
                        </a:rPr>
                        <a:t>b)  </a:t>
                      </a:r>
                      <a:r>
                        <a:rPr lang="zh-CN" altLang="en-US" sz="1200" u="none" strike="noStrike">
                          <a:effectLst/>
                          <a:latin typeface="微软雅黑" panose="020B0503020204020204" pitchFamily="34" charset="-122"/>
                          <a:ea typeface="微软雅黑" panose="020B0503020204020204" pitchFamily="34" charset="-122"/>
                        </a:rPr>
                        <a:t>应对网络设备的管理员登录地址进行限制； </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en-US" sz="1200" u="none" strike="noStrike">
                          <a:effectLst/>
                          <a:latin typeface="微软雅黑" panose="020B0503020204020204" pitchFamily="34" charset="-122"/>
                          <a:ea typeface="微软雅黑" panose="020B0503020204020204" pitchFamily="34" charset="-122"/>
                        </a:rPr>
                        <a:t>ACL、</a:t>
                      </a:r>
                      <a:r>
                        <a:rPr lang="zh-CN" altLang="en-US" sz="1200" u="none" strike="noStrike">
                          <a:effectLst/>
                          <a:latin typeface="微软雅黑" panose="020B0503020204020204" pitchFamily="34" charset="-122"/>
                          <a:ea typeface="微软雅黑" panose="020B0503020204020204" pitchFamily="34" charset="-122"/>
                        </a:rPr>
                        <a:t>安全策略</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r h="364191">
                <a:tc vMerge="1">
                  <a:tcPr/>
                </a:tc>
                <a:tc vMerge="1">
                  <a:tcPr/>
                </a:tc>
                <a:tc>
                  <a:txBody>
                    <a:bodyPr/>
                    <a:lstStyle/>
                    <a:p>
                      <a:pPr algn="l" fontAlgn="ctr"/>
                      <a:r>
                        <a:rPr lang="en-US" altLang="zh-CN" sz="1200" u="none" strike="noStrike">
                          <a:effectLst/>
                          <a:latin typeface="微软雅黑" panose="020B0503020204020204" pitchFamily="34" charset="-122"/>
                          <a:ea typeface="微软雅黑" panose="020B0503020204020204" pitchFamily="34" charset="-122"/>
                        </a:rPr>
                        <a:t>c)  </a:t>
                      </a:r>
                      <a:r>
                        <a:rPr lang="zh-CN" altLang="en-US" sz="1200" u="none" strike="noStrike">
                          <a:effectLst/>
                          <a:latin typeface="微软雅黑" panose="020B0503020204020204" pitchFamily="34" charset="-122"/>
                          <a:ea typeface="微软雅黑" panose="020B0503020204020204" pitchFamily="34" charset="-122"/>
                        </a:rPr>
                        <a:t>网络设备用户的标识应唯一； </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a:effectLst/>
                          <a:latin typeface="微软雅黑" panose="020B0503020204020204" pitchFamily="34" charset="-122"/>
                          <a:ea typeface="微软雅黑" panose="020B0503020204020204" pitchFamily="34" charset="-122"/>
                        </a:rPr>
                        <a:t>堡垒机做双因素认证</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r h="546816">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d)  </a:t>
                      </a:r>
                      <a:r>
                        <a:rPr lang="zh-CN" altLang="en-US" sz="1200" u="none" strike="noStrike" dirty="0">
                          <a:effectLst/>
                          <a:latin typeface="微软雅黑" panose="020B0503020204020204" pitchFamily="34" charset="-122"/>
                          <a:ea typeface="微软雅黑" panose="020B0503020204020204" pitchFamily="34" charset="-122"/>
                        </a:rPr>
                        <a:t>主要网络设备应对同一用户选择两种或两种以上组合的鉴别技术来进行身份鉴别；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a:effectLst/>
                          <a:latin typeface="微软雅黑" panose="020B0503020204020204" pitchFamily="34" charset="-122"/>
                          <a:ea typeface="微软雅黑" panose="020B0503020204020204" pitchFamily="34" charset="-122"/>
                        </a:rPr>
                        <a:t>堡垒机做双因素认证</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r h="529947">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e)  </a:t>
                      </a:r>
                      <a:r>
                        <a:rPr lang="zh-CN" altLang="en-US" sz="1200" u="none" strike="noStrike" dirty="0">
                          <a:effectLst/>
                          <a:latin typeface="微软雅黑" panose="020B0503020204020204" pitchFamily="34" charset="-122"/>
                          <a:ea typeface="微软雅黑" panose="020B0503020204020204" pitchFamily="34" charset="-122"/>
                        </a:rPr>
                        <a:t>身份鉴别信息应具有不易被冒用的特点，口令应有复杂度要求并定期更换；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设置复杂口令</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r h="659764">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f)  </a:t>
                      </a:r>
                      <a:r>
                        <a:rPr lang="zh-CN" altLang="en-US" sz="1200" u="none" strike="noStrike" dirty="0">
                          <a:effectLst/>
                          <a:latin typeface="微软雅黑" panose="020B0503020204020204" pitchFamily="34" charset="-122"/>
                          <a:ea typeface="微软雅黑" panose="020B0503020204020204" pitchFamily="34" charset="-122"/>
                        </a:rPr>
                        <a:t>应具有登录失败处理功能，可采取结束会话、限制非法登录次数和当网络登录连接超时自动退出等措施；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a:effectLst/>
                          <a:latin typeface="微软雅黑" panose="020B0503020204020204" pitchFamily="34" charset="-122"/>
                          <a:ea typeface="微软雅黑" panose="020B0503020204020204" pitchFamily="34" charset="-122"/>
                        </a:rPr>
                        <a:t>设置策略控制非法登录次数和超时退出</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r h="477980">
                <a:tc vMerge="1">
                  <a:tcPr/>
                </a:tc>
                <a:tc vMerge="1">
                  <a:tcPr/>
                </a:tc>
                <a:tc>
                  <a:txBody>
                    <a:bodyPr/>
                    <a:lstStyle/>
                    <a:p>
                      <a:pPr algn="l" fontAlgn="ctr"/>
                      <a:r>
                        <a:rPr lang="en-US" altLang="zh-CN" sz="1200" u="none" strike="noStrike" dirty="0">
                          <a:effectLst/>
                          <a:latin typeface="微软雅黑" panose="020B0503020204020204" pitchFamily="34" charset="-122"/>
                          <a:ea typeface="微软雅黑" panose="020B0503020204020204" pitchFamily="34" charset="-122"/>
                        </a:rPr>
                        <a:t>g)  </a:t>
                      </a:r>
                      <a:r>
                        <a:rPr lang="zh-CN" altLang="en-US" sz="1200" u="none" strike="noStrike" dirty="0">
                          <a:effectLst/>
                          <a:latin typeface="微软雅黑" panose="020B0503020204020204" pitchFamily="34" charset="-122"/>
                          <a:ea typeface="微软雅黑" panose="020B0503020204020204" pitchFamily="34" charset="-122"/>
                        </a:rPr>
                        <a:t>当对网络设备进行远程管理时，应采取必要措施防止鉴别信息在网络传输过程中被窃听； </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远程管理使用加密协议，如</a:t>
                      </a:r>
                      <a:r>
                        <a:rPr lang="en-US" altLang="zh-CN" sz="1200" u="none" strike="noStrike" dirty="0">
                          <a:effectLst/>
                          <a:latin typeface="微软雅黑" panose="020B0503020204020204" pitchFamily="34" charset="-122"/>
                          <a:ea typeface="微软雅黑" panose="020B0503020204020204" pitchFamily="34" charset="-122"/>
                        </a:rPr>
                        <a:t>SSH</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r h="364191">
                <a:tc vMerge="1">
                  <a:tcPr/>
                </a:tc>
                <a:tc vMerge="1">
                  <a:tcPr/>
                </a:tc>
                <a:tc>
                  <a:txBody>
                    <a:bodyPr/>
                    <a:lstStyle/>
                    <a:p>
                      <a:pPr algn="l" fontAlgn="ctr"/>
                      <a:r>
                        <a:rPr lang="en-US" altLang="zh-CN" sz="1200" u="none" strike="noStrike">
                          <a:effectLst/>
                          <a:latin typeface="微软雅黑" panose="020B0503020204020204" pitchFamily="34" charset="-122"/>
                          <a:ea typeface="微软雅黑" panose="020B0503020204020204" pitchFamily="34" charset="-122"/>
                        </a:rPr>
                        <a:t>h)  </a:t>
                      </a:r>
                      <a:r>
                        <a:rPr lang="zh-CN" altLang="en-US" sz="1200" u="none" strike="noStrike">
                          <a:effectLst/>
                          <a:latin typeface="微软雅黑" panose="020B0503020204020204" pitchFamily="34" charset="-122"/>
                          <a:ea typeface="微软雅黑" panose="020B0503020204020204" pitchFamily="34" charset="-122"/>
                        </a:rPr>
                        <a:t>应实现设备特权用户的权限分离。</a:t>
                      </a:r>
                      <a:endParaRPr lang="zh-CN" altLang="en-US" sz="1200" b="0" i="0" u="none" strike="noStrike">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a:txBody>
                    <a:bodyPr/>
                    <a:lstStyle/>
                    <a:p>
                      <a:pPr algn="l" fontAlgn="ctr"/>
                      <a:r>
                        <a:rPr lang="zh-CN" altLang="en-US" sz="1200" u="none" strike="noStrike" dirty="0">
                          <a:effectLst/>
                          <a:latin typeface="微软雅黑" panose="020B0503020204020204" pitchFamily="34" charset="-122"/>
                          <a:ea typeface="微软雅黑" panose="020B0503020204020204" pitchFamily="34" charset="-122"/>
                        </a:rPr>
                        <a:t>设备上设置用户权限</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8339" marR="8339" marT="8341" marB="0" anchor="ctr">
                    <a:solidFill>
                      <a:schemeClr val="bg2"/>
                    </a:solidFill>
                  </a:tcPr>
                </a:tc>
                <a:tc vMerge="1">
                  <a:tcPr/>
                </a:tc>
              </a:tr>
            </a:tbl>
          </a:graphicData>
        </a:graphic>
      </p:graphicFrame>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bject 2"/>
          <p:cNvSpPr txBox="1"/>
          <p:nvPr/>
        </p:nvSpPr>
        <p:spPr>
          <a:xfrm>
            <a:off x="412828" y="80038"/>
            <a:ext cx="8647224" cy="923538"/>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主机安全解读</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Oval 5"/>
          <p:cNvSpPr>
            <a:spLocks noChangeArrowheads="1"/>
          </p:cNvSpPr>
          <p:nvPr/>
        </p:nvSpPr>
        <p:spPr bwMode="auto">
          <a:xfrm>
            <a:off x="5169883" y="3343105"/>
            <a:ext cx="1005949" cy="443586"/>
          </a:xfrm>
          <a:prstGeom prst="ellipse">
            <a:avLst/>
          </a:prstGeom>
          <a:solidFill>
            <a:schemeClr val="bg1">
              <a:lumMod val="50000"/>
            </a:schemeClr>
          </a:solidFill>
          <a:ln>
            <a:noFill/>
          </a:ln>
          <a:effectLst/>
        </p:spPr>
        <p:txBody>
          <a:bodyPr lIns="68562" tIns="34281" rIns="68562" bIns="34281" anchor="ctr">
            <a:spAutoFit/>
          </a:bodyPr>
          <a:lstStyle/>
          <a:p>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45" name="AutoShape 6"/>
          <p:cNvSpPr>
            <a:spLocks noChangeAspect="1" noChangeArrowheads="1"/>
          </p:cNvSpPr>
          <p:nvPr/>
        </p:nvSpPr>
        <p:spPr bwMode="auto">
          <a:xfrm>
            <a:off x="4899609" y="3003203"/>
            <a:ext cx="1548084" cy="1123391"/>
          </a:xfrm>
          <a:custGeom>
            <a:avLst/>
            <a:gdLst>
              <a:gd name="G0" fmla="+- 2546 0 0"/>
              <a:gd name="G1" fmla="+- 21600 0 2546"/>
              <a:gd name="G2" fmla="+- 21600 0 254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546" y="10800"/>
                </a:moveTo>
                <a:cubicBezTo>
                  <a:pt x="2546" y="15359"/>
                  <a:pt x="6241" y="19054"/>
                  <a:pt x="10800" y="19054"/>
                </a:cubicBezTo>
                <a:cubicBezTo>
                  <a:pt x="15359" y="19054"/>
                  <a:pt x="19054" y="15359"/>
                  <a:pt x="19054" y="10800"/>
                </a:cubicBezTo>
                <a:cubicBezTo>
                  <a:pt x="19054" y="6241"/>
                  <a:pt x="15359" y="2546"/>
                  <a:pt x="10800" y="2546"/>
                </a:cubicBezTo>
                <a:cubicBezTo>
                  <a:pt x="6241" y="2546"/>
                  <a:pt x="2546" y="6241"/>
                  <a:pt x="2546" y="10800"/>
                </a:cubicBezTo>
                <a:close/>
              </a:path>
            </a:pathLst>
          </a:custGeom>
          <a:solidFill>
            <a:srgbClr val="34EDF4">
              <a:alpha val="50000"/>
            </a:srgbClr>
          </a:solidFill>
          <a:ln>
            <a:noFill/>
          </a:ln>
          <a:effectLst/>
          <a:extLst>
            <a:ext uri="{91240B29-F687-4F45-9708-019B960494DF}">
              <a14:hiddenLine xmlns:a14="http://schemas.microsoft.com/office/drawing/2010/main" w="12700">
                <a:solidFill>
                  <a:srgbClr val="000000"/>
                </a:solidFill>
                <a:rou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wrap="none" lIns="87289" tIns="44438" rIns="87289" bIns="44438" anchor="ctr"/>
          <a:lstStyle/>
          <a:p>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46" name="AutoShape 7"/>
          <p:cNvSpPr>
            <a:spLocks noChangeAspect="1" noChangeArrowheads="1"/>
          </p:cNvSpPr>
          <p:nvPr/>
        </p:nvSpPr>
        <p:spPr bwMode="auto">
          <a:xfrm>
            <a:off x="5020037" y="3090686"/>
            <a:ext cx="1307222" cy="948425"/>
          </a:xfrm>
          <a:custGeom>
            <a:avLst/>
            <a:gdLst>
              <a:gd name="G0" fmla="+- 1157 0 0"/>
              <a:gd name="G1" fmla="+- 21600 0 1157"/>
              <a:gd name="G2" fmla="+- 21600 0 1157"/>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157" y="10800"/>
                </a:moveTo>
                <a:cubicBezTo>
                  <a:pt x="1157" y="16126"/>
                  <a:pt x="5474" y="20443"/>
                  <a:pt x="10800" y="20443"/>
                </a:cubicBezTo>
                <a:cubicBezTo>
                  <a:pt x="16126" y="20443"/>
                  <a:pt x="20443" y="16126"/>
                  <a:pt x="20443" y="10800"/>
                </a:cubicBezTo>
                <a:cubicBezTo>
                  <a:pt x="20443" y="5474"/>
                  <a:pt x="16126" y="1157"/>
                  <a:pt x="10800" y="1157"/>
                </a:cubicBezTo>
                <a:cubicBezTo>
                  <a:pt x="5474" y="1157"/>
                  <a:pt x="1157" y="5474"/>
                  <a:pt x="1157" y="10800"/>
                </a:cubicBezTo>
                <a:close/>
              </a:path>
            </a:pathLst>
          </a:custGeom>
          <a:solidFill>
            <a:srgbClr val="34EDF4">
              <a:alpha val="60001"/>
            </a:srgbClr>
          </a:solidFill>
          <a:ln>
            <a:noFill/>
          </a:ln>
          <a:effectLst/>
          <a:extLst>
            <a:ext uri="{91240B29-F687-4F45-9708-019B960494DF}">
              <a14:hiddenLine xmlns:a14="http://schemas.microsoft.com/office/drawing/2010/main" w="12700">
                <a:solidFill>
                  <a:schemeClr val="bg1"/>
                </a:solidFill>
                <a:round/>
              </a14:hiddenLine>
            </a:ext>
            <a:ext uri="{AF507438-7753-43E0-B8FC-AC1667EBCBE1}">
              <a14:hiddenEffects xmlns:a14="http://schemas.microsoft.com/office/drawing/2010/main">
                <a:effectLst>
                  <a:outerShdw dist="89803" dir="2700000" algn="ctr" rotWithShape="0">
                    <a:schemeClr val="bg2"/>
                  </a:outerShdw>
                </a:effectLst>
              </a14:hiddenEffects>
            </a:ext>
          </a:extLst>
        </p:spPr>
        <p:txBody>
          <a:bodyPr wrap="none" lIns="87289" tIns="44438" rIns="87289" bIns="44438" anchor="ctr"/>
          <a:lstStyle/>
          <a:p>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47" name="Rectangle 21"/>
          <p:cNvSpPr>
            <a:spLocks noChangeArrowheads="1"/>
          </p:cNvSpPr>
          <p:nvPr/>
        </p:nvSpPr>
        <p:spPr bwMode="auto">
          <a:xfrm>
            <a:off x="5122648" y="3436914"/>
            <a:ext cx="1106558" cy="246221"/>
          </a:xfrm>
          <a:prstGeom prst="rect">
            <a:avLst/>
          </a:prstGeom>
          <a:noFill/>
          <a:ln>
            <a:noFill/>
          </a:ln>
          <a:effectLst>
            <a:outerShdw dist="17961" dir="2700000" algn="ctr" rotWithShape="0">
              <a:schemeClr val="tx1">
                <a:alpha val="5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defTabSz="857250">
              <a:defRPr kumimoji="1">
                <a:solidFill>
                  <a:schemeClr val="tx1"/>
                </a:solidFill>
                <a:latin typeface="Gulim" panose="020B0600000101010101" pitchFamily="50" charset="-127"/>
                <a:ea typeface="Gulim" panose="020B0600000101010101" pitchFamily="50" charset="-127"/>
              </a:defRPr>
            </a:lvl1pPr>
            <a:lvl2pPr defTabSz="857250">
              <a:defRPr kumimoji="1">
                <a:solidFill>
                  <a:schemeClr val="tx1"/>
                </a:solidFill>
                <a:latin typeface="Gulim" panose="020B0600000101010101" pitchFamily="50" charset="-127"/>
                <a:ea typeface="Gulim" panose="020B0600000101010101" pitchFamily="50" charset="-127"/>
              </a:defRPr>
            </a:lvl2pPr>
            <a:lvl3pPr defTabSz="857250">
              <a:defRPr kumimoji="1">
                <a:solidFill>
                  <a:schemeClr val="tx1"/>
                </a:solidFill>
                <a:latin typeface="Gulim" panose="020B0600000101010101" pitchFamily="50" charset="-127"/>
                <a:ea typeface="Gulim" panose="020B0600000101010101" pitchFamily="50" charset="-127"/>
              </a:defRPr>
            </a:lvl3pPr>
            <a:lvl4pPr defTabSz="857250">
              <a:defRPr kumimoji="1">
                <a:solidFill>
                  <a:schemeClr val="tx1"/>
                </a:solidFill>
                <a:latin typeface="Gulim" panose="020B0600000101010101" pitchFamily="50" charset="-127"/>
                <a:ea typeface="Gulim" panose="020B0600000101010101" pitchFamily="50" charset="-127"/>
              </a:defRPr>
            </a:lvl4pPr>
            <a:lvl5pPr defTabSz="857250">
              <a:defRPr kumimoji="1">
                <a:solidFill>
                  <a:schemeClr val="tx1"/>
                </a:solidFill>
                <a:latin typeface="Gulim" panose="020B0600000101010101" pitchFamily="50" charset="-127"/>
                <a:ea typeface="Gulim" panose="020B0600000101010101" pitchFamily="50" charset="-127"/>
              </a:defRPr>
            </a:lvl5pPr>
            <a:lvl6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6pPr>
            <a:lvl7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7pPr>
            <a:lvl8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8pPr>
            <a:lvl9pPr defTabSz="85725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9pPr>
          </a:lstStyle>
          <a:p>
            <a:pPr algn="ctr" eaLnBrk="0" hangingPunct="0"/>
            <a:r>
              <a:rPr lang="zh-CN" altLang="en-US" sz="1600" b="1" dirty="0">
                <a:solidFill>
                  <a:srgbClr val="FFFFFF"/>
                </a:solidFill>
                <a:latin typeface="微软雅黑" panose="020B0503020204020204" pitchFamily="34" charset="-122"/>
                <a:ea typeface="微软雅黑" panose="020B0503020204020204" pitchFamily="34" charset="-122"/>
              </a:rPr>
              <a:t>主机安全</a:t>
            </a:r>
            <a:endParaRPr lang="en-US" altLang="ko-KR" sz="1600" b="1" dirty="0">
              <a:solidFill>
                <a:srgbClr val="FFFFFF"/>
              </a:solidFill>
              <a:latin typeface="微软雅黑" panose="020B0503020204020204" pitchFamily="34" charset="-122"/>
              <a:ea typeface="微软雅黑" panose="020B0503020204020204" pitchFamily="34" charset="-122"/>
            </a:endParaRPr>
          </a:p>
        </p:txBody>
      </p:sp>
      <p:sp>
        <p:nvSpPr>
          <p:cNvPr id="48" name="Oval 22"/>
          <p:cNvSpPr>
            <a:spLocks noChangeArrowheads="1"/>
          </p:cNvSpPr>
          <p:nvPr/>
        </p:nvSpPr>
        <p:spPr bwMode="auto">
          <a:xfrm rot="19011496">
            <a:off x="4621847" y="2891859"/>
            <a:ext cx="737122" cy="443586"/>
          </a:xfrm>
          <a:prstGeom prst="ellipse">
            <a:avLst/>
          </a:prstGeom>
          <a:gradFill rotWithShape="1">
            <a:gsLst>
              <a:gs pos="0">
                <a:schemeClr val="bg1">
                  <a:alpha val="39999"/>
                </a:schemeClr>
              </a:gs>
              <a:gs pos="100000">
                <a:schemeClr val="bg1">
                  <a:gamma/>
                  <a:shade val="46275"/>
                  <a:invGamma/>
                  <a:alpha val="0"/>
                </a:schemeClr>
              </a:gs>
            </a:gsLst>
            <a:lin ang="5400000" scaled="1"/>
          </a:grad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62" tIns="34281" rIns="68562" bIns="34281" anchor="ctr">
            <a:spAutoFit/>
          </a:bodyPr>
          <a:lstStyle/>
          <a:p>
            <a:endParaRPr lang="zh-CN" altLang="en-US" sz="1600">
              <a:solidFill>
                <a:srgbClr val="000000"/>
              </a:solidFill>
              <a:latin typeface="微软雅黑" panose="020B0503020204020204" pitchFamily="34" charset="-122"/>
              <a:ea typeface="微软雅黑" panose="020B0503020204020204" pitchFamily="34" charset="-122"/>
            </a:endParaRPr>
          </a:p>
        </p:txBody>
      </p:sp>
      <p:cxnSp>
        <p:nvCxnSpPr>
          <p:cNvPr id="49" name="直接箭头连接符 48"/>
          <p:cNvCxnSpPr/>
          <p:nvPr/>
        </p:nvCxnSpPr>
        <p:spPr bwMode="auto">
          <a:xfrm flipV="1">
            <a:off x="5659837" y="2663314"/>
            <a:ext cx="5636" cy="482606"/>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cxnSp>
        <p:nvCxnSpPr>
          <p:cNvPr id="50" name="直接箭头连接符 49"/>
          <p:cNvCxnSpPr/>
          <p:nvPr/>
        </p:nvCxnSpPr>
        <p:spPr bwMode="auto">
          <a:xfrm flipV="1">
            <a:off x="6088539" y="2928249"/>
            <a:ext cx="458443" cy="355308"/>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cxnSp>
        <p:nvCxnSpPr>
          <p:cNvPr id="51" name="直接箭头连接符 50"/>
          <p:cNvCxnSpPr/>
          <p:nvPr/>
        </p:nvCxnSpPr>
        <p:spPr bwMode="auto">
          <a:xfrm>
            <a:off x="6213823" y="3678871"/>
            <a:ext cx="597840" cy="187247"/>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cxnSp>
        <p:nvCxnSpPr>
          <p:cNvPr id="52" name="直接箭头连接符 51"/>
          <p:cNvCxnSpPr/>
          <p:nvPr/>
        </p:nvCxnSpPr>
        <p:spPr bwMode="auto">
          <a:xfrm>
            <a:off x="5875804" y="3956808"/>
            <a:ext cx="338020" cy="431250"/>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cxnSp>
        <p:nvCxnSpPr>
          <p:cNvPr id="53" name="直接箭头连接符 52"/>
          <p:cNvCxnSpPr/>
          <p:nvPr/>
        </p:nvCxnSpPr>
        <p:spPr bwMode="auto">
          <a:xfrm flipH="1">
            <a:off x="5092101" y="3936441"/>
            <a:ext cx="287904" cy="451618"/>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cxnSp>
        <p:nvCxnSpPr>
          <p:cNvPr id="54" name="直接箭头连接符 53"/>
          <p:cNvCxnSpPr/>
          <p:nvPr/>
        </p:nvCxnSpPr>
        <p:spPr bwMode="auto">
          <a:xfrm flipH="1">
            <a:off x="4451367" y="3660458"/>
            <a:ext cx="639322" cy="79529"/>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cxnSp>
        <p:nvCxnSpPr>
          <p:cNvPr id="55" name="直接箭头连接符 54"/>
          <p:cNvCxnSpPr/>
          <p:nvPr/>
        </p:nvCxnSpPr>
        <p:spPr bwMode="auto">
          <a:xfrm flipH="1" flipV="1">
            <a:off x="4691019" y="2983903"/>
            <a:ext cx="519498" cy="339986"/>
          </a:xfrm>
          <a:prstGeom prst="straightConnector1">
            <a:avLst/>
          </a:prstGeom>
          <a:solidFill>
            <a:schemeClr val="accent1"/>
          </a:solidFill>
          <a:ln w="28575" cap="flat" cmpd="sng" algn="ctr">
            <a:solidFill>
              <a:srgbClr val="0070C0"/>
            </a:solidFill>
            <a:prstDash val="solid"/>
            <a:round/>
            <a:headEnd type="none" w="med" len="med"/>
            <a:tailEnd type="arrow"/>
          </a:ln>
          <a:effectLst/>
        </p:spPr>
      </p:cxnSp>
      <p:sp>
        <p:nvSpPr>
          <p:cNvPr id="56" name="AutoShape 6"/>
          <p:cNvSpPr>
            <a:spLocks noChangeAspect="1" noChangeArrowheads="1"/>
          </p:cNvSpPr>
          <p:nvPr/>
        </p:nvSpPr>
        <p:spPr bwMode="auto">
          <a:xfrm>
            <a:off x="4635222" y="2820315"/>
            <a:ext cx="2060500" cy="1495232"/>
          </a:xfrm>
          <a:custGeom>
            <a:avLst/>
            <a:gdLst>
              <a:gd name="G0" fmla="+- 2546 0 0"/>
              <a:gd name="G1" fmla="+- 21600 0 2546"/>
              <a:gd name="G2" fmla="+- 21600 0 2546"/>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546" y="10800"/>
                </a:moveTo>
                <a:cubicBezTo>
                  <a:pt x="2546" y="15359"/>
                  <a:pt x="6241" y="19054"/>
                  <a:pt x="10800" y="19054"/>
                </a:cubicBezTo>
                <a:cubicBezTo>
                  <a:pt x="15359" y="19054"/>
                  <a:pt x="19054" y="15359"/>
                  <a:pt x="19054" y="10800"/>
                </a:cubicBezTo>
                <a:cubicBezTo>
                  <a:pt x="19054" y="6241"/>
                  <a:pt x="15359" y="2546"/>
                  <a:pt x="10800" y="2546"/>
                </a:cubicBezTo>
                <a:cubicBezTo>
                  <a:pt x="6241" y="2546"/>
                  <a:pt x="2546" y="6241"/>
                  <a:pt x="2546" y="10800"/>
                </a:cubicBezTo>
                <a:close/>
              </a:path>
            </a:pathLst>
          </a:custGeom>
          <a:solidFill>
            <a:srgbClr val="00B0F0">
              <a:alpha val="50000"/>
            </a:srgbClr>
          </a:solidFill>
          <a:ln>
            <a:noFill/>
          </a:ln>
          <a:effectLst/>
        </p:spPr>
        <p:txBody>
          <a:bodyPr wrap="none" lIns="87289" tIns="44438" rIns="87289" bIns="44438" anchor="ctr"/>
          <a:lstStyle/>
          <a:p>
            <a:endParaRPr lang="zh-CN" altLang="en-US" sz="1600">
              <a:solidFill>
                <a:srgbClr val="000000"/>
              </a:solidFill>
              <a:latin typeface="微软雅黑" panose="020B0503020204020204" pitchFamily="34" charset="-122"/>
              <a:ea typeface="微软雅黑" panose="020B0503020204020204" pitchFamily="34" charset="-122"/>
            </a:endParaRPr>
          </a:p>
        </p:txBody>
      </p:sp>
      <p:sp>
        <p:nvSpPr>
          <p:cNvPr id="57" name="流程图: 联系 16"/>
          <p:cNvSpPr/>
          <p:nvPr/>
        </p:nvSpPr>
        <p:spPr bwMode="auto">
          <a:xfrm>
            <a:off x="3986217" y="2497848"/>
            <a:ext cx="913391" cy="592838"/>
          </a:xfrm>
          <a:prstGeom prst="flowChartConnector">
            <a:avLst/>
          </a:prstGeom>
          <a:solidFill>
            <a:srgbClr val="FBC69F"/>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800">
              <a:solidFill>
                <a:srgbClr val="FFFFFF"/>
              </a:solidFill>
              <a:latin typeface="微软雅黑" panose="020B0503020204020204" pitchFamily="34" charset="-122"/>
              <a:ea typeface="微软雅黑" panose="020B0503020204020204" pitchFamily="34" charset="-122"/>
            </a:endParaRPr>
          </a:p>
        </p:txBody>
      </p:sp>
      <p:sp>
        <p:nvSpPr>
          <p:cNvPr id="58" name="流程图: 联系 17"/>
          <p:cNvSpPr/>
          <p:nvPr/>
        </p:nvSpPr>
        <p:spPr bwMode="auto">
          <a:xfrm>
            <a:off x="3644137" y="3456552"/>
            <a:ext cx="899823" cy="582558"/>
          </a:xfrm>
          <a:prstGeom prst="flowChartConnector">
            <a:avLst/>
          </a:prstGeom>
          <a:solidFill>
            <a:srgbClr val="92D050"/>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800">
              <a:solidFill>
                <a:srgbClr val="FFFFFF"/>
              </a:solidFill>
              <a:latin typeface="微软雅黑" panose="020B0503020204020204" pitchFamily="34" charset="-122"/>
              <a:ea typeface="微软雅黑" panose="020B0503020204020204" pitchFamily="34" charset="-122"/>
            </a:endParaRPr>
          </a:p>
        </p:txBody>
      </p:sp>
      <p:sp>
        <p:nvSpPr>
          <p:cNvPr id="59" name="流程图: 联系 18"/>
          <p:cNvSpPr/>
          <p:nvPr/>
        </p:nvSpPr>
        <p:spPr bwMode="auto">
          <a:xfrm>
            <a:off x="4562132" y="4374656"/>
            <a:ext cx="874724" cy="593531"/>
          </a:xfrm>
          <a:prstGeom prst="flowChartConnector">
            <a:avLst/>
          </a:prstGeom>
          <a:solidFill>
            <a:srgbClr val="97E4FF"/>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800">
              <a:solidFill>
                <a:srgbClr val="FFFFFF"/>
              </a:solidFill>
              <a:latin typeface="微软雅黑" panose="020B0503020204020204" pitchFamily="34" charset="-122"/>
              <a:ea typeface="微软雅黑" panose="020B0503020204020204" pitchFamily="34" charset="-122"/>
            </a:endParaRPr>
          </a:p>
        </p:txBody>
      </p:sp>
      <p:sp>
        <p:nvSpPr>
          <p:cNvPr id="60" name="流程图: 联系 19"/>
          <p:cNvSpPr/>
          <p:nvPr/>
        </p:nvSpPr>
        <p:spPr bwMode="auto">
          <a:xfrm>
            <a:off x="5227899" y="2052398"/>
            <a:ext cx="863872" cy="591935"/>
          </a:xfrm>
          <a:prstGeom prst="flowChartConnector">
            <a:avLst/>
          </a:prstGeom>
          <a:solidFill>
            <a:srgbClr val="00B0F0"/>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700">
              <a:solidFill>
                <a:srgbClr val="FFFFFF"/>
              </a:solidFill>
              <a:latin typeface="微软雅黑" panose="020B0503020204020204" pitchFamily="34" charset="-122"/>
              <a:ea typeface="微软雅黑" panose="020B0503020204020204" pitchFamily="34" charset="-122"/>
            </a:endParaRPr>
          </a:p>
        </p:txBody>
      </p:sp>
      <p:sp>
        <p:nvSpPr>
          <p:cNvPr id="61" name="流程图: 联系 20"/>
          <p:cNvSpPr/>
          <p:nvPr/>
        </p:nvSpPr>
        <p:spPr bwMode="auto">
          <a:xfrm>
            <a:off x="6433851" y="2430440"/>
            <a:ext cx="809747" cy="683212"/>
          </a:xfrm>
          <a:prstGeom prst="flowChartConnector">
            <a:avLst/>
          </a:prstGeom>
          <a:solidFill>
            <a:schemeClr val="bg1">
              <a:lumMod val="65000"/>
            </a:schemeClr>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800">
              <a:solidFill>
                <a:srgbClr val="FFFFFF"/>
              </a:solidFill>
              <a:latin typeface="微软雅黑" panose="020B0503020204020204" pitchFamily="34" charset="-122"/>
              <a:ea typeface="微软雅黑" panose="020B0503020204020204" pitchFamily="34" charset="-122"/>
            </a:endParaRPr>
          </a:p>
        </p:txBody>
      </p:sp>
      <p:sp>
        <p:nvSpPr>
          <p:cNvPr id="62" name="流程图: 联系 21"/>
          <p:cNvSpPr/>
          <p:nvPr/>
        </p:nvSpPr>
        <p:spPr bwMode="auto">
          <a:xfrm>
            <a:off x="6811663" y="3690179"/>
            <a:ext cx="935861" cy="553863"/>
          </a:xfrm>
          <a:prstGeom prst="flowChartConnector">
            <a:avLst/>
          </a:prstGeom>
          <a:solidFill>
            <a:srgbClr val="F68632"/>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800">
              <a:solidFill>
                <a:srgbClr val="FFFFFF"/>
              </a:solidFill>
              <a:latin typeface="微软雅黑" panose="020B0503020204020204" pitchFamily="34" charset="-122"/>
              <a:ea typeface="微软雅黑" panose="020B0503020204020204" pitchFamily="34" charset="-122"/>
            </a:endParaRPr>
          </a:p>
        </p:txBody>
      </p:sp>
      <p:sp>
        <p:nvSpPr>
          <p:cNvPr id="63" name="流程图: 联系 22"/>
          <p:cNvSpPr/>
          <p:nvPr/>
        </p:nvSpPr>
        <p:spPr bwMode="auto">
          <a:xfrm>
            <a:off x="5994142" y="4388059"/>
            <a:ext cx="854388" cy="570692"/>
          </a:xfrm>
          <a:prstGeom prst="flowChartConnector">
            <a:avLst/>
          </a:prstGeom>
          <a:solidFill>
            <a:schemeClr val="accent2">
              <a:lumMod val="40000"/>
              <a:lumOff val="60000"/>
            </a:schemeClr>
          </a:solidFill>
          <a:ln w="9525" cap="flat" cmpd="sng" algn="ctr">
            <a:noFill/>
            <a:prstDash val="solid"/>
            <a:round/>
            <a:headEnd type="none" w="med" len="med"/>
            <a:tailEnd type="none" w="med" len="med"/>
          </a:ln>
          <a:effectLst/>
        </p:spPr>
        <p:txBody>
          <a:bodyPr vert="horz" wrap="square" lIns="91416" tIns="45708" rIns="91416" bIns="45708" numCol="1" rtlCol="0" anchor="t" anchorCtr="0" compatLnSpc="1">
            <a:noAutofit/>
          </a:bodyPr>
          <a:lstStyle/>
          <a:p>
            <a:pPr algn="ctr" eaLnBrk="0" hangingPunct="0"/>
            <a:endParaRPr lang="zh-CN" altLang="en-US" sz="800">
              <a:solidFill>
                <a:srgbClr val="FFFFFF"/>
              </a:solidFill>
              <a:latin typeface="微软雅黑" panose="020B0503020204020204" pitchFamily="34" charset="-122"/>
              <a:ea typeface="微软雅黑" panose="020B0503020204020204" pitchFamily="34" charset="-122"/>
            </a:endParaRPr>
          </a:p>
        </p:txBody>
      </p:sp>
      <p:sp>
        <p:nvSpPr>
          <p:cNvPr id="64" name="TextBox 42"/>
          <p:cNvSpPr txBox="1"/>
          <p:nvPr/>
        </p:nvSpPr>
        <p:spPr>
          <a:xfrm>
            <a:off x="5444906" y="2133289"/>
            <a:ext cx="497536" cy="500119"/>
          </a:xfrm>
          <a:prstGeom prst="rect">
            <a:avLst/>
          </a:prstGeom>
          <a:noFill/>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身份</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鉴别</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65" name="TextBox 79"/>
          <p:cNvSpPr txBox="1"/>
          <p:nvPr/>
        </p:nvSpPr>
        <p:spPr>
          <a:xfrm>
            <a:off x="4223476" y="2582376"/>
            <a:ext cx="497536" cy="500119"/>
          </a:xfrm>
          <a:prstGeom prst="rect">
            <a:avLst/>
          </a:prstGeom>
          <a:noFill/>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访问</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控制</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66" name="TextBox 80"/>
          <p:cNvSpPr txBox="1"/>
          <p:nvPr/>
        </p:nvSpPr>
        <p:spPr>
          <a:xfrm>
            <a:off x="3874967" y="3545807"/>
            <a:ext cx="497536" cy="500119"/>
          </a:xfrm>
          <a:prstGeom prst="rect">
            <a:avLst/>
          </a:prstGeom>
          <a:noFill/>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安全</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审计</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67" name="TextBox 81"/>
          <p:cNvSpPr txBox="1"/>
          <p:nvPr/>
        </p:nvSpPr>
        <p:spPr>
          <a:xfrm>
            <a:off x="4699490" y="4453533"/>
            <a:ext cx="677072" cy="500119"/>
          </a:xfrm>
          <a:prstGeom prst="rect">
            <a:avLst/>
          </a:prstGeom>
          <a:noFill/>
          <a:ln>
            <a:noFill/>
          </a:ln>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剩余信</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息保护</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68" name="TextBox 82"/>
          <p:cNvSpPr txBox="1"/>
          <p:nvPr/>
        </p:nvSpPr>
        <p:spPr>
          <a:xfrm>
            <a:off x="6188335" y="4453533"/>
            <a:ext cx="497536" cy="500119"/>
          </a:xfrm>
          <a:prstGeom prst="rect">
            <a:avLst/>
          </a:prstGeom>
          <a:noFill/>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入侵</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防范</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69" name="TextBox 83"/>
          <p:cNvSpPr txBox="1"/>
          <p:nvPr/>
        </p:nvSpPr>
        <p:spPr>
          <a:xfrm>
            <a:off x="6979589" y="3757811"/>
            <a:ext cx="677072" cy="500119"/>
          </a:xfrm>
          <a:prstGeom prst="rect">
            <a:avLst/>
          </a:prstGeom>
          <a:noFill/>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恶意代</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码防范</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0" name="TextBox 84"/>
          <p:cNvSpPr txBox="1"/>
          <p:nvPr/>
        </p:nvSpPr>
        <p:spPr>
          <a:xfrm>
            <a:off x="6620554" y="2601024"/>
            <a:ext cx="497536" cy="500119"/>
          </a:xfrm>
          <a:prstGeom prst="rect">
            <a:avLst/>
          </a:prstGeom>
          <a:noFill/>
        </p:spPr>
        <p:txBody>
          <a:bodyPr wrap="non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资源</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控制</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1" name="TextBox 43"/>
          <p:cNvSpPr txBox="1"/>
          <p:nvPr/>
        </p:nvSpPr>
        <p:spPr>
          <a:xfrm>
            <a:off x="6883653" y="1844114"/>
            <a:ext cx="3100779" cy="284675"/>
          </a:xfrm>
          <a:prstGeom prst="accentBorderCallout2">
            <a:avLst>
              <a:gd name="adj1" fmla="val 18750"/>
              <a:gd name="adj2" fmla="val -8333"/>
              <a:gd name="adj3" fmla="val 18750"/>
              <a:gd name="adj4" fmla="val -16667"/>
              <a:gd name="adj5" fmla="val 96397"/>
              <a:gd name="adj6" fmla="val -29962"/>
            </a:avLst>
          </a:prstGeom>
          <a:noFill/>
          <a:ln w="3175">
            <a:solidFill>
              <a:schemeClr val="tx1"/>
            </a:solidFill>
            <a:prstDash val="sysDot"/>
          </a:ln>
        </p:spPr>
        <p:txBody>
          <a:bodyPr wrap="squar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要点：组合鉴别技术</a:t>
            </a:r>
            <a:endParaRPr lang="zh-CN" altLang="en-US" sz="1400" b="1" dirty="0">
              <a:solidFill>
                <a:srgbClr val="000000"/>
              </a:solidFill>
              <a:latin typeface="微软雅黑" panose="020B0503020204020204" pitchFamily="34" charset="-122"/>
              <a:ea typeface="微软雅黑" panose="020B0503020204020204" pitchFamily="34" charset="-122"/>
            </a:endParaRPr>
          </a:p>
        </p:txBody>
      </p:sp>
      <p:sp>
        <p:nvSpPr>
          <p:cNvPr id="72" name="TextBox 87"/>
          <p:cNvSpPr txBox="1"/>
          <p:nvPr/>
        </p:nvSpPr>
        <p:spPr>
          <a:xfrm flipH="1">
            <a:off x="1608921" y="2336555"/>
            <a:ext cx="1675268" cy="715562"/>
          </a:xfrm>
          <a:prstGeom prst="accentBorderCallout1">
            <a:avLst>
              <a:gd name="adj1" fmla="val 18750"/>
              <a:gd name="adj2" fmla="val -8333"/>
              <a:gd name="adj3" fmla="val 39606"/>
              <a:gd name="adj4" fmla="val -47251"/>
            </a:avLst>
          </a:prstGeom>
          <a:noFill/>
          <a:ln w="3175">
            <a:solidFill>
              <a:schemeClr val="tx1"/>
            </a:solidFill>
            <a:prstDash val="sysDot"/>
          </a:ln>
        </p:spPr>
        <p:txBody>
          <a:bodyPr wrap="squar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要点：</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管理用户权限分离</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敏感标记的设置</a:t>
            </a:r>
            <a:endParaRPr lang="zh-CN" altLang="en-US" sz="1400" b="1" dirty="0">
              <a:solidFill>
                <a:srgbClr val="000000"/>
              </a:solidFill>
              <a:latin typeface="微软雅黑" panose="020B0503020204020204" pitchFamily="34" charset="-122"/>
              <a:ea typeface="微软雅黑" panose="020B0503020204020204" pitchFamily="34" charset="-122"/>
            </a:endParaRPr>
          </a:p>
        </p:txBody>
      </p:sp>
      <p:sp>
        <p:nvSpPr>
          <p:cNvPr id="73" name="TextBox 89"/>
          <p:cNvSpPr txBox="1"/>
          <p:nvPr/>
        </p:nvSpPr>
        <p:spPr>
          <a:xfrm flipH="1">
            <a:off x="1608921" y="3295440"/>
            <a:ext cx="1675268" cy="931006"/>
          </a:xfrm>
          <a:prstGeom prst="accentBorderCallout2">
            <a:avLst>
              <a:gd name="adj1" fmla="val 18750"/>
              <a:gd name="adj2" fmla="val -8333"/>
              <a:gd name="adj3" fmla="val 18750"/>
              <a:gd name="adj4" fmla="val -16667"/>
              <a:gd name="adj5" fmla="val 24843"/>
              <a:gd name="adj6" fmla="val -34023"/>
            </a:avLst>
          </a:prstGeom>
          <a:noFill/>
          <a:ln w="3175">
            <a:solidFill>
              <a:schemeClr val="tx1"/>
            </a:solidFill>
            <a:prstDash val="sysDot"/>
          </a:ln>
        </p:spPr>
        <p:txBody>
          <a:bodyPr wrap="squar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要点：</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审计记录</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审计报表</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审计记录的保护</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4" name="TextBox 92"/>
          <p:cNvSpPr txBox="1"/>
          <p:nvPr/>
        </p:nvSpPr>
        <p:spPr>
          <a:xfrm flipH="1">
            <a:off x="1608920" y="4585646"/>
            <a:ext cx="1675270" cy="715562"/>
          </a:xfrm>
          <a:prstGeom prst="accentBorderCallout2">
            <a:avLst>
              <a:gd name="adj1" fmla="val 18750"/>
              <a:gd name="adj2" fmla="val -8333"/>
              <a:gd name="adj3" fmla="val 18750"/>
              <a:gd name="adj4" fmla="val -16667"/>
              <a:gd name="adj5" fmla="val 169"/>
              <a:gd name="adj6" fmla="val -79587"/>
            </a:avLst>
          </a:prstGeom>
          <a:noFill/>
          <a:ln w="3175" cap="flat" cmpd="sng" algn="ctr">
            <a:solidFill>
              <a:schemeClr val="tx1"/>
            </a:solidFill>
            <a:prstDash val="sysDot"/>
            <a:round/>
            <a:headEnd type="none" w="med" len="med"/>
            <a:tailEnd type="none" w="med" len="med"/>
          </a:ln>
          <a:effectLst/>
        </p:spPr>
        <p:txBody>
          <a:bodyPr vert="horz" wrap="square" lIns="91416" tIns="45708" rIns="91416" bIns="45708" numCol="1" rtlCol="0" anchor="t" anchorCtr="0" compatLnSpc="1">
            <a:noAutofit/>
          </a:bodyPr>
          <a:lstStyle>
            <a:defPPr>
              <a:defRPr lang="zh-CN"/>
            </a:defPPr>
            <a:lvl1pPr marR="0" indent="0" algn="ctr" eaLnBrk="0" fontAlgn="base" hangingPunct="0">
              <a:lnSpc>
                <a:spcPct val="100000"/>
              </a:lnSpc>
              <a:spcBef>
                <a:spcPct val="0"/>
              </a:spcBef>
              <a:spcAft>
                <a:spcPct val="0"/>
              </a:spcAft>
              <a:buClrTx/>
              <a:buSzTx/>
              <a:buFontTx/>
              <a:buNone/>
              <a:defRPr kumimoji="0" sz="800" b="0" i="0" u="none" strike="noStrike" cap="none" normalizeH="0" baseline="0">
                <a:ln>
                  <a:noFill/>
                </a:ln>
                <a:solidFill>
                  <a:srgbClr val="FFFFFF"/>
                </a:solidFill>
                <a:effectLst/>
                <a:latin typeface="微软雅黑" panose="020B0503020204020204" pitchFamily="34" charset="-122"/>
                <a:ea typeface="微软雅黑" panose="020B0503020204020204" pitchFamily="34" charset="-122"/>
              </a:defRPr>
            </a:lvl1pPr>
          </a:lstStyle>
          <a:p>
            <a:pPr algn="l"/>
            <a:r>
              <a:rPr lang="zh-CN" altLang="en-US" sz="1400" b="1" dirty="0">
                <a:solidFill>
                  <a:srgbClr val="000000"/>
                </a:solidFill>
              </a:rPr>
              <a:t>要点：</a:t>
            </a:r>
            <a:endParaRPr lang="en-US" altLang="zh-CN" sz="1400" b="1" dirty="0">
              <a:solidFill>
                <a:srgbClr val="000000"/>
              </a:solidFill>
            </a:endParaRPr>
          </a:p>
          <a:p>
            <a:pPr algn="l"/>
            <a:r>
              <a:rPr lang="zh-CN" altLang="en-US" sz="1400" b="1" dirty="0">
                <a:solidFill>
                  <a:srgbClr val="000000"/>
                </a:solidFill>
              </a:rPr>
              <a:t>空间释放</a:t>
            </a:r>
            <a:endParaRPr lang="en-US" altLang="zh-CN" sz="1400" b="1" dirty="0">
              <a:solidFill>
                <a:srgbClr val="000000"/>
              </a:solidFill>
            </a:endParaRPr>
          </a:p>
          <a:p>
            <a:pPr algn="l"/>
            <a:r>
              <a:rPr lang="zh-CN" altLang="en-US" sz="1400" b="1" dirty="0">
                <a:solidFill>
                  <a:srgbClr val="000000"/>
                </a:solidFill>
              </a:rPr>
              <a:t>信息清除</a:t>
            </a:r>
            <a:endParaRPr lang="en-US" altLang="zh-CN" sz="1400" b="1" dirty="0">
              <a:solidFill>
                <a:srgbClr val="000000"/>
              </a:solidFill>
            </a:endParaRPr>
          </a:p>
        </p:txBody>
      </p:sp>
      <p:sp>
        <p:nvSpPr>
          <p:cNvPr id="75" name="TextBox 95"/>
          <p:cNvSpPr txBox="1"/>
          <p:nvPr/>
        </p:nvSpPr>
        <p:spPr>
          <a:xfrm>
            <a:off x="8323437" y="4787100"/>
            <a:ext cx="1655753" cy="500119"/>
          </a:xfrm>
          <a:prstGeom prst="accentBorderCallout2">
            <a:avLst>
              <a:gd name="adj1" fmla="val 18750"/>
              <a:gd name="adj2" fmla="val -8333"/>
              <a:gd name="adj3" fmla="val 18750"/>
              <a:gd name="adj4" fmla="val -16667"/>
              <a:gd name="adj5" fmla="val -31822"/>
              <a:gd name="adj6" fmla="val -91778"/>
            </a:avLst>
          </a:prstGeom>
          <a:noFill/>
          <a:ln w="3175">
            <a:solidFill>
              <a:schemeClr val="tx1"/>
            </a:solidFill>
            <a:prstDash val="sysDot"/>
          </a:ln>
        </p:spPr>
        <p:txBody>
          <a:bodyPr wrap="squar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要点：</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记录、报警、阻断</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6" name="TextBox 101"/>
          <p:cNvSpPr txBox="1"/>
          <p:nvPr/>
        </p:nvSpPr>
        <p:spPr>
          <a:xfrm>
            <a:off x="8323438" y="3510460"/>
            <a:ext cx="1655753" cy="931006"/>
          </a:xfrm>
          <a:prstGeom prst="accentBorderCallout2">
            <a:avLst>
              <a:gd name="adj1" fmla="val 18750"/>
              <a:gd name="adj2" fmla="val -8333"/>
              <a:gd name="adj3" fmla="val 18750"/>
              <a:gd name="adj4" fmla="val -16667"/>
              <a:gd name="adj5" fmla="val 34669"/>
              <a:gd name="adj6" fmla="val -40608"/>
            </a:avLst>
          </a:prstGeom>
          <a:noFill/>
          <a:ln w="3175">
            <a:solidFill>
              <a:schemeClr val="tx1"/>
            </a:solidFill>
            <a:prstDash val="sysDot"/>
          </a:ln>
        </p:spPr>
        <p:txBody>
          <a:bodyPr wrap="squar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要点：</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记录、报警、阻断</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与网络恶意代码库分离</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77" name="TextBox 107"/>
          <p:cNvSpPr txBox="1"/>
          <p:nvPr/>
        </p:nvSpPr>
        <p:spPr>
          <a:xfrm>
            <a:off x="8323438" y="2281826"/>
            <a:ext cx="1655753" cy="931006"/>
          </a:xfrm>
          <a:prstGeom prst="accentBorderCallout2">
            <a:avLst>
              <a:gd name="adj1" fmla="val 18750"/>
              <a:gd name="adj2" fmla="val -8333"/>
              <a:gd name="adj3" fmla="val 18750"/>
              <a:gd name="adj4" fmla="val -16667"/>
              <a:gd name="adj5" fmla="val 31456"/>
              <a:gd name="adj6" fmla="val -81679"/>
            </a:avLst>
          </a:prstGeom>
          <a:noFill/>
          <a:ln w="3175">
            <a:solidFill>
              <a:schemeClr val="tx1"/>
            </a:solidFill>
            <a:prstDash val="sysDot"/>
          </a:ln>
        </p:spPr>
        <p:txBody>
          <a:bodyPr wrap="square" lIns="68562" tIns="34281" rIns="68562" bIns="34281" rtlCol="0">
            <a:spAutoFit/>
          </a:bodyPr>
          <a:lstStyle/>
          <a:p>
            <a:r>
              <a:rPr lang="zh-CN" altLang="en-US" sz="1400" b="1" dirty="0">
                <a:solidFill>
                  <a:srgbClr val="000000"/>
                </a:solidFill>
                <a:latin typeface="微软雅黑" panose="020B0503020204020204" pitchFamily="34" charset="-122"/>
                <a:ea typeface="微软雅黑" panose="020B0503020204020204" pitchFamily="34" charset="-122"/>
              </a:rPr>
              <a:t>要点：</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监控重要服务器</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最小化服务</a:t>
            </a:r>
            <a:endParaRPr lang="en-US" altLang="zh-CN" sz="1400" b="1" dirty="0">
              <a:solidFill>
                <a:srgbClr val="000000"/>
              </a:solidFill>
              <a:latin typeface="微软雅黑" panose="020B0503020204020204" pitchFamily="34" charset="-122"/>
              <a:ea typeface="微软雅黑" panose="020B0503020204020204" pitchFamily="34" charset="-122"/>
            </a:endParaRPr>
          </a:p>
          <a:p>
            <a:r>
              <a:rPr lang="zh-CN" altLang="en-US" sz="1400" b="1" dirty="0">
                <a:solidFill>
                  <a:srgbClr val="000000"/>
                </a:solidFill>
                <a:latin typeface="微软雅黑" panose="020B0503020204020204" pitchFamily="34" charset="-122"/>
                <a:ea typeface="微软雅黑" panose="020B0503020204020204" pitchFamily="34" charset="-122"/>
              </a:rPr>
              <a:t>检测告警</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1384" y="118808"/>
            <a:ext cx="3600400" cy="717904"/>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应用及数据安全</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2"/>
          <p:cNvGrpSpPr/>
          <p:nvPr/>
        </p:nvGrpSpPr>
        <p:grpSpPr>
          <a:xfrm>
            <a:off x="1171316" y="1098606"/>
            <a:ext cx="9587649" cy="5010848"/>
            <a:chOff x="721634" y="681688"/>
            <a:chExt cx="8042443" cy="4171053"/>
          </a:xfrm>
        </p:grpSpPr>
        <p:sp>
          <p:nvSpPr>
            <p:cNvPr id="4" name="矩形 3"/>
            <p:cNvSpPr/>
            <p:nvPr/>
          </p:nvSpPr>
          <p:spPr bwMode="auto">
            <a:xfrm>
              <a:off x="745794" y="701634"/>
              <a:ext cx="1531852" cy="318796"/>
            </a:xfrm>
            <a:prstGeom prst="rect">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121920" tIns="60960" rIns="121920" bIns="60960" numCol="1" rtlCol="0" anchor="t" anchorCtr="0" compatLnSpc="1">
              <a:noAutofit/>
            </a:bodyPr>
            <a:lstStyle/>
            <a:p>
              <a:pPr algn="ctr" eaLnBrk="0" hangingPunct="0"/>
              <a:r>
                <a:rPr lang="zh-CN" altLang="en-US" sz="1600" b="1" dirty="0">
                  <a:solidFill>
                    <a:srgbClr val="000000"/>
                  </a:solidFill>
                  <a:latin typeface="微软雅黑" panose="020B0503020204020204" pitchFamily="34" charset="-122"/>
                  <a:ea typeface="微软雅黑" panose="020B0503020204020204" pitchFamily="34" charset="-122"/>
                </a:rPr>
                <a:t>应用安全</a:t>
              </a:r>
              <a:endParaRPr lang="zh-CN" altLang="en-US" sz="1600" b="1" dirty="0">
                <a:solidFill>
                  <a:srgbClr val="000000"/>
                </a:solidFill>
                <a:latin typeface="微软雅黑" panose="020B0503020204020204" pitchFamily="34" charset="-122"/>
                <a:ea typeface="微软雅黑" panose="020B0503020204020204" pitchFamily="34" charset="-122"/>
              </a:endParaRPr>
            </a:p>
          </p:txBody>
        </p:sp>
        <p:sp>
          <p:nvSpPr>
            <p:cNvPr id="5" name="AutoShape 352"/>
            <p:cNvSpPr>
              <a:spLocks noChangeArrowheads="1"/>
            </p:cNvSpPr>
            <p:nvPr/>
          </p:nvSpPr>
          <p:spPr bwMode="auto">
            <a:xfrm>
              <a:off x="737954" y="1056885"/>
              <a:ext cx="1546369"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buFont typeface="Wingdings" panose="05000000000000000000" pitchFamily="2" charset="2"/>
                <a:buNone/>
              </a:pPr>
              <a:endParaRPr lang="zh-CN" altLang="zh-CN" b="1" dirty="0">
                <a:solidFill>
                  <a:srgbClr val="FFFF00"/>
                </a:solidFill>
                <a:latin typeface="微软雅黑" panose="020B0503020204020204" pitchFamily="34" charset="-122"/>
                <a:ea typeface="微软雅黑" panose="020B0503020204020204" pitchFamily="34" charset="-122"/>
              </a:endParaRPr>
            </a:p>
          </p:txBody>
        </p:sp>
        <p:pic>
          <p:nvPicPr>
            <p:cNvPr id="6"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115817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66"/>
            <p:cNvSpPr>
              <a:spLocks noChangeArrowheads="1"/>
            </p:cNvSpPr>
            <p:nvPr/>
          </p:nvSpPr>
          <p:spPr bwMode="auto">
            <a:xfrm>
              <a:off x="1083661" y="1104651"/>
              <a:ext cx="856118"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lvl1pPr>
                <a:defRPr kumimoji="1">
                  <a:solidFill>
                    <a:schemeClr val="tx1"/>
                  </a:solidFill>
                  <a:latin typeface="Gulim" panose="020B0600000101010101" pitchFamily="50" charset="-127"/>
                  <a:ea typeface="Gulim" panose="020B0600000101010101" pitchFamily="50" charset="-127"/>
                </a:defRPr>
              </a:lvl1pPr>
              <a:lvl2pPr>
                <a:defRPr kumimoji="1">
                  <a:solidFill>
                    <a:schemeClr val="tx1"/>
                  </a:solidFill>
                  <a:latin typeface="Gulim" panose="020B0600000101010101" pitchFamily="50" charset="-127"/>
                  <a:ea typeface="Gulim" panose="020B0600000101010101" pitchFamily="50" charset="-127"/>
                </a:defRPr>
              </a:lvl2pPr>
              <a:lvl3pPr>
                <a:defRPr kumimoji="1">
                  <a:solidFill>
                    <a:schemeClr val="tx1"/>
                  </a:solidFill>
                  <a:latin typeface="Gulim" panose="020B0600000101010101" pitchFamily="50" charset="-127"/>
                  <a:ea typeface="Gulim" panose="020B0600000101010101" pitchFamily="50" charset="-127"/>
                </a:defRPr>
              </a:lvl3pPr>
              <a:lvl4pPr>
                <a:defRPr kumimoji="1">
                  <a:solidFill>
                    <a:schemeClr val="tx1"/>
                  </a:solidFill>
                  <a:latin typeface="Gulim" panose="020B0600000101010101" pitchFamily="50" charset="-127"/>
                  <a:ea typeface="Gulim" panose="020B0600000101010101" pitchFamily="50" charset="-127"/>
                </a:defRPr>
              </a:lvl4pPr>
              <a:lvl5pPr>
                <a:defRPr kumimoji="1">
                  <a:solidFill>
                    <a:schemeClr val="tx1"/>
                  </a:solidFill>
                  <a:latin typeface="Gulim" panose="020B0600000101010101" pitchFamily="50" charset="-127"/>
                  <a:ea typeface="Gulim" panose="020B0600000101010101" pitchFamily="50" charset="-127"/>
                </a:defRPr>
              </a:lvl5pPr>
              <a:lvl6pPr marL="4572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6pPr>
              <a:lvl7pPr marL="9144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7pPr>
              <a:lvl8pPr marL="13716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8pPr>
              <a:lvl9pPr marL="18288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9pPr>
            </a:lstStyle>
            <a:p>
              <a:r>
                <a:rPr lang="zh-CN" altLang="en-US" sz="1600" dirty="0">
                  <a:solidFill>
                    <a:srgbClr val="000000"/>
                  </a:solidFill>
                  <a:latin typeface="微软雅黑" panose="020B0503020204020204" pitchFamily="34" charset="-122"/>
                  <a:ea typeface="微软雅黑" panose="020B0503020204020204" pitchFamily="34" charset="-122"/>
                </a:rPr>
                <a:t>身份鉴别</a:t>
              </a:r>
              <a:endParaRPr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8" name="AutoShape 352"/>
            <p:cNvSpPr>
              <a:spLocks noChangeArrowheads="1"/>
            </p:cNvSpPr>
            <p:nvPr/>
          </p:nvSpPr>
          <p:spPr bwMode="auto">
            <a:xfrm>
              <a:off x="735802" y="1357973"/>
              <a:ext cx="1541844"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9"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142820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66"/>
            <p:cNvSpPr>
              <a:spLocks noChangeArrowheads="1"/>
            </p:cNvSpPr>
            <p:nvPr/>
          </p:nvSpPr>
          <p:spPr bwMode="auto">
            <a:xfrm>
              <a:off x="1075876" y="1385428"/>
              <a:ext cx="856118"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访问控制</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11" name="AutoShape 352"/>
            <p:cNvSpPr>
              <a:spLocks noChangeArrowheads="1"/>
            </p:cNvSpPr>
            <p:nvPr/>
          </p:nvSpPr>
          <p:spPr bwMode="auto">
            <a:xfrm>
              <a:off x="733013" y="1623177"/>
              <a:ext cx="1541844" cy="243314"/>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12"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1710327"/>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66"/>
            <p:cNvSpPr>
              <a:spLocks noChangeArrowheads="1"/>
            </p:cNvSpPr>
            <p:nvPr/>
          </p:nvSpPr>
          <p:spPr bwMode="auto">
            <a:xfrm>
              <a:off x="1083079" y="1646907"/>
              <a:ext cx="856118"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安全审计</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14" name="AutoShape 352"/>
            <p:cNvSpPr>
              <a:spLocks noChangeArrowheads="1"/>
            </p:cNvSpPr>
            <p:nvPr/>
          </p:nvSpPr>
          <p:spPr bwMode="auto">
            <a:xfrm>
              <a:off x="734332" y="1893358"/>
              <a:ext cx="1541844"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15"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196826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366"/>
            <p:cNvSpPr>
              <a:spLocks noChangeArrowheads="1"/>
            </p:cNvSpPr>
            <p:nvPr/>
          </p:nvSpPr>
          <p:spPr bwMode="auto">
            <a:xfrm>
              <a:off x="904629" y="1894324"/>
              <a:ext cx="1375619" cy="231579"/>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剩余信息保护</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17" name="AutoShape 352"/>
            <p:cNvSpPr>
              <a:spLocks noChangeArrowheads="1"/>
            </p:cNvSpPr>
            <p:nvPr/>
          </p:nvSpPr>
          <p:spPr bwMode="auto">
            <a:xfrm>
              <a:off x="730065" y="2168063"/>
              <a:ext cx="1541845"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18"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2232935"/>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366"/>
            <p:cNvSpPr>
              <a:spLocks noChangeArrowheads="1"/>
            </p:cNvSpPr>
            <p:nvPr/>
          </p:nvSpPr>
          <p:spPr bwMode="auto">
            <a:xfrm>
              <a:off x="969282" y="2168897"/>
              <a:ext cx="1105013" cy="231579"/>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通信完整性</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20" name="AutoShape 352"/>
            <p:cNvSpPr>
              <a:spLocks noChangeArrowheads="1"/>
            </p:cNvSpPr>
            <p:nvPr/>
          </p:nvSpPr>
          <p:spPr bwMode="auto">
            <a:xfrm>
              <a:off x="725514" y="2444259"/>
              <a:ext cx="1541844"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21"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250832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366"/>
            <p:cNvSpPr>
              <a:spLocks noChangeArrowheads="1"/>
            </p:cNvSpPr>
            <p:nvPr/>
          </p:nvSpPr>
          <p:spPr bwMode="auto">
            <a:xfrm>
              <a:off x="961362" y="2452518"/>
              <a:ext cx="1070147"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通信保密性</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23" name="AutoShape 352"/>
            <p:cNvSpPr>
              <a:spLocks noChangeArrowheads="1"/>
            </p:cNvSpPr>
            <p:nvPr/>
          </p:nvSpPr>
          <p:spPr bwMode="auto">
            <a:xfrm>
              <a:off x="721990" y="2720391"/>
              <a:ext cx="1541845"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24"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277835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66"/>
            <p:cNvSpPr>
              <a:spLocks noChangeArrowheads="1"/>
            </p:cNvSpPr>
            <p:nvPr/>
          </p:nvSpPr>
          <p:spPr bwMode="auto">
            <a:xfrm>
              <a:off x="1184593" y="2735387"/>
              <a:ext cx="642088"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防抵赖</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26" name="AutoShape 352"/>
            <p:cNvSpPr>
              <a:spLocks noChangeArrowheads="1"/>
            </p:cNvSpPr>
            <p:nvPr/>
          </p:nvSpPr>
          <p:spPr bwMode="auto">
            <a:xfrm>
              <a:off x="721634" y="2989686"/>
              <a:ext cx="1548618"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27"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304838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366"/>
            <p:cNvSpPr>
              <a:spLocks noChangeArrowheads="1"/>
            </p:cNvSpPr>
            <p:nvPr/>
          </p:nvSpPr>
          <p:spPr bwMode="auto">
            <a:xfrm>
              <a:off x="1100042" y="3010400"/>
              <a:ext cx="856118"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软件容错</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29" name="AutoShape 352"/>
            <p:cNvSpPr>
              <a:spLocks noChangeArrowheads="1"/>
            </p:cNvSpPr>
            <p:nvPr/>
          </p:nvSpPr>
          <p:spPr bwMode="auto">
            <a:xfrm>
              <a:off x="725020" y="3253344"/>
              <a:ext cx="1541844"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30"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3318419"/>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366"/>
            <p:cNvSpPr>
              <a:spLocks noChangeArrowheads="1"/>
            </p:cNvSpPr>
            <p:nvPr/>
          </p:nvSpPr>
          <p:spPr bwMode="auto">
            <a:xfrm>
              <a:off x="1066714" y="3262454"/>
              <a:ext cx="856118"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资源控制</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32" name="右箭头 32"/>
            <p:cNvSpPr/>
            <p:nvPr/>
          </p:nvSpPr>
          <p:spPr bwMode="auto">
            <a:xfrm>
              <a:off x="2339752" y="2013796"/>
              <a:ext cx="792088" cy="590398"/>
            </a:xfrm>
            <a:prstGeom prst="rightArrow">
              <a:avLst/>
            </a:prstGeom>
            <a:solidFill>
              <a:schemeClr val="bg1">
                <a:lumMod val="75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spAutoFit/>
            </a:bodyPr>
            <a:lstStyle/>
            <a:p>
              <a:pPr algn="ctr" eaLnBrk="0" hangingPunct="0"/>
              <a:endParaRPr lang="zh-CN" altLang="en-US" sz="1000">
                <a:solidFill>
                  <a:srgbClr val="FFFFFF"/>
                </a:solidFill>
                <a:latin typeface="微软雅黑" panose="020B0503020204020204" pitchFamily="34" charset="-122"/>
                <a:ea typeface="微软雅黑" panose="020B0503020204020204" pitchFamily="34" charset="-122"/>
              </a:endParaRPr>
            </a:p>
          </p:txBody>
        </p:sp>
        <p:sp>
          <p:nvSpPr>
            <p:cNvPr id="33" name="Rectangle 366"/>
            <p:cNvSpPr>
              <a:spLocks noChangeArrowheads="1"/>
            </p:cNvSpPr>
            <p:nvPr/>
          </p:nvSpPr>
          <p:spPr bwMode="auto">
            <a:xfrm>
              <a:off x="2445017" y="2200257"/>
              <a:ext cx="428059" cy="264187"/>
            </a:xfrm>
            <a:prstGeom prst="rect">
              <a:avLst/>
            </a:prstGeom>
            <a:noFill/>
            <a:ln w="9525">
              <a:noFill/>
              <a:miter lim="800000"/>
            </a:ln>
            <a:effectLst/>
            <a:extLst>
              <a:ext uri="{909E8E84-426E-40DD-AFC4-6F175D3DCCD1}">
                <a14:hiddenFill xmlns:a14="http://schemas.microsoft.com/office/drawing/2010/main">
                  <a:solidFill>
                    <a:srgbClr val="3366FF"/>
                  </a:solidFill>
                </a14:hiddenFill>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要点</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34" name="矩形 33"/>
            <p:cNvSpPr/>
            <p:nvPr/>
          </p:nvSpPr>
          <p:spPr bwMode="auto">
            <a:xfrm>
              <a:off x="3360227" y="681688"/>
              <a:ext cx="5391166" cy="322125"/>
            </a:xfrm>
            <a:prstGeom prst="rect">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121920" tIns="60960" rIns="121920" bIns="60960" numCol="1" rtlCol="0" anchor="t" anchorCtr="0" compatLnSpc="1">
              <a:noAutofit/>
            </a:bodyPr>
            <a:lstStyle/>
            <a:p>
              <a:pPr algn="ctr" eaLnBrk="0" hangingPunct="0"/>
              <a:endParaRPr lang="zh-CN" altLang="en-US" sz="1600" b="1">
                <a:solidFill>
                  <a:srgbClr val="000000"/>
                </a:solidFill>
                <a:latin typeface="微软雅黑" panose="020B0503020204020204" pitchFamily="34" charset="-122"/>
                <a:ea typeface="微软雅黑" panose="020B0503020204020204" pitchFamily="34" charset="-122"/>
              </a:endParaRPr>
            </a:p>
          </p:txBody>
        </p:sp>
        <p:grpSp>
          <p:nvGrpSpPr>
            <p:cNvPr id="35" name="Group 351"/>
            <p:cNvGrpSpPr/>
            <p:nvPr/>
          </p:nvGrpSpPr>
          <p:grpSpPr bwMode="auto">
            <a:xfrm>
              <a:off x="3340513" y="1087944"/>
              <a:ext cx="5407951" cy="243313"/>
              <a:chOff x="900" y="1482"/>
              <a:chExt cx="3885" cy="996"/>
            </a:xfrm>
            <a:solidFill>
              <a:schemeClr val="accent3">
                <a:lumMod val="20000"/>
                <a:lumOff val="80000"/>
              </a:schemeClr>
            </a:solidFill>
          </p:grpSpPr>
          <p:sp>
            <p:nvSpPr>
              <p:cNvPr id="119"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sz="1600" b="1">
                  <a:solidFill>
                    <a:srgbClr val="FFFF00"/>
                  </a:solidFill>
                  <a:latin typeface="微软雅黑" panose="020B0503020204020204" pitchFamily="34" charset="-122"/>
                  <a:ea typeface="微软雅黑" panose="020B0503020204020204" pitchFamily="34" charset="-122"/>
                </a:endParaRPr>
              </a:p>
            </p:txBody>
          </p:sp>
          <p:sp>
            <p:nvSpPr>
              <p:cNvPr id="120"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36"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96022" y="1158179"/>
              <a:ext cx="120464" cy="84981"/>
            </a:xfrm>
            <a:prstGeom prst="rect">
              <a:avLst/>
            </a:prstGeom>
            <a:solidFill>
              <a:schemeClr val="accent3">
                <a:lumMod val="20000"/>
                <a:lumOff val="80000"/>
              </a:schemeClr>
            </a:solidFill>
          </p:spPr>
        </p:pic>
        <p:sp>
          <p:nvSpPr>
            <p:cNvPr id="37" name="Rectangle 366"/>
            <p:cNvSpPr>
              <a:spLocks noChangeArrowheads="1"/>
            </p:cNvSpPr>
            <p:nvPr/>
          </p:nvSpPr>
          <p:spPr bwMode="auto">
            <a:xfrm>
              <a:off x="3657224" y="1125980"/>
              <a:ext cx="856118"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身份鉴别</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38" name="Group 351"/>
            <p:cNvGrpSpPr/>
            <p:nvPr/>
          </p:nvGrpSpPr>
          <p:grpSpPr bwMode="auto">
            <a:xfrm>
              <a:off x="3347864" y="1357974"/>
              <a:ext cx="5416212" cy="243313"/>
              <a:chOff x="900" y="1482"/>
              <a:chExt cx="3885" cy="996"/>
            </a:xfrm>
            <a:solidFill>
              <a:schemeClr val="accent3">
                <a:lumMod val="20000"/>
                <a:lumOff val="80000"/>
              </a:schemeClr>
            </a:solidFill>
          </p:grpSpPr>
          <p:sp>
            <p:nvSpPr>
              <p:cNvPr id="117"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18"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39"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03373" y="1428209"/>
              <a:ext cx="120464" cy="84981"/>
            </a:xfrm>
            <a:prstGeom prst="rect">
              <a:avLst/>
            </a:prstGeom>
            <a:solidFill>
              <a:schemeClr val="accent3">
                <a:lumMod val="20000"/>
                <a:lumOff val="80000"/>
              </a:schemeClr>
            </a:solidFill>
          </p:spPr>
        </p:pic>
        <p:sp>
          <p:nvSpPr>
            <p:cNvPr id="40" name="Rectangle 366"/>
            <p:cNvSpPr>
              <a:spLocks noChangeArrowheads="1"/>
            </p:cNvSpPr>
            <p:nvPr/>
          </p:nvSpPr>
          <p:spPr bwMode="auto">
            <a:xfrm>
              <a:off x="3664575" y="1396011"/>
              <a:ext cx="856118"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访问控制</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41" name="Group 351"/>
            <p:cNvGrpSpPr/>
            <p:nvPr/>
          </p:nvGrpSpPr>
          <p:grpSpPr bwMode="auto">
            <a:xfrm>
              <a:off x="3332252" y="1628004"/>
              <a:ext cx="5416212" cy="243313"/>
              <a:chOff x="900" y="1482"/>
              <a:chExt cx="3885" cy="996"/>
            </a:xfrm>
            <a:solidFill>
              <a:schemeClr val="accent3">
                <a:lumMod val="20000"/>
                <a:lumOff val="80000"/>
              </a:schemeClr>
            </a:solidFill>
          </p:grpSpPr>
          <p:sp>
            <p:nvSpPr>
              <p:cNvPr id="115"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16"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42"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1710327"/>
              <a:ext cx="120464" cy="84981"/>
            </a:xfrm>
            <a:prstGeom prst="rect">
              <a:avLst/>
            </a:prstGeom>
            <a:solidFill>
              <a:schemeClr val="accent3">
                <a:lumMod val="20000"/>
                <a:lumOff val="80000"/>
              </a:schemeClr>
            </a:solidFill>
          </p:spPr>
        </p:pic>
        <p:sp>
          <p:nvSpPr>
            <p:cNvPr id="43" name="Rectangle 366"/>
            <p:cNvSpPr>
              <a:spLocks noChangeArrowheads="1"/>
            </p:cNvSpPr>
            <p:nvPr/>
          </p:nvSpPr>
          <p:spPr bwMode="auto">
            <a:xfrm>
              <a:off x="3648963" y="1678128"/>
              <a:ext cx="856118"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安全审计</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44" name="Group 351"/>
            <p:cNvGrpSpPr/>
            <p:nvPr/>
          </p:nvGrpSpPr>
          <p:grpSpPr bwMode="auto">
            <a:xfrm>
              <a:off x="3332252" y="1898034"/>
              <a:ext cx="5416212" cy="243313"/>
              <a:chOff x="900" y="1482"/>
              <a:chExt cx="3885" cy="996"/>
            </a:xfrm>
            <a:solidFill>
              <a:schemeClr val="accent3">
                <a:lumMod val="20000"/>
                <a:lumOff val="80000"/>
              </a:schemeClr>
            </a:solidFill>
          </p:grpSpPr>
          <p:sp>
            <p:nvSpPr>
              <p:cNvPr id="113"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14"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45"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1968269"/>
              <a:ext cx="120464" cy="84981"/>
            </a:xfrm>
            <a:prstGeom prst="rect">
              <a:avLst/>
            </a:prstGeom>
            <a:solidFill>
              <a:schemeClr val="accent3">
                <a:lumMod val="20000"/>
                <a:lumOff val="80000"/>
              </a:schemeClr>
            </a:solidFill>
          </p:spPr>
        </p:pic>
        <p:sp>
          <p:nvSpPr>
            <p:cNvPr id="46" name="Rectangle 366"/>
            <p:cNvSpPr>
              <a:spLocks noChangeArrowheads="1"/>
            </p:cNvSpPr>
            <p:nvPr/>
          </p:nvSpPr>
          <p:spPr bwMode="auto">
            <a:xfrm>
              <a:off x="3547908" y="1936070"/>
              <a:ext cx="1284176"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剩余信息保护</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47" name="Group 351"/>
            <p:cNvGrpSpPr/>
            <p:nvPr/>
          </p:nvGrpSpPr>
          <p:grpSpPr bwMode="auto">
            <a:xfrm>
              <a:off x="3332252" y="2168064"/>
              <a:ext cx="5416212" cy="243313"/>
              <a:chOff x="900" y="1482"/>
              <a:chExt cx="3885" cy="996"/>
            </a:xfrm>
            <a:solidFill>
              <a:schemeClr val="accent3">
                <a:lumMod val="20000"/>
                <a:lumOff val="80000"/>
              </a:schemeClr>
            </a:solidFill>
          </p:grpSpPr>
          <p:sp>
            <p:nvSpPr>
              <p:cNvPr id="111"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12"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48"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2232935"/>
              <a:ext cx="120464" cy="84981"/>
            </a:xfrm>
            <a:prstGeom prst="rect">
              <a:avLst/>
            </a:prstGeom>
            <a:solidFill>
              <a:schemeClr val="accent3">
                <a:lumMod val="20000"/>
                <a:lumOff val="80000"/>
              </a:schemeClr>
            </a:solidFill>
          </p:spPr>
        </p:pic>
        <p:sp>
          <p:nvSpPr>
            <p:cNvPr id="49" name="Rectangle 366"/>
            <p:cNvSpPr>
              <a:spLocks noChangeArrowheads="1"/>
            </p:cNvSpPr>
            <p:nvPr/>
          </p:nvSpPr>
          <p:spPr bwMode="auto">
            <a:xfrm>
              <a:off x="3658288" y="2206101"/>
              <a:ext cx="1016640" cy="231579"/>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400" dirty="0">
                  <a:solidFill>
                    <a:srgbClr val="000000"/>
                  </a:solidFill>
                  <a:latin typeface="微软雅黑" panose="020B0503020204020204" pitchFamily="34" charset="-122"/>
                  <a:ea typeface="微软雅黑" panose="020B0503020204020204" pitchFamily="34" charset="-122"/>
                </a:rPr>
                <a:t>通信</a:t>
              </a:r>
              <a:r>
                <a:rPr kumimoji="1" lang="zh-CN" altLang="en-US" sz="1600" dirty="0">
                  <a:solidFill>
                    <a:srgbClr val="000000"/>
                  </a:solidFill>
                  <a:latin typeface="微软雅黑" panose="020B0503020204020204" pitchFamily="34" charset="-122"/>
                  <a:ea typeface="微软雅黑" panose="020B0503020204020204" pitchFamily="34" charset="-122"/>
                </a:rPr>
                <a:t>完整性</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50" name="Group 351"/>
            <p:cNvGrpSpPr/>
            <p:nvPr/>
          </p:nvGrpSpPr>
          <p:grpSpPr bwMode="auto">
            <a:xfrm>
              <a:off x="3332252" y="2438094"/>
              <a:ext cx="5416212" cy="243313"/>
              <a:chOff x="900" y="1482"/>
              <a:chExt cx="3885" cy="996"/>
            </a:xfrm>
            <a:solidFill>
              <a:schemeClr val="accent3">
                <a:lumMod val="20000"/>
                <a:lumOff val="80000"/>
              </a:schemeClr>
            </a:solidFill>
          </p:grpSpPr>
          <p:sp>
            <p:nvSpPr>
              <p:cNvPr id="109"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10"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51"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2508329"/>
              <a:ext cx="120464" cy="84981"/>
            </a:xfrm>
            <a:prstGeom prst="rect">
              <a:avLst/>
            </a:prstGeom>
            <a:solidFill>
              <a:schemeClr val="accent3">
                <a:lumMod val="20000"/>
                <a:lumOff val="80000"/>
              </a:schemeClr>
            </a:solidFill>
          </p:spPr>
        </p:pic>
        <p:sp>
          <p:nvSpPr>
            <p:cNvPr id="52" name="Rectangle 366"/>
            <p:cNvSpPr>
              <a:spLocks noChangeArrowheads="1"/>
            </p:cNvSpPr>
            <p:nvPr/>
          </p:nvSpPr>
          <p:spPr bwMode="auto">
            <a:xfrm>
              <a:off x="3658288" y="2476130"/>
              <a:ext cx="963133" cy="231579"/>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square" lIns="0" tIns="0" rIns="0" bIns="0">
              <a:spAutoFit/>
            </a:bodyPr>
            <a:lstStyle/>
            <a:p>
              <a:r>
                <a:rPr kumimoji="1" lang="zh-CN" altLang="en-US" sz="1400" dirty="0">
                  <a:solidFill>
                    <a:srgbClr val="000000"/>
                  </a:solidFill>
                  <a:latin typeface="微软雅黑" panose="020B0503020204020204" pitchFamily="34" charset="-122"/>
                  <a:ea typeface="微软雅黑" panose="020B0503020204020204" pitchFamily="34" charset="-122"/>
                </a:rPr>
                <a:t>通信保密</a:t>
              </a:r>
              <a:r>
                <a:rPr kumimoji="1" lang="zh-CN" altLang="en-US" sz="1600" dirty="0">
                  <a:solidFill>
                    <a:srgbClr val="000000"/>
                  </a:solidFill>
                  <a:latin typeface="微软雅黑" panose="020B0503020204020204" pitchFamily="34" charset="-122"/>
                  <a:ea typeface="微软雅黑" panose="020B0503020204020204" pitchFamily="34" charset="-122"/>
                </a:rPr>
                <a:t>性</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53" name="Group 351"/>
            <p:cNvGrpSpPr/>
            <p:nvPr/>
          </p:nvGrpSpPr>
          <p:grpSpPr bwMode="auto">
            <a:xfrm>
              <a:off x="3332252" y="2708124"/>
              <a:ext cx="5416212" cy="243313"/>
              <a:chOff x="900" y="1482"/>
              <a:chExt cx="3885" cy="996"/>
            </a:xfrm>
            <a:solidFill>
              <a:schemeClr val="accent3">
                <a:lumMod val="20000"/>
                <a:lumOff val="80000"/>
              </a:schemeClr>
            </a:solidFill>
          </p:grpSpPr>
          <p:sp>
            <p:nvSpPr>
              <p:cNvPr id="107"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08"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54"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2778359"/>
              <a:ext cx="120464" cy="84981"/>
            </a:xfrm>
            <a:prstGeom prst="rect">
              <a:avLst/>
            </a:prstGeom>
            <a:solidFill>
              <a:schemeClr val="accent3">
                <a:lumMod val="20000"/>
                <a:lumOff val="80000"/>
              </a:schemeClr>
            </a:solidFill>
          </p:spPr>
        </p:pic>
        <p:sp>
          <p:nvSpPr>
            <p:cNvPr id="55" name="Rectangle 366"/>
            <p:cNvSpPr>
              <a:spLocks noChangeArrowheads="1"/>
            </p:cNvSpPr>
            <p:nvPr/>
          </p:nvSpPr>
          <p:spPr bwMode="auto">
            <a:xfrm>
              <a:off x="3639635" y="2746160"/>
              <a:ext cx="588581" cy="231579"/>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防</a:t>
              </a:r>
              <a:r>
                <a:rPr kumimoji="1" lang="zh-CN" altLang="en-US" sz="1400" dirty="0">
                  <a:solidFill>
                    <a:srgbClr val="000000"/>
                  </a:solidFill>
                  <a:latin typeface="微软雅黑" panose="020B0503020204020204" pitchFamily="34" charset="-122"/>
                  <a:ea typeface="微软雅黑" panose="020B0503020204020204" pitchFamily="34" charset="-122"/>
                </a:rPr>
                <a:t>抵赖</a:t>
              </a:r>
              <a:endParaRPr kumimoji="1" lang="en-US" altLang="ko-KR" sz="1400" dirty="0">
                <a:solidFill>
                  <a:srgbClr val="000000"/>
                </a:solidFill>
                <a:latin typeface="微软雅黑" panose="020B0503020204020204" pitchFamily="34" charset="-122"/>
                <a:ea typeface="微软雅黑" panose="020B0503020204020204" pitchFamily="34" charset="-122"/>
              </a:endParaRPr>
            </a:p>
          </p:txBody>
        </p:sp>
        <p:grpSp>
          <p:nvGrpSpPr>
            <p:cNvPr id="56" name="Group 351"/>
            <p:cNvGrpSpPr/>
            <p:nvPr/>
          </p:nvGrpSpPr>
          <p:grpSpPr bwMode="auto">
            <a:xfrm>
              <a:off x="3332252" y="2978154"/>
              <a:ext cx="5416212" cy="243313"/>
              <a:chOff x="900" y="1482"/>
              <a:chExt cx="3885" cy="996"/>
            </a:xfrm>
            <a:solidFill>
              <a:schemeClr val="accent3">
                <a:lumMod val="20000"/>
                <a:lumOff val="80000"/>
              </a:schemeClr>
            </a:solidFill>
          </p:grpSpPr>
          <p:sp>
            <p:nvSpPr>
              <p:cNvPr id="105"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06"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57"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3048389"/>
              <a:ext cx="120464" cy="84981"/>
            </a:xfrm>
            <a:prstGeom prst="rect">
              <a:avLst/>
            </a:prstGeom>
            <a:solidFill>
              <a:schemeClr val="accent3">
                <a:lumMod val="20000"/>
                <a:lumOff val="80000"/>
              </a:schemeClr>
            </a:solidFill>
          </p:spPr>
        </p:pic>
        <p:sp>
          <p:nvSpPr>
            <p:cNvPr id="58" name="Rectangle 366"/>
            <p:cNvSpPr>
              <a:spLocks noChangeArrowheads="1"/>
            </p:cNvSpPr>
            <p:nvPr/>
          </p:nvSpPr>
          <p:spPr bwMode="auto">
            <a:xfrm>
              <a:off x="3648963" y="3016190"/>
              <a:ext cx="749103" cy="202632"/>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400" dirty="0">
                  <a:solidFill>
                    <a:srgbClr val="000000"/>
                  </a:solidFill>
                  <a:latin typeface="微软雅黑" panose="020B0503020204020204" pitchFamily="34" charset="-122"/>
                  <a:ea typeface="微软雅黑" panose="020B0503020204020204" pitchFamily="34" charset="-122"/>
                </a:rPr>
                <a:t>软件容错</a:t>
              </a:r>
              <a:endParaRPr kumimoji="1" lang="en-US" altLang="ko-KR" sz="1400" dirty="0">
                <a:solidFill>
                  <a:srgbClr val="000000"/>
                </a:solidFill>
                <a:latin typeface="微软雅黑" panose="020B0503020204020204" pitchFamily="34" charset="-122"/>
                <a:ea typeface="微软雅黑" panose="020B0503020204020204" pitchFamily="34" charset="-122"/>
              </a:endParaRPr>
            </a:p>
          </p:txBody>
        </p:sp>
        <p:grpSp>
          <p:nvGrpSpPr>
            <p:cNvPr id="59" name="Group 351"/>
            <p:cNvGrpSpPr/>
            <p:nvPr/>
          </p:nvGrpSpPr>
          <p:grpSpPr bwMode="auto">
            <a:xfrm>
              <a:off x="3332252" y="3248184"/>
              <a:ext cx="5416212" cy="243313"/>
              <a:chOff x="900" y="1482"/>
              <a:chExt cx="3885" cy="996"/>
            </a:xfrm>
            <a:solidFill>
              <a:schemeClr val="accent3">
                <a:lumMod val="20000"/>
                <a:lumOff val="80000"/>
              </a:schemeClr>
            </a:solidFill>
          </p:grpSpPr>
          <p:sp>
            <p:nvSpPr>
              <p:cNvPr id="103" name="AutoShape 352"/>
              <p:cNvSpPr>
                <a:spLocks noChangeArrowheads="1"/>
              </p:cNvSpPr>
              <p:nvPr/>
            </p:nvSpPr>
            <p:spPr bwMode="auto">
              <a:xfrm>
                <a:off x="900" y="1482"/>
                <a:ext cx="3885"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04"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60"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387761" y="3318419"/>
              <a:ext cx="120464" cy="84981"/>
            </a:xfrm>
            <a:prstGeom prst="rect">
              <a:avLst/>
            </a:prstGeom>
            <a:solidFill>
              <a:schemeClr val="accent3">
                <a:lumMod val="20000"/>
                <a:lumOff val="80000"/>
              </a:schemeClr>
            </a:solidFill>
          </p:spPr>
        </p:pic>
        <p:sp>
          <p:nvSpPr>
            <p:cNvPr id="61" name="Rectangle 366"/>
            <p:cNvSpPr>
              <a:spLocks noChangeArrowheads="1"/>
            </p:cNvSpPr>
            <p:nvPr/>
          </p:nvSpPr>
          <p:spPr bwMode="auto">
            <a:xfrm>
              <a:off x="3648963" y="3286219"/>
              <a:ext cx="749103" cy="202632"/>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400" dirty="0">
                  <a:solidFill>
                    <a:srgbClr val="000000"/>
                  </a:solidFill>
                  <a:latin typeface="微软雅黑" panose="020B0503020204020204" pitchFamily="34" charset="-122"/>
                  <a:ea typeface="微软雅黑" panose="020B0503020204020204" pitchFamily="34" charset="-122"/>
                </a:rPr>
                <a:t>资源控制</a:t>
              </a:r>
              <a:endParaRPr kumimoji="1" lang="en-US" altLang="ko-KR" sz="1400" dirty="0">
                <a:solidFill>
                  <a:srgbClr val="000000"/>
                </a:solidFill>
                <a:latin typeface="微软雅黑" panose="020B0503020204020204" pitchFamily="34" charset="-122"/>
                <a:ea typeface="微软雅黑" panose="020B0503020204020204" pitchFamily="34" charset="-122"/>
              </a:endParaRPr>
            </a:p>
          </p:txBody>
        </p:sp>
        <p:sp>
          <p:nvSpPr>
            <p:cNvPr id="62" name="Rectangle 366"/>
            <p:cNvSpPr>
              <a:spLocks noChangeArrowheads="1"/>
            </p:cNvSpPr>
            <p:nvPr/>
          </p:nvSpPr>
          <p:spPr bwMode="auto">
            <a:xfrm>
              <a:off x="5717157" y="1129784"/>
              <a:ext cx="1284176"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组合鉴别技术</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3" name="Rectangle 366"/>
            <p:cNvSpPr>
              <a:spLocks noChangeArrowheads="1"/>
            </p:cNvSpPr>
            <p:nvPr/>
          </p:nvSpPr>
          <p:spPr bwMode="auto">
            <a:xfrm>
              <a:off x="5671601" y="1402200"/>
              <a:ext cx="1498206"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敏感标记的设置</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4" name="Rectangle 366"/>
            <p:cNvSpPr>
              <a:spLocks noChangeArrowheads="1"/>
            </p:cNvSpPr>
            <p:nvPr/>
          </p:nvSpPr>
          <p:spPr bwMode="auto">
            <a:xfrm>
              <a:off x="5350147" y="1672229"/>
              <a:ext cx="2568353"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审计报表及审计记录的保护</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5" name="Rectangle 366"/>
            <p:cNvSpPr>
              <a:spLocks noChangeArrowheads="1"/>
            </p:cNvSpPr>
            <p:nvPr/>
          </p:nvSpPr>
          <p:spPr bwMode="auto">
            <a:xfrm>
              <a:off x="5292080" y="1942260"/>
              <a:ext cx="2782382"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敏感信息清楚、存储空间释放</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6" name="Rectangle 366"/>
            <p:cNvSpPr>
              <a:spLocks noChangeArrowheads="1"/>
            </p:cNvSpPr>
            <p:nvPr/>
          </p:nvSpPr>
          <p:spPr bwMode="auto">
            <a:xfrm>
              <a:off x="5983511" y="2212290"/>
              <a:ext cx="856118"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加密技术</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7" name="Rectangle 366"/>
            <p:cNvSpPr>
              <a:spLocks noChangeArrowheads="1"/>
            </p:cNvSpPr>
            <p:nvPr/>
          </p:nvSpPr>
          <p:spPr bwMode="auto">
            <a:xfrm>
              <a:off x="5292080" y="2459672"/>
              <a:ext cx="2782382"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整个报文及会话传输过程加密</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8" name="Rectangle 366"/>
            <p:cNvSpPr>
              <a:spLocks noChangeArrowheads="1"/>
            </p:cNvSpPr>
            <p:nvPr/>
          </p:nvSpPr>
          <p:spPr bwMode="auto">
            <a:xfrm>
              <a:off x="5727997" y="2729702"/>
              <a:ext cx="1498206"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原发证据的提供</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69" name="Rectangle 366"/>
            <p:cNvSpPr>
              <a:spLocks noChangeArrowheads="1"/>
            </p:cNvSpPr>
            <p:nvPr/>
          </p:nvSpPr>
          <p:spPr bwMode="auto">
            <a:xfrm>
              <a:off x="5605662" y="2999732"/>
              <a:ext cx="1926264" cy="264187"/>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出错校验、自动保护</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70" name="Rectangle 366"/>
            <p:cNvSpPr>
              <a:spLocks noChangeArrowheads="1"/>
            </p:cNvSpPr>
            <p:nvPr/>
          </p:nvSpPr>
          <p:spPr bwMode="auto">
            <a:xfrm>
              <a:off x="4849961" y="3292411"/>
              <a:ext cx="3558239" cy="202632"/>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spAutoFit/>
            </a:bodyPr>
            <a:lstStyle/>
            <a:p>
              <a:r>
                <a:rPr kumimoji="1" lang="zh-CN" altLang="en-US" sz="1400" dirty="0">
                  <a:solidFill>
                    <a:srgbClr val="000000"/>
                  </a:solidFill>
                  <a:latin typeface="微软雅黑" panose="020B0503020204020204" pitchFamily="34" charset="-122"/>
                  <a:ea typeface="微软雅黑" panose="020B0503020204020204" pitchFamily="34" charset="-122"/>
                </a:rPr>
                <a:t>资源分配、优先级、最小化服务及检测报警</a:t>
              </a:r>
              <a:endParaRPr kumimoji="1" lang="en-US" altLang="ko-KR" sz="1400" dirty="0">
                <a:solidFill>
                  <a:srgbClr val="000000"/>
                </a:solidFill>
                <a:latin typeface="微软雅黑" panose="020B0503020204020204" pitchFamily="34" charset="-122"/>
                <a:ea typeface="微软雅黑" panose="020B0503020204020204" pitchFamily="34" charset="-122"/>
              </a:endParaRPr>
            </a:p>
          </p:txBody>
        </p:sp>
        <p:sp>
          <p:nvSpPr>
            <p:cNvPr id="71" name="矩形 70"/>
            <p:cNvSpPr/>
            <p:nvPr/>
          </p:nvSpPr>
          <p:spPr bwMode="auto">
            <a:xfrm>
              <a:off x="725513" y="3664682"/>
              <a:ext cx="1538320" cy="314618"/>
            </a:xfrm>
            <a:prstGeom prst="rect">
              <a:avLst/>
            </a:prstGeom>
            <a:solidFill>
              <a:srgbClr val="F68632"/>
            </a:solidFill>
            <a:ln w="9525" cap="flat" cmpd="sng" algn="ctr">
              <a:noFill/>
              <a:prstDash val="dash"/>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ctr" anchorCtr="0" compatLnSpc="1">
              <a:noAutofit/>
            </a:bodyPr>
            <a:lstStyle/>
            <a:p>
              <a:pPr algn="ctr" eaLnBrk="0" hangingPunct="0"/>
              <a:r>
                <a:rPr lang="zh-CN" altLang="en-US" sz="1600" b="1" dirty="0">
                  <a:solidFill>
                    <a:srgbClr val="000000"/>
                  </a:solidFill>
                  <a:latin typeface="微软雅黑" panose="020B0503020204020204" pitchFamily="34" charset="-122"/>
                  <a:ea typeface="微软雅黑" panose="020B0503020204020204" pitchFamily="34" charset="-122"/>
                </a:rPr>
                <a:t>数据安全</a:t>
              </a:r>
              <a:endParaRPr lang="zh-CN" altLang="en-US" sz="1600" b="1" dirty="0">
                <a:solidFill>
                  <a:srgbClr val="000000"/>
                </a:solidFill>
                <a:latin typeface="微软雅黑" panose="020B0503020204020204" pitchFamily="34" charset="-122"/>
                <a:ea typeface="微软雅黑" panose="020B0503020204020204" pitchFamily="34" charset="-122"/>
              </a:endParaRPr>
            </a:p>
          </p:txBody>
        </p:sp>
        <p:sp>
          <p:nvSpPr>
            <p:cNvPr id="72" name="矩形 71"/>
            <p:cNvSpPr/>
            <p:nvPr/>
          </p:nvSpPr>
          <p:spPr bwMode="auto">
            <a:xfrm>
              <a:off x="3332252" y="3656383"/>
              <a:ext cx="5431824" cy="347368"/>
            </a:xfrm>
            <a:prstGeom prst="rect">
              <a:avLst/>
            </a:prstGeom>
            <a:solidFill>
              <a:srgbClr val="F68632"/>
            </a:solidFill>
            <a:ln w="9525" cap="flat" cmpd="sng" algn="ctr">
              <a:noFill/>
              <a:prstDash val="dash"/>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ctr" anchorCtr="0" compatLnSpc="1">
              <a:noAutofit/>
            </a:bodyPr>
            <a:lstStyle/>
            <a:p>
              <a:pPr algn="ctr" eaLnBrk="0" hangingPunct="0"/>
              <a:endParaRPr lang="zh-CN" altLang="en-US" sz="1600" b="1">
                <a:solidFill>
                  <a:srgbClr val="000000"/>
                </a:solidFill>
                <a:latin typeface="微软雅黑" panose="020B0503020204020204" pitchFamily="34" charset="-122"/>
                <a:ea typeface="微软雅黑" panose="020B0503020204020204" pitchFamily="34" charset="-122"/>
              </a:endParaRPr>
            </a:p>
          </p:txBody>
        </p:sp>
        <p:sp>
          <p:nvSpPr>
            <p:cNvPr id="73" name="右箭头 73"/>
            <p:cNvSpPr/>
            <p:nvPr/>
          </p:nvSpPr>
          <p:spPr bwMode="auto">
            <a:xfrm>
              <a:off x="2339752" y="4141420"/>
              <a:ext cx="792088" cy="590398"/>
            </a:xfrm>
            <a:prstGeom prst="rightArrow">
              <a:avLst/>
            </a:prstGeom>
            <a:solidFill>
              <a:schemeClr val="bg1">
                <a:lumMod val="75000"/>
              </a:schemeClr>
            </a:solidFill>
            <a:ln w="9525" cap="flat" cmpd="sng" algn="ctr">
              <a:noFill/>
              <a:prstDash val="solid"/>
              <a:round/>
              <a:headEnd type="none" w="med" len="med"/>
              <a:tailEnd type="none" w="med" len="med"/>
            </a:ln>
            <a:effectLst/>
          </p:spPr>
          <p:txBody>
            <a:bodyPr vert="horz" wrap="square" lIns="121920" tIns="60960" rIns="121920" bIns="60960" numCol="1" rtlCol="0" anchor="t" anchorCtr="0" compatLnSpc="1">
              <a:spAutoFit/>
            </a:bodyPr>
            <a:lstStyle/>
            <a:p>
              <a:pPr algn="ctr" eaLnBrk="0" hangingPunct="0"/>
              <a:endParaRPr lang="zh-CN" altLang="en-US" sz="1000">
                <a:solidFill>
                  <a:srgbClr val="FFFFFF"/>
                </a:solidFill>
                <a:latin typeface="微软雅黑" panose="020B0503020204020204" pitchFamily="34" charset="-122"/>
                <a:ea typeface="微软雅黑" panose="020B0503020204020204" pitchFamily="34" charset="-122"/>
              </a:endParaRPr>
            </a:p>
          </p:txBody>
        </p:sp>
        <p:sp>
          <p:nvSpPr>
            <p:cNvPr id="74" name="Rectangle 366"/>
            <p:cNvSpPr>
              <a:spLocks noChangeArrowheads="1"/>
            </p:cNvSpPr>
            <p:nvPr/>
          </p:nvSpPr>
          <p:spPr bwMode="auto">
            <a:xfrm>
              <a:off x="2440214" y="4331960"/>
              <a:ext cx="428059" cy="264187"/>
            </a:xfrm>
            <a:prstGeom prst="rect">
              <a:avLst/>
            </a:prstGeom>
            <a:noFill/>
            <a:ln w="9525">
              <a:noFill/>
              <a:miter lim="800000"/>
            </a:ln>
            <a:effectLst/>
            <a:extLst>
              <a:ext uri="{909E8E84-426E-40DD-AFC4-6F175D3DCCD1}">
                <a14:hiddenFill xmlns:a14="http://schemas.microsoft.com/office/drawing/2010/main">
                  <a:solidFill>
                    <a:srgbClr val="3366FF"/>
                  </a:solidFill>
                </a14:hiddenFill>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要点</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75" name="AutoShape 352"/>
            <p:cNvSpPr>
              <a:spLocks noChangeArrowheads="1"/>
            </p:cNvSpPr>
            <p:nvPr/>
          </p:nvSpPr>
          <p:spPr bwMode="auto">
            <a:xfrm>
              <a:off x="721634" y="4029199"/>
              <a:ext cx="1532336" cy="243314"/>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76"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4068606"/>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77" name="Rectangle 366"/>
            <p:cNvSpPr>
              <a:spLocks noChangeArrowheads="1"/>
            </p:cNvSpPr>
            <p:nvPr/>
          </p:nvSpPr>
          <p:spPr bwMode="auto">
            <a:xfrm>
              <a:off x="977234" y="4038776"/>
              <a:ext cx="1070147" cy="231579"/>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lIns="0" tIns="0" rIns="0" bIns="0">
              <a:spAutoFit/>
            </a:bodyPr>
            <a:lstStyle>
              <a:lvl1pPr>
                <a:defRPr kumimoji="1">
                  <a:solidFill>
                    <a:schemeClr val="tx1"/>
                  </a:solidFill>
                  <a:latin typeface="Gulim" panose="020B0600000101010101" pitchFamily="50" charset="-127"/>
                  <a:ea typeface="Gulim" panose="020B0600000101010101" pitchFamily="50" charset="-127"/>
                </a:defRPr>
              </a:lvl1pPr>
              <a:lvl2pPr>
                <a:defRPr kumimoji="1">
                  <a:solidFill>
                    <a:schemeClr val="tx1"/>
                  </a:solidFill>
                  <a:latin typeface="Gulim" panose="020B0600000101010101" pitchFamily="50" charset="-127"/>
                  <a:ea typeface="Gulim" panose="020B0600000101010101" pitchFamily="50" charset="-127"/>
                </a:defRPr>
              </a:lvl2pPr>
              <a:lvl3pPr>
                <a:defRPr kumimoji="1">
                  <a:solidFill>
                    <a:schemeClr val="tx1"/>
                  </a:solidFill>
                  <a:latin typeface="Gulim" panose="020B0600000101010101" pitchFamily="50" charset="-127"/>
                  <a:ea typeface="Gulim" panose="020B0600000101010101" pitchFamily="50" charset="-127"/>
                </a:defRPr>
              </a:lvl3pPr>
              <a:lvl4pPr>
                <a:defRPr kumimoji="1">
                  <a:solidFill>
                    <a:schemeClr val="tx1"/>
                  </a:solidFill>
                  <a:latin typeface="Gulim" panose="020B0600000101010101" pitchFamily="50" charset="-127"/>
                  <a:ea typeface="Gulim" panose="020B0600000101010101" pitchFamily="50" charset="-127"/>
                </a:defRPr>
              </a:lvl4pPr>
              <a:lvl5pPr>
                <a:defRPr kumimoji="1">
                  <a:solidFill>
                    <a:schemeClr val="tx1"/>
                  </a:solidFill>
                  <a:latin typeface="Gulim" panose="020B0600000101010101" pitchFamily="50" charset="-127"/>
                  <a:ea typeface="Gulim" panose="020B0600000101010101" pitchFamily="50" charset="-127"/>
                </a:defRPr>
              </a:lvl5pPr>
              <a:lvl6pPr marL="4572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6pPr>
              <a:lvl7pPr marL="9144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7pPr>
              <a:lvl8pPr marL="13716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8pPr>
              <a:lvl9pPr marL="18288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9pPr>
            </a:lstStyle>
            <a:p>
              <a:r>
                <a:rPr lang="zh-CN" altLang="en-US" sz="1600" dirty="0">
                  <a:solidFill>
                    <a:srgbClr val="000000"/>
                  </a:solidFill>
                  <a:latin typeface="微软雅黑" panose="020B0503020204020204" pitchFamily="34" charset="-122"/>
                  <a:ea typeface="微软雅黑" panose="020B0503020204020204" pitchFamily="34" charset="-122"/>
                </a:rPr>
                <a:t>数据完整性</a:t>
              </a:r>
              <a:endParaRPr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78" name="AutoShape 352"/>
            <p:cNvSpPr>
              <a:spLocks noChangeArrowheads="1"/>
            </p:cNvSpPr>
            <p:nvPr/>
          </p:nvSpPr>
          <p:spPr bwMode="auto">
            <a:xfrm>
              <a:off x="735589" y="4307933"/>
              <a:ext cx="1518167"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79"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4338636"/>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80" name="Rectangle 366"/>
            <p:cNvSpPr>
              <a:spLocks noChangeArrowheads="1"/>
            </p:cNvSpPr>
            <p:nvPr/>
          </p:nvSpPr>
          <p:spPr bwMode="auto">
            <a:xfrm>
              <a:off x="968861" y="4306437"/>
              <a:ext cx="1070147"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数据保密性</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81" name="AutoShape 352"/>
            <p:cNvSpPr>
              <a:spLocks noChangeArrowheads="1"/>
            </p:cNvSpPr>
            <p:nvPr/>
          </p:nvSpPr>
          <p:spPr bwMode="auto">
            <a:xfrm>
              <a:off x="737954" y="4596122"/>
              <a:ext cx="1516015" cy="243313"/>
            </a:xfrm>
            <a:prstGeom prst="roundRect">
              <a:avLst>
                <a:gd name="adj" fmla="val 9028"/>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bg1"/>
                  </a:solidFill>
                  <a:round/>
                </a14:hiddenLine>
              </a:ext>
            </a:extLst>
          </p:spPr>
          <p:txBody>
            <a:bodyPr wrap="none" anchor="ctr"/>
            <a:lstStyle/>
            <a:p>
              <a:pPr algn="ctr">
                <a:lnSpc>
                  <a:spcPct val="140000"/>
                </a:lnSpc>
                <a:buClr>
                  <a:srgbClr val="FFFFFF"/>
                </a:buClr>
              </a:pPr>
              <a:endParaRPr lang="zh-CN" altLang="zh-CN" b="1">
                <a:solidFill>
                  <a:srgbClr val="FFFF00"/>
                </a:solidFill>
                <a:latin typeface="微软雅黑" panose="020B0503020204020204" pitchFamily="34" charset="-122"/>
                <a:ea typeface="微软雅黑" panose="020B0503020204020204" pitchFamily="34" charset="-122"/>
              </a:endParaRPr>
            </a:p>
          </p:txBody>
        </p:sp>
        <p:pic>
          <p:nvPicPr>
            <p:cNvPr id="82"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25514" y="4620753"/>
              <a:ext cx="120464" cy="84981"/>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366"/>
            <p:cNvSpPr>
              <a:spLocks noChangeArrowheads="1"/>
            </p:cNvSpPr>
            <p:nvPr/>
          </p:nvSpPr>
          <p:spPr bwMode="auto">
            <a:xfrm>
              <a:off x="976064" y="4588554"/>
              <a:ext cx="1070147" cy="264187"/>
            </a:xfrm>
            <a:prstGeom prst="rect">
              <a:avLst/>
            </a:prstGeom>
            <a:noFill/>
            <a:ln>
              <a:noFill/>
            </a:ln>
            <a:effectLst>
              <a:outerShdw dist="28398" sx="1000" sy="1000" algn="ctr" rotWithShape="0">
                <a:schemeClr val="tx1"/>
              </a:outerShdw>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0" tIns="0" rIns="0" bIns="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备份和回复</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84" name="Group 351"/>
            <p:cNvGrpSpPr/>
            <p:nvPr/>
          </p:nvGrpSpPr>
          <p:grpSpPr bwMode="auto">
            <a:xfrm>
              <a:off x="3331714" y="3998371"/>
              <a:ext cx="5432363" cy="243313"/>
              <a:chOff x="881" y="1482"/>
              <a:chExt cx="3904" cy="996"/>
            </a:xfrm>
            <a:solidFill>
              <a:schemeClr val="accent3">
                <a:lumMod val="20000"/>
                <a:lumOff val="80000"/>
              </a:schemeClr>
            </a:solidFill>
          </p:grpSpPr>
          <p:sp>
            <p:nvSpPr>
              <p:cNvPr id="101" name="AutoShape 352"/>
              <p:cNvSpPr>
                <a:spLocks noChangeArrowheads="1"/>
              </p:cNvSpPr>
              <p:nvPr/>
            </p:nvSpPr>
            <p:spPr bwMode="auto">
              <a:xfrm>
                <a:off x="881" y="1482"/>
                <a:ext cx="3904"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02"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85"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43424" y="4068606"/>
              <a:ext cx="120464" cy="84981"/>
            </a:xfrm>
            <a:prstGeom prst="rect">
              <a:avLst/>
            </a:prstGeom>
            <a:solidFill>
              <a:schemeClr val="accent3">
                <a:lumMod val="20000"/>
                <a:lumOff val="80000"/>
              </a:schemeClr>
            </a:solidFill>
          </p:spPr>
        </p:pic>
        <p:sp>
          <p:nvSpPr>
            <p:cNvPr id="86" name="Rectangle 366"/>
            <p:cNvSpPr>
              <a:spLocks noChangeArrowheads="1"/>
            </p:cNvSpPr>
            <p:nvPr/>
          </p:nvSpPr>
          <p:spPr bwMode="auto">
            <a:xfrm>
              <a:off x="3606485" y="4003751"/>
              <a:ext cx="1070147" cy="231579"/>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noAutofit/>
            </a:bodyPr>
            <a:lstStyle>
              <a:lvl1pPr>
                <a:defRPr kumimoji="1">
                  <a:solidFill>
                    <a:schemeClr val="tx1"/>
                  </a:solidFill>
                  <a:latin typeface="Gulim" panose="020B0600000101010101" pitchFamily="50" charset="-127"/>
                  <a:ea typeface="Gulim" panose="020B0600000101010101" pitchFamily="50" charset="-127"/>
                </a:defRPr>
              </a:lvl1pPr>
              <a:lvl2pPr>
                <a:defRPr kumimoji="1">
                  <a:solidFill>
                    <a:schemeClr val="tx1"/>
                  </a:solidFill>
                  <a:latin typeface="Gulim" panose="020B0600000101010101" pitchFamily="50" charset="-127"/>
                  <a:ea typeface="Gulim" panose="020B0600000101010101" pitchFamily="50" charset="-127"/>
                </a:defRPr>
              </a:lvl2pPr>
              <a:lvl3pPr>
                <a:defRPr kumimoji="1">
                  <a:solidFill>
                    <a:schemeClr val="tx1"/>
                  </a:solidFill>
                  <a:latin typeface="Gulim" panose="020B0600000101010101" pitchFamily="50" charset="-127"/>
                  <a:ea typeface="Gulim" panose="020B0600000101010101" pitchFamily="50" charset="-127"/>
                </a:defRPr>
              </a:lvl3pPr>
              <a:lvl4pPr>
                <a:defRPr kumimoji="1">
                  <a:solidFill>
                    <a:schemeClr val="tx1"/>
                  </a:solidFill>
                  <a:latin typeface="Gulim" panose="020B0600000101010101" pitchFamily="50" charset="-127"/>
                  <a:ea typeface="Gulim" panose="020B0600000101010101" pitchFamily="50" charset="-127"/>
                </a:defRPr>
              </a:lvl4pPr>
              <a:lvl5pPr>
                <a:defRPr kumimoji="1">
                  <a:solidFill>
                    <a:schemeClr val="tx1"/>
                  </a:solidFill>
                  <a:latin typeface="Gulim" panose="020B0600000101010101" pitchFamily="50" charset="-127"/>
                  <a:ea typeface="Gulim" panose="020B0600000101010101" pitchFamily="50" charset="-127"/>
                </a:defRPr>
              </a:lvl5pPr>
              <a:lvl6pPr marL="4572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6pPr>
              <a:lvl7pPr marL="9144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7pPr>
              <a:lvl8pPr marL="13716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8pPr>
              <a:lvl9pPr marL="1828800" fontAlgn="base" latinLnBrk="1">
                <a:spcBef>
                  <a:spcPct val="0"/>
                </a:spcBef>
                <a:spcAft>
                  <a:spcPct val="0"/>
                </a:spcAft>
                <a:defRPr kumimoji="1">
                  <a:solidFill>
                    <a:schemeClr val="tx1"/>
                  </a:solidFill>
                  <a:latin typeface="Gulim" panose="020B0600000101010101" pitchFamily="50" charset="-127"/>
                  <a:ea typeface="Gulim" panose="020B0600000101010101" pitchFamily="50" charset="-127"/>
                </a:defRPr>
              </a:lvl9pPr>
            </a:lstStyle>
            <a:p>
              <a:r>
                <a:rPr lang="zh-CN" altLang="en-US" sz="1600" dirty="0">
                  <a:solidFill>
                    <a:srgbClr val="000000"/>
                  </a:solidFill>
                  <a:latin typeface="微软雅黑" panose="020B0503020204020204" pitchFamily="34" charset="-122"/>
                  <a:ea typeface="微软雅黑" panose="020B0503020204020204" pitchFamily="34" charset="-122"/>
                </a:rPr>
                <a:t>数据完整性</a:t>
              </a:r>
              <a:endParaRPr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87" name="Group 351"/>
            <p:cNvGrpSpPr/>
            <p:nvPr/>
          </p:nvGrpSpPr>
          <p:grpSpPr bwMode="auto">
            <a:xfrm>
              <a:off x="3331790" y="4268401"/>
              <a:ext cx="5416675" cy="243313"/>
              <a:chOff x="881" y="1482"/>
              <a:chExt cx="3904" cy="996"/>
            </a:xfrm>
            <a:solidFill>
              <a:schemeClr val="accent3">
                <a:lumMod val="20000"/>
                <a:lumOff val="80000"/>
              </a:schemeClr>
            </a:solidFill>
          </p:grpSpPr>
          <p:sp>
            <p:nvSpPr>
              <p:cNvPr id="99" name="AutoShape 352"/>
              <p:cNvSpPr>
                <a:spLocks noChangeArrowheads="1"/>
              </p:cNvSpPr>
              <p:nvPr/>
            </p:nvSpPr>
            <p:spPr bwMode="auto">
              <a:xfrm>
                <a:off x="881" y="1482"/>
                <a:ext cx="3904"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100"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88"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43424" y="4338636"/>
              <a:ext cx="120464" cy="84981"/>
            </a:xfrm>
            <a:prstGeom prst="rect">
              <a:avLst/>
            </a:prstGeom>
            <a:solidFill>
              <a:schemeClr val="accent3">
                <a:lumMod val="20000"/>
                <a:lumOff val="80000"/>
              </a:schemeClr>
            </a:solidFill>
          </p:spPr>
        </p:pic>
        <p:sp>
          <p:nvSpPr>
            <p:cNvPr id="89" name="Rectangle 366"/>
            <p:cNvSpPr>
              <a:spLocks noChangeArrowheads="1"/>
            </p:cNvSpPr>
            <p:nvPr/>
          </p:nvSpPr>
          <p:spPr bwMode="auto">
            <a:xfrm>
              <a:off x="3606485" y="4274244"/>
              <a:ext cx="1070147" cy="237470"/>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no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数据保密性</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grpSp>
          <p:nvGrpSpPr>
            <p:cNvPr id="90" name="Group 351"/>
            <p:cNvGrpSpPr/>
            <p:nvPr/>
          </p:nvGrpSpPr>
          <p:grpSpPr bwMode="auto">
            <a:xfrm>
              <a:off x="3331790" y="4538431"/>
              <a:ext cx="5416675" cy="243313"/>
              <a:chOff x="881" y="1482"/>
              <a:chExt cx="3904" cy="996"/>
            </a:xfrm>
            <a:solidFill>
              <a:schemeClr val="accent3">
                <a:lumMod val="20000"/>
                <a:lumOff val="80000"/>
              </a:schemeClr>
            </a:solidFill>
          </p:grpSpPr>
          <p:sp>
            <p:nvSpPr>
              <p:cNvPr id="97" name="AutoShape 352"/>
              <p:cNvSpPr>
                <a:spLocks noChangeArrowheads="1"/>
              </p:cNvSpPr>
              <p:nvPr/>
            </p:nvSpPr>
            <p:spPr bwMode="auto">
              <a:xfrm>
                <a:off x="881" y="1482"/>
                <a:ext cx="3904" cy="996"/>
              </a:xfrm>
              <a:prstGeom prst="roundRect">
                <a:avLst>
                  <a:gd name="adj" fmla="val 9028"/>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sp>
            <p:nvSpPr>
              <p:cNvPr id="98" name="AutoShape 353"/>
              <p:cNvSpPr>
                <a:spLocks noChangeArrowheads="1"/>
              </p:cNvSpPr>
              <p:nvPr/>
            </p:nvSpPr>
            <p:spPr bwMode="auto">
              <a:xfrm>
                <a:off x="912" y="1490"/>
                <a:ext cx="3855" cy="462"/>
              </a:xfrm>
              <a:prstGeom prst="roundRect">
                <a:avLst>
                  <a:gd name="adj" fmla="val 13880"/>
                </a:avLst>
              </a:prstGeom>
              <a:grpFill/>
              <a:ln>
                <a:noFill/>
              </a:ln>
              <a:effectLst/>
              <a:extLst>
                <a:ext uri="{91240B29-F687-4F45-9708-019B960494DF}">
                  <a14:hiddenLine xmlns:a14="http://schemas.microsoft.com/office/drawing/2010/main" w="9525">
                    <a:solidFill>
                      <a:schemeClr val="bg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40000"/>
                  </a:lnSpc>
                  <a:buClr>
                    <a:srgbClr val="FFFFFF"/>
                  </a:buClr>
                  <a:buFont typeface="Wingdings" panose="05000000000000000000" pitchFamily="2" charset="2"/>
                  <a:buNone/>
                </a:pPr>
                <a:endParaRPr lang="zh-CN" altLang="zh-CN" b="1">
                  <a:solidFill>
                    <a:srgbClr val="FFFF00"/>
                  </a:solidFill>
                  <a:latin typeface="微软雅黑" panose="020B0503020204020204" pitchFamily="34" charset="-122"/>
                  <a:ea typeface="微软雅黑" panose="020B0503020204020204" pitchFamily="34" charset="-122"/>
                </a:endParaRPr>
              </a:p>
            </p:txBody>
          </p:sp>
        </p:grpSp>
        <p:pic>
          <p:nvPicPr>
            <p:cNvPr id="91" name="Picture 365" descr="sub"/>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43424" y="4620753"/>
              <a:ext cx="120464" cy="84981"/>
            </a:xfrm>
            <a:prstGeom prst="rect">
              <a:avLst/>
            </a:prstGeom>
            <a:solidFill>
              <a:schemeClr val="accent3">
                <a:lumMod val="20000"/>
                <a:lumOff val="80000"/>
              </a:schemeClr>
            </a:solidFill>
          </p:spPr>
        </p:pic>
        <p:sp>
          <p:nvSpPr>
            <p:cNvPr id="92" name="Rectangle 366"/>
            <p:cNvSpPr>
              <a:spLocks noChangeArrowheads="1"/>
            </p:cNvSpPr>
            <p:nvPr/>
          </p:nvSpPr>
          <p:spPr bwMode="auto">
            <a:xfrm>
              <a:off x="3609065" y="4546929"/>
              <a:ext cx="1070147" cy="234143"/>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no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备份和恢复</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93" name="Rectangle 366"/>
            <p:cNvSpPr>
              <a:spLocks noChangeArrowheads="1"/>
            </p:cNvSpPr>
            <p:nvPr/>
          </p:nvSpPr>
          <p:spPr bwMode="auto">
            <a:xfrm>
              <a:off x="5107775" y="4003265"/>
              <a:ext cx="3424470" cy="243313"/>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no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数据存储、传输，完整性检测和恢复</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94" name="Rectangle 366"/>
            <p:cNvSpPr>
              <a:spLocks noChangeArrowheads="1"/>
            </p:cNvSpPr>
            <p:nvPr/>
          </p:nvSpPr>
          <p:spPr bwMode="auto">
            <a:xfrm>
              <a:off x="5379953" y="4278361"/>
              <a:ext cx="2568353" cy="233352"/>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no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数据存储、传输，加密保护</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sp>
          <p:nvSpPr>
            <p:cNvPr id="95" name="Rectangle 366"/>
            <p:cNvSpPr>
              <a:spLocks noChangeArrowheads="1"/>
            </p:cNvSpPr>
            <p:nvPr/>
          </p:nvSpPr>
          <p:spPr bwMode="auto">
            <a:xfrm>
              <a:off x="5885630" y="4534908"/>
              <a:ext cx="1070147" cy="243313"/>
            </a:xfrm>
            <a:prstGeom prst="rect">
              <a:avLst/>
            </a:prstGeom>
            <a:solidFill>
              <a:schemeClr val="accent3">
                <a:lumMod val="20000"/>
                <a:lumOff val="80000"/>
              </a:schemeClr>
            </a:solidFill>
            <a:ln>
              <a:noFill/>
            </a:ln>
            <a:effectLst>
              <a:outerShdw dist="28398" sx="1000" sy="1000" algn="ctr" rotWithShape="0">
                <a:schemeClr val="tx1"/>
              </a:outerShdw>
            </a:effectLst>
          </p:spPr>
          <p:txBody>
            <a:bodyPr wrap="none" lIns="0" tIns="0" rIns="0" bIns="0">
              <a:no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冗余、备份</a:t>
              </a:r>
              <a:endParaRPr kumimoji="1" lang="en-US" altLang="ko-KR" sz="1600" dirty="0">
                <a:solidFill>
                  <a:srgbClr val="000000"/>
                </a:solidFill>
                <a:latin typeface="微软雅黑" panose="020B0503020204020204" pitchFamily="34" charset="-122"/>
                <a:ea typeface="微软雅黑" panose="020B0503020204020204" pitchFamily="34" charset="-122"/>
              </a:endParaRPr>
            </a:p>
          </p:txBody>
        </p:sp>
        <p:cxnSp>
          <p:nvCxnSpPr>
            <p:cNvPr id="96" name="直接连接符 95"/>
            <p:cNvCxnSpPr/>
            <p:nvPr/>
          </p:nvCxnSpPr>
          <p:spPr>
            <a:xfrm>
              <a:off x="739867" y="3579862"/>
              <a:ext cx="8024210" cy="0"/>
            </a:xfrm>
            <a:prstGeom prst="line">
              <a:avLst/>
            </a:prstGeom>
          </p:spPr>
          <p:style>
            <a:lnRef idx="1">
              <a:schemeClr val="accent1"/>
            </a:lnRef>
            <a:fillRef idx="0">
              <a:schemeClr val="accent1"/>
            </a:fillRef>
            <a:effectRef idx="0">
              <a:schemeClr val="accent1"/>
            </a:effectRef>
            <a:fontRef idx="minor">
              <a:schemeClr val="tx1"/>
            </a:fontRef>
          </p:style>
        </p:cxnSp>
      </p:grpSp>
    </p:spTree>
    <p:custDataLst>
      <p:tags r:id="rId2"/>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bject 2"/>
          <p:cNvSpPr txBox="1"/>
          <p:nvPr/>
        </p:nvSpPr>
        <p:spPr>
          <a:xfrm>
            <a:off x="259816" y="156623"/>
            <a:ext cx="9231331" cy="927856"/>
          </a:xfrm>
          <a:prstGeom prst="rect">
            <a:avLst/>
          </a:prstGeom>
        </p:spPr>
        <p:txBody>
          <a:bodyPr vert="horz" wrap="square" lIns="0" tIns="147023" rIns="0" bIns="0" rtlCol="0">
            <a:noAutofit/>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等级保护安全技术</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方案</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用户</a:t>
            </a:r>
            <a:endParaRPr lang="zh-CN" altLang="en-US" sz="2800" b="1"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8" name="组合 37"/>
          <p:cNvGrpSpPr/>
          <p:nvPr/>
        </p:nvGrpSpPr>
        <p:grpSpPr>
          <a:xfrm>
            <a:off x="1443001" y="1226432"/>
            <a:ext cx="8901471" cy="5226904"/>
            <a:chOff x="323528" y="810446"/>
            <a:chExt cx="8521713" cy="4185019"/>
          </a:xfrm>
        </p:grpSpPr>
        <p:cxnSp>
          <p:nvCxnSpPr>
            <p:cNvPr id="40" name="直接连接符 39"/>
            <p:cNvCxnSpPr/>
            <p:nvPr/>
          </p:nvCxnSpPr>
          <p:spPr bwMode="auto">
            <a:xfrm flipV="1">
              <a:off x="2481023" y="2299379"/>
              <a:ext cx="0" cy="274595"/>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3893376" y="3192265"/>
              <a:ext cx="696996" cy="0"/>
            </a:xfrm>
            <a:prstGeom prst="line">
              <a:avLst/>
            </a:prstGeom>
            <a:noFill/>
            <a:ln w="6350" cap="flat" cmpd="sng" algn="ctr">
              <a:solidFill>
                <a:srgbClr val="808080"/>
              </a:solidFill>
              <a:prstDash val="solid"/>
              <a:round/>
              <a:headEnd type="none" w="med" len="med"/>
              <a:tailEnd type="none" w="med" len="med"/>
            </a:ln>
            <a:effectLst/>
          </p:spPr>
        </p:cxnSp>
        <p:sp>
          <p:nvSpPr>
            <p:cNvPr id="43" name="TextBox 547"/>
            <p:cNvSpPr txBox="1"/>
            <p:nvPr/>
          </p:nvSpPr>
          <p:spPr>
            <a:xfrm>
              <a:off x="3113067" y="1286744"/>
              <a:ext cx="545528" cy="257973"/>
            </a:xfrm>
            <a:prstGeom prst="rect">
              <a:avLst/>
            </a:prstGeom>
            <a:noFill/>
          </p:spPr>
          <p:txBody>
            <a:bodyPr wrap="square" lIns="35988" tIns="45705" rIns="35988" bIns="45705" rtlCol="0" anchor="ctr" anchorCtr="0">
              <a:no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互联网接入区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cxnSp>
          <p:nvCxnSpPr>
            <p:cNvPr id="78" name="直接连接符 77"/>
            <p:cNvCxnSpPr/>
            <p:nvPr/>
          </p:nvCxnSpPr>
          <p:spPr bwMode="auto">
            <a:xfrm flipH="1">
              <a:off x="4561617" y="976523"/>
              <a:ext cx="4053" cy="804204"/>
            </a:xfrm>
            <a:prstGeom prst="line">
              <a:avLst/>
            </a:prstGeom>
            <a:noFill/>
            <a:ln w="6350" cap="flat" cmpd="sng" algn="ctr">
              <a:solidFill>
                <a:srgbClr val="808080"/>
              </a:solidFill>
              <a:prstDash val="solid"/>
              <a:round/>
              <a:headEnd type="none" w="med" len="med"/>
              <a:tailEnd type="none" w="med" len="med"/>
            </a:ln>
            <a:effectLst/>
          </p:spPr>
        </p:cxnSp>
        <p:cxnSp>
          <p:nvCxnSpPr>
            <p:cNvPr id="79" name="直接连接符 78"/>
            <p:cNvCxnSpPr/>
            <p:nvPr/>
          </p:nvCxnSpPr>
          <p:spPr bwMode="auto">
            <a:xfrm flipH="1">
              <a:off x="3944296" y="976523"/>
              <a:ext cx="1359" cy="803243"/>
            </a:xfrm>
            <a:prstGeom prst="line">
              <a:avLst/>
            </a:prstGeom>
            <a:noFill/>
            <a:ln w="6350" cap="flat" cmpd="sng" algn="ctr">
              <a:solidFill>
                <a:srgbClr val="808080"/>
              </a:solidFill>
              <a:prstDash val="solid"/>
              <a:round/>
              <a:headEnd type="none" w="med" len="med"/>
              <a:tailEnd type="none" w="med" len="med"/>
            </a:ln>
            <a:effectLst/>
          </p:spPr>
        </p:cxnSp>
        <p:cxnSp>
          <p:nvCxnSpPr>
            <p:cNvPr id="80" name="直接连接符 79"/>
            <p:cNvCxnSpPr/>
            <p:nvPr/>
          </p:nvCxnSpPr>
          <p:spPr bwMode="auto">
            <a:xfrm>
              <a:off x="4039074" y="2872016"/>
              <a:ext cx="405667" cy="0"/>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矩形 80"/>
            <p:cNvSpPr/>
            <p:nvPr/>
          </p:nvSpPr>
          <p:spPr>
            <a:xfrm>
              <a:off x="5005942" y="2269787"/>
              <a:ext cx="885871" cy="174705"/>
            </a:xfrm>
            <a:prstGeom prst="rect">
              <a:avLst/>
            </a:prstGeom>
          </p:spPr>
          <p:txBody>
            <a:bodyPr wrap="square" lIns="91409" tIns="45705" rIns="91409" bIns="45705">
              <a:noAutofit/>
            </a:bodyPr>
            <a:lstStyle/>
            <a:p>
              <a:r>
                <a:rPr lang="en-US" altLang="zh-CN" sz="800" b="1" dirty="0">
                  <a:solidFill>
                    <a:srgbClr val="C00000"/>
                  </a:solidFill>
                  <a:latin typeface="微软雅黑" panose="020B0503020204020204" pitchFamily="34" charset="-122"/>
                  <a:ea typeface="微软雅黑" panose="020B0503020204020204" pitchFamily="34" charset="-122"/>
                </a:rPr>
                <a:t>SSL VPN</a:t>
              </a:r>
              <a:r>
                <a:rPr lang="zh-CN" altLang="en-US" sz="800" b="1" dirty="0">
                  <a:solidFill>
                    <a:srgbClr val="C00000"/>
                  </a:solidFill>
                  <a:latin typeface="微软雅黑" panose="020B0503020204020204" pitchFamily="34" charset="-122"/>
                  <a:ea typeface="微软雅黑" panose="020B0503020204020204" pitchFamily="34" charset="-122"/>
                </a:rPr>
                <a:t>网关</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82" name="直接连接符 81"/>
            <p:cNvCxnSpPr/>
            <p:nvPr/>
          </p:nvCxnSpPr>
          <p:spPr bwMode="auto">
            <a:xfrm flipV="1">
              <a:off x="3635998" y="2338635"/>
              <a:ext cx="180617" cy="1"/>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83" name="直接连接符 82"/>
            <p:cNvCxnSpPr/>
            <p:nvPr/>
          </p:nvCxnSpPr>
          <p:spPr bwMode="auto">
            <a:xfrm>
              <a:off x="4707481" y="2329910"/>
              <a:ext cx="179551" cy="1"/>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84" name="直接连接符 83"/>
            <p:cNvCxnSpPr/>
            <p:nvPr/>
          </p:nvCxnSpPr>
          <p:spPr>
            <a:xfrm>
              <a:off x="4064063" y="2345212"/>
              <a:ext cx="388483" cy="0"/>
            </a:xfrm>
            <a:prstGeom prst="line">
              <a:avLst/>
            </a:prstGeom>
            <a:noFill/>
            <a:ln w="6350" cap="flat" cmpd="sng" algn="ctr">
              <a:solidFill>
                <a:srgbClr val="808080"/>
              </a:solidFill>
              <a:prstDash val="solid"/>
              <a:round/>
              <a:headEnd type="none" w="med" len="med"/>
              <a:tailEnd type="none" w="med" len="med"/>
            </a:ln>
            <a:effectLst/>
          </p:spPr>
        </p:cxnSp>
        <p:cxnSp>
          <p:nvCxnSpPr>
            <p:cNvPr id="85" name="直接连接符 84"/>
            <p:cNvCxnSpPr>
              <a:stCxn id="105" idx="1"/>
              <a:endCxn id="100" idx="3"/>
            </p:cNvCxnSpPr>
            <p:nvPr/>
          </p:nvCxnSpPr>
          <p:spPr bwMode="auto">
            <a:xfrm flipH="1">
              <a:off x="4080776" y="2273282"/>
              <a:ext cx="3089204" cy="900933"/>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86" name="直接连接符 85"/>
            <p:cNvCxnSpPr>
              <a:stCxn id="106" idx="1"/>
              <a:endCxn id="99" idx="3"/>
            </p:cNvCxnSpPr>
            <p:nvPr/>
          </p:nvCxnSpPr>
          <p:spPr bwMode="auto">
            <a:xfrm flipH="1">
              <a:off x="4697068" y="2548203"/>
              <a:ext cx="2472911" cy="626011"/>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87" name="圆角矩形 125"/>
            <p:cNvSpPr/>
            <p:nvPr/>
          </p:nvSpPr>
          <p:spPr>
            <a:xfrm>
              <a:off x="3015672" y="1185192"/>
              <a:ext cx="3329483" cy="2269513"/>
            </a:xfrm>
            <a:prstGeom prst="roundRect">
              <a:avLst>
                <a:gd name="adj" fmla="val 8609"/>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sp>
          <p:nvSpPr>
            <p:cNvPr id="93" name="TextBox 571"/>
            <p:cNvSpPr txBox="1"/>
            <p:nvPr/>
          </p:nvSpPr>
          <p:spPr>
            <a:xfrm>
              <a:off x="6732241" y="1323057"/>
              <a:ext cx="576062" cy="286925"/>
            </a:xfrm>
            <a:prstGeom prst="rect">
              <a:avLst/>
            </a:prstGeom>
            <a:noFill/>
          </p:spPr>
          <p:txBody>
            <a:bodyPr wrap="square" lIns="35988" tIns="45705" rIns="35988" bIns="45705" rtlCol="0" anchor="ctr" anchorCtr="0">
              <a:no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管理区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94" name="TextBox 572"/>
            <p:cNvSpPr txBox="1"/>
            <p:nvPr/>
          </p:nvSpPr>
          <p:spPr>
            <a:xfrm>
              <a:off x="489123" y="1247919"/>
              <a:ext cx="1188183" cy="182666"/>
            </a:xfrm>
            <a:prstGeom prst="rect">
              <a:avLst/>
            </a:prstGeom>
            <a:noFill/>
          </p:spPr>
          <p:txBody>
            <a:bodyPr wrap="square" lIns="35988" tIns="45705" rIns="35988" bIns="45705" rtlCol="0" anchor="ctr" anchorCtr="0">
              <a:no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数据中心区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95" name="圆角矩形 133"/>
            <p:cNvSpPr/>
            <p:nvPr/>
          </p:nvSpPr>
          <p:spPr>
            <a:xfrm>
              <a:off x="323528" y="1185192"/>
              <a:ext cx="2409037" cy="2401103"/>
            </a:xfrm>
            <a:prstGeom prst="roundRect">
              <a:avLst>
                <a:gd name="adj" fmla="val 11258"/>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pic>
          <p:nvPicPr>
            <p:cNvPr id="99" name="Picture 460" descr="图片239"/>
            <p:cNvPicPr>
              <a:picLocks noChangeAspect="1" noChangeArrowheads="1"/>
            </p:cNvPicPr>
            <p:nvPr/>
          </p:nvPicPr>
          <p:blipFill>
            <a:blip r:embed="rId1" cstate="print"/>
            <a:srcRect/>
            <a:stretch>
              <a:fillRect/>
            </a:stretch>
          </p:blipFill>
          <p:spPr bwMode="auto">
            <a:xfrm>
              <a:off x="4425330" y="3072602"/>
              <a:ext cx="271738" cy="203223"/>
            </a:xfrm>
            <a:prstGeom prst="rect">
              <a:avLst/>
            </a:prstGeom>
            <a:noFill/>
            <a:effectLst/>
          </p:spPr>
        </p:pic>
        <p:pic>
          <p:nvPicPr>
            <p:cNvPr id="100" name="Picture 460" descr="图片239"/>
            <p:cNvPicPr>
              <a:picLocks noChangeAspect="1" noChangeArrowheads="1"/>
            </p:cNvPicPr>
            <p:nvPr/>
          </p:nvPicPr>
          <p:blipFill>
            <a:blip r:embed="rId1" cstate="print"/>
            <a:srcRect/>
            <a:stretch>
              <a:fillRect/>
            </a:stretch>
          </p:blipFill>
          <p:spPr bwMode="auto">
            <a:xfrm>
              <a:off x="3809037" y="3072602"/>
              <a:ext cx="271738" cy="203223"/>
            </a:xfrm>
            <a:prstGeom prst="rect">
              <a:avLst/>
            </a:prstGeom>
            <a:noFill/>
            <a:effectLst/>
          </p:spPr>
        </p:pic>
        <p:pic>
          <p:nvPicPr>
            <p:cNvPr id="101" name="Picture 15" descr="E:\1华赛设计夹\2010-8\朱冬晴\华赛新图标\华赛新图标 png\07 安全图标(二)\SSL VPN 2.png"/>
            <p:cNvPicPr>
              <a:picLocks noChangeAspect="1" noChangeArrowheads="1"/>
            </p:cNvPicPr>
            <p:nvPr/>
          </p:nvPicPr>
          <p:blipFill>
            <a:blip r:embed="rId2" cstate="print"/>
            <a:srcRect/>
            <a:stretch>
              <a:fillRect/>
            </a:stretch>
          </p:blipFill>
          <p:spPr bwMode="auto">
            <a:xfrm>
              <a:off x="4860115" y="2274927"/>
              <a:ext cx="217407" cy="156634"/>
            </a:xfrm>
            <a:prstGeom prst="rect">
              <a:avLst/>
            </a:prstGeom>
            <a:noFill/>
            <a:ln w="9525">
              <a:noFill/>
              <a:miter lim="800000"/>
              <a:headEnd/>
              <a:tailEnd/>
            </a:ln>
          </p:spPr>
        </p:pic>
        <p:pic>
          <p:nvPicPr>
            <p:cNvPr id="102" name="Picture 15" descr="E:\1华赛设计夹\2010-8\朱冬晴\华赛新图标\华赛新图标 png\07 安全图标(二)\SSL VPN 2.png"/>
            <p:cNvPicPr>
              <a:picLocks noChangeAspect="1" noChangeArrowheads="1"/>
            </p:cNvPicPr>
            <p:nvPr/>
          </p:nvPicPr>
          <p:blipFill>
            <a:blip r:embed="rId2" cstate="print"/>
            <a:srcRect/>
            <a:stretch>
              <a:fillRect/>
            </a:stretch>
          </p:blipFill>
          <p:spPr bwMode="auto">
            <a:xfrm>
              <a:off x="3416121" y="2274927"/>
              <a:ext cx="217407" cy="156634"/>
            </a:xfrm>
            <a:prstGeom prst="rect">
              <a:avLst/>
            </a:prstGeom>
            <a:noFill/>
            <a:ln w="9525">
              <a:noFill/>
              <a:miter lim="800000"/>
              <a:headEnd/>
              <a:tailEnd/>
            </a:ln>
          </p:spPr>
        </p:pic>
        <p:sp>
          <p:nvSpPr>
            <p:cNvPr id="103" name="TextBox 581"/>
            <p:cNvSpPr txBox="1"/>
            <p:nvPr/>
          </p:nvSpPr>
          <p:spPr>
            <a:xfrm>
              <a:off x="4705602" y="2741751"/>
              <a:ext cx="751086" cy="274826"/>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上网行为管理</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104" name="TextBox 582"/>
            <p:cNvSpPr txBox="1"/>
            <p:nvPr/>
          </p:nvSpPr>
          <p:spPr>
            <a:xfrm>
              <a:off x="4021861" y="2112394"/>
              <a:ext cx="732672" cy="128283"/>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边界</a:t>
              </a:r>
              <a:r>
                <a:rPr lang="en-US" altLang="zh-CN" sz="900" b="1" dirty="0">
                  <a:solidFill>
                    <a:srgbClr val="C00000"/>
                  </a:solidFill>
                  <a:latin typeface="微软雅黑" panose="020B0503020204020204" pitchFamily="34" charset="-122"/>
                  <a:ea typeface="微软雅黑" panose="020B0503020204020204" pitchFamily="34" charset="-122"/>
                </a:rPr>
                <a:t>FW</a:t>
              </a:r>
              <a:endParaRPr lang="zh-CN" altLang="en-US" sz="900" b="1" dirty="0">
                <a:solidFill>
                  <a:srgbClr val="C00000"/>
                </a:solidFill>
                <a:latin typeface="微软雅黑" panose="020B0503020204020204" pitchFamily="34" charset="-122"/>
                <a:ea typeface="微软雅黑" panose="020B0503020204020204" pitchFamily="34" charset="-122"/>
              </a:endParaRPr>
            </a:p>
          </p:txBody>
        </p:sp>
        <p:pic>
          <p:nvPicPr>
            <p:cNvPr id="105" name="Picture 461" descr="图片240"/>
            <p:cNvPicPr>
              <a:picLocks noChangeAspect="1" noChangeArrowheads="1"/>
            </p:cNvPicPr>
            <p:nvPr/>
          </p:nvPicPr>
          <p:blipFill>
            <a:blip r:embed="rId3" cstate="print"/>
            <a:srcRect/>
            <a:stretch>
              <a:fillRect/>
            </a:stretch>
          </p:blipFill>
          <p:spPr bwMode="auto">
            <a:xfrm>
              <a:off x="7169980" y="2179468"/>
              <a:ext cx="259750" cy="187626"/>
            </a:xfrm>
            <a:prstGeom prst="rect">
              <a:avLst/>
            </a:prstGeom>
            <a:noFill/>
            <a:effectLst/>
          </p:spPr>
        </p:pic>
        <p:pic>
          <p:nvPicPr>
            <p:cNvPr id="106" name="Picture 461" descr="图片240"/>
            <p:cNvPicPr>
              <a:picLocks noChangeAspect="1" noChangeArrowheads="1"/>
            </p:cNvPicPr>
            <p:nvPr/>
          </p:nvPicPr>
          <p:blipFill>
            <a:blip r:embed="rId3" cstate="print"/>
            <a:srcRect/>
            <a:stretch>
              <a:fillRect/>
            </a:stretch>
          </p:blipFill>
          <p:spPr bwMode="auto">
            <a:xfrm>
              <a:off x="7169980" y="2454390"/>
              <a:ext cx="259750" cy="187626"/>
            </a:xfrm>
            <a:prstGeom prst="rect">
              <a:avLst/>
            </a:prstGeom>
            <a:noFill/>
            <a:effectLst/>
          </p:spPr>
        </p:pic>
        <p:cxnSp>
          <p:nvCxnSpPr>
            <p:cNvPr id="107" name="直接连接符 106"/>
            <p:cNvCxnSpPr/>
            <p:nvPr/>
          </p:nvCxnSpPr>
          <p:spPr bwMode="auto">
            <a:xfrm flipV="1">
              <a:off x="7292644" y="2344420"/>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9" name="云形 108"/>
            <p:cNvSpPr/>
            <p:nvPr/>
          </p:nvSpPr>
          <p:spPr bwMode="auto">
            <a:xfrm>
              <a:off x="3212281" y="810446"/>
              <a:ext cx="2136171" cy="324804"/>
            </a:xfrm>
            <a:prstGeom prst="cloud">
              <a:avLst/>
            </a:prstGeom>
            <a:solidFill>
              <a:schemeClr val="bg1">
                <a:alpha val="70000"/>
              </a:schemeClr>
            </a:solidFill>
            <a:ln w="9525" cap="flat" cmpd="sng" algn="ctr">
              <a:noFill/>
              <a:prstDash val="solid"/>
            </a:ln>
            <a:effectLst>
              <a:glow rad="139700">
                <a:srgbClr val="0070C0">
                  <a:alpha val="40000"/>
                </a:srgbClr>
              </a:glow>
              <a:outerShdw blurRad="40000" dist="23000" dir="5400000" rotWithShape="0">
                <a:schemeClr val="bg2">
                  <a:alpha val="35000"/>
                </a:schemeClr>
              </a:outerShdw>
            </a:effectLst>
            <a:scene3d>
              <a:camera prst="orthographicFront"/>
              <a:lightRig rig="threePt" dir="t"/>
            </a:scene3d>
            <a:sp3d extrusionH="76200">
              <a:extrusionClr>
                <a:schemeClr val="bg2"/>
              </a:extrusionClr>
            </a:sp3d>
          </p:spPr>
          <p:txBody>
            <a:bodyPr rtlCol="0" anchor="ctr"/>
            <a:lstStyle/>
            <a:p>
              <a:pPr algn="ctr"/>
              <a:r>
                <a:rPr lang="en-US" altLang="zh-CN" sz="1600" b="1" dirty="0">
                  <a:solidFill>
                    <a:srgbClr val="000000"/>
                  </a:solidFill>
                  <a:latin typeface="微软雅黑" panose="020B0503020204020204" pitchFamily="34" charset="-122"/>
                  <a:ea typeface="微软雅黑" panose="020B0503020204020204" pitchFamily="34" charset="-122"/>
                </a:rPr>
                <a:t>Internet</a:t>
              </a:r>
              <a:endParaRPr lang="zh-CN" altLang="en-US" sz="1600" b="1" dirty="0">
                <a:solidFill>
                  <a:srgbClr val="000000"/>
                </a:solidFill>
                <a:latin typeface="微软雅黑" panose="020B0503020204020204" pitchFamily="34" charset="-122"/>
                <a:ea typeface="微软雅黑" panose="020B0503020204020204" pitchFamily="34" charset="-122"/>
              </a:endParaRPr>
            </a:p>
          </p:txBody>
        </p:sp>
        <p:cxnSp>
          <p:nvCxnSpPr>
            <p:cNvPr id="110" name="直接连接符 351"/>
            <p:cNvCxnSpPr>
              <a:cxnSpLocks noChangeShapeType="1"/>
              <a:endCxn id="114" idx="0"/>
            </p:cNvCxnSpPr>
            <p:nvPr/>
          </p:nvCxnSpPr>
          <p:spPr bwMode="auto">
            <a:xfrm>
              <a:off x="4590854" y="1376679"/>
              <a:ext cx="520574" cy="164188"/>
            </a:xfrm>
            <a:prstGeom prst="line">
              <a:avLst/>
            </a:prstGeom>
            <a:noFill/>
            <a:ln w="6350" algn="ctr">
              <a:solidFill>
                <a:srgbClr val="808080"/>
              </a:solidFill>
              <a:round/>
            </a:ln>
          </p:spPr>
        </p:cxnSp>
        <p:cxnSp>
          <p:nvCxnSpPr>
            <p:cNvPr id="111" name="直接连接符 352"/>
            <p:cNvCxnSpPr>
              <a:cxnSpLocks noChangeShapeType="1"/>
              <a:endCxn id="114" idx="0"/>
            </p:cNvCxnSpPr>
            <p:nvPr/>
          </p:nvCxnSpPr>
          <p:spPr bwMode="auto">
            <a:xfrm>
              <a:off x="3944299" y="1401513"/>
              <a:ext cx="1167129" cy="139354"/>
            </a:xfrm>
            <a:prstGeom prst="line">
              <a:avLst/>
            </a:prstGeom>
            <a:noFill/>
            <a:ln w="6350" algn="ctr">
              <a:solidFill>
                <a:srgbClr val="808080"/>
              </a:solidFill>
              <a:round/>
            </a:ln>
          </p:spPr>
        </p:cxnSp>
        <p:grpSp>
          <p:nvGrpSpPr>
            <p:cNvPr id="112" name="Group 15"/>
            <p:cNvGrpSpPr/>
            <p:nvPr/>
          </p:nvGrpSpPr>
          <p:grpSpPr bwMode="auto">
            <a:xfrm>
              <a:off x="3912133" y="1375609"/>
              <a:ext cx="79451" cy="55741"/>
              <a:chOff x="3531" y="238"/>
              <a:chExt cx="489" cy="489"/>
            </a:xfrm>
          </p:grpSpPr>
          <p:sp>
            <p:nvSpPr>
              <p:cNvPr id="227" name="Freeform 16"/>
              <p:cNvSpPr/>
              <p:nvPr/>
            </p:nvSpPr>
            <p:spPr bwMode="auto">
              <a:xfrm>
                <a:off x="3531" y="238"/>
                <a:ext cx="489" cy="489"/>
              </a:xfrm>
              <a:custGeom>
                <a:avLst/>
                <a:gdLst/>
                <a:ahLst/>
                <a:cxnLst>
                  <a:cxn ang="0">
                    <a:pos x="1616" y="2928"/>
                  </a:cxn>
                  <a:cxn ang="0">
                    <a:pos x="1832" y="2889"/>
                  </a:cxn>
                  <a:cxn ang="0">
                    <a:pos x="2036" y="2820"/>
                  </a:cxn>
                  <a:cxn ang="0">
                    <a:pos x="2225" y="2722"/>
                  </a:cxn>
                  <a:cxn ang="0">
                    <a:pos x="2397" y="2599"/>
                  </a:cxn>
                  <a:cxn ang="0">
                    <a:pos x="2551" y="2454"/>
                  </a:cxn>
                  <a:cxn ang="0">
                    <a:pos x="2681" y="2287"/>
                  </a:cxn>
                  <a:cxn ang="0">
                    <a:pos x="2787" y="2103"/>
                  </a:cxn>
                  <a:cxn ang="0">
                    <a:pos x="2866" y="1903"/>
                  </a:cxn>
                  <a:cxn ang="0">
                    <a:pos x="2916" y="1690"/>
                  </a:cxn>
                  <a:cxn ang="0">
                    <a:pos x="2932" y="1467"/>
                  </a:cxn>
                  <a:cxn ang="0">
                    <a:pos x="2916" y="1244"/>
                  </a:cxn>
                  <a:cxn ang="0">
                    <a:pos x="2866" y="1032"/>
                  </a:cxn>
                  <a:cxn ang="0">
                    <a:pos x="2787" y="832"/>
                  </a:cxn>
                  <a:cxn ang="0">
                    <a:pos x="2681" y="648"/>
                  </a:cxn>
                  <a:cxn ang="0">
                    <a:pos x="2551" y="482"/>
                  </a:cxn>
                  <a:cxn ang="0">
                    <a:pos x="2397" y="335"/>
                  </a:cxn>
                  <a:cxn ang="0">
                    <a:pos x="2225" y="213"/>
                  </a:cxn>
                  <a:cxn ang="0">
                    <a:pos x="2036" y="116"/>
                  </a:cxn>
                  <a:cxn ang="0">
                    <a:pos x="1832" y="47"/>
                  </a:cxn>
                  <a:cxn ang="0">
                    <a:pos x="1616" y="8"/>
                  </a:cxn>
                  <a:cxn ang="0">
                    <a:pos x="1391" y="2"/>
                  </a:cxn>
                  <a:cxn ang="0">
                    <a:pos x="1171" y="30"/>
                  </a:cxn>
                  <a:cxn ang="0">
                    <a:pos x="963" y="89"/>
                  </a:cxn>
                  <a:cxn ang="0">
                    <a:pos x="768" y="178"/>
                  </a:cxn>
                  <a:cxn ang="0">
                    <a:pos x="590" y="292"/>
                  </a:cxn>
                  <a:cxn ang="0">
                    <a:pos x="430" y="430"/>
                  </a:cxn>
                  <a:cxn ang="0">
                    <a:pos x="292" y="590"/>
                  </a:cxn>
                  <a:cxn ang="0">
                    <a:pos x="177" y="769"/>
                  </a:cxn>
                  <a:cxn ang="0">
                    <a:pos x="89" y="964"/>
                  </a:cxn>
                  <a:cxn ang="0">
                    <a:pos x="30" y="1173"/>
                  </a:cxn>
                  <a:cxn ang="0">
                    <a:pos x="2" y="1392"/>
                  </a:cxn>
                  <a:cxn ang="0">
                    <a:pos x="8" y="1618"/>
                  </a:cxn>
                  <a:cxn ang="0">
                    <a:pos x="46" y="1834"/>
                  </a:cxn>
                  <a:cxn ang="0">
                    <a:pos x="116" y="2038"/>
                  </a:cxn>
                  <a:cxn ang="0">
                    <a:pos x="213" y="2227"/>
                  </a:cxn>
                  <a:cxn ang="0">
                    <a:pos x="335" y="2400"/>
                  </a:cxn>
                  <a:cxn ang="0">
                    <a:pos x="480" y="2553"/>
                  </a:cxn>
                  <a:cxn ang="0">
                    <a:pos x="647" y="2684"/>
                  </a:cxn>
                  <a:cxn ang="0">
                    <a:pos x="831" y="2789"/>
                  </a:cxn>
                  <a:cxn ang="0">
                    <a:pos x="1031" y="2869"/>
                  </a:cxn>
                  <a:cxn ang="0">
                    <a:pos x="1243" y="2919"/>
                  </a:cxn>
                  <a:cxn ang="0">
                    <a:pos x="1466" y="2935"/>
                  </a:cxn>
                </a:cxnLst>
                <a:rect l="0" t="0" r="r" b="b"/>
                <a:pathLst>
                  <a:path w="2932" h="2935">
                    <a:moveTo>
                      <a:pt x="1466" y="2935"/>
                    </a:moveTo>
                    <a:lnTo>
                      <a:pt x="1541" y="2933"/>
                    </a:lnTo>
                    <a:lnTo>
                      <a:pt x="1616" y="2928"/>
                    </a:lnTo>
                    <a:lnTo>
                      <a:pt x="1689" y="2919"/>
                    </a:lnTo>
                    <a:lnTo>
                      <a:pt x="1760" y="2906"/>
                    </a:lnTo>
                    <a:lnTo>
                      <a:pt x="1832" y="2889"/>
                    </a:lnTo>
                    <a:lnTo>
                      <a:pt x="1901" y="2869"/>
                    </a:lnTo>
                    <a:lnTo>
                      <a:pt x="1969" y="2846"/>
                    </a:lnTo>
                    <a:lnTo>
                      <a:pt x="2036" y="2820"/>
                    </a:lnTo>
                    <a:lnTo>
                      <a:pt x="2100" y="2789"/>
                    </a:lnTo>
                    <a:lnTo>
                      <a:pt x="2164" y="2758"/>
                    </a:lnTo>
                    <a:lnTo>
                      <a:pt x="2225" y="2722"/>
                    </a:lnTo>
                    <a:lnTo>
                      <a:pt x="2285" y="2684"/>
                    </a:lnTo>
                    <a:lnTo>
                      <a:pt x="2342" y="2643"/>
                    </a:lnTo>
                    <a:lnTo>
                      <a:pt x="2397" y="2599"/>
                    </a:lnTo>
                    <a:lnTo>
                      <a:pt x="2451" y="2553"/>
                    </a:lnTo>
                    <a:lnTo>
                      <a:pt x="2502" y="2504"/>
                    </a:lnTo>
                    <a:lnTo>
                      <a:pt x="2551" y="2454"/>
                    </a:lnTo>
                    <a:lnTo>
                      <a:pt x="2597" y="2400"/>
                    </a:lnTo>
                    <a:lnTo>
                      <a:pt x="2640" y="2344"/>
                    </a:lnTo>
                    <a:lnTo>
                      <a:pt x="2681" y="2287"/>
                    </a:lnTo>
                    <a:lnTo>
                      <a:pt x="2720" y="2227"/>
                    </a:lnTo>
                    <a:lnTo>
                      <a:pt x="2755" y="2166"/>
                    </a:lnTo>
                    <a:lnTo>
                      <a:pt x="2787" y="2103"/>
                    </a:lnTo>
                    <a:lnTo>
                      <a:pt x="2817" y="2038"/>
                    </a:lnTo>
                    <a:lnTo>
                      <a:pt x="2843" y="1971"/>
                    </a:lnTo>
                    <a:lnTo>
                      <a:pt x="2866" y="1903"/>
                    </a:lnTo>
                    <a:lnTo>
                      <a:pt x="2886" y="1834"/>
                    </a:lnTo>
                    <a:lnTo>
                      <a:pt x="2903" y="1763"/>
                    </a:lnTo>
                    <a:lnTo>
                      <a:pt x="2916" y="1690"/>
                    </a:lnTo>
                    <a:lnTo>
                      <a:pt x="2925" y="1618"/>
                    </a:lnTo>
                    <a:lnTo>
                      <a:pt x="2930" y="1542"/>
                    </a:lnTo>
                    <a:lnTo>
                      <a:pt x="2932" y="1467"/>
                    </a:lnTo>
                    <a:lnTo>
                      <a:pt x="2930" y="1392"/>
                    </a:lnTo>
                    <a:lnTo>
                      <a:pt x="2925" y="1318"/>
                    </a:lnTo>
                    <a:lnTo>
                      <a:pt x="2916" y="1244"/>
                    </a:lnTo>
                    <a:lnTo>
                      <a:pt x="2903" y="1173"/>
                    </a:lnTo>
                    <a:lnTo>
                      <a:pt x="2886" y="1101"/>
                    </a:lnTo>
                    <a:lnTo>
                      <a:pt x="2866" y="1032"/>
                    </a:lnTo>
                    <a:lnTo>
                      <a:pt x="2843" y="964"/>
                    </a:lnTo>
                    <a:lnTo>
                      <a:pt x="2817" y="897"/>
                    </a:lnTo>
                    <a:lnTo>
                      <a:pt x="2787" y="832"/>
                    </a:lnTo>
                    <a:lnTo>
                      <a:pt x="2755" y="769"/>
                    </a:lnTo>
                    <a:lnTo>
                      <a:pt x="2720" y="708"/>
                    </a:lnTo>
                    <a:lnTo>
                      <a:pt x="2681" y="648"/>
                    </a:lnTo>
                    <a:lnTo>
                      <a:pt x="2640" y="590"/>
                    </a:lnTo>
                    <a:lnTo>
                      <a:pt x="2597" y="535"/>
                    </a:lnTo>
                    <a:lnTo>
                      <a:pt x="2551" y="482"/>
                    </a:lnTo>
                    <a:lnTo>
                      <a:pt x="2502" y="430"/>
                    </a:lnTo>
                    <a:lnTo>
                      <a:pt x="2451" y="382"/>
                    </a:lnTo>
                    <a:lnTo>
                      <a:pt x="2397" y="335"/>
                    </a:lnTo>
                    <a:lnTo>
                      <a:pt x="2342" y="292"/>
                    </a:lnTo>
                    <a:lnTo>
                      <a:pt x="2285" y="251"/>
                    </a:lnTo>
                    <a:lnTo>
                      <a:pt x="2225" y="213"/>
                    </a:lnTo>
                    <a:lnTo>
                      <a:pt x="2164" y="178"/>
                    </a:lnTo>
                    <a:lnTo>
                      <a:pt x="2100" y="145"/>
                    </a:lnTo>
                    <a:lnTo>
                      <a:pt x="2036" y="116"/>
                    </a:lnTo>
                    <a:lnTo>
                      <a:pt x="1969" y="89"/>
                    </a:lnTo>
                    <a:lnTo>
                      <a:pt x="1901" y="66"/>
                    </a:lnTo>
                    <a:lnTo>
                      <a:pt x="1832" y="47"/>
                    </a:lnTo>
                    <a:lnTo>
                      <a:pt x="1760" y="30"/>
                    </a:lnTo>
                    <a:lnTo>
                      <a:pt x="1689" y="17"/>
                    </a:lnTo>
                    <a:lnTo>
                      <a:pt x="1616" y="8"/>
                    </a:lnTo>
                    <a:lnTo>
                      <a:pt x="1541" y="2"/>
                    </a:lnTo>
                    <a:lnTo>
                      <a:pt x="1466" y="0"/>
                    </a:lnTo>
                    <a:lnTo>
                      <a:pt x="1391" y="2"/>
                    </a:lnTo>
                    <a:lnTo>
                      <a:pt x="1317" y="8"/>
                    </a:lnTo>
                    <a:lnTo>
                      <a:pt x="1243" y="17"/>
                    </a:lnTo>
                    <a:lnTo>
                      <a:pt x="1171" y="30"/>
                    </a:lnTo>
                    <a:lnTo>
                      <a:pt x="1100" y="47"/>
                    </a:lnTo>
                    <a:lnTo>
                      <a:pt x="1031" y="66"/>
                    </a:lnTo>
                    <a:lnTo>
                      <a:pt x="963" y="89"/>
                    </a:lnTo>
                    <a:lnTo>
                      <a:pt x="896" y="116"/>
                    </a:lnTo>
                    <a:lnTo>
                      <a:pt x="831" y="145"/>
                    </a:lnTo>
                    <a:lnTo>
                      <a:pt x="768" y="178"/>
                    </a:lnTo>
                    <a:lnTo>
                      <a:pt x="707" y="213"/>
                    </a:lnTo>
                    <a:lnTo>
                      <a:pt x="647" y="251"/>
                    </a:lnTo>
                    <a:lnTo>
                      <a:pt x="590" y="292"/>
                    </a:lnTo>
                    <a:lnTo>
                      <a:pt x="534" y="335"/>
                    </a:lnTo>
                    <a:lnTo>
                      <a:pt x="480" y="382"/>
                    </a:lnTo>
                    <a:lnTo>
                      <a:pt x="430" y="430"/>
                    </a:lnTo>
                    <a:lnTo>
                      <a:pt x="382" y="482"/>
                    </a:lnTo>
                    <a:lnTo>
                      <a:pt x="335" y="535"/>
                    </a:lnTo>
                    <a:lnTo>
                      <a:pt x="292" y="590"/>
                    </a:lnTo>
                    <a:lnTo>
                      <a:pt x="251" y="648"/>
                    </a:lnTo>
                    <a:lnTo>
                      <a:pt x="213" y="708"/>
                    </a:lnTo>
                    <a:lnTo>
                      <a:pt x="177" y="769"/>
                    </a:lnTo>
                    <a:lnTo>
                      <a:pt x="145" y="832"/>
                    </a:lnTo>
                    <a:lnTo>
                      <a:pt x="116" y="897"/>
                    </a:lnTo>
                    <a:lnTo>
                      <a:pt x="89" y="964"/>
                    </a:lnTo>
                    <a:lnTo>
                      <a:pt x="66" y="1032"/>
                    </a:lnTo>
                    <a:lnTo>
                      <a:pt x="46" y="1101"/>
                    </a:lnTo>
                    <a:lnTo>
                      <a:pt x="30" y="1173"/>
                    </a:lnTo>
                    <a:lnTo>
                      <a:pt x="17" y="1244"/>
                    </a:lnTo>
                    <a:lnTo>
                      <a:pt x="8" y="1318"/>
                    </a:lnTo>
                    <a:lnTo>
                      <a:pt x="2" y="1392"/>
                    </a:lnTo>
                    <a:lnTo>
                      <a:pt x="0" y="1467"/>
                    </a:lnTo>
                    <a:lnTo>
                      <a:pt x="2" y="1542"/>
                    </a:lnTo>
                    <a:lnTo>
                      <a:pt x="8" y="1618"/>
                    </a:lnTo>
                    <a:lnTo>
                      <a:pt x="17" y="1690"/>
                    </a:lnTo>
                    <a:lnTo>
                      <a:pt x="30" y="1763"/>
                    </a:lnTo>
                    <a:lnTo>
                      <a:pt x="46" y="1834"/>
                    </a:lnTo>
                    <a:lnTo>
                      <a:pt x="66" y="1903"/>
                    </a:lnTo>
                    <a:lnTo>
                      <a:pt x="89" y="1971"/>
                    </a:lnTo>
                    <a:lnTo>
                      <a:pt x="116" y="2038"/>
                    </a:lnTo>
                    <a:lnTo>
                      <a:pt x="145" y="2103"/>
                    </a:lnTo>
                    <a:lnTo>
                      <a:pt x="177" y="2166"/>
                    </a:lnTo>
                    <a:lnTo>
                      <a:pt x="213" y="2227"/>
                    </a:lnTo>
                    <a:lnTo>
                      <a:pt x="251" y="2287"/>
                    </a:lnTo>
                    <a:lnTo>
                      <a:pt x="292" y="2344"/>
                    </a:lnTo>
                    <a:lnTo>
                      <a:pt x="335" y="2400"/>
                    </a:lnTo>
                    <a:lnTo>
                      <a:pt x="382" y="2454"/>
                    </a:lnTo>
                    <a:lnTo>
                      <a:pt x="430" y="2504"/>
                    </a:lnTo>
                    <a:lnTo>
                      <a:pt x="480" y="2553"/>
                    </a:lnTo>
                    <a:lnTo>
                      <a:pt x="534" y="2599"/>
                    </a:lnTo>
                    <a:lnTo>
                      <a:pt x="590" y="2643"/>
                    </a:lnTo>
                    <a:lnTo>
                      <a:pt x="647" y="2684"/>
                    </a:lnTo>
                    <a:lnTo>
                      <a:pt x="707" y="2722"/>
                    </a:lnTo>
                    <a:lnTo>
                      <a:pt x="768" y="2758"/>
                    </a:lnTo>
                    <a:lnTo>
                      <a:pt x="831" y="2789"/>
                    </a:lnTo>
                    <a:lnTo>
                      <a:pt x="896" y="2820"/>
                    </a:lnTo>
                    <a:lnTo>
                      <a:pt x="963" y="2846"/>
                    </a:lnTo>
                    <a:lnTo>
                      <a:pt x="1031" y="2869"/>
                    </a:lnTo>
                    <a:lnTo>
                      <a:pt x="1100" y="2889"/>
                    </a:lnTo>
                    <a:lnTo>
                      <a:pt x="1171" y="2906"/>
                    </a:lnTo>
                    <a:lnTo>
                      <a:pt x="1243" y="2919"/>
                    </a:lnTo>
                    <a:lnTo>
                      <a:pt x="1317" y="2928"/>
                    </a:lnTo>
                    <a:lnTo>
                      <a:pt x="1391" y="2933"/>
                    </a:lnTo>
                    <a:lnTo>
                      <a:pt x="1466" y="2935"/>
                    </a:lnTo>
                    <a:close/>
                  </a:path>
                </a:pathLst>
              </a:custGeom>
              <a:solidFill>
                <a:srgbClr val="A27A3F"/>
              </a:solidFill>
              <a:ln w="9525">
                <a:noFill/>
                <a:round/>
              </a:ln>
            </p:spPr>
            <p:txBody>
              <a:bodyPr/>
              <a:lstStyle/>
              <a:p>
                <a:pPr defTabSz="685165">
                  <a:defRPr/>
                </a:pPr>
                <a:endParaRPr lang="zh-CN" altLang="en-US" sz="1300" kern="0" dirty="0">
                  <a:solidFill>
                    <a:sysClr val="windowText" lastClr="000000"/>
                  </a:solidFill>
                  <a:latin typeface="微软雅黑" panose="020B0503020204020204" pitchFamily="34" charset="-122"/>
                  <a:ea typeface="微软雅黑" panose="020B0503020204020204" pitchFamily="34" charset="-122"/>
                </a:endParaRPr>
              </a:p>
            </p:txBody>
          </p:sp>
          <p:sp>
            <p:nvSpPr>
              <p:cNvPr id="228" name="Freeform 17"/>
              <p:cNvSpPr/>
              <p:nvPr/>
            </p:nvSpPr>
            <p:spPr bwMode="auto">
              <a:xfrm>
                <a:off x="3578" y="270"/>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1"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1"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ysClr val="windowText" lastClr="000000"/>
                  </a:solidFill>
                  <a:latin typeface="微软雅黑" panose="020B0503020204020204" pitchFamily="34" charset="-122"/>
                  <a:ea typeface="微软雅黑" panose="020B0503020204020204" pitchFamily="34" charset="-122"/>
                </a:endParaRPr>
              </a:p>
            </p:txBody>
          </p:sp>
          <p:sp>
            <p:nvSpPr>
              <p:cNvPr id="229" name="Freeform 18"/>
              <p:cNvSpPr/>
              <p:nvPr/>
            </p:nvSpPr>
            <p:spPr bwMode="auto">
              <a:xfrm>
                <a:off x="3733" y="355"/>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2"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2"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13" name="Group 15"/>
            <p:cNvGrpSpPr/>
            <p:nvPr/>
          </p:nvGrpSpPr>
          <p:grpSpPr bwMode="auto">
            <a:xfrm>
              <a:off x="4521476" y="1343777"/>
              <a:ext cx="79451" cy="55741"/>
              <a:chOff x="3531" y="238"/>
              <a:chExt cx="489" cy="489"/>
            </a:xfrm>
          </p:grpSpPr>
          <p:sp>
            <p:nvSpPr>
              <p:cNvPr id="224" name="Freeform 16"/>
              <p:cNvSpPr/>
              <p:nvPr/>
            </p:nvSpPr>
            <p:spPr bwMode="auto">
              <a:xfrm>
                <a:off x="3531" y="238"/>
                <a:ext cx="489" cy="489"/>
              </a:xfrm>
              <a:custGeom>
                <a:avLst/>
                <a:gdLst/>
                <a:ahLst/>
                <a:cxnLst>
                  <a:cxn ang="0">
                    <a:pos x="1616" y="2928"/>
                  </a:cxn>
                  <a:cxn ang="0">
                    <a:pos x="1832" y="2889"/>
                  </a:cxn>
                  <a:cxn ang="0">
                    <a:pos x="2036" y="2820"/>
                  </a:cxn>
                  <a:cxn ang="0">
                    <a:pos x="2225" y="2722"/>
                  </a:cxn>
                  <a:cxn ang="0">
                    <a:pos x="2397" y="2599"/>
                  </a:cxn>
                  <a:cxn ang="0">
                    <a:pos x="2551" y="2454"/>
                  </a:cxn>
                  <a:cxn ang="0">
                    <a:pos x="2681" y="2287"/>
                  </a:cxn>
                  <a:cxn ang="0">
                    <a:pos x="2787" y="2103"/>
                  </a:cxn>
                  <a:cxn ang="0">
                    <a:pos x="2866" y="1903"/>
                  </a:cxn>
                  <a:cxn ang="0">
                    <a:pos x="2916" y="1690"/>
                  </a:cxn>
                  <a:cxn ang="0">
                    <a:pos x="2932" y="1467"/>
                  </a:cxn>
                  <a:cxn ang="0">
                    <a:pos x="2916" y="1244"/>
                  </a:cxn>
                  <a:cxn ang="0">
                    <a:pos x="2866" y="1032"/>
                  </a:cxn>
                  <a:cxn ang="0">
                    <a:pos x="2787" y="832"/>
                  </a:cxn>
                  <a:cxn ang="0">
                    <a:pos x="2681" y="648"/>
                  </a:cxn>
                  <a:cxn ang="0">
                    <a:pos x="2551" y="482"/>
                  </a:cxn>
                  <a:cxn ang="0">
                    <a:pos x="2397" y="335"/>
                  </a:cxn>
                  <a:cxn ang="0">
                    <a:pos x="2225" y="213"/>
                  </a:cxn>
                  <a:cxn ang="0">
                    <a:pos x="2036" y="116"/>
                  </a:cxn>
                  <a:cxn ang="0">
                    <a:pos x="1832" y="47"/>
                  </a:cxn>
                  <a:cxn ang="0">
                    <a:pos x="1616" y="8"/>
                  </a:cxn>
                  <a:cxn ang="0">
                    <a:pos x="1391" y="2"/>
                  </a:cxn>
                  <a:cxn ang="0">
                    <a:pos x="1171" y="30"/>
                  </a:cxn>
                  <a:cxn ang="0">
                    <a:pos x="963" y="89"/>
                  </a:cxn>
                  <a:cxn ang="0">
                    <a:pos x="768" y="178"/>
                  </a:cxn>
                  <a:cxn ang="0">
                    <a:pos x="590" y="292"/>
                  </a:cxn>
                  <a:cxn ang="0">
                    <a:pos x="430" y="430"/>
                  </a:cxn>
                  <a:cxn ang="0">
                    <a:pos x="292" y="590"/>
                  </a:cxn>
                  <a:cxn ang="0">
                    <a:pos x="177" y="769"/>
                  </a:cxn>
                  <a:cxn ang="0">
                    <a:pos x="89" y="964"/>
                  </a:cxn>
                  <a:cxn ang="0">
                    <a:pos x="30" y="1173"/>
                  </a:cxn>
                  <a:cxn ang="0">
                    <a:pos x="2" y="1392"/>
                  </a:cxn>
                  <a:cxn ang="0">
                    <a:pos x="8" y="1618"/>
                  </a:cxn>
                  <a:cxn ang="0">
                    <a:pos x="46" y="1834"/>
                  </a:cxn>
                  <a:cxn ang="0">
                    <a:pos x="116" y="2038"/>
                  </a:cxn>
                  <a:cxn ang="0">
                    <a:pos x="213" y="2227"/>
                  </a:cxn>
                  <a:cxn ang="0">
                    <a:pos x="335" y="2400"/>
                  </a:cxn>
                  <a:cxn ang="0">
                    <a:pos x="480" y="2553"/>
                  </a:cxn>
                  <a:cxn ang="0">
                    <a:pos x="647" y="2684"/>
                  </a:cxn>
                  <a:cxn ang="0">
                    <a:pos x="831" y="2789"/>
                  </a:cxn>
                  <a:cxn ang="0">
                    <a:pos x="1031" y="2869"/>
                  </a:cxn>
                  <a:cxn ang="0">
                    <a:pos x="1243" y="2919"/>
                  </a:cxn>
                  <a:cxn ang="0">
                    <a:pos x="1466" y="2935"/>
                  </a:cxn>
                </a:cxnLst>
                <a:rect l="0" t="0" r="r" b="b"/>
                <a:pathLst>
                  <a:path w="2932" h="2935">
                    <a:moveTo>
                      <a:pt x="1466" y="2935"/>
                    </a:moveTo>
                    <a:lnTo>
                      <a:pt x="1541" y="2933"/>
                    </a:lnTo>
                    <a:lnTo>
                      <a:pt x="1616" y="2928"/>
                    </a:lnTo>
                    <a:lnTo>
                      <a:pt x="1689" y="2919"/>
                    </a:lnTo>
                    <a:lnTo>
                      <a:pt x="1760" y="2906"/>
                    </a:lnTo>
                    <a:lnTo>
                      <a:pt x="1832" y="2889"/>
                    </a:lnTo>
                    <a:lnTo>
                      <a:pt x="1901" y="2869"/>
                    </a:lnTo>
                    <a:lnTo>
                      <a:pt x="1969" y="2846"/>
                    </a:lnTo>
                    <a:lnTo>
                      <a:pt x="2036" y="2820"/>
                    </a:lnTo>
                    <a:lnTo>
                      <a:pt x="2100" y="2789"/>
                    </a:lnTo>
                    <a:lnTo>
                      <a:pt x="2164" y="2758"/>
                    </a:lnTo>
                    <a:lnTo>
                      <a:pt x="2225" y="2722"/>
                    </a:lnTo>
                    <a:lnTo>
                      <a:pt x="2285" y="2684"/>
                    </a:lnTo>
                    <a:lnTo>
                      <a:pt x="2342" y="2643"/>
                    </a:lnTo>
                    <a:lnTo>
                      <a:pt x="2397" y="2599"/>
                    </a:lnTo>
                    <a:lnTo>
                      <a:pt x="2451" y="2553"/>
                    </a:lnTo>
                    <a:lnTo>
                      <a:pt x="2502" y="2504"/>
                    </a:lnTo>
                    <a:lnTo>
                      <a:pt x="2551" y="2454"/>
                    </a:lnTo>
                    <a:lnTo>
                      <a:pt x="2597" y="2400"/>
                    </a:lnTo>
                    <a:lnTo>
                      <a:pt x="2640" y="2344"/>
                    </a:lnTo>
                    <a:lnTo>
                      <a:pt x="2681" y="2287"/>
                    </a:lnTo>
                    <a:lnTo>
                      <a:pt x="2720" y="2227"/>
                    </a:lnTo>
                    <a:lnTo>
                      <a:pt x="2755" y="2166"/>
                    </a:lnTo>
                    <a:lnTo>
                      <a:pt x="2787" y="2103"/>
                    </a:lnTo>
                    <a:lnTo>
                      <a:pt x="2817" y="2038"/>
                    </a:lnTo>
                    <a:lnTo>
                      <a:pt x="2843" y="1971"/>
                    </a:lnTo>
                    <a:lnTo>
                      <a:pt x="2866" y="1903"/>
                    </a:lnTo>
                    <a:lnTo>
                      <a:pt x="2886" y="1834"/>
                    </a:lnTo>
                    <a:lnTo>
                      <a:pt x="2903" y="1763"/>
                    </a:lnTo>
                    <a:lnTo>
                      <a:pt x="2916" y="1690"/>
                    </a:lnTo>
                    <a:lnTo>
                      <a:pt x="2925" y="1618"/>
                    </a:lnTo>
                    <a:lnTo>
                      <a:pt x="2930" y="1542"/>
                    </a:lnTo>
                    <a:lnTo>
                      <a:pt x="2932" y="1467"/>
                    </a:lnTo>
                    <a:lnTo>
                      <a:pt x="2930" y="1392"/>
                    </a:lnTo>
                    <a:lnTo>
                      <a:pt x="2925" y="1318"/>
                    </a:lnTo>
                    <a:lnTo>
                      <a:pt x="2916" y="1244"/>
                    </a:lnTo>
                    <a:lnTo>
                      <a:pt x="2903" y="1173"/>
                    </a:lnTo>
                    <a:lnTo>
                      <a:pt x="2886" y="1101"/>
                    </a:lnTo>
                    <a:lnTo>
                      <a:pt x="2866" y="1032"/>
                    </a:lnTo>
                    <a:lnTo>
                      <a:pt x="2843" y="964"/>
                    </a:lnTo>
                    <a:lnTo>
                      <a:pt x="2817" y="897"/>
                    </a:lnTo>
                    <a:lnTo>
                      <a:pt x="2787" y="832"/>
                    </a:lnTo>
                    <a:lnTo>
                      <a:pt x="2755" y="769"/>
                    </a:lnTo>
                    <a:lnTo>
                      <a:pt x="2720" y="708"/>
                    </a:lnTo>
                    <a:lnTo>
                      <a:pt x="2681" y="648"/>
                    </a:lnTo>
                    <a:lnTo>
                      <a:pt x="2640" y="590"/>
                    </a:lnTo>
                    <a:lnTo>
                      <a:pt x="2597" y="535"/>
                    </a:lnTo>
                    <a:lnTo>
                      <a:pt x="2551" y="482"/>
                    </a:lnTo>
                    <a:lnTo>
                      <a:pt x="2502" y="430"/>
                    </a:lnTo>
                    <a:lnTo>
                      <a:pt x="2451" y="382"/>
                    </a:lnTo>
                    <a:lnTo>
                      <a:pt x="2397" y="335"/>
                    </a:lnTo>
                    <a:lnTo>
                      <a:pt x="2342" y="292"/>
                    </a:lnTo>
                    <a:lnTo>
                      <a:pt x="2285" y="251"/>
                    </a:lnTo>
                    <a:lnTo>
                      <a:pt x="2225" y="213"/>
                    </a:lnTo>
                    <a:lnTo>
                      <a:pt x="2164" y="178"/>
                    </a:lnTo>
                    <a:lnTo>
                      <a:pt x="2100" y="145"/>
                    </a:lnTo>
                    <a:lnTo>
                      <a:pt x="2036" y="116"/>
                    </a:lnTo>
                    <a:lnTo>
                      <a:pt x="1969" y="89"/>
                    </a:lnTo>
                    <a:lnTo>
                      <a:pt x="1901" y="66"/>
                    </a:lnTo>
                    <a:lnTo>
                      <a:pt x="1832" y="47"/>
                    </a:lnTo>
                    <a:lnTo>
                      <a:pt x="1760" y="30"/>
                    </a:lnTo>
                    <a:lnTo>
                      <a:pt x="1689" y="17"/>
                    </a:lnTo>
                    <a:lnTo>
                      <a:pt x="1616" y="8"/>
                    </a:lnTo>
                    <a:lnTo>
                      <a:pt x="1541" y="2"/>
                    </a:lnTo>
                    <a:lnTo>
                      <a:pt x="1466" y="0"/>
                    </a:lnTo>
                    <a:lnTo>
                      <a:pt x="1391" y="2"/>
                    </a:lnTo>
                    <a:lnTo>
                      <a:pt x="1317" y="8"/>
                    </a:lnTo>
                    <a:lnTo>
                      <a:pt x="1243" y="17"/>
                    </a:lnTo>
                    <a:lnTo>
                      <a:pt x="1171" y="30"/>
                    </a:lnTo>
                    <a:lnTo>
                      <a:pt x="1100" y="47"/>
                    </a:lnTo>
                    <a:lnTo>
                      <a:pt x="1031" y="66"/>
                    </a:lnTo>
                    <a:lnTo>
                      <a:pt x="963" y="89"/>
                    </a:lnTo>
                    <a:lnTo>
                      <a:pt x="896" y="116"/>
                    </a:lnTo>
                    <a:lnTo>
                      <a:pt x="831" y="145"/>
                    </a:lnTo>
                    <a:lnTo>
                      <a:pt x="768" y="178"/>
                    </a:lnTo>
                    <a:lnTo>
                      <a:pt x="707" y="213"/>
                    </a:lnTo>
                    <a:lnTo>
                      <a:pt x="647" y="251"/>
                    </a:lnTo>
                    <a:lnTo>
                      <a:pt x="590" y="292"/>
                    </a:lnTo>
                    <a:lnTo>
                      <a:pt x="534" y="335"/>
                    </a:lnTo>
                    <a:lnTo>
                      <a:pt x="480" y="382"/>
                    </a:lnTo>
                    <a:lnTo>
                      <a:pt x="430" y="430"/>
                    </a:lnTo>
                    <a:lnTo>
                      <a:pt x="382" y="482"/>
                    </a:lnTo>
                    <a:lnTo>
                      <a:pt x="335" y="535"/>
                    </a:lnTo>
                    <a:lnTo>
                      <a:pt x="292" y="590"/>
                    </a:lnTo>
                    <a:lnTo>
                      <a:pt x="251" y="648"/>
                    </a:lnTo>
                    <a:lnTo>
                      <a:pt x="213" y="708"/>
                    </a:lnTo>
                    <a:lnTo>
                      <a:pt x="177" y="769"/>
                    </a:lnTo>
                    <a:lnTo>
                      <a:pt x="145" y="832"/>
                    </a:lnTo>
                    <a:lnTo>
                      <a:pt x="116" y="897"/>
                    </a:lnTo>
                    <a:lnTo>
                      <a:pt x="89" y="964"/>
                    </a:lnTo>
                    <a:lnTo>
                      <a:pt x="66" y="1032"/>
                    </a:lnTo>
                    <a:lnTo>
                      <a:pt x="46" y="1101"/>
                    </a:lnTo>
                    <a:lnTo>
                      <a:pt x="30" y="1173"/>
                    </a:lnTo>
                    <a:lnTo>
                      <a:pt x="17" y="1244"/>
                    </a:lnTo>
                    <a:lnTo>
                      <a:pt x="8" y="1318"/>
                    </a:lnTo>
                    <a:lnTo>
                      <a:pt x="2" y="1392"/>
                    </a:lnTo>
                    <a:lnTo>
                      <a:pt x="0" y="1467"/>
                    </a:lnTo>
                    <a:lnTo>
                      <a:pt x="2" y="1542"/>
                    </a:lnTo>
                    <a:lnTo>
                      <a:pt x="8" y="1618"/>
                    </a:lnTo>
                    <a:lnTo>
                      <a:pt x="17" y="1690"/>
                    </a:lnTo>
                    <a:lnTo>
                      <a:pt x="30" y="1763"/>
                    </a:lnTo>
                    <a:lnTo>
                      <a:pt x="46" y="1834"/>
                    </a:lnTo>
                    <a:lnTo>
                      <a:pt x="66" y="1903"/>
                    </a:lnTo>
                    <a:lnTo>
                      <a:pt x="89" y="1971"/>
                    </a:lnTo>
                    <a:lnTo>
                      <a:pt x="116" y="2038"/>
                    </a:lnTo>
                    <a:lnTo>
                      <a:pt x="145" y="2103"/>
                    </a:lnTo>
                    <a:lnTo>
                      <a:pt x="177" y="2166"/>
                    </a:lnTo>
                    <a:lnTo>
                      <a:pt x="213" y="2227"/>
                    </a:lnTo>
                    <a:lnTo>
                      <a:pt x="251" y="2287"/>
                    </a:lnTo>
                    <a:lnTo>
                      <a:pt x="292" y="2344"/>
                    </a:lnTo>
                    <a:lnTo>
                      <a:pt x="335" y="2400"/>
                    </a:lnTo>
                    <a:lnTo>
                      <a:pt x="382" y="2454"/>
                    </a:lnTo>
                    <a:lnTo>
                      <a:pt x="430" y="2504"/>
                    </a:lnTo>
                    <a:lnTo>
                      <a:pt x="480" y="2553"/>
                    </a:lnTo>
                    <a:lnTo>
                      <a:pt x="534" y="2599"/>
                    </a:lnTo>
                    <a:lnTo>
                      <a:pt x="590" y="2643"/>
                    </a:lnTo>
                    <a:lnTo>
                      <a:pt x="647" y="2684"/>
                    </a:lnTo>
                    <a:lnTo>
                      <a:pt x="707" y="2722"/>
                    </a:lnTo>
                    <a:lnTo>
                      <a:pt x="768" y="2758"/>
                    </a:lnTo>
                    <a:lnTo>
                      <a:pt x="831" y="2789"/>
                    </a:lnTo>
                    <a:lnTo>
                      <a:pt x="896" y="2820"/>
                    </a:lnTo>
                    <a:lnTo>
                      <a:pt x="963" y="2846"/>
                    </a:lnTo>
                    <a:lnTo>
                      <a:pt x="1031" y="2869"/>
                    </a:lnTo>
                    <a:lnTo>
                      <a:pt x="1100" y="2889"/>
                    </a:lnTo>
                    <a:lnTo>
                      <a:pt x="1171" y="2906"/>
                    </a:lnTo>
                    <a:lnTo>
                      <a:pt x="1243" y="2919"/>
                    </a:lnTo>
                    <a:lnTo>
                      <a:pt x="1317" y="2928"/>
                    </a:lnTo>
                    <a:lnTo>
                      <a:pt x="1391" y="2933"/>
                    </a:lnTo>
                    <a:lnTo>
                      <a:pt x="1466" y="2935"/>
                    </a:lnTo>
                    <a:close/>
                  </a:path>
                </a:pathLst>
              </a:custGeom>
              <a:solidFill>
                <a:srgbClr val="A27A3F"/>
              </a:solidFill>
              <a:ln w="9525">
                <a:noFill/>
                <a:round/>
              </a:ln>
            </p:spPr>
            <p:txBody>
              <a:bodyPr/>
              <a:lstStyle/>
              <a:p>
                <a:pPr defTabSz="685165">
                  <a:defRPr/>
                </a:pPr>
                <a:endParaRPr lang="zh-CN" altLang="en-US" sz="1300" kern="0" dirty="0">
                  <a:solidFill>
                    <a:srgbClr val="FF0000"/>
                  </a:solidFill>
                  <a:latin typeface="微软雅黑" panose="020B0503020204020204" pitchFamily="34" charset="-122"/>
                  <a:ea typeface="微软雅黑" panose="020B0503020204020204" pitchFamily="34" charset="-122"/>
                </a:endParaRPr>
              </a:p>
            </p:txBody>
          </p:sp>
          <p:sp>
            <p:nvSpPr>
              <p:cNvPr id="225" name="Freeform 17"/>
              <p:cNvSpPr/>
              <p:nvPr/>
            </p:nvSpPr>
            <p:spPr bwMode="auto">
              <a:xfrm>
                <a:off x="3578" y="270"/>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1"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1"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rgbClr val="FF0000"/>
                  </a:solidFill>
                  <a:latin typeface="微软雅黑" panose="020B0503020204020204" pitchFamily="34" charset="-122"/>
                  <a:ea typeface="微软雅黑" panose="020B0503020204020204" pitchFamily="34" charset="-122"/>
                </a:endParaRPr>
              </a:p>
            </p:txBody>
          </p:sp>
          <p:sp>
            <p:nvSpPr>
              <p:cNvPr id="226" name="Freeform 18"/>
              <p:cNvSpPr/>
              <p:nvPr/>
            </p:nvSpPr>
            <p:spPr bwMode="auto">
              <a:xfrm>
                <a:off x="3733" y="355"/>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2"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2"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rgbClr val="FF0000"/>
                  </a:solidFill>
                  <a:latin typeface="微软雅黑" panose="020B0503020204020204" pitchFamily="34" charset="-122"/>
                  <a:ea typeface="微软雅黑" panose="020B0503020204020204" pitchFamily="34" charset="-122"/>
                </a:endParaRPr>
              </a:p>
            </p:txBody>
          </p:sp>
        </p:grpSp>
        <p:pic>
          <p:nvPicPr>
            <p:cNvPr id="114" name="Picture 7" descr="E:\1华赛设计夹\2010-8\朱冬晴\华赛新图标\华赛新图标 png\08 安全图标(三)\DDoS防御.png"/>
            <p:cNvPicPr>
              <a:picLocks noChangeAspect="1" noChangeArrowheads="1"/>
            </p:cNvPicPr>
            <p:nvPr/>
          </p:nvPicPr>
          <p:blipFill>
            <a:blip r:embed="rId4" cstate="print"/>
            <a:srcRect/>
            <a:stretch>
              <a:fillRect/>
            </a:stretch>
          </p:blipFill>
          <p:spPr bwMode="auto">
            <a:xfrm>
              <a:off x="5007482" y="1540867"/>
              <a:ext cx="207891" cy="149047"/>
            </a:xfrm>
            <a:prstGeom prst="rect">
              <a:avLst/>
            </a:prstGeom>
            <a:noFill/>
            <a:ln w="9525">
              <a:noFill/>
              <a:miter lim="800000"/>
              <a:headEnd/>
              <a:tailEnd/>
            </a:ln>
          </p:spPr>
        </p:pic>
        <p:cxnSp>
          <p:nvCxnSpPr>
            <p:cNvPr id="115" name="直接连接符 114"/>
            <p:cNvCxnSpPr/>
            <p:nvPr/>
          </p:nvCxnSpPr>
          <p:spPr bwMode="auto">
            <a:xfrm>
              <a:off x="4057208" y="1889735"/>
              <a:ext cx="383497" cy="0"/>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Box 637"/>
            <p:cNvSpPr txBox="1"/>
            <p:nvPr/>
          </p:nvSpPr>
          <p:spPr>
            <a:xfrm>
              <a:off x="5182065" y="1529874"/>
              <a:ext cx="882758" cy="135671"/>
            </a:xfrm>
            <a:prstGeom prst="rect">
              <a:avLst/>
            </a:prstGeom>
          </p:spPr>
          <p:txBody>
            <a:bodyPr lIns="91409" tIns="45705" rIns="91409" bIns="45705"/>
            <a:lstStyle/>
            <a:p>
              <a:pPr>
                <a:defRPr/>
              </a:pPr>
              <a:r>
                <a:rPr lang="en-US" altLang="zh-CN" sz="800" b="1" dirty="0">
                  <a:solidFill>
                    <a:srgbClr val="C00000"/>
                  </a:solidFill>
                  <a:latin typeface="微软雅黑" panose="020B0503020204020204" pitchFamily="34" charset="-122"/>
                  <a:ea typeface="微软雅黑" panose="020B0503020204020204" pitchFamily="34" charset="-122"/>
                </a:rPr>
                <a:t>DDoS</a:t>
              </a:r>
              <a:r>
                <a:rPr lang="zh-CN" altLang="en-US" sz="800" b="1" dirty="0">
                  <a:solidFill>
                    <a:srgbClr val="C00000"/>
                  </a:solidFill>
                  <a:latin typeface="微软雅黑" panose="020B0503020204020204" pitchFamily="34" charset="-122"/>
                  <a:ea typeface="微软雅黑" panose="020B0503020204020204" pitchFamily="34" charset="-122"/>
                </a:rPr>
                <a:t>防御</a:t>
              </a:r>
              <a:endParaRPr lang="en-US" altLang="zh-CN" sz="800" b="1" dirty="0">
                <a:solidFill>
                  <a:srgbClr val="C00000"/>
                </a:solidFill>
                <a:latin typeface="微软雅黑" panose="020B0503020204020204" pitchFamily="34" charset="-122"/>
                <a:ea typeface="微软雅黑" panose="020B0503020204020204" pitchFamily="34" charset="-122"/>
              </a:endParaRPr>
            </a:p>
          </p:txBody>
        </p:sp>
        <p:sp>
          <p:nvSpPr>
            <p:cNvPr id="117" name="TextBox 643"/>
            <p:cNvSpPr txBox="1"/>
            <p:nvPr/>
          </p:nvSpPr>
          <p:spPr>
            <a:xfrm>
              <a:off x="7959889" y="1348636"/>
              <a:ext cx="867271" cy="144855"/>
            </a:xfrm>
            <a:prstGeom prst="rect">
              <a:avLst/>
            </a:prstGeom>
          </p:spPr>
          <p:txBody>
            <a:bodyPr wrap="square" lIns="91409" tIns="45705" rIns="91409" bIns="45705">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运维审计系统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118" name="圆角矩形 156"/>
            <p:cNvSpPr/>
            <p:nvPr/>
          </p:nvSpPr>
          <p:spPr>
            <a:xfrm>
              <a:off x="694368" y="1531622"/>
              <a:ext cx="783547" cy="608692"/>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21" name="Picture 461" descr="图片240"/>
            <p:cNvPicPr>
              <a:picLocks noChangeAspect="1" noChangeArrowheads="1"/>
            </p:cNvPicPr>
            <p:nvPr/>
          </p:nvPicPr>
          <p:blipFill>
            <a:blip r:embed="rId3" cstate="print"/>
            <a:srcRect/>
            <a:stretch>
              <a:fillRect/>
            </a:stretch>
          </p:blipFill>
          <p:spPr bwMode="auto">
            <a:xfrm>
              <a:off x="1585998" y="2405936"/>
              <a:ext cx="259750" cy="187626"/>
            </a:xfrm>
            <a:prstGeom prst="rect">
              <a:avLst/>
            </a:prstGeom>
            <a:noFill/>
            <a:effectLst/>
          </p:spPr>
        </p:pic>
        <p:cxnSp>
          <p:nvCxnSpPr>
            <p:cNvPr id="122" name="直接连接符 121"/>
            <p:cNvCxnSpPr>
              <a:stCxn id="129" idx="1"/>
              <a:endCxn id="121" idx="3"/>
            </p:cNvCxnSpPr>
            <p:nvPr/>
          </p:nvCxnSpPr>
          <p:spPr bwMode="auto">
            <a:xfrm flipH="1" flipV="1">
              <a:off x="1845747" y="2499750"/>
              <a:ext cx="185431" cy="6957"/>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23" name="直接连接符 122"/>
            <p:cNvCxnSpPr>
              <a:stCxn id="128" idx="1"/>
              <a:endCxn id="124" idx="3"/>
            </p:cNvCxnSpPr>
            <p:nvPr/>
          </p:nvCxnSpPr>
          <p:spPr bwMode="auto">
            <a:xfrm flipH="1" flipV="1">
              <a:off x="1845747" y="2220421"/>
              <a:ext cx="185431" cy="11366"/>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24" name="Picture 461" descr="图片240"/>
            <p:cNvPicPr>
              <a:picLocks noChangeAspect="1" noChangeArrowheads="1"/>
            </p:cNvPicPr>
            <p:nvPr/>
          </p:nvPicPr>
          <p:blipFill>
            <a:blip r:embed="rId3" cstate="print"/>
            <a:srcRect/>
            <a:stretch>
              <a:fillRect/>
            </a:stretch>
          </p:blipFill>
          <p:spPr bwMode="auto">
            <a:xfrm>
              <a:off x="1585998" y="2126607"/>
              <a:ext cx="259750" cy="187626"/>
            </a:xfrm>
            <a:prstGeom prst="rect">
              <a:avLst/>
            </a:prstGeom>
            <a:noFill/>
            <a:effectLst/>
          </p:spPr>
        </p:pic>
        <p:sp>
          <p:nvSpPr>
            <p:cNvPr id="125" name="圆角矩形 163"/>
            <p:cNvSpPr/>
            <p:nvPr/>
          </p:nvSpPr>
          <p:spPr bwMode="auto">
            <a:xfrm>
              <a:off x="664412" y="1677841"/>
              <a:ext cx="579753" cy="305023"/>
            </a:xfrm>
            <a:prstGeom prst="roundRect">
              <a:avLst/>
            </a:prstGeom>
            <a:noFill/>
          </p:spPr>
          <p:txBody>
            <a:bodyPr wrap="square" lIns="35988" tIns="45705" rIns="35988" bIns="45705" rtlCol="0" anchor="ctr" anchorCtr="0">
              <a:noAutofit/>
            </a:bodyPr>
            <a:lstStyle/>
            <a:p>
              <a:pPr algn="ctr"/>
              <a:r>
                <a:rPr lang="en-US" altLang="zh-CN" sz="900" dirty="0">
                  <a:solidFill>
                    <a:srgbClr val="000000"/>
                  </a:solidFill>
                  <a:latin typeface="微软雅黑" panose="020B0503020204020204" pitchFamily="34" charset="-122"/>
                  <a:ea typeface="微软雅黑" panose="020B0503020204020204" pitchFamily="34" charset="-122"/>
                </a:rPr>
                <a:t>Web</a:t>
              </a:r>
              <a:r>
                <a:rPr lang="zh-CN" altLang="en-US" sz="900" dirty="0">
                  <a:solidFill>
                    <a:srgbClr val="000000"/>
                  </a:solidFill>
                  <a:latin typeface="微软雅黑" panose="020B0503020204020204" pitchFamily="34" charset="-122"/>
                  <a:ea typeface="微软雅黑" panose="020B0503020204020204" pitchFamily="34" charset="-122"/>
                </a:rPr>
                <a:t>服务器</a:t>
              </a:r>
              <a:endParaRPr lang="en-US" altLang="en-US" sz="900" dirty="0" err="1">
                <a:solidFill>
                  <a:srgbClr val="000000"/>
                </a:solidFill>
                <a:latin typeface="微软雅黑" panose="020B0503020204020204" pitchFamily="34" charset="-122"/>
                <a:ea typeface="微软雅黑" panose="020B0503020204020204" pitchFamily="34" charset="-122"/>
              </a:endParaRPr>
            </a:p>
          </p:txBody>
        </p:sp>
        <p:pic>
          <p:nvPicPr>
            <p:cNvPr id="126" name="Picture 26" descr="E:\1华赛设计夹\2010-8\朱冬晴\华赛新图标\华赛新图标 png\01 公共图标(一)\Web服务器 3.png"/>
            <p:cNvPicPr>
              <a:picLocks noChangeAspect="1" noChangeArrowheads="1"/>
            </p:cNvPicPr>
            <p:nvPr/>
          </p:nvPicPr>
          <p:blipFill>
            <a:blip r:embed="rId5" cstate="print"/>
            <a:srcRect/>
            <a:stretch>
              <a:fillRect/>
            </a:stretch>
          </p:blipFill>
          <p:spPr bwMode="auto">
            <a:xfrm>
              <a:off x="1154884" y="1609982"/>
              <a:ext cx="237616" cy="192357"/>
            </a:xfrm>
            <a:prstGeom prst="rect">
              <a:avLst/>
            </a:prstGeom>
            <a:noFill/>
            <a:ln w="9525">
              <a:noFill/>
              <a:miter lim="800000"/>
              <a:headEnd/>
              <a:tailEnd/>
            </a:ln>
          </p:spPr>
        </p:pic>
        <p:pic>
          <p:nvPicPr>
            <p:cNvPr id="127" name="Picture 26" descr="E:\1华赛设计夹\2010-8\朱冬晴\华赛新图标\华赛新图标 png\01 公共图标(一)\Web服务器 3.png"/>
            <p:cNvPicPr>
              <a:picLocks noChangeAspect="1" noChangeArrowheads="1"/>
            </p:cNvPicPr>
            <p:nvPr/>
          </p:nvPicPr>
          <p:blipFill>
            <a:blip r:embed="rId5" cstate="print"/>
            <a:srcRect/>
            <a:stretch>
              <a:fillRect/>
            </a:stretch>
          </p:blipFill>
          <p:spPr bwMode="auto">
            <a:xfrm>
              <a:off x="1154884" y="1890306"/>
              <a:ext cx="237616" cy="192357"/>
            </a:xfrm>
            <a:prstGeom prst="rect">
              <a:avLst/>
            </a:prstGeom>
            <a:noFill/>
            <a:ln w="9525">
              <a:noFill/>
              <a:miter lim="800000"/>
              <a:headEnd/>
              <a:tailEnd/>
            </a:ln>
          </p:spPr>
        </p:pic>
        <p:pic>
          <p:nvPicPr>
            <p:cNvPr id="128" name="图片 1"/>
            <p:cNvPicPr>
              <a:picLocks noChangeAspect="1"/>
            </p:cNvPicPr>
            <p:nvPr/>
          </p:nvPicPr>
          <p:blipFill>
            <a:blip r:embed="rId6" cstate="print"/>
            <a:srcRect/>
            <a:stretch>
              <a:fillRect/>
            </a:stretch>
          </p:blipFill>
          <p:spPr bwMode="auto">
            <a:xfrm>
              <a:off x="2031178" y="2121819"/>
              <a:ext cx="294805" cy="219936"/>
            </a:xfrm>
            <a:prstGeom prst="rect">
              <a:avLst/>
            </a:prstGeom>
            <a:noFill/>
            <a:ln w="9525">
              <a:noFill/>
              <a:miter lim="800000"/>
              <a:headEnd/>
              <a:tailEnd/>
            </a:ln>
          </p:spPr>
        </p:pic>
        <p:pic>
          <p:nvPicPr>
            <p:cNvPr id="129" name="图片 1"/>
            <p:cNvPicPr>
              <a:picLocks noChangeAspect="1"/>
            </p:cNvPicPr>
            <p:nvPr/>
          </p:nvPicPr>
          <p:blipFill>
            <a:blip r:embed="rId6" cstate="print"/>
            <a:srcRect/>
            <a:stretch>
              <a:fillRect/>
            </a:stretch>
          </p:blipFill>
          <p:spPr bwMode="auto">
            <a:xfrm>
              <a:off x="2031178" y="2396739"/>
              <a:ext cx="294805" cy="219936"/>
            </a:xfrm>
            <a:prstGeom prst="rect">
              <a:avLst/>
            </a:prstGeom>
            <a:noFill/>
            <a:ln w="9525">
              <a:noFill/>
              <a:miter lim="800000"/>
              <a:headEnd/>
              <a:tailEnd/>
            </a:ln>
          </p:spPr>
        </p:pic>
        <p:sp>
          <p:nvSpPr>
            <p:cNvPr id="130" name="TextBox 656"/>
            <p:cNvSpPr txBox="1"/>
            <p:nvPr/>
          </p:nvSpPr>
          <p:spPr>
            <a:xfrm>
              <a:off x="2000303" y="1866153"/>
              <a:ext cx="387735" cy="188929"/>
            </a:xfrm>
            <a:prstGeom prst="rect">
              <a:avLst/>
            </a:prstGeom>
            <a:noFill/>
          </p:spPr>
          <p:txBody>
            <a:bodyPr wrap="square" lIns="35988" tIns="45705" rIns="35988" bIns="45705" rtlCol="0" anchor="ctr" anchorCtr="0">
              <a:noAutofit/>
            </a:bodyPr>
            <a:lstStyle/>
            <a:p>
              <a:r>
                <a:rPr lang="en-US" altLang="zh-CN" sz="800" b="1" dirty="0">
                  <a:solidFill>
                    <a:srgbClr val="C00000"/>
                  </a:solidFill>
                  <a:latin typeface="微软雅黑" panose="020B0503020204020204" pitchFamily="34" charset="-122"/>
                  <a:ea typeface="微软雅黑" panose="020B0503020204020204" pitchFamily="34" charset="-122"/>
                </a:rPr>
                <a:t>Web</a:t>
              </a:r>
              <a:endParaRPr lang="en-US" altLang="zh-CN" sz="800" b="1" dirty="0">
                <a:solidFill>
                  <a:srgbClr val="C00000"/>
                </a:solidFill>
                <a:latin typeface="微软雅黑" panose="020B0503020204020204" pitchFamily="34" charset="-122"/>
                <a:ea typeface="微软雅黑" panose="020B0503020204020204" pitchFamily="34" charset="-122"/>
              </a:endParaRPr>
            </a:p>
            <a:p>
              <a:r>
                <a:rPr lang="zh-CN" altLang="en-US" sz="800" b="1" dirty="0">
                  <a:solidFill>
                    <a:srgbClr val="C00000"/>
                  </a:solidFill>
                  <a:latin typeface="微软雅黑" panose="020B0503020204020204" pitchFamily="34" charset="-122"/>
                  <a:ea typeface="微软雅黑" panose="020B0503020204020204" pitchFamily="34" charset="-122"/>
                </a:rPr>
                <a:t>防火墙</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131" name="直接连接符 130"/>
            <p:cNvCxnSpPr>
              <a:stCxn id="100" idx="0"/>
              <a:endCxn id="129" idx="3"/>
            </p:cNvCxnSpPr>
            <p:nvPr/>
          </p:nvCxnSpPr>
          <p:spPr bwMode="auto">
            <a:xfrm flipH="1" flipV="1">
              <a:off x="2325983" y="2506707"/>
              <a:ext cx="1618923" cy="565895"/>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36" name="Picture 456" descr="图片235"/>
            <p:cNvPicPr>
              <a:picLocks noChangeAspect="1" noChangeArrowheads="1"/>
            </p:cNvPicPr>
            <p:nvPr/>
          </p:nvPicPr>
          <p:blipFill>
            <a:blip r:embed="rId7" cstate="print"/>
            <a:stretch>
              <a:fillRect/>
            </a:stretch>
          </p:blipFill>
          <p:spPr bwMode="auto">
            <a:xfrm>
              <a:off x="3799687" y="1773453"/>
              <a:ext cx="264376" cy="240657"/>
            </a:xfrm>
            <a:prstGeom prst="rect">
              <a:avLst/>
            </a:prstGeom>
            <a:noFill/>
          </p:spPr>
        </p:pic>
        <p:pic>
          <p:nvPicPr>
            <p:cNvPr id="137" name="Picture 456" descr="图片235"/>
            <p:cNvPicPr>
              <a:picLocks noChangeAspect="1" noChangeArrowheads="1"/>
            </p:cNvPicPr>
            <p:nvPr/>
          </p:nvPicPr>
          <p:blipFill>
            <a:blip r:embed="rId7" cstate="print"/>
            <a:stretch>
              <a:fillRect/>
            </a:stretch>
          </p:blipFill>
          <p:spPr bwMode="auto">
            <a:xfrm>
              <a:off x="4443103" y="1782752"/>
              <a:ext cx="264376" cy="240657"/>
            </a:xfrm>
            <a:prstGeom prst="rect">
              <a:avLst/>
            </a:prstGeom>
            <a:noFill/>
          </p:spPr>
        </p:pic>
        <p:sp>
          <p:nvSpPr>
            <p:cNvPr id="140" name="圆角矩形 178"/>
            <p:cNvSpPr/>
            <p:nvPr/>
          </p:nvSpPr>
          <p:spPr>
            <a:xfrm>
              <a:off x="6610030" y="1224773"/>
              <a:ext cx="2172196" cy="2330531"/>
            </a:xfrm>
            <a:prstGeom prst="roundRect">
              <a:avLst>
                <a:gd name="adj" fmla="val 12159"/>
              </a:avLst>
            </a:prstGeom>
            <a:noFill/>
            <a:ln>
              <a:solidFill>
                <a:schemeClr val="tx1"/>
              </a:solidFill>
              <a:prstDash val="dash"/>
            </a:ln>
            <a:effectLst/>
          </p:spPr>
          <p:txBody>
            <a:bodyPr vert="horz" wrap="square" lIns="162569" tIns="81285" rIns="162569" bIns="81285" numCol="1" rtlCol="0" anchor="t" anchorCtr="0" compatLnSpc="1"/>
            <a:lstStyle/>
            <a:p>
              <a:pPr defTabSz="1219200">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pic>
          <p:nvPicPr>
            <p:cNvPr id="141" name="Picture 27" descr="E:\1华赛设计夹\2010-8\朱冬晴\华赛新图标\华赛新图标 png\05 公共图标(五)\网管 3.png"/>
            <p:cNvPicPr>
              <a:picLocks noChangeAspect="1" noChangeArrowheads="1"/>
            </p:cNvPicPr>
            <p:nvPr/>
          </p:nvPicPr>
          <p:blipFill>
            <a:blip r:embed="rId8" cstate="print"/>
            <a:srcRect/>
            <a:stretch>
              <a:fillRect/>
            </a:stretch>
          </p:blipFill>
          <p:spPr bwMode="auto">
            <a:xfrm>
              <a:off x="7539634" y="1708165"/>
              <a:ext cx="457700" cy="242828"/>
            </a:xfrm>
            <a:prstGeom prst="rect">
              <a:avLst/>
            </a:prstGeom>
            <a:noFill/>
            <a:ln w="9525">
              <a:noFill/>
              <a:miter lim="800000"/>
              <a:headEnd/>
              <a:tailEnd/>
            </a:ln>
          </p:spPr>
        </p:pic>
        <p:pic>
          <p:nvPicPr>
            <p:cNvPr id="142" name="Picture 254" descr="S2600-2 拷贝"/>
            <p:cNvPicPr>
              <a:picLocks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7555992" y="1344642"/>
              <a:ext cx="419559" cy="183197"/>
            </a:xfrm>
            <a:prstGeom prst="rect">
              <a:avLst/>
            </a:prstGeom>
            <a:noFill/>
            <a:ln w="9525">
              <a:noFill/>
              <a:miter lim="800000"/>
              <a:headEnd/>
              <a:tailEnd/>
            </a:ln>
          </p:spPr>
        </p:pic>
        <p:sp>
          <p:nvSpPr>
            <p:cNvPr id="143" name="TextBox 673"/>
            <p:cNvSpPr txBox="1"/>
            <p:nvPr/>
          </p:nvSpPr>
          <p:spPr>
            <a:xfrm>
              <a:off x="7934318" y="1749314"/>
              <a:ext cx="910923" cy="193139"/>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网络管理系统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144" name="Picture 796" descr="图片582"/>
            <p:cNvPicPr>
              <a:picLocks noChangeAspect="1" noChangeArrowheads="1"/>
            </p:cNvPicPr>
            <p:nvPr/>
          </p:nvPicPr>
          <p:blipFill>
            <a:blip r:embed="rId10" cstate="print"/>
            <a:srcRect/>
            <a:stretch>
              <a:fillRect/>
            </a:stretch>
          </p:blipFill>
          <p:spPr bwMode="auto">
            <a:xfrm>
              <a:off x="7524328" y="2804706"/>
              <a:ext cx="516561" cy="313773"/>
            </a:xfrm>
            <a:prstGeom prst="rect">
              <a:avLst/>
            </a:prstGeom>
            <a:noFill/>
          </p:spPr>
        </p:pic>
        <p:sp>
          <p:nvSpPr>
            <p:cNvPr id="145" name="TextBox 675"/>
            <p:cNvSpPr txBox="1"/>
            <p:nvPr/>
          </p:nvSpPr>
          <p:spPr>
            <a:xfrm>
              <a:off x="7986198" y="2765769"/>
              <a:ext cx="825984" cy="303007"/>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终端安全准入系统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146" name="Picture 535" descr="图片138"/>
            <p:cNvPicPr>
              <a:picLocks noChangeAspect="1" noChangeArrowheads="1"/>
            </p:cNvPicPr>
            <p:nvPr/>
          </p:nvPicPr>
          <p:blipFill>
            <a:blip r:embed="rId11" cstate="print"/>
            <a:srcRect/>
            <a:stretch>
              <a:fillRect/>
            </a:stretch>
          </p:blipFill>
          <p:spPr bwMode="auto">
            <a:xfrm>
              <a:off x="7668154" y="2113938"/>
              <a:ext cx="239313" cy="266309"/>
            </a:xfrm>
            <a:prstGeom prst="rect">
              <a:avLst/>
            </a:prstGeom>
            <a:noFill/>
            <a:ln w="9525">
              <a:noFill/>
              <a:miter lim="800000"/>
              <a:headEnd/>
              <a:tailEnd/>
            </a:ln>
          </p:spPr>
        </p:pic>
        <p:sp>
          <p:nvSpPr>
            <p:cNvPr id="147" name="TextBox 677"/>
            <p:cNvSpPr txBox="1"/>
            <p:nvPr/>
          </p:nvSpPr>
          <p:spPr>
            <a:xfrm>
              <a:off x="7922446" y="2141430"/>
              <a:ext cx="904714" cy="265634"/>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日志审计系统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bwMode="auto">
            <a:xfrm flipV="1">
              <a:off x="3942392" y="1997528"/>
              <a:ext cx="1904" cy="1096458"/>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52" name="直接连接符 151"/>
            <p:cNvCxnSpPr/>
            <p:nvPr/>
          </p:nvCxnSpPr>
          <p:spPr bwMode="auto">
            <a:xfrm flipV="1">
              <a:off x="4571819" y="2016724"/>
              <a:ext cx="1904" cy="1096458"/>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53" name="Picture 1674" descr="图片46"/>
            <p:cNvPicPr>
              <a:picLocks noChangeAspect="1" noChangeArrowheads="1"/>
            </p:cNvPicPr>
            <p:nvPr/>
          </p:nvPicPr>
          <p:blipFill>
            <a:blip r:embed="rId12" cstate="print"/>
            <a:srcRect/>
            <a:stretch>
              <a:fillRect/>
            </a:stretch>
          </p:blipFill>
          <p:spPr bwMode="auto">
            <a:xfrm>
              <a:off x="3815140" y="2227460"/>
              <a:ext cx="248923" cy="248584"/>
            </a:xfrm>
            <a:prstGeom prst="rect">
              <a:avLst/>
            </a:prstGeom>
            <a:noFill/>
            <a:ln w="9525">
              <a:noFill/>
              <a:miter lim="800000"/>
              <a:headEnd/>
              <a:tailEnd/>
            </a:ln>
          </p:spPr>
        </p:pic>
        <p:pic>
          <p:nvPicPr>
            <p:cNvPr id="154" name="Picture 2"/>
            <p:cNvPicPr>
              <a:picLocks noChangeAspect="1" noChangeArrowheads="1"/>
            </p:cNvPicPr>
            <p:nvPr/>
          </p:nvPicPr>
          <p:blipFill>
            <a:blip r:embed="rId13" cstate="print"/>
            <a:srcRect/>
            <a:stretch>
              <a:fillRect/>
            </a:stretch>
          </p:blipFill>
          <p:spPr bwMode="auto">
            <a:xfrm>
              <a:off x="3799476" y="2748865"/>
              <a:ext cx="264587" cy="228834"/>
            </a:xfrm>
            <a:prstGeom prst="rect">
              <a:avLst/>
            </a:prstGeom>
            <a:noFill/>
            <a:ln w="9525">
              <a:noFill/>
              <a:miter lim="800000"/>
              <a:headEnd/>
              <a:tailEnd/>
            </a:ln>
          </p:spPr>
        </p:pic>
        <p:pic>
          <p:nvPicPr>
            <p:cNvPr id="155" name="Picture 2"/>
            <p:cNvPicPr>
              <a:picLocks noChangeAspect="1" noChangeArrowheads="1"/>
            </p:cNvPicPr>
            <p:nvPr/>
          </p:nvPicPr>
          <p:blipFill>
            <a:blip r:embed="rId13" cstate="print"/>
            <a:srcRect/>
            <a:stretch>
              <a:fillRect/>
            </a:stretch>
          </p:blipFill>
          <p:spPr bwMode="auto">
            <a:xfrm>
              <a:off x="4442987" y="2748865"/>
              <a:ext cx="264587" cy="228834"/>
            </a:xfrm>
            <a:prstGeom prst="rect">
              <a:avLst/>
            </a:prstGeom>
            <a:noFill/>
            <a:ln w="9525">
              <a:noFill/>
              <a:miter lim="800000"/>
              <a:headEnd/>
              <a:tailEnd/>
            </a:ln>
          </p:spPr>
        </p:pic>
        <p:pic>
          <p:nvPicPr>
            <p:cNvPr id="156" name="Picture 1674" descr="图片46"/>
            <p:cNvPicPr>
              <a:picLocks noChangeAspect="1" noChangeArrowheads="1"/>
            </p:cNvPicPr>
            <p:nvPr/>
          </p:nvPicPr>
          <p:blipFill>
            <a:blip r:embed="rId12" cstate="print"/>
            <a:srcRect/>
            <a:stretch>
              <a:fillRect/>
            </a:stretch>
          </p:blipFill>
          <p:spPr bwMode="auto">
            <a:xfrm>
              <a:off x="4449261" y="2226579"/>
              <a:ext cx="248923" cy="248584"/>
            </a:xfrm>
            <a:prstGeom prst="rect">
              <a:avLst/>
            </a:prstGeom>
            <a:noFill/>
            <a:ln w="9525">
              <a:noFill/>
              <a:miter lim="800000"/>
              <a:headEnd/>
              <a:tailEnd/>
            </a:ln>
          </p:spPr>
        </p:pic>
        <p:cxnSp>
          <p:nvCxnSpPr>
            <p:cNvPr id="157" name="直接连接符 156"/>
            <p:cNvCxnSpPr/>
            <p:nvPr/>
          </p:nvCxnSpPr>
          <p:spPr bwMode="auto">
            <a:xfrm flipV="1">
              <a:off x="1699639" y="2286066"/>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接连接符 157"/>
            <p:cNvCxnSpPr/>
            <p:nvPr/>
          </p:nvCxnSpPr>
          <p:spPr bwMode="auto">
            <a:xfrm flipV="1">
              <a:off x="2174290" y="2285701"/>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直接连接符 158"/>
            <p:cNvCxnSpPr>
              <a:stCxn id="99" idx="0"/>
              <a:endCxn id="128" idx="3"/>
            </p:cNvCxnSpPr>
            <p:nvPr/>
          </p:nvCxnSpPr>
          <p:spPr bwMode="auto">
            <a:xfrm flipH="1" flipV="1">
              <a:off x="2325983" y="2231787"/>
              <a:ext cx="2235216" cy="840815"/>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60" name="Picture 1674" descr="图片46"/>
            <p:cNvPicPr>
              <a:picLocks noChangeAspect="1" noChangeArrowheads="1"/>
            </p:cNvPicPr>
            <p:nvPr/>
          </p:nvPicPr>
          <p:blipFill>
            <a:blip r:embed="rId12" cstate="print"/>
            <a:srcRect/>
            <a:stretch>
              <a:fillRect/>
            </a:stretch>
          </p:blipFill>
          <p:spPr bwMode="auto">
            <a:xfrm>
              <a:off x="2379358" y="2154857"/>
              <a:ext cx="248923" cy="248584"/>
            </a:xfrm>
            <a:prstGeom prst="rect">
              <a:avLst/>
            </a:prstGeom>
            <a:noFill/>
            <a:ln w="9525">
              <a:noFill/>
              <a:miter lim="800000"/>
              <a:headEnd/>
              <a:tailEnd/>
            </a:ln>
          </p:spPr>
        </p:pic>
        <p:pic>
          <p:nvPicPr>
            <p:cNvPr id="161" name="Picture 1674" descr="图片46"/>
            <p:cNvPicPr>
              <a:picLocks noChangeAspect="1" noChangeArrowheads="1"/>
            </p:cNvPicPr>
            <p:nvPr/>
          </p:nvPicPr>
          <p:blipFill>
            <a:blip r:embed="rId12" cstate="print"/>
            <a:srcRect/>
            <a:stretch>
              <a:fillRect/>
            </a:stretch>
          </p:blipFill>
          <p:spPr bwMode="auto">
            <a:xfrm>
              <a:off x="2366672" y="2440699"/>
              <a:ext cx="248923" cy="248584"/>
            </a:xfrm>
            <a:prstGeom prst="rect">
              <a:avLst/>
            </a:prstGeom>
            <a:noFill/>
            <a:ln w="9525">
              <a:noFill/>
              <a:miter lim="800000"/>
              <a:headEnd/>
              <a:tailEnd/>
            </a:ln>
          </p:spPr>
        </p:pic>
        <p:sp>
          <p:nvSpPr>
            <p:cNvPr id="162" name="圆角矩形 200"/>
            <p:cNvSpPr/>
            <p:nvPr/>
          </p:nvSpPr>
          <p:spPr>
            <a:xfrm>
              <a:off x="1636075" y="3627419"/>
              <a:ext cx="5328390" cy="1368046"/>
            </a:xfrm>
            <a:prstGeom prst="roundRect">
              <a:avLst>
                <a:gd name="adj" fmla="val 12159"/>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sp>
          <p:nvSpPr>
            <p:cNvPr id="163" name="圆角矩形 201"/>
            <p:cNvSpPr/>
            <p:nvPr/>
          </p:nvSpPr>
          <p:spPr>
            <a:xfrm>
              <a:off x="3958234" y="4326945"/>
              <a:ext cx="874609" cy="348990"/>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4" name="圆角矩形 202"/>
            <p:cNvSpPr/>
            <p:nvPr/>
          </p:nvSpPr>
          <p:spPr>
            <a:xfrm>
              <a:off x="5647833" y="4326945"/>
              <a:ext cx="874609" cy="348990"/>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5" name="圆角矩形 203"/>
            <p:cNvSpPr/>
            <p:nvPr/>
          </p:nvSpPr>
          <p:spPr>
            <a:xfrm>
              <a:off x="2122793" y="4306103"/>
              <a:ext cx="874609" cy="348990"/>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6" name="TextBox 696"/>
            <p:cNvSpPr txBox="1"/>
            <p:nvPr/>
          </p:nvSpPr>
          <p:spPr>
            <a:xfrm>
              <a:off x="1715354" y="3705669"/>
              <a:ext cx="902027" cy="154069"/>
            </a:xfrm>
            <a:prstGeom prst="rect">
              <a:avLst/>
            </a:prstGeom>
            <a:noFill/>
          </p:spPr>
          <p:txBody>
            <a:bodyPr wrap="square" lIns="35988" tIns="45705" rIns="35988" bIns="45705" rtlCol="0" anchor="ctr" anchorCtr="0">
              <a:noAutofit/>
            </a:bodyPr>
            <a:lstStyle/>
            <a:p>
              <a:r>
                <a:rPr lang="zh-CN" altLang="en-US" sz="1300" b="1" dirty="0">
                  <a:solidFill>
                    <a:srgbClr val="000000"/>
                  </a:solidFill>
                  <a:latin typeface="微软雅黑" panose="020B0503020204020204" pitchFamily="34" charset="-122"/>
                  <a:ea typeface="微软雅黑" panose="020B0503020204020204" pitchFamily="34" charset="-122"/>
                </a:rPr>
                <a:t>接入区</a:t>
              </a:r>
              <a:endParaRPr lang="zh-CN" altLang="en-US" sz="1300" b="1" dirty="0">
                <a:solidFill>
                  <a:srgbClr val="000000"/>
                </a:solidFill>
                <a:latin typeface="微软雅黑" panose="020B0503020204020204" pitchFamily="34" charset="-122"/>
                <a:ea typeface="微软雅黑" panose="020B0503020204020204" pitchFamily="34" charset="-122"/>
              </a:endParaRPr>
            </a:p>
          </p:txBody>
        </p:sp>
        <p:cxnSp>
          <p:nvCxnSpPr>
            <p:cNvPr id="167" name="直接连接符 166"/>
            <p:cNvCxnSpPr>
              <a:endCxn id="169" idx="0"/>
            </p:cNvCxnSpPr>
            <p:nvPr/>
          </p:nvCxnSpPr>
          <p:spPr bwMode="auto">
            <a:xfrm flipH="1">
              <a:off x="2290662" y="3253712"/>
              <a:ext cx="1635572" cy="809642"/>
            </a:xfrm>
            <a:prstGeom prst="line">
              <a:avLst/>
            </a:prstGeom>
            <a:noFill/>
            <a:ln w="6350" cap="flat" cmpd="sng" algn="ctr">
              <a:solidFill>
                <a:schemeClr val="bg1">
                  <a:lumMod val="50000"/>
                </a:schemeClr>
              </a:solidFill>
              <a:prstDash val="solid"/>
              <a:round/>
              <a:headEnd type="none" w="med" len="med"/>
              <a:tailEnd type="none" w="med" len="med"/>
            </a:ln>
            <a:effectLst/>
          </p:spPr>
        </p:cxnSp>
        <p:pic>
          <p:nvPicPr>
            <p:cNvPr id="168" name="Picture 461" descr="图片240"/>
            <p:cNvPicPr>
              <a:picLocks noChangeAspect="1" noChangeArrowheads="1"/>
            </p:cNvPicPr>
            <p:nvPr/>
          </p:nvPicPr>
          <p:blipFill>
            <a:blip r:embed="rId3" cstate="print"/>
            <a:srcRect/>
            <a:stretch>
              <a:fillRect/>
            </a:stretch>
          </p:blipFill>
          <p:spPr bwMode="auto">
            <a:xfrm>
              <a:off x="2713892" y="4063354"/>
              <a:ext cx="259750" cy="187626"/>
            </a:xfrm>
            <a:prstGeom prst="rect">
              <a:avLst/>
            </a:prstGeom>
            <a:noFill/>
            <a:effectLst/>
          </p:spPr>
        </p:pic>
        <p:pic>
          <p:nvPicPr>
            <p:cNvPr id="169" name="Picture 461" descr="图片240"/>
            <p:cNvPicPr>
              <a:picLocks noChangeAspect="1" noChangeArrowheads="1"/>
            </p:cNvPicPr>
            <p:nvPr/>
          </p:nvPicPr>
          <p:blipFill>
            <a:blip r:embed="rId3" cstate="print"/>
            <a:srcRect/>
            <a:stretch>
              <a:fillRect/>
            </a:stretch>
          </p:blipFill>
          <p:spPr bwMode="auto">
            <a:xfrm>
              <a:off x="2160786" y="4063354"/>
              <a:ext cx="259750" cy="187626"/>
            </a:xfrm>
            <a:prstGeom prst="rect">
              <a:avLst/>
            </a:prstGeom>
            <a:noFill/>
            <a:effectLst/>
          </p:spPr>
        </p:pic>
        <p:pic>
          <p:nvPicPr>
            <p:cNvPr id="170" name="Picture 461" descr="图片240"/>
            <p:cNvPicPr>
              <a:picLocks noChangeAspect="1" noChangeArrowheads="1"/>
            </p:cNvPicPr>
            <p:nvPr/>
          </p:nvPicPr>
          <p:blipFill>
            <a:blip r:embed="rId3" cstate="print"/>
            <a:srcRect/>
            <a:stretch>
              <a:fillRect/>
            </a:stretch>
          </p:blipFill>
          <p:spPr bwMode="auto">
            <a:xfrm>
              <a:off x="4555050" y="4084197"/>
              <a:ext cx="259750" cy="187626"/>
            </a:xfrm>
            <a:prstGeom prst="rect">
              <a:avLst/>
            </a:prstGeom>
            <a:noFill/>
            <a:effectLst/>
          </p:spPr>
        </p:pic>
        <p:pic>
          <p:nvPicPr>
            <p:cNvPr id="171" name="Picture 461" descr="图片240"/>
            <p:cNvPicPr>
              <a:picLocks noChangeAspect="1" noChangeArrowheads="1"/>
            </p:cNvPicPr>
            <p:nvPr/>
          </p:nvPicPr>
          <p:blipFill>
            <a:blip r:embed="rId3" cstate="print"/>
            <a:srcRect/>
            <a:stretch>
              <a:fillRect/>
            </a:stretch>
          </p:blipFill>
          <p:spPr bwMode="auto">
            <a:xfrm>
              <a:off x="4001944" y="4084197"/>
              <a:ext cx="259750" cy="187626"/>
            </a:xfrm>
            <a:prstGeom prst="rect">
              <a:avLst/>
            </a:prstGeom>
            <a:noFill/>
            <a:effectLst/>
          </p:spPr>
        </p:pic>
        <p:pic>
          <p:nvPicPr>
            <p:cNvPr id="172" name="Picture 461" descr="图片240"/>
            <p:cNvPicPr>
              <a:picLocks noChangeAspect="1" noChangeArrowheads="1"/>
            </p:cNvPicPr>
            <p:nvPr/>
          </p:nvPicPr>
          <p:blipFill>
            <a:blip r:embed="rId3" cstate="print"/>
            <a:srcRect/>
            <a:stretch>
              <a:fillRect/>
            </a:stretch>
          </p:blipFill>
          <p:spPr bwMode="auto">
            <a:xfrm>
              <a:off x="6234055" y="4084197"/>
              <a:ext cx="259750" cy="187626"/>
            </a:xfrm>
            <a:prstGeom prst="rect">
              <a:avLst/>
            </a:prstGeom>
            <a:noFill/>
            <a:effectLst/>
          </p:spPr>
        </p:pic>
        <p:pic>
          <p:nvPicPr>
            <p:cNvPr id="173" name="Picture 461" descr="图片240"/>
            <p:cNvPicPr>
              <a:picLocks noChangeAspect="1" noChangeArrowheads="1"/>
            </p:cNvPicPr>
            <p:nvPr/>
          </p:nvPicPr>
          <p:blipFill>
            <a:blip r:embed="rId3" cstate="print"/>
            <a:srcRect/>
            <a:stretch>
              <a:fillRect/>
            </a:stretch>
          </p:blipFill>
          <p:spPr bwMode="auto">
            <a:xfrm>
              <a:off x="5680947" y="4084197"/>
              <a:ext cx="259750" cy="187626"/>
            </a:xfrm>
            <a:prstGeom prst="rect">
              <a:avLst/>
            </a:prstGeom>
            <a:noFill/>
            <a:effectLst/>
          </p:spPr>
        </p:pic>
        <p:cxnSp>
          <p:nvCxnSpPr>
            <p:cNvPr id="174" name="直接连接符 173"/>
            <p:cNvCxnSpPr>
              <a:endCxn id="168" idx="0"/>
            </p:cNvCxnSpPr>
            <p:nvPr/>
          </p:nvCxnSpPr>
          <p:spPr bwMode="auto">
            <a:xfrm flipH="1">
              <a:off x="2843767" y="3253712"/>
              <a:ext cx="1698759" cy="809642"/>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5" name="直接连接符 174"/>
            <p:cNvCxnSpPr>
              <a:endCxn id="172" idx="0"/>
            </p:cNvCxnSpPr>
            <p:nvPr/>
          </p:nvCxnSpPr>
          <p:spPr bwMode="auto">
            <a:xfrm>
              <a:off x="4542526" y="3253712"/>
              <a:ext cx="1821404"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6" name="直接连接符 175"/>
            <p:cNvCxnSpPr>
              <a:endCxn id="171" idx="0"/>
            </p:cNvCxnSpPr>
            <p:nvPr/>
          </p:nvCxnSpPr>
          <p:spPr bwMode="auto">
            <a:xfrm>
              <a:off x="3926233" y="3253712"/>
              <a:ext cx="205586"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7" name="直接连接符 176"/>
            <p:cNvCxnSpPr>
              <a:endCxn id="170" idx="0"/>
            </p:cNvCxnSpPr>
            <p:nvPr/>
          </p:nvCxnSpPr>
          <p:spPr bwMode="auto">
            <a:xfrm>
              <a:off x="4542526" y="3253712"/>
              <a:ext cx="142399"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8" name="直接连接符 177"/>
            <p:cNvCxnSpPr>
              <a:endCxn id="173" idx="0"/>
            </p:cNvCxnSpPr>
            <p:nvPr/>
          </p:nvCxnSpPr>
          <p:spPr bwMode="auto">
            <a:xfrm>
              <a:off x="3926233" y="3253712"/>
              <a:ext cx="1884589"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9" name="直接连接符 178"/>
            <p:cNvCxnSpPr>
              <a:endCxn id="169" idx="0"/>
            </p:cNvCxnSpPr>
            <p:nvPr/>
          </p:nvCxnSpPr>
          <p:spPr bwMode="auto">
            <a:xfrm flipH="1">
              <a:off x="2290662" y="3253712"/>
              <a:ext cx="2251865" cy="809642"/>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0" name="直接连接符 179"/>
            <p:cNvCxnSpPr>
              <a:endCxn id="168" idx="0"/>
            </p:cNvCxnSpPr>
            <p:nvPr/>
          </p:nvCxnSpPr>
          <p:spPr bwMode="auto">
            <a:xfrm flipH="1">
              <a:off x="2843767" y="3253712"/>
              <a:ext cx="1082466" cy="809642"/>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1" name="直接连接符 180"/>
            <p:cNvCxnSpPr>
              <a:endCxn id="171" idx="0"/>
            </p:cNvCxnSpPr>
            <p:nvPr/>
          </p:nvCxnSpPr>
          <p:spPr bwMode="auto">
            <a:xfrm flipH="1">
              <a:off x="4131819" y="3253712"/>
              <a:ext cx="410707"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2" name="直接连接符 181"/>
            <p:cNvCxnSpPr>
              <a:endCxn id="170" idx="0"/>
            </p:cNvCxnSpPr>
            <p:nvPr/>
          </p:nvCxnSpPr>
          <p:spPr bwMode="auto">
            <a:xfrm>
              <a:off x="3926233" y="3253712"/>
              <a:ext cx="758692"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3" name="直接连接符 182"/>
            <p:cNvCxnSpPr>
              <a:endCxn id="173" idx="0"/>
            </p:cNvCxnSpPr>
            <p:nvPr/>
          </p:nvCxnSpPr>
          <p:spPr bwMode="auto">
            <a:xfrm>
              <a:off x="4542526" y="3253712"/>
              <a:ext cx="1268296"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4" name="直接连接符 183"/>
            <p:cNvCxnSpPr>
              <a:endCxn id="172" idx="0"/>
            </p:cNvCxnSpPr>
            <p:nvPr/>
          </p:nvCxnSpPr>
          <p:spPr bwMode="auto">
            <a:xfrm>
              <a:off x="3926233" y="3253712"/>
              <a:ext cx="2437697" cy="830486"/>
            </a:xfrm>
            <a:prstGeom prst="line">
              <a:avLst/>
            </a:prstGeom>
            <a:noFill/>
            <a:ln w="6350" cap="flat" cmpd="sng" algn="ctr">
              <a:solidFill>
                <a:schemeClr val="bg1">
                  <a:lumMod val="50000"/>
                </a:schemeClr>
              </a:solidFill>
              <a:prstDash val="solid"/>
              <a:round/>
              <a:headEnd type="none" w="med" len="med"/>
              <a:tailEnd type="none" w="med" len="med"/>
            </a:ln>
            <a:effectLst/>
          </p:spPr>
        </p:cxnSp>
        <p:pic>
          <p:nvPicPr>
            <p:cNvPr id="185" name="Picture 22" descr="图片99"/>
            <p:cNvPicPr>
              <a:picLocks noChangeAspect="1" noChangeArrowheads="1"/>
            </p:cNvPicPr>
            <p:nvPr/>
          </p:nvPicPr>
          <p:blipFill>
            <a:blip r:embed="rId14" cstate="print"/>
            <a:srcRect/>
            <a:stretch>
              <a:fillRect/>
            </a:stretch>
          </p:blipFill>
          <p:spPr bwMode="auto">
            <a:xfrm>
              <a:off x="3925626" y="4359118"/>
              <a:ext cx="381801" cy="267801"/>
            </a:xfrm>
            <a:prstGeom prst="rect">
              <a:avLst/>
            </a:prstGeom>
            <a:noFill/>
            <a:ln w="9525">
              <a:noFill/>
              <a:miter lim="800000"/>
              <a:headEnd/>
              <a:tailEnd/>
            </a:ln>
          </p:spPr>
        </p:pic>
        <p:pic>
          <p:nvPicPr>
            <p:cNvPr id="186" name="Picture 22" descr="图片99"/>
            <p:cNvPicPr>
              <a:picLocks noChangeAspect="1" noChangeArrowheads="1"/>
            </p:cNvPicPr>
            <p:nvPr/>
          </p:nvPicPr>
          <p:blipFill>
            <a:blip r:embed="rId14" cstate="print"/>
            <a:srcRect/>
            <a:stretch>
              <a:fillRect/>
            </a:stretch>
          </p:blipFill>
          <p:spPr bwMode="auto">
            <a:xfrm>
              <a:off x="2093987" y="4304134"/>
              <a:ext cx="381801" cy="267801"/>
            </a:xfrm>
            <a:prstGeom prst="rect">
              <a:avLst/>
            </a:prstGeom>
            <a:noFill/>
            <a:ln w="9525">
              <a:noFill/>
              <a:miter lim="800000"/>
              <a:headEnd/>
              <a:tailEnd/>
            </a:ln>
          </p:spPr>
        </p:pic>
        <p:pic>
          <p:nvPicPr>
            <p:cNvPr id="187" name="Picture 22" descr="图片99"/>
            <p:cNvPicPr>
              <a:picLocks noChangeAspect="1" noChangeArrowheads="1"/>
            </p:cNvPicPr>
            <p:nvPr/>
          </p:nvPicPr>
          <p:blipFill>
            <a:blip r:embed="rId14" cstate="print"/>
            <a:srcRect/>
            <a:stretch>
              <a:fillRect/>
            </a:stretch>
          </p:blipFill>
          <p:spPr bwMode="auto">
            <a:xfrm>
              <a:off x="2704533" y="4304134"/>
              <a:ext cx="381801" cy="267801"/>
            </a:xfrm>
            <a:prstGeom prst="rect">
              <a:avLst/>
            </a:prstGeom>
            <a:noFill/>
            <a:ln w="9525">
              <a:noFill/>
              <a:miter lim="800000"/>
              <a:headEnd/>
              <a:tailEnd/>
            </a:ln>
          </p:spPr>
        </p:pic>
        <p:pic>
          <p:nvPicPr>
            <p:cNvPr id="188" name="Picture 22" descr="图片99"/>
            <p:cNvPicPr>
              <a:picLocks noChangeAspect="1" noChangeArrowheads="1"/>
            </p:cNvPicPr>
            <p:nvPr/>
          </p:nvPicPr>
          <p:blipFill>
            <a:blip r:embed="rId14" cstate="print"/>
            <a:srcRect/>
            <a:stretch>
              <a:fillRect/>
            </a:stretch>
          </p:blipFill>
          <p:spPr bwMode="auto">
            <a:xfrm>
              <a:off x="4536173" y="4359118"/>
              <a:ext cx="381801" cy="267801"/>
            </a:xfrm>
            <a:prstGeom prst="rect">
              <a:avLst/>
            </a:prstGeom>
            <a:noFill/>
            <a:ln w="9525">
              <a:noFill/>
              <a:miter lim="800000"/>
              <a:headEnd/>
              <a:tailEnd/>
            </a:ln>
          </p:spPr>
        </p:pic>
        <p:pic>
          <p:nvPicPr>
            <p:cNvPr id="189" name="Picture 22" descr="图片99"/>
            <p:cNvPicPr>
              <a:picLocks noChangeAspect="1" noChangeArrowheads="1"/>
            </p:cNvPicPr>
            <p:nvPr/>
          </p:nvPicPr>
          <p:blipFill>
            <a:blip r:embed="rId14" cstate="print"/>
            <a:srcRect/>
            <a:stretch>
              <a:fillRect/>
            </a:stretch>
          </p:blipFill>
          <p:spPr bwMode="auto">
            <a:xfrm>
              <a:off x="5577197" y="4379960"/>
              <a:ext cx="381801" cy="267801"/>
            </a:xfrm>
            <a:prstGeom prst="rect">
              <a:avLst/>
            </a:prstGeom>
            <a:noFill/>
            <a:ln w="9525">
              <a:noFill/>
              <a:miter lim="800000"/>
              <a:headEnd/>
              <a:tailEnd/>
            </a:ln>
          </p:spPr>
        </p:pic>
        <p:pic>
          <p:nvPicPr>
            <p:cNvPr id="190" name="Picture 22" descr="图片99"/>
            <p:cNvPicPr>
              <a:picLocks noChangeAspect="1" noChangeArrowheads="1"/>
            </p:cNvPicPr>
            <p:nvPr/>
          </p:nvPicPr>
          <p:blipFill>
            <a:blip r:embed="rId14" cstate="print"/>
            <a:srcRect/>
            <a:stretch>
              <a:fillRect/>
            </a:stretch>
          </p:blipFill>
          <p:spPr bwMode="auto">
            <a:xfrm>
              <a:off x="6187744" y="4379960"/>
              <a:ext cx="381801" cy="267801"/>
            </a:xfrm>
            <a:prstGeom prst="rect">
              <a:avLst/>
            </a:prstGeom>
            <a:noFill/>
            <a:ln w="9525">
              <a:noFill/>
              <a:miter lim="800000"/>
              <a:headEnd/>
              <a:tailEnd/>
            </a:ln>
          </p:spPr>
        </p:pic>
        <p:sp>
          <p:nvSpPr>
            <p:cNvPr id="191" name="圆角矩形 229"/>
            <p:cNvSpPr/>
            <p:nvPr/>
          </p:nvSpPr>
          <p:spPr bwMode="auto">
            <a:xfrm>
              <a:off x="2264705" y="4704473"/>
              <a:ext cx="657598" cy="219937"/>
            </a:xfrm>
            <a:prstGeom prst="roundRect">
              <a:avLst/>
            </a:prstGeom>
            <a:noFill/>
          </p:spPr>
          <p:txBody>
            <a:bodyPr wrap="square" lIns="35988" tIns="45705" rIns="35988" bIns="45705" rtlCol="0" anchor="ctr" anchorCtr="0">
              <a:noAutofit/>
            </a:bodyPr>
            <a:lstStyle/>
            <a:p>
              <a:pPr algn="ctr"/>
              <a:r>
                <a:rPr lang="zh-CN" altLang="en-US" sz="1100" b="1" dirty="0">
                  <a:solidFill>
                    <a:srgbClr val="000000"/>
                  </a:solidFill>
                  <a:latin typeface="微软雅黑" panose="020B0503020204020204" pitchFamily="34" charset="-122"/>
                  <a:ea typeface="微软雅黑" panose="020B0503020204020204" pitchFamily="34" charset="-122"/>
                </a:rPr>
                <a:t>接入用户</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192" name="圆角矩形 230"/>
            <p:cNvSpPr/>
            <p:nvPr/>
          </p:nvSpPr>
          <p:spPr bwMode="auto">
            <a:xfrm>
              <a:off x="4077859" y="4704473"/>
              <a:ext cx="657598" cy="219937"/>
            </a:xfrm>
            <a:prstGeom prst="roundRect">
              <a:avLst/>
            </a:prstGeom>
            <a:noFill/>
          </p:spPr>
          <p:txBody>
            <a:bodyPr wrap="square" lIns="35988" tIns="45705" rIns="35988" bIns="45705" rtlCol="0" anchor="ctr" anchorCtr="0">
              <a:noAutofit/>
            </a:bodyPr>
            <a:lstStyle/>
            <a:p>
              <a:pPr algn="ctr"/>
              <a:r>
                <a:rPr lang="zh-CN" altLang="en-US" sz="1100" b="1" dirty="0">
                  <a:solidFill>
                    <a:srgbClr val="000000"/>
                  </a:solidFill>
                  <a:latin typeface="微软雅黑" panose="020B0503020204020204" pitchFamily="34" charset="-122"/>
                  <a:ea typeface="微软雅黑" panose="020B0503020204020204" pitchFamily="34" charset="-122"/>
                </a:rPr>
                <a:t>接入用户</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193" name="圆角矩形 231"/>
            <p:cNvSpPr/>
            <p:nvPr/>
          </p:nvSpPr>
          <p:spPr bwMode="auto">
            <a:xfrm>
              <a:off x="5779786" y="4686538"/>
              <a:ext cx="657598" cy="219937"/>
            </a:xfrm>
            <a:prstGeom prst="roundRect">
              <a:avLst/>
            </a:prstGeom>
            <a:noFill/>
          </p:spPr>
          <p:txBody>
            <a:bodyPr wrap="square" lIns="35988" tIns="45705" rIns="35988" bIns="45705" rtlCol="0" anchor="ctr" anchorCtr="0">
              <a:noAutofit/>
            </a:bodyPr>
            <a:lstStyle/>
            <a:p>
              <a:pPr algn="ctr"/>
              <a:r>
                <a:rPr lang="zh-CN" altLang="en-US" sz="1100" b="1" dirty="0">
                  <a:solidFill>
                    <a:srgbClr val="000000"/>
                  </a:solidFill>
                  <a:latin typeface="微软雅黑" panose="020B0503020204020204" pitchFamily="34" charset="-122"/>
                  <a:ea typeface="微软雅黑" panose="020B0503020204020204" pitchFamily="34" charset="-122"/>
                </a:rPr>
                <a:t>接入用户</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pic>
          <p:nvPicPr>
            <p:cNvPr id="194" name="Picture 17" descr="E:\1华赛设计夹\2010-8\朱冬晴\华赛新图标\华赛新图标 png\06 安全图标(一)\IDS 2.png"/>
            <p:cNvPicPr>
              <a:picLocks noChangeAspect="1" noChangeArrowheads="1"/>
            </p:cNvPicPr>
            <p:nvPr/>
          </p:nvPicPr>
          <p:blipFill>
            <a:blip r:embed="rId15" cstate="print"/>
            <a:srcRect/>
            <a:stretch>
              <a:fillRect/>
            </a:stretch>
          </p:blipFill>
          <p:spPr bwMode="auto">
            <a:xfrm>
              <a:off x="3811795" y="2480204"/>
              <a:ext cx="245413" cy="235807"/>
            </a:xfrm>
            <a:prstGeom prst="rect">
              <a:avLst/>
            </a:prstGeom>
            <a:noFill/>
            <a:ln w="9525">
              <a:noFill/>
              <a:miter lim="800000"/>
              <a:headEnd/>
              <a:tailEnd/>
            </a:ln>
          </p:spPr>
        </p:pic>
        <p:pic>
          <p:nvPicPr>
            <p:cNvPr id="195" name="Picture 17" descr="E:\1华赛设计夹\2010-8\朱冬晴\华赛新图标\华赛新图标 png\06 安全图标(一)\IDS 2.png"/>
            <p:cNvPicPr>
              <a:picLocks noChangeAspect="1" noChangeArrowheads="1"/>
            </p:cNvPicPr>
            <p:nvPr/>
          </p:nvPicPr>
          <p:blipFill>
            <a:blip r:embed="rId15" cstate="print"/>
            <a:srcRect/>
            <a:stretch>
              <a:fillRect/>
            </a:stretch>
          </p:blipFill>
          <p:spPr bwMode="auto">
            <a:xfrm>
              <a:off x="4457034" y="2502805"/>
              <a:ext cx="245413" cy="235807"/>
            </a:xfrm>
            <a:prstGeom prst="rect">
              <a:avLst/>
            </a:prstGeom>
            <a:noFill/>
            <a:ln w="9525">
              <a:noFill/>
              <a:miter lim="800000"/>
              <a:headEnd/>
              <a:tailEnd/>
            </a:ln>
          </p:spPr>
        </p:pic>
        <p:sp>
          <p:nvSpPr>
            <p:cNvPr id="196" name="任意多边形 234"/>
            <p:cNvSpPr/>
            <p:nvPr/>
          </p:nvSpPr>
          <p:spPr>
            <a:xfrm>
              <a:off x="3506051" y="2402529"/>
              <a:ext cx="1430595" cy="147028"/>
            </a:xfrm>
            <a:custGeom>
              <a:avLst/>
              <a:gdLst>
                <a:gd name="connsiteX0" fmla="*/ 0 w 1454150"/>
                <a:gd name="connsiteY0" fmla="*/ 25400 h 192617"/>
                <a:gd name="connsiteX1" fmla="*/ 330200 w 1454150"/>
                <a:gd name="connsiteY1" fmla="*/ 165100 h 192617"/>
                <a:gd name="connsiteX2" fmla="*/ 1270000 w 1454150"/>
                <a:gd name="connsiteY2" fmla="*/ 165100 h 192617"/>
                <a:gd name="connsiteX3" fmla="*/ 1435100 w 1454150"/>
                <a:gd name="connsiteY3" fmla="*/ 0 h 192617"/>
              </a:gdLst>
              <a:ahLst/>
              <a:cxnLst>
                <a:cxn ang="0">
                  <a:pos x="connsiteX0" y="connsiteY0"/>
                </a:cxn>
                <a:cxn ang="0">
                  <a:pos x="connsiteX1" y="connsiteY1"/>
                </a:cxn>
                <a:cxn ang="0">
                  <a:pos x="connsiteX2" y="connsiteY2"/>
                </a:cxn>
                <a:cxn ang="0">
                  <a:pos x="connsiteX3" y="connsiteY3"/>
                </a:cxn>
              </a:cxnLst>
              <a:rect l="l" t="t" r="r" b="b"/>
              <a:pathLst>
                <a:path w="1454150" h="192617">
                  <a:moveTo>
                    <a:pt x="0" y="25400"/>
                  </a:moveTo>
                  <a:cubicBezTo>
                    <a:pt x="59266" y="83608"/>
                    <a:pt x="118533" y="141817"/>
                    <a:pt x="330200" y="165100"/>
                  </a:cubicBezTo>
                  <a:cubicBezTo>
                    <a:pt x="541867" y="188383"/>
                    <a:pt x="1085850" y="192617"/>
                    <a:pt x="1270000" y="165100"/>
                  </a:cubicBezTo>
                  <a:cubicBezTo>
                    <a:pt x="1454150" y="137583"/>
                    <a:pt x="1444625" y="68791"/>
                    <a:pt x="1435100" y="0"/>
                  </a:cubicBezTo>
                </a:path>
              </a:pathLst>
            </a:custGeom>
            <a:ln w="127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endParaRPr>
            </a:p>
          </p:txBody>
        </p:sp>
        <p:sp>
          <p:nvSpPr>
            <p:cNvPr id="197" name="TextBox 727"/>
            <p:cNvSpPr txBox="1"/>
            <p:nvPr/>
          </p:nvSpPr>
          <p:spPr>
            <a:xfrm>
              <a:off x="4010820" y="2577423"/>
              <a:ext cx="542656" cy="182128"/>
            </a:xfrm>
            <a:prstGeom prst="rect">
              <a:avLst/>
            </a:prstGeom>
            <a:noFill/>
          </p:spPr>
          <p:txBody>
            <a:bodyPr wrap="square" lIns="35988" tIns="45705" rIns="35988" bIns="45705" rtlCol="0" anchor="ctr" anchorCtr="0">
              <a:noAutofit/>
            </a:bodyPr>
            <a:lstStyle/>
            <a:p>
              <a:r>
                <a:rPr lang="en-US" altLang="zh-CN" sz="800" b="1" dirty="0">
                  <a:solidFill>
                    <a:srgbClr val="C00000"/>
                  </a:solidFill>
                  <a:latin typeface="微软雅黑" panose="020B0503020204020204" pitchFamily="34" charset="-122"/>
                  <a:ea typeface="微软雅黑" panose="020B0503020204020204" pitchFamily="34" charset="-122"/>
                </a:rPr>
                <a:t>IPS/AV</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198" name="直接连接符 197"/>
            <p:cNvCxnSpPr/>
            <p:nvPr/>
          </p:nvCxnSpPr>
          <p:spPr bwMode="auto">
            <a:xfrm>
              <a:off x="4051367" y="2582925"/>
              <a:ext cx="405667" cy="0"/>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9" name="Picture 455" descr="图片146"/>
            <p:cNvPicPr>
              <a:picLocks noChangeAspect="1" noChangeArrowheads="1"/>
            </p:cNvPicPr>
            <p:nvPr/>
          </p:nvPicPr>
          <p:blipFill>
            <a:blip r:embed="rId16" cstate="print"/>
            <a:srcRect/>
            <a:stretch>
              <a:fillRect/>
            </a:stretch>
          </p:blipFill>
          <p:spPr bwMode="auto">
            <a:xfrm>
              <a:off x="1306158" y="2631913"/>
              <a:ext cx="172684" cy="267712"/>
            </a:xfrm>
            <a:prstGeom prst="rect">
              <a:avLst/>
            </a:prstGeom>
            <a:noFill/>
          </p:spPr>
        </p:pic>
        <p:pic>
          <p:nvPicPr>
            <p:cNvPr id="200" name="Picture 455" descr="图片146"/>
            <p:cNvPicPr>
              <a:picLocks noChangeAspect="1" noChangeArrowheads="1"/>
            </p:cNvPicPr>
            <p:nvPr/>
          </p:nvPicPr>
          <p:blipFill>
            <a:blip r:embed="rId16" cstate="print"/>
            <a:srcRect/>
            <a:stretch>
              <a:fillRect/>
            </a:stretch>
          </p:blipFill>
          <p:spPr bwMode="auto">
            <a:xfrm>
              <a:off x="1306158" y="2914345"/>
              <a:ext cx="172684" cy="267712"/>
            </a:xfrm>
            <a:prstGeom prst="rect">
              <a:avLst/>
            </a:prstGeom>
            <a:noFill/>
          </p:spPr>
        </p:pic>
        <p:pic>
          <p:nvPicPr>
            <p:cNvPr id="201" name="Picture 455" descr="图片146"/>
            <p:cNvPicPr>
              <a:picLocks noChangeAspect="1" noChangeArrowheads="1"/>
            </p:cNvPicPr>
            <p:nvPr/>
          </p:nvPicPr>
          <p:blipFill>
            <a:blip r:embed="rId16" cstate="print"/>
            <a:srcRect/>
            <a:stretch>
              <a:fillRect/>
            </a:stretch>
          </p:blipFill>
          <p:spPr bwMode="auto">
            <a:xfrm>
              <a:off x="1305231" y="3192265"/>
              <a:ext cx="172684" cy="267712"/>
            </a:xfrm>
            <a:prstGeom prst="rect">
              <a:avLst/>
            </a:prstGeom>
            <a:noFill/>
          </p:spPr>
        </p:pic>
        <p:pic>
          <p:nvPicPr>
            <p:cNvPr id="202" name="Picture 464" descr="图片155"/>
            <p:cNvPicPr>
              <a:picLocks noChangeAspect="1" noChangeArrowheads="1"/>
            </p:cNvPicPr>
            <p:nvPr/>
          </p:nvPicPr>
          <p:blipFill>
            <a:blip r:embed="rId17" cstate="print"/>
            <a:srcRect/>
            <a:stretch>
              <a:fillRect/>
            </a:stretch>
          </p:blipFill>
          <p:spPr bwMode="auto">
            <a:xfrm>
              <a:off x="1011546" y="2762211"/>
              <a:ext cx="143338" cy="206593"/>
            </a:xfrm>
            <a:prstGeom prst="rect">
              <a:avLst/>
            </a:prstGeom>
            <a:noFill/>
          </p:spPr>
        </p:pic>
        <p:pic>
          <p:nvPicPr>
            <p:cNvPr id="203" name="Picture 464" descr="图片155"/>
            <p:cNvPicPr>
              <a:picLocks noChangeAspect="1" noChangeArrowheads="1"/>
            </p:cNvPicPr>
            <p:nvPr/>
          </p:nvPicPr>
          <p:blipFill>
            <a:blip r:embed="rId17" cstate="print"/>
            <a:srcRect/>
            <a:stretch>
              <a:fillRect/>
            </a:stretch>
          </p:blipFill>
          <p:spPr bwMode="auto">
            <a:xfrm>
              <a:off x="1011546" y="3099800"/>
              <a:ext cx="143338" cy="206593"/>
            </a:xfrm>
            <a:prstGeom prst="rect">
              <a:avLst/>
            </a:prstGeom>
            <a:noFill/>
          </p:spPr>
        </p:pic>
        <p:pic>
          <p:nvPicPr>
            <p:cNvPr id="204" name="Picture 464" descr="图片155"/>
            <p:cNvPicPr>
              <a:picLocks noChangeAspect="1" noChangeArrowheads="1"/>
            </p:cNvPicPr>
            <p:nvPr/>
          </p:nvPicPr>
          <p:blipFill>
            <a:blip r:embed="rId17" cstate="print"/>
            <a:srcRect/>
            <a:stretch>
              <a:fillRect/>
            </a:stretch>
          </p:blipFill>
          <p:spPr bwMode="auto">
            <a:xfrm>
              <a:off x="694368" y="2775245"/>
              <a:ext cx="143338" cy="206593"/>
            </a:xfrm>
            <a:prstGeom prst="rect">
              <a:avLst/>
            </a:prstGeom>
            <a:noFill/>
          </p:spPr>
        </p:pic>
        <p:pic>
          <p:nvPicPr>
            <p:cNvPr id="205" name="Picture 464" descr="图片155"/>
            <p:cNvPicPr>
              <a:picLocks noChangeAspect="1" noChangeArrowheads="1"/>
            </p:cNvPicPr>
            <p:nvPr/>
          </p:nvPicPr>
          <p:blipFill>
            <a:blip r:embed="rId17" cstate="print"/>
            <a:srcRect/>
            <a:stretch>
              <a:fillRect/>
            </a:stretch>
          </p:blipFill>
          <p:spPr bwMode="auto">
            <a:xfrm>
              <a:off x="694368" y="3098168"/>
              <a:ext cx="143338" cy="206593"/>
            </a:xfrm>
            <a:prstGeom prst="rect">
              <a:avLst/>
            </a:prstGeom>
            <a:noFill/>
          </p:spPr>
        </p:pic>
        <p:sp>
          <p:nvSpPr>
            <p:cNvPr id="206" name="TextBox 736"/>
            <p:cNvSpPr txBox="1"/>
            <p:nvPr/>
          </p:nvSpPr>
          <p:spPr>
            <a:xfrm>
              <a:off x="2370241" y="2055082"/>
              <a:ext cx="432102" cy="49591"/>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防火墙</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207" name="Picture 62" descr="C:\Users\z00124665\Downloads\PPT图片素材库\商务办公PNG图标\secured.png"/>
            <p:cNvPicPr>
              <a:picLocks noChangeAspect="1" noChangeArrowheads="1"/>
            </p:cNvPicPr>
            <p:nvPr/>
          </p:nvPicPr>
          <p:blipFill>
            <a:blip r:embed="rId18" cstate="print"/>
            <a:srcRect/>
            <a:stretch>
              <a:fillRect/>
            </a:stretch>
          </p:blipFill>
          <p:spPr bwMode="auto">
            <a:xfrm>
              <a:off x="2031178" y="4448297"/>
              <a:ext cx="236910" cy="227638"/>
            </a:xfrm>
            <a:prstGeom prst="rect">
              <a:avLst/>
            </a:prstGeom>
            <a:noFill/>
          </p:spPr>
        </p:pic>
        <p:pic>
          <p:nvPicPr>
            <p:cNvPr id="208" name="Picture 62" descr="C:\Users\z00124665\Downloads\PPT图片素材库\商务办公PNG图标\secured.png"/>
            <p:cNvPicPr>
              <a:picLocks noChangeAspect="1" noChangeArrowheads="1"/>
            </p:cNvPicPr>
            <p:nvPr/>
          </p:nvPicPr>
          <p:blipFill>
            <a:blip r:embed="rId18" cstate="print"/>
            <a:srcRect/>
            <a:stretch>
              <a:fillRect/>
            </a:stretch>
          </p:blipFill>
          <p:spPr bwMode="auto">
            <a:xfrm>
              <a:off x="2713892" y="4448297"/>
              <a:ext cx="236910" cy="227638"/>
            </a:xfrm>
            <a:prstGeom prst="rect">
              <a:avLst/>
            </a:prstGeom>
            <a:noFill/>
          </p:spPr>
        </p:pic>
        <p:pic>
          <p:nvPicPr>
            <p:cNvPr id="209" name="Picture 62" descr="C:\Users\z00124665\Downloads\PPT图片素材库\商务办公PNG图标\secured.png"/>
            <p:cNvPicPr>
              <a:picLocks noChangeAspect="1" noChangeArrowheads="1"/>
            </p:cNvPicPr>
            <p:nvPr/>
          </p:nvPicPr>
          <p:blipFill>
            <a:blip r:embed="rId18" cstate="print"/>
            <a:srcRect/>
            <a:stretch>
              <a:fillRect/>
            </a:stretch>
          </p:blipFill>
          <p:spPr bwMode="auto">
            <a:xfrm>
              <a:off x="3912133" y="4476835"/>
              <a:ext cx="236910" cy="227638"/>
            </a:xfrm>
            <a:prstGeom prst="rect">
              <a:avLst/>
            </a:prstGeom>
            <a:noFill/>
          </p:spPr>
        </p:pic>
        <p:pic>
          <p:nvPicPr>
            <p:cNvPr id="210" name="Picture 62" descr="C:\Users\z00124665\Downloads\PPT图片素材库\商务办公PNG图标\secured.png"/>
            <p:cNvPicPr>
              <a:picLocks noChangeAspect="1" noChangeArrowheads="1"/>
            </p:cNvPicPr>
            <p:nvPr/>
          </p:nvPicPr>
          <p:blipFill>
            <a:blip r:embed="rId18" cstate="print"/>
            <a:srcRect/>
            <a:stretch>
              <a:fillRect/>
            </a:stretch>
          </p:blipFill>
          <p:spPr bwMode="auto">
            <a:xfrm>
              <a:off x="4517622" y="4476835"/>
              <a:ext cx="236910" cy="227638"/>
            </a:xfrm>
            <a:prstGeom prst="rect">
              <a:avLst/>
            </a:prstGeom>
            <a:noFill/>
          </p:spPr>
        </p:pic>
        <p:pic>
          <p:nvPicPr>
            <p:cNvPr id="211" name="Picture 62" descr="C:\Users\z00124665\Downloads\PPT图片素材库\商务办公PNG图标\secured.png"/>
            <p:cNvPicPr>
              <a:picLocks noChangeAspect="1" noChangeArrowheads="1"/>
            </p:cNvPicPr>
            <p:nvPr/>
          </p:nvPicPr>
          <p:blipFill>
            <a:blip r:embed="rId18" cstate="print"/>
            <a:srcRect/>
            <a:stretch>
              <a:fillRect/>
            </a:stretch>
          </p:blipFill>
          <p:spPr bwMode="auto">
            <a:xfrm>
              <a:off x="5542876" y="4513100"/>
              <a:ext cx="236910" cy="227638"/>
            </a:xfrm>
            <a:prstGeom prst="rect">
              <a:avLst/>
            </a:prstGeom>
            <a:noFill/>
          </p:spPr>
        </p:pic>
        <p:pic>
          <p:nvPicPr>
            <p:cNvPr id="212" name="Picture 62" descr="C:\Users\z00124665\Downloads\PPT图片素材库\商务办公PNG图标\secured.png"/>
            <p:cNvPicPr>
              <a:picLocks noChangeAspect="1" noChangeArrowheads="1"/>
            </p:cNvPicPr>
            <p:nvPr/>
          </p:nvPicPr>
          <p:blipFill>
            <a:blip r:embed="rId18" cstate="print"/>
            <a:srcRect/>
            <a:stretch>
              <a:fillRect/>
            </a:stretch>
          </p:blipFill>
          <p:spPr bwMode="auto">
            <a:xfrm>
              <a:off x="6187744" y="4513100"/>
              <a:ext cx="236910" cy="227638"/>
            </a:xfrm>
            <a:prstGeom prst="rect">
              <a:avLst/>
            </a:prstGeom>
            <a:noFill/>
          </p:spPr>
        </p:pic>
        <p:sp>
          <p:nvSpPr>
            <p:cNvPr id="214" name="TextBox 744"/>
            <p:cNvSpPr txBox="1"/>
            <p:nvPr/>
          </p:nvSpPr>
          <p:spPr>
            <a:xfrm>
              <a:off x="7959889" y="2478058"/>
              <a:ext cx="867271" cy="144855"/>
            </a:xfrm>
            <a:prstGeom prst="rect">
              <a:avLst/>
            </a:prstGeom>
          </p:spPr>
          <p:txBody>
            <a:bodyPr wrap="square" lIns="91409" tIns="45705" rIns="91409" bIns="45705">
              <a:noAutofit/>
            </a:bodyPr>
            <a:lstStyle/>
            <a:p>
              <a:r>
                <a:rPr lang="zh-CN" altLang="en-US" sz="800" dirty="0">
                  <a:solidFill>
                    <a:srgbClr val="C00000"/>
                  </a:solidFill>
                  <a:latin typeface="微软雅黑" panose="020B0503020204020204" pitchFamily="34" charset="-122"/>
                  <a:ea typeface="微软雅黑" panose="020B0503020204020204" pitchFamily="34" charset="-122"/>
                </a:rPr>
                <a:t>漏洞扫描系统</a:t>
              </a:r>
              <a:endParaRPr lang="zh-CN" altLang="en-US" sz="800" dirty="0">
                <a:solidFill>
                  <a:srgbClr val="C00000"/>
                </a:solidFill>
                <a:latin typeface="微软雅黑" panose="020B0503020204020204" pitchFamily="34" charset="-122"/>
                <a:ea typeface="微软雅黑" panose="020B0503020204020204" pitchFamily="34" charset="-122"/>
              </a:endParaRPr>
            </a:p>
          </p:txBody>
        </p:sp>
        <p:pic>
          <p:nvPicPr>
            <p:cNvPr id="215" name="Picture 254" descr="S2600-2 拷贝"/>
            <p:cNvPicPr>
              <a:picLocks noChangeArrowheads="1"/>
            </p:cNvPicPr>
            <p:nvPr/>
          </p:nvPicPr>
          <p:blipFill>
            <a:blip r:embed="rId9" cstate="print">
              <a:clrChange>
                <a:clrFrom>
                  <a:srgbClr val="FFFFFF"/>
                </a:clrFrom>
                <a:clrTo>
                  <a:srgbClr val="FFFFFF">
                    <a:alpha val="0"/>
                  </a:srgbClr>
                </a:clrTo>
              </a:clrChange>
            </a:blip>
            <a:srcRect/>
            <a:stretch>
              <a:fillRect/>
            </a:stretch>
          </p:blipFill>
          <p:spPr bwMode="auto">
            <a:xfrm>
              <a:off x="7552479" y="2475185"/>
              <a:ext cx="419559" cy="183197"/>
            </a:xfrm>
            <a:prstGeom prst="rect">
              <a:avLst/>
            </a:prstGeom>
            <a:noFill/>
            <a:ln w="9525">
              <a:noFill/>
              <a:miter lim="800000"/>
              <a:headEnd/>
              <a:tailEnd/>
            </a:ln>
          </p:spPr>
        </p:pic>
        <p:pic>
          <p:nvPicPr>
            <p:cNvPr id="216" name="Picture 27" descr="E:\1华赛设计夹\2010-8\朱冬晴\华赛新图标\华赛新图标 png\05 公共图标(五)\网管 3.png"/>
            <p:cNvPicPr>
              <a:picLocks noChangeAspect="1" noChangeArrowheads="1"/>
            </p:cNvPicPr>
            <p:nvPr/>
          </p:nvPicPr>
          <p:blipFill>
            <a:blip r:embed="rId8" cstate="print"/>
            <a:srcRect/>
            <a:stretch>
              <a:fillRect/>
            </a:stretch>
          </p:blipFill>
          <p:spPr bwMode="auto">
            <a:xfrm>
              <a:off x="7524328" y="3265919"/>
              <a:ext cx="457700" cy="242828"/>
            </a:xfrm>
            <a:prstGeom prst="rect">
              <a:avLst/>
            </a:prstGeom>
            <a:noFill/>
            <a:ln w="9525">
              <a:noFill/>
              <a:miter lim="800000"/>
              <a:headEnd/>
              <a:tailEnd/>
            </a:ln>
          </p:spPr>
        </p:pic>
        <p:sp>
          <p:nvSpPr>
            <p:cNvPr id="217" name="TextBox 747"/>
            <p:cNvSpPr txBox="1"/>
            <p:nvPr/>
          </p:nvSpPr>
          <p:spPr>
            <a:xfrm>
              <a:off x="8028384" y="3195265"/>
              <a:ext cx="753842" cy="303007"/>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态势感知</a:t>
              </a:r>
              <a:endParaRPr lang="en-US" altLang="zh-CN" sz="800" b="1" dirty="0">
                <a:solidFill>
                  <a:srgbClr val="C00000"/>
                </a:solidFill>
                <a:latin typeface="微软雅黑" panose="020B0503020204020204" pitchFamily="34" charset="-122"/>
                <a:ea typeface="微软雅黑" panose="020B0503020204020204" pitchFamily="34" charset="-122"/>
              </a:endParaRPr>
            </a:p>
            <a:p>
              <a:r>
                <a:rPr lang="en-US" altLang="zh-CN" sz="800" b="1" dirty="0">
                  <a:solidFill>
                    <a:srgbClr val="C00000"/>
                  </a:solidFill>
                  <a:latin typeface="微软雅黑" panose="020B0503020204020204" pitchFamily="34" charset="-122"/>
                  <a:ea typeface="微软雅黑" panose="020B0503020204020204" pitchFamily="34" charset="-122"/>
                </a:rPr>
                <a:t>CIS</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218" name="直接连接符 217"/>
            <p:cNvCxnSpPr>
              <a:stCxn id="114" idx="1"/>
              <a:endCxn id="136" idx="0"/>
            </p:cNvCxnSpPr>
            <p:nvPr/>
          </p:nvCxnSpPr>
          <p:spPr bwMode="auto">
            <a:xfrm flipH="1">
              <a:off x="3931875" y="1615391"/>
              <a:ext cx="1075607" cy="158062"/>
            </a:xfrm>
            <a:prstGeom prst="line">
              <a:avLst/>
            </a:prstGeom>
            <a:noFill/>
            <a:ln>
              <a:solidFill>
                <a:schemeClr val="bg1">
                  <a:lumMod val="65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连接符 218"/>
            <p:cNvCxnSpPr>
              <a:stCxn id="114" idx="1"/>
              <a:endCxn id="137" idx="3"/>
            </p:cNvCxnSpPr>
            <p:nvPr/>
          </p:nvCxnSpPr>
          <p:spPr bwMode="auto">
            <a:xfrm flipH="1">
              <a:off x="4707479" y="1615391"/>
              <a:ext cx="300003" cy="287690"/>
            </a:xfrm>
            <a:prstGeom prst="line">
              <a:avLst/>
            </a:prstGeom>
            <a:noFill/>
            <a:ln>
              <a:solidFill>
                <a:schemeClr val="bg1">
                  <a:lumMod val="65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ustDataLst>
      <p:tags r:id="rId19"/>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bject 2"/>
          <p:cNvSpPr txBox="1"/>
          <p:nvPr/>
        </p:nvSpPr>
        <p:spPr>
          <a:xfrm>
            <a:off x="248386" y="168688"/>
            <a:ext cx="9231331" cy="927856"/>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ct val="100000"/>
              </a:lnSpc>
            </a:pPr>
            <a:r>
              <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等级保护安全技术方案</a:t>
            </a:r>
            <a:r>
              <a:rPr lang="en-US" altLang="zh-CN"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通用</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8" name="组合 37"/>
          <p:cNvGrpSpPr/>
          <p:nvPr/>
        </p:nvGrpSpPr>
        <p:grpSpPr>
          <a:xfrm>
            <a:off x="1443001" y="1226432"/>
            <a:ext cx="8901471" cy="5226904"/>
            <a:chOff x="323528" y="810446"/>
            <a:chExt cx="8521713" cy="4185019"/>
          </a:xfrm>
        </p:grpSpPr>
        <p:cxnSp>
          <p:nvCxnSpPr>
            <p:cNvPr id="39" name="直接连接符 38"/>
            <p:cNvCxnSpPr>
              <a:stCxn id="97" idx="0"/>
              <a:endCxn id="139" idx="2"/>
            </p:cNvCxnSpPr>
            <p:nvPr/>
          </p:nvCxnSpPr>
          <p:spPr bwMode="auto">
            <a:xfrm flipH="1" flipV="1">
              <a:off x="2247255" y="2604496"/>
              <a:ext cx="140783" cy="134116"/>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9"/>
            <p:cNvCxnSpPr/>
            <p:nvPr/>
          </p:nvCxnSpPr>
          <p:spPr bwMode="auto">
            <a:xfrm flipV="1">
              <a:off x="2481023" y="1780928"/>
              <a:ext cx="0" cy="274595"/>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3893376" y="3192265"/>
              <a:ext cx="696996" cy="0"/>
            </a:xfrm>
            <a:prstGeom prst="line">
              <a:avLst/>
            </a:prstGeom>
            <a:noFill/>
            <a:ln w="6350" cap="flat" cmpd="sng" algn="ctr">
              <a:solidFill>
                <a:srgbClr val="808080"/>
              </a:solidFill>
              <a:prstDash val="solid"/>
              <a:round/>
              <a:headEnd type="none" w="med" len="med"/>
              <a:tailEnd type="none" w="med" len="med"/>
            </a:ln>
            <a:effectLst/>
          </p:spPr>
        </p:cxnSp>
        <p:sp>
          <p:nvSpPr>
            <p:cNvPr id="43" name="TextBox 547"/>
            <p:cNvSpPr txBox="1"/>
            <p:nvPr/>
          </p:nvSpPr>
          <p:spPr>
            <a:xfrm>
              <a:off x="3113067" y="1286744"/>
              <a:ext cx="545528" cy="257973"/>
            </a:xfrm>
            <a:prstGeom prst="rect">
              <a:avLst/>
            </a:prstGeom>
            <a:noFill/>
          </p:spPr>
          <p:txBody>
            <a:bodyPr wrap="square" lIns="35988" tIns="45705" rIns="35988" bIns="45705" rtlCol="0" anchor="ctr" anchorCtr="0">
              <a:no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互联网接入区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cxnSp>
          <p:nvCxnSpPr>
            <p:cNvPr id="78" name="直接连接符 77"/>
            <p:cNvCxnSpPr/>
            <p:nvPr/>
          </p:nvCxnSpPr>
          <p:spPr bwMode="auto">
            <a:xfrm flipH="1">
              <a:off x="4561617" y="976523"/>
              <a:ext cx="4053" cy="804204"/>
            </a:xfrm>
            <a:prstGeom prst="line">
              <a:avLst/>
            </a:prstGeom>
            <a:noFill/>
            <a:ln w="6350" cap="flat" cmpd="sng" algn="ctr">
              <a:solidFill>
                <a:srgbClr val="808080"/>
              </a:solidFill>
              <a:prstDash val="solid"/>
              <a:round/>
              <a:headEnd type="none" w="med" len="med"/>
              <a:tailEnd type="none" w="med" len="med"/>
            </a:ln>
            <a:effectLst/>
          </p:spPr>
        </p:cxnSp>
        <p:cxnSp>
          <p:nvCxnSpPr>
            <p:cNvPr id="79" name="直接连接符 78"/>
            <p:cNvCxnSpPr/>
            <p:nvPr/>
          </p:nvCxnSpPr>
          <p:spPr bwMode="auto">
            <a:xfrm flipH="1">
              <a:off x="3944296" y="976523"/>
              <a:ext cx="1359" cy="803243"/>
            </a:xfrm>
            <a:prstGeom prst="line">
              <a:avLst/>
            </a:prstGeom>
            <a:noFill/>
            <a:ln w="6350" cap="flat" cmpd="sng" algn="ctr">
              <a:solidFill>
                <a:srgbClr val="808080"/>
              </a:solidFill>
              <a:prstDash val="solid"/>
              <a:round/>
              <a:headEnd type="none" w="med" len="med"/>
              <a:tailEnd type="none" w="med" len="med"/>
            </a:ln>
            <a:effectLst/>
          </p:spPr>
        </p:cxnSp>
        <p:cxnSp>
          <p:nvCxnSpPr>
            <p:cNvPr id="80" name="直接连接符 79"/>
            <p:cNvCxnSpPr/>
            <p:nvPr/>
          </p:nvCxnSpPr>
          <p:spPr bwMode="auto">
            <a:xfrm>
              <a:off x="4039074" y="2872016"/>
              <a:ext cx="405667" cy="0"/>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矩形 80"/>
            <p:cNvSpPr/>
            <p:nvPr/>
          </p:nvSpPr>
          <p:spPr>
            <a:xfrm>
              <a:off x="5005942" y="2269787"/>
              <a:ext cx="885871" cy="174705"/>
            </a:xfrm>
            <a:prstGeom prst="rect">
              <a:avLst/>
            </a:prstGeom>
          </p:spPr>
          <p:txBody>
            <a:bodyPr wrap="square" lIns="91409" tIns="45705" rIns="91409" bIns="45705">
              <a:noAutofit/>
            </a:bodyPr>
            <a:lstStyle/>
            <a:p>
              <a:r>
                <a:rPr lang="en-US" altLang="zh-CN" sz="800" b="1" dirty="0">
                  <a:solidFill>
                    <a:srgbClr val="C00000"/>
                  </a:solidFill>
                  <a:latin typeface="微软雅黑" panose="020B0503020204020204" pitchFamily="34" charset="-122"/>
                  <a:ea typeface="微软雅黑" panose="020B0503020204020204" pitchFamily="34" charset="-122"/>
                </a:rPr>
                <a:t>SSL VPN</a:t>
              </a:r>
              <a:r>
                <a:rPr lang="zh-CN" altLang="en-US" sz="800" b="1" dirty="0">
                  <a:solidFill>
                    <a:srgbClr val="C00000"/>
                  </a:solidFill>
                  <a:latin typeface="微软雅黑" panose="020B0503020204020204" pitchFamily="34" charset="-122"/>
                  <a:ea typeface="微软雅黑" panose="020B0503020204020204" pitchFamily="34" charset="-122"/>
                </a:rPr>
                <a:t>网关</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82" name="直接连接符 81"/>
            <p:cNvCxnSpPr/>
            <p:nvPr/>
          </p:nvCxnSpPr>
          <p:spPr bwMode="auto">
            <a:xfrm flipV="1">
              <a:off x="3635998" y="2338635"/>
              <a:ext cx="180617" cy="1"/>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83" name="直接连接符 82"/>
            <p:cNvCxnSpPr/>
            <p:nvPr/>
          </p:nvCxnSpPr>
          <p:spPr bwMode="auto">
            <a:xfrm>
              <a:off x="4707481" y="2329910"/>
              <a:ext cx="179551" cy="1"/>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84" name="直接连接符 83"/>
            <p:cNvCxnSpPr/>
            <p:nvPr/>
          </p:nvCxnSpPr>
          <p:spPr>
            <a:xfrm>
              <a:off x="4064063" y="2345212"/>
              <a:ext cx="388483" cy="0"/>
            </a:xfrm>
            <a:prstGeom prst="line">
              <a:avLst/>
            </a:prstGeom>
            <a:noFill/>
            <a:ln w="6350" cap="flat" cmpd="sng" algn="ctr">
              <a:solidFill>
                <a:srgbClr val="808080"/>
              </a:solidFill>
              <a:prstDash val="solid"/>
              <a:round/>
              <a:headEnd type="none" w="med" len="med"/>
              <a:tailEnd type="none" w="med" len="med"/>
            </a:ln>
            <a:effectLst/>
          </p:spPr>
        </p:cxnSp>
        <p:cxnSp>
          <p:nvCxnSpPr>
            <p:cNvPr id="85" name="直接连接符 84"/>
            <p:cNvCxnSpPr>
              <a:stCxn id="149" idx="1"/>
              <a:endCxn id="100" idx="3"/>
            </p:cNvCxnSpPr>
            <p:nvPr/>
          </p:nvCxnSpPr>
          <p:spPr bwMode="auto">
            <a:xfrm flipH="1">
              <a:off x="4080775" y="2271461"/>
              <a:ext cx="2698621" cy="902753"/>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86" name="直接连接符 85"/>
            <p:cNvCxnSpPr>
              <a:stCxn id="148" idx="0"/>
              <a:endCxn id="99" idx="3"/>
            </p:cNvCxnSpPr>
            <p:nvPr/>
          </p:nvCxnSpPr>
          <p:spPr bwMode="auto">
            <a:xfrm flipH="1">
              <a:off x="4697068" y="2446218"/>
              <a:ext cx="2202945" cy="727996"/>
            </a:xfrm>
            <a:prstGeom prst="line">
              <a:avLst/>
            </a:prstGeom>
            <a:noFill/>
            <a:ln w="9525" cap="flat" cmpd="sng" algn="ctr">
              <a:solidFill>
                <a:schemeClr val="bg1">
                  <a:lumMod val="50000"/>
                </a:schemeClr>
              </a:solidFill>
              <a:prstDash val="solid"/>
              <a:round/>
              <a:headEnd type="none" w="med" len="med"/>
              <a:tailEnd type="none" w="med" len="med"/>
            </a:ln>
            <a:effectLst/>
          </p:spPr>
        </p:cxnSp>
        <p:sp>
          <p:nvSpPr>
            <p:cNvPr id="87" name="圆角矩形 125"/>
            <p:cNvSpPr/>
            <p:nvPr/>
          </p:nvSpPr>
          <p:spPr>
            <a:xfrm>
              <a:off x="3015672" y="1185192"/>
              <a:ext cx="3329483" cy="2269513"/>
            </a:xfrm>
            <a:prstGeom prst="roundRect">
              <a:avLst>
                <a:gd name="adj" fmla="val 8609"/>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cxnSp>
          <p:nvCxnSpPr>
            <p:cNvPr id="88" name="直接连接符 87"/>
            <p:cNvCxnSpPr>
              <a:stCxn id="99" idx="0"/>
              <a:endCxn id="97" idx="3"/>
            </p:cNvCxnSpPr>
            <p:nvPr/>
          </p:nvCxnSpPr>
          <p:spPr bwMode="auto">
            <a:xfrm flipH="1" flipV="1">
              <a:off x="2517913" y="2832426"/>
              <a:ext cx="2043286" cy="240176"/>
            </a:xfrm>
            <a:prstGeom prst="line">
              <a:avLst/>
            </a:prstGeom>
            <a:noFill/>
            <a:ln w="6350" cap="flat" cmpd="sng" algn="ctr">
              <a:solidFill>
                <a:srgbClr val="808080"/>
              </a:solidFill>
              <a:prstDash val="solid"/>
              <a:round/>
              <a:headEnd type="none" w="med" len="med"/>
              <a:tailEnd type="none" w="med" len="med"/>
            </a:ln>
            <a:effectLst/>
          </p:spPr>
        </p:cxnSp>
        <p:cxnSp>
          <p:nvCxnSpPr>
            <p:cNvPr id="89" name="直接连接符 88"/>
            <p:cNvCxnSpPr>
              <a:stCxn id="100" idx="1"/>
              <a:endCxn id="96" idx="3"/>
            </p:cNvCxnSpPr>
            <p:nvPr/>
          </p:nvCxnSpPr>
          <p:spPr bwMode="auto">
            <a:xfrm flipH="1" flipV="1">
              <a:off x="2493437" y="3143308"/>
              <a:ext cx="1315600" cy="30905"/>
            </a:xfrm>
            <a:prstGeom prst="line">
              <a:avLst/>
            </a:prstGeom>
            <a:noFill/>
            <a:ln w="6350" cap="flat" cmpd="sng" algn="ctr">
              <a:solidFill>
                <a:srgbClr val="808080"/>
              </a:solidFill>
              <a:prstDash val="solid"/>
              <a:round/>
              <a:headEnd type="none" w="med" len="med"/>
              <a:tailEnd type="none" w="med" len="med"/>
            </a:ln>
            <a:effectLst/>
          </p:spPr>
        </p:cxnSp>
        <p:cxnSp>
          <p:nvCxnSpPr>
            <p:cNvPr id="90" name="直接连接符 89"/>
            <p:cNvCxnSpPr/>
            <p:nvPr/>
          </p:nvCxnSpPr>
          <p:spPr bwMode="auto">
            <a:xfrm flipV="1">
              <a:off x="6884494" y="2338470"/>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p:cNvCxnSpPr/>
            <p:nvPr/>
          </p:nvCxnSpPr>
          <p:spPr bwMode="auto">
            <a:xfrm>
              <a:off x="7003665" y="2249559"/>
              <a:ext cx="223024" cy="0"/>
            </a:xfrm>
            <a:prstGeom prst="line">
              <a:avLst/>
            </a:prstGeom>
            <a:noFill/>
            <a:ln w="6350" cap="flat" cmpd="sng" algn="ctr">
              <a:solidFill>
                <a:srgbClr val="808080"/>
              </a:solidFill>
              <a:prstDash val="solid"/>
              <a:round/>
              <a:headEnd type="none" w="med" len="med"/>
              <a:tailEnd type="none" w="med" len="med"/>
            </a:ln>
            <a:effectLst/>
          </p:spPr>
        </p:cxnSp>
        <p:cxnSp>
          <p:nvCxnSpPr>
            <p:cNvPr id="92" name="直接连接符 91"/>
            <p:cNvCxnSpPr/>
            <p:nvPr/>
          </p:nvCxnSpPr>
          <p:spPr bwMode="auto">
            <a:xfrm>
              <a:off x="7003127" y="2542323"/>
              <a:ext cx="223562" cy="0"/>
            </a:xfrm>
            <a:prstGeom prst="line">
              <a:avLst/>
            </a:prstGeom>
            <a:noFill/>
            <a:ln w="6350" cap="flat" cmpd="sng" algn="ctr">
              <a:solidFill>
                <a:srgbClr val="808080"/>
              </a:solidFill>
              <a:prstDash val="solid"/>
              <a:round/>
              <a:headEnd type="none" w="med" len="med"/>
              <a:tailEnd type="none" w="med" len="med"/>
            </a:ln>
            <a:effectLst/>
          </p:spPr>
        </p:cxnSp>
        <p:sp>
          <p:nvSpPr>
            <p:cNvPr id="93" name="TextBox 571"/>
            <p:cNvSpPr txBox="1"/>
            <p:nvPr/>
          </p:nvSpPr>
          <p:spPr>
            <a:xfrm>
              <a:off x="6732241" y="1323057"/>
              <a:ext cx="576062" cy="286925"/>
            </a:xfrm>
            <a:prstGeom prst="rect">
              <a:avLst/>
            </a:prstGeom>
            <a:noFill/>
          </p:spPr>
          <p:txBody>
            <a:bodyPr wrap="square" lIns="35988" tIns="45705" rIns="35988" bIns="45705" rtlCol="0" anchor="ctr" anchorCtr="0">
              <a:no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管理区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94" name="TextBox 572"/>
            <p:cNvSpPr txBox="1"/>
            <p:nvPr/>
          </p:nvSpPr>
          <p:spPr>
            <a:xfrm>
              <a:off x="417454" y="2329911"/>
              <a:ext cx="1188183" cy="182666"/>
            </a:xfrm>
            <a:prstGeom prst="rect">
              <a:avLst/>
            </a:prstGeom>
            <a:noFill/>
          </p:spPr>
          <p:txBody>
            <a:bodyPr wrap="square" lIns="35988" tIns="45705" rIns="35988" bIns="45705" rtlCol="0" anchor="ctr" anchorCtr="0">
              <a:no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数据中心区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95" name="圆角矩形 133"/>
            <p:cNvSpPr/>
            <p:nvPr/>
          </p:nvSpPr>
          <p:spPr>
            <a:xfrm>
              <a:off x="323528" y="2288614"/>
              <a:ext cx="2409037" cy="1297681"/>
            </a:xfrm>
            <a:prstGeom prst="roundRect">
              <a:avLst>
                <a:gd name="adj" fmla="val 11258"/>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pic>
          <p:nvPicPr>
            <p:cNvPr id="96" name="Picture 461" descr="图片240"/>
            <p:cNvPicPr>
              <a:picLocks noChangeAspect="1" noChangeArrowheads="1"/>
            </p:cNvPicPr>
            <p:nvPr/>
          </p:nvPicPr>
          <p:blipFill>
            <a:blip r:embed="rId1" cstate="print"/>
            <a:srcRect/>
            <a:stretch>
              <a:fillRect/>
            </a:stretch>
          </p:blipFill>
          <p:spPr bwMode="auto">
            <a:xfrm>
              <a:off x="2233686" y="3049494"/>
              <a:ext cx="259750" cy="187626"/>
            </a:xfrm>
            <a:prstGeom prst="rect">
              <a:avLst/>
            </a:prstGeom>
            <a:noFill/>
            <a:effectLst/>
          </p:spPr>
        </p:pic>
        <p:pic>
          <p:nvPicPr>
            <p:cNvPr id="97" name="Picture 461" descr="图片240"/>
            <p:cNvPicPr>
              <a:picLocks noChangeAspect="1" noChangeArrowheads="1"/>
            </p:cNvPicPr>
            <p:nvPr/>
          </p:nvPicPr>
          <p:blipFill>
            <a:blip r:embed="rId1" cstate="print"/>
            <a:srcRect/>
            <a:stretch>
              <a:fillRect/>
            </a:stretch>
          </p:blipFill>
          <p:spPr bwMode="auto">
            <a:xfrm>
              <a:off x="2258163" y="2738612"/>
              <a:ext cx="259750" cy="187626"/>
            </a:xfrm>
            <a:prstGeom prst="rect">
              <a:avLst/>
            </a:prstGeom>
            <a:noFill/>
            <a:effectLst/>
          </p:spPr>
        </p:pic>
        <p:sp>
          <p:nvSpPr>
            <p:cNvPr id="98" name="TextBox 576"/>
            <p:cNvSpPr txBox="1"/>
            <p:nvPr/>
          </p:nvSpPr>
          <p:spPr>
            <a:xfrm>
              <a:off x="6580074" y="1982120"/>
              <a:ext cx="728229" cy="181692"/>
            </a:xfrm>
            <a:prstGeom prst="rect">
              <a:avLst/>
            </a:prstGeom>
          </p:spPr>
          <p:txBody>
            <a:bodyPr wrap="square" lIns="91409" tIns="45705" rIns="91409" bIns="45705">
              <a:noAutofit/>
            </a:bodyPr>
            <a:lstStyle/>
            <a:p>
              <a:r>
                <a:rPr lang="zh-CN" altLang="en-US" sz="900" b="1" dirty="0">
                  <a:solidFill>
                    <a:srgbClr val="C00000"/>
                  </a:solidFill>
                  <a:latin typeface="微软雅黑" panose="020B0503020204020204" pitchFamily="34" charset="-122"/>
                  <a:ea typeface="微软雅黑" panose="020B0503020204020204" pitchFamily="34" charset="-122"/>
                </a:rPr>
                <a:t>管理区</a:t>
              </a:r>
              <a:r>
                <a:rPr lang="en-US" altLang="zh-CN" sz="900" b="1" dirty="0">
                  <a:solidFill>
                    <a:srgbClr val="C00000"/>
                  </a:solidFill>
                  <a:latin typeface="微软雅黑" panose="020B0503020204020204" pitchFamily="34" charset="-122"/>
                  <a:ea typeface="微软雅黑" panose="020B0503020204020204" pitchFamily="34" charset="-122"/>
                </a:rPr>
                <a:t>FW</a:t>
              </a:r>
              <a:endParaRPr lang="zh-CN" altLang="en-US" sz="900" b="1" dirty="0">
                <a:solidFill>
                  <a:srgbClr val="C00000"/>
                </a:solidFill>
                <a:latin typeface="微软雅黑" panose="020B0503020204020204" pitchFamily="34" charset="-122"/>
                <a:ea typeface="微软雅黑" panose="020B0503020204020204" pitchFamily="34" charset="-122"/>
              </a:endParaRPr>
            </a:p>
          </p:txBody>
        </p:sp>
        <p:pic>
          <p:nvPicPr>
            <p:cNvPr id="99" name="Picture 460" descr="图片239"/>
            <p:cNvPicPr>
              <a:picLocks noChangeAspect="1" noChangeArrowheads="1"/>
            </p:cNvPicPr>
            <p:nvPr/>
          </p:nvPicPr>
          <p:blipFill>
            <a:blip r:embed="rId2" cstate="print"/>
            <a:srcRect/>
            <a:stretch>
              <a:fillRect/>
            </a:stretch>
          </p:blipFill>
          <p:spPr bwMode="auto">
            <a:xfrm>
              <a:off x="4425330" y="3072602"/>
              <a:ext cx="271738" cy="203223"/>
            </a:xfrm>
            <a:prstGeom prst="rect">
              <a:avLst/>
            </a:prstGeom>
            <a:noFill/>
            <a:effectLst/>
          </p:spPr>
        </p:pic>
        <p:pic>
          <p:nvPicPr>
            <p:cNvPr id="100" name="Picture 460" descr="图片239"/>
            <p:cNvPicPr>
              <a:picLocks noChangeAspect="1" noChangeArrowheads="1"/>
            </p:cNvPicPr>
            <p:nvPr/>
          </p:nvPicPr>
          <p:blipFill>
            <a:blip r:embed="rId2" cstate="print"/>
            <a:srcRect/>
            <a:stretch>
              <a:fillRect/>
            </a:stretch>
          </p:blipFill>
          <p:spPr bwMode="auto">
            <a:xfrm>
              <a:off x="3809037" y="3072602"/>
              <a:ext cx="271738" cy="203223"/>
            </a:xfrm>
            <a:prstGeom prst="rect">
              <a:avLst/>
            </a:prstGeom>
            <a:noFill/>
            <a:effectLst/>
          </p:spPr>
        </p:pic>
        <p:pic>
          <p:nvPicPr>
            <p:cNvPr id="101" name="Picture 15" descr="E:\1华赛设计夹\2010-8\朱冬晴\华赛新图标\华赛新图标 png\07 安全图标(二)\SSL VPN 2.png"/>
            <p:cNvPicPr>
              <a:picLocks noChangeAspect="1" noChangeArrowheads="1"/>
            </p:cNvPicPr>
            <p:nvPr/>
          </p:nvPicPr>
          <p:blipFill>
            <a:blip r:embed="rId3" cstate="print"/>
            <a:srcRect/>
            <a:stretch>
              <a:fillRect/>
            </a:stretch>
          </p:blipFill>
          <p:spPr bwMode="auto">
            <a:xfrm>
              <a:off x="4860115" y="2274927"/>
              <a:ext cx="217407" cy="156634"/>
            </a:xfrm>
            <a:prstGeom prst="rect">
              <a:avLst/>
            </a:prstGeom>
            <a:noFill/>
            <a:ln w="9525">
              <a:noFill/>
              <a:miter lim="800000"/>
              <a:headEnd/>
              <a:tailEnd/>
            </a:ln>
          </p:spPr>
        </p:pic>
        <p:pic>
          <p:nvPicPr>
            <p:cNvPr id="102" name="Picture 15" descr="E:\1华赛设计夹\2010-8\朱冬晴\华赛新图标\华赛新图标 png\07 安全图标(二)\SSL VPN 2.png"/>
            <p:cNvPicPr>
              <a:picLocks noChangeAspect="1" noChangeArrowheads="1"/>
            </p:cNvPicPr>
            <p:nvPr/>
          </p:nvPicPr>
          <p:blipFill>
            <a:blip r:embed="rId3" cstate="print"/>
            <a:srcRect/>
            <a:stretch>
              <a:fillRect/>
            </a:stretch>
          </p:blipFill>
          <p:spPr bwMode="auto">
            <a:xfrm>
              <a:off x="3416121" y="2274927"/>
              <a:ext cx="217407" cy="156634"/>
            </a:xfrm>
            <a:prstGeom prst="rect">
              <a:avLst/>
            </a:prstGeom>
            <a:noFill/>
            <a:ln w="9525">
              <a:noFill/>
              <a:miter lim="800000"/>
              <a:headEnd/>
              <a:tailEnd/>
            </a:ln>
          </p:spPr>
        </p:pic>
        <p:sp>
          <p:nvSpPr>
            <p:cNvPr id="103" name="TextBox 581"/>
            <p:cNvSpPr txBox="1"/>
            <p:nvPr/>
          </p:nvSpPr>
          <p:spPr>
            <a:xfrm>
              <a:off x="4705602" y="2741751"/>
              <a:ext cx="751086" cy="274826"/>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上网行为管理</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104" name="TextBox 582"/>
            <p:cNvSpPr txBox="1"/>
            <p:nvPr/>
          </p:nvSpPr>
          <p:spPr>
            <a:xfrm>
              <a:off x="4021861" y="2112394"/>
              <a:ext cx="732672" cy="128283"/>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边界</a:t>
              </a:r>
              <a:r>
                <a:rPr lang="en-US" altLang="zh-CN" sz="900" b="1" dirty="0">
                  <a:solidFill>
                    <a:srgbClr val="C00000"/>
                  </a:solidFill>
                  <a:latin typeface="微软雅黑" panose="020B0503020204020204" pitchFamily="34" charset="-122"/>
                  <a:ea typeface="微软雅黑" panose="020B0503020204020204" pitchFamily="34" charset="-122"/>
                </a:rPr>
                <a:t>FW</a:t>
              </a:r>
              <a:endParaRPr lang="zh-CN" altLang="en-US" sz="900" b="1" dirty="0">
                <a:solidFill>
                  <a:srgbClr val="C00000"/>
                </a:solidFill>
                <a:latin typeface="微软雅黑" panose="020B0503020204020204" pitchFamily="34" charset="-122"/>
                <a:ea typeface="微软雅黑" panose="020B0503020204020204" pitchFamily="34" charset="-122"/>
              </a:endParaRPr>
            </a:p>
          </p:txBody>
        </p:sp>
        <p:pic>
          <p:nvPicPr>
            <p:cNvPr id="105" name="Picture 461" descr="图片240"/>
            <p:cNvPicPr>
              <a:picLocks noChangeAspect="1" noChangeArrowheads="1"/>
            </p:cNvPicPr>
            <p:nvPr/>
          </p:nvPicPr>
          <p:blipFill>
            <a:blip r:embed="rId1" cstate="print"/>
            <a:srcRect/>
            <a:stretch>
              <a:fillRect/>
            </a:stretch>
          </p:blipFill>
          <p:spPr bwMode="auto">
            <a:xfrm>
              <a:off x="7169980" y="2179468"/>
              <a:ext cx="259750" cy="187626"/>
            </a:xfrm>
            <a:prstGeom prst="rect">
              <a:avLst/>
            </a:prstGeom>
            <a:noFill/>
            <a:effectLst/>
          </p:spPr>
        </p:pic>
        <p:pic>
          <p:nvPicPr>
            <p:cNvPr id="106" name="Picture 461" descr="图片240"/>
            <p:cNvPicPr>
              <a:picLocks noChangeAspect="1" noChangeArrowheads="1"/>
            </p:cNvPicPr>
            <p:nvPr/>
          </p:nvPicPr>
          <p:blipFill>
            <a:blip r:embed="rId1" cstate="print"/>
            <a:srcRect/>
            <a:stretch>
              <a:fillRect/>
            </a:stretch>
          </p:blipFill>
          <p:spPr bwMode="auto">
            <a:xfrm>
              <a:off x="7169980" y="2454390"/>
              <a:ext cx="259750" cy="187626"/>
            </a:xfrm>
            <a:prstGeom prst="rect">
              <a:avLst/>
            </a:prstGeom>
            <a:noFill/>
            <a:effectLst/>
          </p:spPr>
        </p:pic>
        <p:cxnSp>
          <p:nvCxnSpPr>
            <p:cNvPr id="107" name="直接连接符 106"/>
            <p:cNvCxnSpPr/>
            <p:nvPr/>
          </p:nvCxnSpPr>
          <p:spPr bwMode="auto">
            <a:xfrm flipV="1">
              <a:off x="7292644" y="2344420"/>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8" name="TextBox 586"/>
            <p:cNvSpPr txBox="1"/>
            <p:nvPr/>
          </p:nvSpPr>
          <p:spPr>
            <a:xfrm>
              <a:off x="1761949" y="2526037"/>
              <a:ext cx="648071" cy="150541"/>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核心</a:t>
              </a:r>
              <a:r>
                <a:rPr lang="en-US" altLang="zh-CN" sz="800" b="1" dirty="0">
                  <a:solidFill>
                    <a:srgbClr val="C00000"/>
                  </a:solidFill>
                  <a:latin typeface="微软雅黑" panose="020B0503020204020204" pitchFamily="34" charset="-122"/>
                  <a:ea typeface="微软雅黑" panose="020B0503020204020204" pitchFamily="34" charset="-122"/>
                </a:rPr>
                <a:t>FW/IPS</a:t>
              </a:r>
              <a:endParaRPr lang="en-US" altLang="zh-CN" sz="800" b="1" dirty="0">
                <a:solidFill>
                  <a:srgbClr val="C00000"/>
                </a:solidFill>
                <a:latin typeface="微软雅黑" panose="020B0503020204020204" pitchFamily="34" charset="-122"/>
                <a:ea typeface="微软雅黑" panose="020B0503020204020204" pitchFamily="34" charset="-122"/>
              </a:endParaRPr>
            </a:p>
          </p:txBody>
        </p:sp>
        <p:sp>
          <p:nvSpPr>
            <p:cNvPr id="109" name="云形 108"/>
            <p:cNvSpPr/>
            <p:nvPr/>
          </p:nvSpPr>
          <p:spPr bwMode="auto">
            <a:xfrm>
              <a:off x="3212281" y="810446"/>
              <a:ext cx="2136171" cy="324804"/>
            </a:xfrm>
            <a:prstGeom prst="cloud">
              <a:avLst/>
            </a:prstGeom>
            <a:solidFill>
              <a:schemeClr val="bg1">
                <a:alpha val="70000"/>
              </a:schemeClr>
            </a:solidFill>
            <a:ln w="9525" cap="flat" cmpd="sng" algn="ctr">
              <a:noFill/>
              <a:prstDash val="solid"/>
            </a:ln>
            <a:effectLst>
              <a:glow rad="139700">
                <a:srgbClr val="0070C0">
                  <a:alpha val="40000"/>
                </a:srgbClr>
              </a:glow>
              <a:outerShdw blurRad="40000" dist="23000" dir="5400000" rotWithShape="0">
                <a:schemeClr val="bg2">
                  <a:alpha val="35000"/>
                </a:schemeClr>
              </a:outerShdw>
            </a:effectLst>
            <a:scene3d>
              <a:camera prst="orthographicFront"/>
              <a:lightRig rig="threePt" dir="t"/>
            </a:scene3d>
            <a:sp3d extrusionH="76200">
              <a:extrusionClr>
                <a:schemeClr val="bg2"/>
              </a:extrusionClr>
            </a:sp3d>
          </p:spPr>
          <p:txBody>
            <a:bodyPr rtlCol="0" anchor="ctr"/>
            <a:lstStyle/>
            <a:p>
              <a:pPr algn="ctr"/>
              <a:r>
                <a:rPr lang="en-US" altLang="zh-CN" sz="1600" b="1" dirty="0">
                  <a:solidFill>
                    <a:srgbClr val="000000"/>
                  </a:solidFill>
                  <a:latin typeface="微软雅黑" panose="020B0503020204020204" pitchFamily="34" charset="-122"/>
                  <a:ea typeface="微软雅黑" panose="020B0503020204020204" pitchFamily="34" charset="-122"/>
                </a:rPr>
                <a:t>Internet</a:t>
              </a:r>
              <a:endParaRPr lang="zh-CN" altLang="en-US" sz="1600" b="1" dirty="0">
                <a:solidFill>
                  <a:srgbClr val="000000"/>
                </a:solidFill>
                <a:latin typeface="微软雅黑" panose="020B0503020204020204" pitchFamily="34" charset="-122"/>
                <a:ea typeface="微软雅黑" panose="020B0503020204020204" pitchFamily="34" charset="-122"/>
              </a:endParaRPr>
            </a:p>
          </p:txBody>
        </p:sp>
        <p:cxnSp>
          <p:nvCxnSpPr>
            <p:cNvPr id="110" name="直接连接符 351"/>
            <p:cNvCxnSpPr>
              <a:cxnSpLocks noChangeShapeType="1"/>
              <a:endCxn id="114" idx="0"/>
            </p:cNvCxnSpPr>
            <p:nvPr/>
          </p:nvCxnSpPr>
          <p:spPr bwMode="auto">
            <a:xfrm>
              <a:off x="4590854" y="1376679"/>
              <a:ext cx="520574" cy="164188"/>
            </a:xfrm>
            <a:prstGeom prst="line">
              <a:avLst/>
            </a:prstGeom>
            <a:noFill/>
            <a:ln w="6350" algn="ctr">
              <a:solidFill>
                <a:srgbClr val="808080"/>
              </a:solidFill>
              <a:round/>
            </a:ln>
          </p:spPr>
        </p:cxnSp>
        <p:cxnSp>
          <p:nvCxnSpPr>
            <p:cNvPr id="111" name="直接连接符 352"/>
            <p:cNvCxnSpPr>
              <a:cxnSpLocks noChangeShapeType="1"/>
              <a:endCxn id="114" idx="0"/>
            </p:cNvCxnSpPr>
            <p:nvPr/>
          </p:nvCxnSpPr>
          <p:spPr bwMode="auto">
            <a:xfrm>
              <a:off x="3944299" y="1401513"/>
              <a:ext cx="1167129" cy="139354"/>
            </a:xfrm>
            <a:prstGeom prst="line">
              <a:avLst/>
            </a:prstGeom>
            <a:noFill/>
            <a:ln w="6350" algn="ctr">
              <a:solidFill>
                <a:srgbClr val="808080"/>
              </a:solidFill>
              <a:round/>
            </a:ln>
          </p:spPr>
        </p:cxnSp>
        <p:grpSp>
          <p:nvGrpSpPr>
            <p:cNvPr id="112" name="Group 15"/>
            <p:cNvGrpSpPr/>
            <p:nvPr/>
          </p:nvGrpSpPr>
          <p:grpSpPr bwMode="auto">
            <a:xfrm>
              <a:off x="3912133" y="1375609"/>
              <a:ext cx="79451" cy="55741"/>
              <a:chOff x="3531" y="238"/>
              <a:chExt cx="489" cy="489"/>
            </a:xfrm>
          </p:grpSpPr>
          <p:sp>
            <p:nvSpPr>
              <p:cNvPr id="227" name="Freeform 16"/>
              <p:cNvSpPr/>
              <p:nvPr/>
            </p:nvSpPr>
            <p:spPr bwMode="auto">
              <a:xfrm>
                <a:off x="3531" y="238"/>
                <a:ext cx="489" cy="489"/>
              </a:xfrm>
              <a:custGeom>
                <a:avLst/>
                <a:gdLst/>
                <a:ahLst/>
                <a:cxnLst>
                  <a:cxn ang="0">
                    <a:pos x="1616" y="2928"/>
                  </a:cxn>
                  <a:cxn ang="0">
                    <a:pos x="1832" y="2889"/>
                  </a:cxn>
                  <a:cxn ang="0">
                    <a:pos x="2036" y="2820"/>
                  </a:cxn>
                  <a:cxn ang="0">
                    <a:pos x="2225" y="2722"/>
                  </a:cxn>
                  <a:cxn ang="0">
                    <a:pos x="2397" y="2599"/>
                  </a:cxn>
                  <a:cxn ang="0">
                    <a:pos x="2551" y="2454"/>
                  </a:cxn>
                  <a:cxn ang="0">
                    <a:pos x="2681" y="2287"/>
                  </a:cxn>
                  <a:cxn ang="0">
                    <a:pos x="2787" y="2103"/>
                  </a:cxn>
                  <a:cxn ang="0">
                    <a:pos x="2866" y="1903"/>
                  </a:cxn>
                  <a:cxn ang="0">
                    <a:pos x="2916" y="1690"/>
                  </a:cxn>
                  <a:cxn ang="0">
                    <a:pos x="2932" y="1467"/>
                  </a:cxn>
                  <a:cxn ang="0">
                    <a:pos x="2916" y="1244"/>
                  </a:cxn>
                  <a:cxn ang="0">
                    <a:pos x="2866" y="1032"/>
                  </a:cxn>
                  <a:cxn ang="0">
                    <a:pos x="2787" y="832"/>
                  </a:cxn>
                  <a:cxn ang="0">
                    <a:pos x="2681" y="648"/>
                  </a:cxn>
                  <a:cxn ang="0">
                    <a:pos x="2551" y="482"/>
                  </a:cxn>
                  <a:cxn ang="0">
                    <a:pos x="2397" y="335"/>
                  </a:cxn>
                  <a:cxn ang="0">
                    <a:pos x="2225" y="213"/>
                  </a:cxn>
                  <a:cxn ang="0">
                    <a:pos x="2036" y="116"/>
                  </a:cxn>
                  <a:cxn ang="0">
                    <a:pos x="1832" y="47"/>
                  </a:cxn>
                  <a:cxn ang="0">
                    <a:pos x="1616" y="8"/>
                  </a:cxn>
                  <a:cxn ang="0">
                    <a:pos x="1391" y="2"/>
                  </a:cxn>
                  <a:cxn ang="0">
                    <a:pos x="1171" y="30"/>
                  </a:cxn>
                  <a:cxn ang="0">
                    <a:pos x="963" y="89"/>
                  </a:cxn>
                  <a:cxn ang="0">
                    <a:pos x="768" y="178"/>
                  </a:cxn>
                  <a:cxn ang="0">
                    <a:pos x="590" y="292"/>
                  </a:cxn>
                  <a:cxn ang="0">
                    <a:pos x="430" y="430"/>
                  </a:cxn>
                  <a:cxn ang="0">
                    <a:pos x="292" y="590"/>
                  </a:cxn>
                  <a:cxn ang="0">
                    <a:pos x="177" y="769"/>
                  </a:cxn>
                  <a:cxn ang="0">
                    <a:pos x="89" y="964"/>
                  </a:cxn>
                  <a:cxn ang="0">
                    <a:pos x="30" y="1173"/>
                  </a:cxn>
                  <a:cxn ang="0">
                    <a:pos x="2" y="1392"/>
                  </a:cxn>
                  <a:cxn ang="0">
                    <a:pos x="8" y="1618"/>
                  </a:cxn>
                  <a:cxn ang="0">
                    <a:pos x="46" y="1834"/>
                  </a:cxn>
                  <a:cxn ang="0">
                    <a:pos x="116" y="2038"/>
                  </a:cxn>
                  <a:cxn ang="0">
                    <a:pos x="213" y="2227"/>
                  </a:cxn>
                  <a:cxn ang="0">
                    <a:pos x="335" y="2400"/>
                  </a:cxn>
                  <a:cxn ang="0">
                    <a:pos x="480" y="2553"/>
                  </a:cxn>
                  <a:cxn ang="0">
                    <a:pos x="647" y="2684"/>
                  </a:cxn>
                  <a:cxn ang="0">
                    <a:pos x="831" y="2789"/>
                  </a:cxn>
                  <a:cxn ang="0">
                    <a:pos x="1031" y="2869"/>
                  </a:cxn>
                  <a:cxn ang="0">
                    <a:pos x="1243" y="2919"/>
                  </a:cxn>
                  <a:cxn ang="0">
                    <a:pos x="1466" y="2935"/>
                  </a:cxn>
                </a:cxnLst>
                <a:rect l="0" t="0" r="r" b="b"/>
                <a:pathLst>
                  <a:path w="2932" h="2935">
                    <a:moveTo>
                      <a:pt x="1466" y="2935"/>
                    </a:moveTo>
                    <a:lnTo>
                      <a:pt x="1541" y="2933"/>
                    </a:lnTo>
                    <a:lnTo>
                      <a:pt x="1616" y="2928"/>
                    </a:lnTo>
                    <a:lnTo>
                      <a:pt x="1689" y="2919"/>
                    </a:lnTo>
                    <a:lnTo>
                      <a:pt x="1760" y="2906"/>
                    </a:lnTo>
                    <a:lnTo>
                      <a:pt x="1832" y="2889"/>
                    </a:lnTo>
                    <a:lnTo>
                      <a:pt x="1901" y="2869"/>
                    </a:lnTo>
                    <a:lnTo>
                      <a:pt x="1969" y="2846"/>
                    </a:lnTo>
                    <a:lnTo>
                      <a:pt x="2036" y="2820"/>
                    </a:lnTo>
                    <a:lnTo>
                      <a:pt x="2100" y="2789"/>
                    </a:lnTo>
                    <a:lnTo>
                      <a:pt x="2164" y="2758"/>
                    </a:lnTo>
                    <a:lnTo>
                      <a:pt x="2225" y="2722"/>
                    </a:lnTo>
                    <a:lnTo>
                      <a:pt x="2285" y="2684"/>
                    </a:lnTo>
                    <a:lnTo>
                      <a:pt x="2342" y="2643"/>
                    </a:lnTo>
                    <a:lnTo>
                      <a:pt x="2397" y="2599"/>
                    </a:lnTo>
                    <a:lnTo>
                      <a:pt x="2451" y="2553"/>
                    </a:lnTo>
                    <a:lnTo>
                      <a:pt x="2502" y="2504"/>
                    </a:lnTo>
                    <a:lnTo>
                      <a:pt x="2551" y="2454"/>
                    </a:lnTo>
                    <a:lnTo>
                      <a:pt x="2597" y="2400"/>
                    </a:lnTo>
                    <a:lnTo>
                      <a:pt x="2640" y="2344"/>
                    </a:lnTo>
                    <a:lnTo>
                      <a:pt x="2681" y="2287"/>
                    </a:lnTo>
                    <a:lnTo>
                      <a:pt x="2720" y="2227"/>
                    </a:lnTo>
                    <a:lnTo>
                      <a:pt x="2755" y="2166"/>
                    </a:lnTo>
                    <a:lnTo>
                      <a:pt x="2787" y="2103"/>
                    </a:lnTo>
                    <a:lnTo>
                      <a:pt x="2817" y="2038"/>
                    </a:lnTo>
                    <a:lnTo>
                      <a:pt x="2843" y="1971"/>
                    </a:lnTo>
                    <a:lnTo>
                      <a:pt x="2866" y="1903"/>
                    </a:lnTo>
                    <a:lnTo>
                      <a:pt x="2886" y="1834"/>
                    </a:lnTo>
                    <a:lnTo>
                      <a:pt x="2903" y="1763"/>
                    </a:lnTo>
                    <a:lnTo>
                      <a:pt x="2916" y="1690"/>
                    </a:lnTo>
                    <a:lnTo>
                      <a:pt x="2925" y="1618"/>
                    </a:lnTo>
                    <a:lnTo>
                      <a:pt x="2930" y="1542"/>
                    </a:lnTo>
                    <a:lnTo>
                      <a:pt x="2932" y="1467"/>
                    </a:lnTo>
                    <a:lnTo>
                      <a:pt x="2930" y="1392"/>
                    </a:lnTo>
                    <a:lnTo>
                      <a:pt x="2925" y="1318"/>
                    </a:lnTo>
                    <a:lnTo>
                      <a:pt x="2916" y="1244"/>
                    </a:lnTo>
                    <a:lnTo>
                      <a:pt x="2903" y="1173"/>
                    </a:lnTo>
                    <a:lnTo>
                      <a:pt x="2886" y="1101"/>
                    </a:lnTo>
                    <a:lnTo>
                      <a:pt x="2866" y="1032"/>
                    </a:lnTo>
                    <a:lnTo>
                      <a:pt x="2843" y="964"/>
                    </a:lnTo>
                    <a:lnTo>
                      <a:pt x="2817" y="897"/>
                    </a:lnTo>
                    <a:lnTo>
                      <a:pt x="2787" y="832"/>
                    </a:lnTo>
                    <a:lnTo>
                      <a:pt x="2755" y="769"/>
                    </a:lnTo>
                    <a:lnTo>
                      <a:pt x="2720" y="708"/>
                    </a:lnTo>
                    <a:lnTo>
                      <a:pt x="2681" y="648"/>
                    </a:lnTo>
                    <a:lnTo>
                      <a:pt x="2640" y="590"/>
                    </a:lnTo>
                    <a:lnTo>
                      <a:pt x="2597" y="535"/>
                    </a:lnTo>
                    <a:lnTo>
                      <a:pt x="2551" y="482"/>
                    </a:lnTo>
                    <a:lnTo>
                      <a:pt x="2502" y="430"/>
                    </a:lnTo>
                    <a:lnTo>
                      <a:pt x="2451" y="382"/>
                    </a:lnTo>
                    <a:lnTo>
                      <a:pt x="2397" y="335"/>
                    </a:lnTo>
                    <a:lnTo>
                      <a:pt x="2342" y="292"/>
                    </a:lnTo>
                    <a:lnTo>
                      <a:pt x="2285" y="251"/>
                    </a:lnTo>
                    <a:lnTo>
                      <a:pt x="2225" y="213"/>
                    </a:lnTo>
                    <a:lnTo>
                      <a:pt x="2164" y="178"/>
                    </a:lnTo>
                    <a:lnTo>
                      <a:pt x="2100" y="145"/>
                    </a:lnTo>
                    <a:lnTo>
                      <a:pt x="2036" y="116"/>
                    </a:lnTo>
                    <a:lnTo>
                      <a:pt x="1969" y="89"/>
                    </a:lnTo>
                    <a:lnTo>
                      <a:pt x="1901" y="66"/>
                    </a:lnTo>
                    <a:lnTo>
                      <a:pt x="1832" y="47"/>
                    </a:lnTo>
                    <a:lnTo>
                      <a:pt x="1760" y="30"/>
                    </a:lnTo>
                    <a:lnTo>
                      <a:pt x="1689" y="17"/>
                    </a:lnTo>
                    <a:lnTo>
                      <a:pt x="1616" y="8"/>
                    </a:lnTo>
                    <a:lnTo>
                      <a:pt x="1541" y="2"/>
                    </a:lnTo>
                    <a:lnTo>
                      <a:pt x="1466" y="0"/>
                    </a:lnTo>
                    <a:lnTo>
                      <a:pt x="1391" y="2"/>
                    </a:lnTo>
                    <a:lnTo>
                      <a:pt x="1317" y="8"/>
                    </a:lnTo>
                    <a:lnTo>
                      <a:pt x="1243" y="17"/>
                    </a:lnTo>
                    <a:lnTo>
                      <a:pt x="1171" y="30"/>
                    </a:lnTo>
                    <a:lnTo>
                      <a:pt x="1100" y="47"/>
                    </a:lnTo>
                    <a:lnTo>
                      <a:pt x="1031" y="66"/>
                    </a:lnTo>
                    <a:lnTo>
                      <a:pt x="963" y="89"/>
                    </a:lnTo>
                    <a:lnTo>
                      <a:pt x="896" y="116"/>
                    </a:lnTo>
                    <a:lnTo>
                      <a:pt x="831" y="145"/>
                    </a:lnTo>
                    <a:lnTo>
                      <a:pt x="768" y="178"/>
                    </a:lnTo>
                    <a:lnTo>
                      <a:pt x="707" y="213"/>
                    </a:lnTo>
                    <a:lnTo>
                      <a:pt x="647" y="251"/>
                    </a:lnTo>
                    <a:lnTo>
                      <a:pt x="590" y="292"/>
                    </a:lnTo>
                    <a:lnTo>
                      <a:pt x="534" y="335"/>
                    </a:lnTo>
                    <a:lnTo>
                      <a:pt x="480" y="382"/>
                    </a:lnTo>
                    <a:lnTo>
                      <a:pt x="430" y="430"/>
                    </a:lnTo>
                    <a:lnTo>
                      <a:pt x="382" y="482"/>
                    </a:lnTo>
                    <a:lnTo>
                      <a:pt x="335" y="535"/>
                    </a:lnTo>
                    <a:lnTo>
                      <a:pt x="292" y="590"/>
                    </a:lnTo>
                    <a:lnTo>
                      <a:pt x="251" y="648"/>
                    </a:lnTo>
                    <a:lnTo>
                      <a:pt x="213" y="708"/>
                    </a:lnTo>
                    <a:lnTo>
                      <a:pt x="177" y="769"/>
                    </a:lnTo>
                    <a:lnTo>
                      <a:pt x="145" y="832"/>
                    </a:lnTo>
                    <a:lnTo>
                      <a:pt x="116" y="897"/>
                    </a:lnTo>
                    <a:lnTo>
                      <a:pt x="89" y="964"/>
                    </a:lnTo>
                    <a:lnTo>
                      <a:pt x="66" y="1032"/>
                    </a:lnTo>
                    <a:lnTo>
                      <a:pt x="46" y="1101"/>
                    </a:lnTo>
                    <a:lnTo>
                      <a:pt x="30" y="1173"/>
                    </a:lnTo>
                    <a:lnTo>
                      <a:pt x="17" y="1244"/>
                    </a:lnTo>
                    <a:lnTo>
                      <a:pt x="8" y="1318"/>
                    </a:lnTo>
                    <a:lnTo>
                      <a:pt x="2" y="1392"/>
                    </a:lnTo>
                    <a:lnTo>
                      <a:pt x="0" y="1467"/>
                    </a:lnTo>
                    <a:lnTo>
                      <a:pt x="2" y="1542"/>
                    </a:lnTo>
                    <a:lnTo>
                      <a:pt x="8" y="1618"/>
                    </a:lnTo>
                    <a:lnTo>
                      <a:pt x="17" y="1690"/>
                    </a:lnTo>
                    <a:lnTo>
                      <a:pt x="30" y="1763"/>
                    </a:lnTo>
                    <a:lnTo>
                      <a:pt x="46" y="1834"/>
                    </a:lnTo>
                    <a:lnTo>
                      <a:pt x="66" y="1903"/>
                    </a:lnTo>
                    <a:lnTo>
                      <a:pt x="89" y="1971"/>
                    </a:lnTo>
                    <a:lnTo>
                      <a:pt x="116" y="2038"/>
                    </a:lnTo>
                    <a:lnTo>
                      <a:pt x="145" y="2103"/>
                    </a:lnTo>
                    <a:lnTo>
                      <a:pt x="177" y="2166"/>
                    </a:lnTo>
                    <a:lnTo>
                      <a:pt x="213" y="2227"/>
                    </a:lnTo>
                    <a:lnTo>
                      <a:pt x="251" y="2287"/>
                    </a:lnTo>
                    <a:lnTo>
                      <a:pt x="292" y="2344"/>
                    </a:lnTo>
                    <a:lnTo>
                      <a:pt x="335" y="2400"/>
                    </a:lnTo>
                    <a:lnTo>
                      <a:pt x="382" y="2454"/>
                    </a:lnTo>
                    <a:lnTo>
                      <a:pt x="430" y="2504"/>
                    </a:lnTo>
                    <a:lnTo>
                      <a:pt x="480" y="2553"/>
                    </a:lnTo>
                    <a:lnTo>
                      <a:pt x="534" y="2599"/>
                    </a:lnTo>
                    <a:lnTo>
                      <a:pt x="590" y="2643"/>
                    </a:lnTo>
                    <a:lnTo>
                      <a:pt x="647" y="2684"/>
                    </a:lnTo>
                    <a:lnTo>
                      <a:pt x="707" y="2722"/>
                    </a:lnTo>
                    <a:lnTo>
                      <a:pt x="768" y="2758"/>
                    </a:lnTo>
                    <a:lnTo>
                      <a:pt x="831" y="2789"/>
                    </a:lnTo>
                    <a:lnTo>
                      <a:pt x="896" y="2820"/>
                    </a:lnTo>
                    <a:lnTo>
                      <a:pt x="963" y="2846"/>
                    </a:lnTo>
                    <a:lnTo>
                      <a:pt x="1031" y="2869"/>
                    </a:lnTo>
                    <a:lnTo>
                      <a:pt x="1100" y="2889"/>
                    </a:lnTo>
                    <a:lnTo>
                      <a:pt x="1171" y="2906"/>
                    </a:lnTo>
                    <a:lnTo>
                      <a:pt x="1243" y="2919"/>
                    </a:lnTo>
                    <a:lnTo>
                      <a:pt x="1317" y="2928"/>
                    </a:lnTo>
                    <a:lnTo>
                      <a:pt x="1391" y="2933"/>
                    </a:lnTo>
                    <a:lnTo>
                      <a:pt x="1466" y="2935"/>
                    </a:lnTo>
                    <a:close/>
                  </a:path>
                </a:pathLst>
              </a:custGeom>
              <a:solidFill>
                <a:srgbClr val="A27A3F"/>
              </a:solidFill>
              <a:ln w="9525">
                <a:noFill/>
                <a:round/>
              </a:ln>
            </p:spPr>
            <p:txBody>
              <a:bodyPr/>
              <a:lstStyle/>
              <a:p>
                <a:pPr defTabSz="685165">
                  <a:defRPr/>
                </a:pPr>
                <a:endParaRPr lang="zh-CN" altLang="en-US" sz="1300" kern="0" dirty="0">
                  <a:solidFill>
                    <a:sysClr val="windowText" lastClr="000000"/>
                  </a:solidFill>
                  <a:latin typeface="微软雅黑" panose="020B0503020204020204" pitchFamily="34" charset="-122"/>
                  <a:ea typeface="微软雅黑" panose="020B0503020204020204" pitchFamily="34" charset="-122"/>
                </a:endParaRPr>
              </a:p>
            </p:txBody>
          </p:sp>
          <p:sp>
            <p:nvSpPr>
              <p:cNvPr id="228" name="Freeform 17"/>
              <p:cNvSpPr/>
              <p:nvPr/>
            </p:nvSpPr>
            <p:spPr bwMode="auto">
              <a:xfrm>
                <a:off x="3578" y="270"/>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1"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1"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ysClr val="windowText" lastClr="000000"/>
                  </a:solidFill>
                  <a:latin typeface="微软雅黑" panose="020B0503020204020204" pitchFamily="34" charset="-122"/>
                  <a:ea typeface="微软雅黑" panose="020B0503020204020204" pitchFamily="34" charset="-122"/>
                </a:endParaRPr>
              </a:p>
            </p:txBody>
          </p:sp>
          <p:sp>
            <p:nvSpPr>
              <p:cNvPr id="229" name="Freeform 18"/>
              <p:cNvSpPr/>
              <p:nvPr/>
            </p:nvSpPr>
            <p:spPr bwMode="auto">
              <a:xfrm>
                <a:off x="3733" y="355"/>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2"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2"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ysClr val="windowText" lastClr="000000"/>
                  </a:solidFill>
                  <a:latin typeface="微软雅黑" panose="020B0503020204020204" pitchFamily="34" charset="-122"/>
                  <a:ea typeface="微软雅黑" panose="020B0503020204020204" pitchFamily="34" charset="-122"/>
                </a:endParaRPr>
              </a:p>
            </p:txBody>
          </p:sp>
        </p:grpSp>
        <p:grpSp>
          <p:nvGrpSpPr>
            <p:cNvPr id="113" name="Group 15"/>
            <p:cNvGrpSpPr/>
            <p:nvPr/>
          </p:nvGrpSpPr>
          <p:grpSpPr bwMode="auto">
            <a:xfrm>
              <a:off x="4521476" y="1343777"/>
              <a:ext cx="79451" cy="55741"/>
              <a:chOff x="3531" y="238"/>
              <a:chExt cx="489" cy="489"/>
            </a:xfrm>
          </p:grpSpPr>
          <p:sp>
            <p:nvSpPr>
              <p:cNvPr id="224" name="Freeform 16"/>
              <p:cNvSpPr/>
              <p:nvPr/>
            </p:nvSpPr>
            <p:spPr bwMode="auto">
              <a:xfrm>
                <a:off x="3531" y="238"/>
                <a:ext cx="489" cy="489"/>
              </a:xfrm>
              <a:custGeom>
                <a:avLst/>
                <a:gdLst/>
                <a:ahLst/>
                <a:cxnLst>
                  <a:cxn ang="0">
                    <a:pos x="1616" y="2928"/>
                  </a:cxn>
                  <a:cxn ang="0">
                    <a:pos x="1832" y="2889"/>
                  </a:cxn>
                  <a:cxn ang="0">
                    <a:pos x="2036" y="2820"/>
                  </a:cxn>
                  <a:cxn ang="0">
                    <a:pos x="2225" y="2722"/>
                  </a:cxn>
                  <a:cxn ang="0">
                    <a:pos x="2397" y="2599"/>
                  </a:cxn>
                  <a:cxn ang="0">
                    <a:pos x="2551" y="2454"/>
                  </a:cxn>
                  <a:cxn ang="0">
                    <a:pos x="2681" y="2287"/>
                  </a:cxn>
                  <a:cxn ang="0">
                    <a:pos x="2787" y="2103"/>
                  </a:cxn>
                  <a:cxn ang="0">
                    <a:pos x="2866" y="1903"/>
                  </a:cxn>
                  <a:cxn ang="0">
                    <a:pos x="2916" y="1690"/>
                  </a:cxn>
                  <a:cxn ang="0">
                    <a:pos x="2932" y="1467"/>
                  </a:cxn>
                  <a:cxn ang="0">
                    <a:pos x="2916" y="1244"/>
                  </a:cxn>
                  <a:cxn ang="0">
                    <a:pos x="2866" y="1032"/>
                  </a:cxn>
                  <a:cxn ang="0">
                    <a:pos x="2787" y="832"/>
                  </a:cxn>
                  <a:cxn ang="0">
                    <a:pos x="2681" y="648"/>
                  </a:cxn>
                  <a:cxn ang="0">
                    <a:pos x="2551" y="482"/>
                  </a:cxn>
                  <a:cxn ang="0">
                    <a:pos x="2397" y="335"/>
                  </a:cxn>
                  <a:cxn ang="0">
                    <a:pos x="2225" y="213"/>
                  </a:cxn>
                  <a:cxn ang="0">
                    <a:pos x="2036" y="116"/>
                  </a:cxn>
                  <a:cxn ang="0">
                    <a:pos x="1832" y="47"/>
                  </a:cxn>
                  <a:cxn ang="0">
                    <a:pos x="1616" y="8"/>
                  </a:cxn>
                  <a:cxn ang="0">
                    <a:pos x="1391" y="2"/>
                  </a:cxn>
                  <a:cxn ang="0">
                    <a:pos x="1171" y="30"/>
                  </a:cxn>
                  <a:cxn ang="0">
                    <a:pos x="963" y="89"/>
                  </a:cxn>
                  <a:cxn ang="0">
                    <a:pos x="768" y="178"/>
                  </a:cxn>
                  <a:cxn ang="0">
                    <a:pos x="590" y="292"/>
                  </a:cxn>
                  <a:cxn ang="0">
                    <a:pos x="430" y="430"/>
                  </a:cxn>
                  <a:cxn ang="0">
                    <a:pos x="292" y="590"/>
                  </a:cxn>
                  <a:cxn ang="0">
                    <a:pos x="177" y="769"/>
                  </a:cxn>
                  <a:cxn ang="0">
                    <a:pos x="89" y="964"/>
                  </a:cxn>
                  <a:cxn ang="0">
                    <a:pos x="30" y="1173"/>
                  </a:cxn>
                  <a:cxn ang="0">
                    <a:pos x="2" y="1392"/>
                  </a:cxn>
                  <a:cxn ang="0">
                    <a:pos x="8" y="1618"/>
                  </a:cxn>
                  <a:cxn ang="0">
                    <a:pos x="46" y="1834"/>
                  </a:cxn>
                  <a:cxn ang="0">
                    <a:pos x="116" y="2038"/>
                  </a:cxn>
                  <a:cxn ang="0">
                    <a:pos x="213" y="2227"/>
                  </a:cxn>
                  <a:cxn ang="0">
                    <a:pos x="335" y="2400"/>
                  </a:cxn>
                  <a:cxn ang="0">
                    <a:pos x="480" y="2553"/>
                  </a:cxn>
                  <a:cxn ang="0">
                    <a:pos x="647" y="2684"/>
                  </a:cxn>
                  <a:cxn ang="0">
                    <a:pos x="831" y="2789"/>
                  </a:cxn>
                  <a:cxn ang="0">
                    <a:pos x="1031" y="2869"/>
                  </a:cxn>
                  <a:cxn ang="0">
                    <a:pos x="1243" y="2919"/>
                  </a:cxn>
                  <a:cxn ang="0">
                    <a:pos x="1466" y="2935"/>
                  </a:cxn>
                </a:cxnLst>
                <a:rect l="0" t="0" r="r" b="b"/>
                <a:pathLst>
                  <a:path w="2932" h="2935">
                    <a:moveTo>
                      <a:pt x="1466" y="2935"/>
                    </a:moveTo>
                    <a:lnTo>
                      <a:pt x="1541" y="2933"/>
                    </a:lnTo>
                    <a:lnTo>
                      <a:pt x="1616" y="2928"/>
                    </a:lnTo>
                    <a:lnTo>
                      <a:pt x="1689" y="2919"/>
                    </a:lnTo>
                    <a:lnTo>
                      <a:pt x="1760" y="2906"/>
                    </a:lnTo>
                    <a:lnTo>
                      <a:pt x="1832" y="2889"/>
                    </a:lnTo>
                    <a:lnTo>
                      <a:pt x="1901" y="2869"/>
                    </a:lnTo>
                    <a:lnTo>
                      <a:pt x="1969" y="2846"/>
                    </a:lnTo>
                    <a:lnTo>
                      <a:pt x="2036" y="2820"/>
                    </a:lnTo>
                    <a:lnTo>
                      <a:pt x="2100" y="2789"/>
                    </a:lnTo>
                    <a:lnTo>
                      <a:pt x="2164" y="2758"/>
                    </a:lnTo>
                    <a:lnTo>
                      <a:pt x="2225" y="2722"/>
                    </a:lnTo>
                    <a:lnTo>
                      <a:pt x="2285" y="2684"/>
                    </a:lnTo>
                    <a:lnTo>
                      <a:pt x="2342" y="2643"/>
                    </a:lnTo>
                    <a:lnTo>
                      <a:pt x="2397" y="2599"/>
                    </a:lnTo>
                    <a:lnTo>
                      <a:pt x="2451" y="2553"/>
                    </a:lnTo>
                    <a:lnTo>
                      <a:pt x="2502" y="2504"/>
                    </a:lnTo>
                    <a:lnTo>
                      <a:pt x="2551" y="2454"/>
                    </a:lnTo>
                    <a:lnTo>
                      <a:pt x="2597" y="2400"/>
                    </a:lnTo>
                    <a:lnTo>
                      <a:pt x="2640" y="2344"/>
                    </a:lnTo>
                    <a:lnTo>
                      <a:pt x="2681" y="2287"/>
                    </a:lnTo>
                    <a:lnTo>
                      <a:pt x="2720" y="2227"/>
                    </a:lnTo>
                    <a:lnTo>
                      <a:pt x="2755" y="2166"/>
                    </a:lnTo>
                    <a:lnTo>
                      <a:pt x="2787" y="2103"/>
                    </a:lnTo>
                    <a:lnTo>
                      <a:pt x="2817" y="2038"/>
                    </a:lnTo>
                    <a:lnTo>
                      <a:pt x="2843" y="1971"/>
                    </a:lnTo>
                    <a:lnTo>
                      <a:pt x="2866" y="1903"/>
                    </a:lnTo>
                    <a:lnTo>
                      <a:pt x="2886" y="1834"/>
                    </a:lnTo>
                    <a:lnTo>
                      <a:pt x="2903" y="1763"/>
                    </a:lnTo>
                    <a:lnTo>
                      <a:pt x="2916" y="1690"/>
                    </a:lnTo>
                    <a:lnTo>
                      <a:pt x="2925" y="1618"/>
                    </a:lnTo>
                    <a:lnTo>
                      <a:pt x="2930" y="1542"/>
                    </a:lnTo>
                    <a:lnTo>
                      <a:pt x="2932" y="1467"/>
                    </a:lnTo>
                    <a:lnTo>
                      <a:pt x="2930" y="1392"/>
                    </a:lnTo>
                    <a:lnTo>
                      <a:pt x="2925" y="1318"/>
                    </a:lnTo>
                    <a:lnTo>
                      <a:pt x="2916" y="1244"/>
                    </a:lnTo>
                    <a:lnTo>
                      <a:pt x="2903" y="1173"/>
                    </a:lnTo>
                    <a:lnTo>
                      <a:pt x="2886" y="1101"/>
                    </a:lnTo>
                    <a:lnTo>
                      <a:pt x="2866" y="1032"/>
                    </a:lnTo>
                    <a:lnTo>
                      <a:pt x="2843" y="964"/>
                    </a:lnTo>
                    <a:lnTo>
                      <a:pt x="2817" y="897"/>
                    </a:lnTo>
                    <a:lnTo>
                      <a:pt x="2787" y="832"/>
                    </a:lnTo>
                    <a:lnTo>
                      <a:pt x="2755" y="769"/>
                    </a:lnTo>
                    <a:lnTo>
                      <a:pt x="2720" y="708"/>
                    </a:lnTo>
                    <a:lnTo>
                      <a:pt x="2681" y="648"/>
                    </a:lnTo>
                    <a:lnTo>
                      <a:pt x="2640" y="590"/>
                    </a:lnTo>
                    <a:lnTo>
                      <a:pt x="2597" y="535"/>
                    </a:lnTo>
                    <a:lnTo>
                      <a:pt x="2551" y="482"/>
                    </a:lnTo>
                    <a:lnTo>
                      <a:pt x="2502" y="430"/>
                    </a:lnTo>
                    <a:lnTo>
                      <a:pt x="2451" y="382"/>
                    </a:lnTo>
                    <a:lnTo>
                      <a:pt x="2397" y="335"/>
                    </a:lnTo>
                    <a:lnTo>
                      <a:pt x="2342" y="292"/>
                    </a:lnTo>
                    <a:lnTo>
                      <a:pt x="2285" y="251"/>
                    </a:lnTo>
                    <a:lnTo>
                      <a:pt x="2225" y="213"/>
                    </a:lnTo>
                    <a:lnTo>
                      <a:pt x="2164" y="178"/>
                    </a:lnTo>
                    <a:lnTo>
                      <a:pt x="2100" y="145"/>
                    </a:lnTo>
                    <a:lnTo>
                      <a:pt x="2036" y="116"/>
                    </a:lnTo>
                    <a:lnTo>
                      <a:pt x="1969" y="89"/>
                    </a:lnTo>
                    <a:lnTo>
                      <a:pt x="1901" y="66"/>
                    </a:lnTo>
                    <a:lnTo>
                      <a:pt x="1832" y="47"/>
                    </a:lnTo>
                    <a:lnTo>
                      <a:pt x="1760" y="30"/>
                    </a:lnTo>
                    <a:lnTo>
                      <a:pt x="1689" y="17"/>
                    </a:lnTo>
                    <a:lnTo>
                      <a:pt x="1616" y="8"/>
                    </a:lnTo>
                    <a:lnTo>
                      <a:pt x="1541" y="2"/>
                    </a:lnTo>
                    <a:lnTo>
                      <a:pt x="1466" y="0"/>
                    </a:lnTo>
                    <a:lnTo>
                      <a:pt x="1391" y="2"/>
                    </a:lnTo>
                    <a:lnTo>
                      <a:pt x="1317" y="8"/>
                    </a:lnTo>
                    <a:lnTo>
                      <a:pt x="1243" y="17"/>
                    </a:lnTo>
                    <a:lnTo>
                      <a:pt x="1171" y="30"/>
                    </a:lnTo>
                    <a:lnTo>
                      <a:pt x="1100" y="47"/>
                    </a:lnTo>
                    <a:lnTo>
                      <a:pt x="1031" y="66"/>
                    </a:lnTo>
                    <a:lnTo>
                      <a:pt x="963" y="89"/>
                    </a:lnTo>
                    <a:lnTo>
                      <a:pt x="896" y="116"/>
                    </a:lnTo>
                    <a:lnTo>
                      <a:pt x="831" y="145"/>
                    </a:lnTo>
                    <a:lnTo>
                      <a:pt x="768" y="178"/>
                    </a:lnTo>
                    <a:lnTo>
                      <a:pt x="707" y="213"/>
                    </a:lnTo>
                    <a:lnTo>
                      <a:pt x="647" y="251"/>
                    </a:lnTo>
                    <a:lnTo>
                      <a:pt x="590" y="292"/>
                    </a:lnTo>
                    <a:lnTo>
                      <a:pt x="534" y="335"/>
                    </a:lnTo>
                    <a:lnTo>
                      <a:pt x="480" y="382"/>
                    </a:lnTo>
                    <a:lnTo>
                      <a:pt x="430" y="430"/>
                    </a:lnTo>
                    <a:lnTo>
                      <a:pt x="382" y="482"/>
                    </a:lnTo>
                    <a:lnTo>
                      <a:pt x="335" y="535"/>
                    </a:lnTo>
                    <a:lnTo>
                      <a:pt x="292" y="590"/>
                    </a:lnTo>
                    <a:lnTo>
                      <a:pt x="251" y="648"/>
                    </a:lnTo>
                    <a:lnTo>
                      <a:pt x="213" y="708"/>
                    </a:lnTo>
                    <a:lnTo>
                      <a:pt x="177" y="769"/>
                    </a:lnTo>
                    <a:lnTo>
                      <a:pt x="145" y="832"/>
                    </a:lnTo>
                    <a:lnTo>
                      <a:pt x="116" y="897"/>
                    </a:lnTo>
                    <a:lnTo>
                      <a:pt x="89" y="964"/>
                    </a:lnTo>
                    <a:lnTo>
                      <a:pt x="66" y="1032"/>
                    </a:lnTo>
                    <a:lnTo>
                      <a:pt x="46" y="1101"/>
                    </a:lnTo>
                    <a:lnTo>
                      <a:pt x="30" y="1173"/>
                    </a:lnTo>
                    <a:lnTo>
                      <a:pt x="17" y="1244"/>
                    </a:lnTo>
                    <a:lnTo>
                      <a:pt x="8" y="1318"/>
                    </a:lnTo>
                    <a:lnTo>
                      <a:pt x="2" y="1392"/>
                    </a:lnTo>
                    <a:lnTo>
                      <a:pt x="0" y="1467"/>
                    </a:lnTo>
                    <a:lnTo>
                      <a:pt x="2" y="1542"/>
                    </a:lnTo>
                    <a:lnTo>
                      <a:pt x="8" y="1618"/>
                    </a:lnTo>
                    <a:lnTo>
                      <a:pt x="17" y="1690"/>
                    </a:lnTo>
                    <a:lnTo>
                      <a:pt x="30" y="1763"/>
                    </a:lnTo>
                    <a:lnTo>
                      <a:pt x="46" y="1834"/>
                    </a:lnTo>
                    <a:lnTo>
                      <a:pt x="66" y="1903"/>
                    </a:lnTo>
                    <a:lnTo>
                      <a:pt x="89" y="1971"/>
                    </a:lnTo>
                    <a:lnTo>
                      <a:pt x="116" y="2038"/>
                    </a:lnTo>
                    <a:lnTo>
                      <a:pt x="145" y="2103"/>
                    </a:lnTo>
                    <a:lnTo>
                      <a:pt x="177" y="2166"/>
                    </a:lnTo>
                    <a:lnTo>
                      <a:pt x="213" y="2227"/>
                    </a:lnTo>
                    <a:lnTo>
                      <a:pt x="251" y="2287"/>
                    </a:lnTo>
                    <a:lnTo>
                      <a:pt x="292" y="2344"/>
                    </a:lnTo>
                    <a:lnTo>
                      <a:pt x="335" y="2400"/>
                    </a:lnTo>
                    <a:lnTo>
                      <a:pt x="382" y="2454"/>
                    </a:lnTo>
                    <a:lnTo>
                      <a:pt x="430" y="2504"/>
                    </a:lnTo>
                    <a:lnTo>
                      <a:pt x="480" y="2553"/>
                    </a:lnTo>
                    <a:lnTo>
                      <a:pt x="534" y="2599"/>
                    </a:lnTo>
                    <a:lnTo>
                      <a:pt x="590" y="2643"/>
                    </a:lnTo>
                    <a:lnTo>
                      <a:pt x="647" y="2684"/>
                    </a:lnTo>
                    <a:lnTo>
                      <a:pt x="707" y="2722"/>
                    </a:lnTo>
                    <a:lnTo>
                      <a:pt x="768" y="2758"/>
                    </a:lnTo>
                    <a:lnTo>
                      <a:pt x="831" y="2789"/>
                    </a:lnTo>
                    <a:lnTo>
                      <a:pt x="896" y="2820"/>
                    </a:lnTo>
                    <a:lnTo>
                      <a:pt x="963" y="2846"/>
                    </a:lnTo>
                    <a:lnTo>
                      <a:pt x="1031" y="2869"/>
                    </a:lnTo>
                    <a:lnTo>
                      <a:pt x="1100" y="2889"/>
                    </a:lnTo>
                    <a:lnTo>
                      <a:pt x="1171" y="2906"/>
                    </a:lnTo>
                    <a:lnTo>
                      <a:pt x="1243" y="2919"/>
                    </a:lnTo>
                    <a:lnTo>
                      <a:pt x="1317" y="2928"/>
                    </a:lnTo>
                    <a:lnTo>
                      <a:pt x="1391" y="2933"/>
                    </a:lnTo>
                    <a:lnTo>
                      <a:pt x="1466" y="2935"/>
                    </a:lnTo>
                    <a:close/>
                  </a:path>
                </a:pathLst>
              </a:custGeom>
              <a:solidFill>
                <a:srgbClr val="A27A3F"/>
              </a:solidFill>
              <a:ln w="9525">
                <a:noFill/>
                <a:round/>
              </a:ln>
            </p:spPr>
            <p:txBody>
              <a:bodyPr/>
              <a:lstStyle/>
              <a:p>
                <a:pPr defTabSz="685165">
                  <a:defRPr/>
                </a:pPr>
                <a:endParaRPr lang="zh-CN" altLang="en-US" sz="1300" kern="0" dirty="0">
                  <a:solidFill>
                    <a:srgbClr val="FF0000"/>
                  </a:solidFill>
                  <a:latin typeface="微软雅黑" panose="020B0503020204020204" pitchFamily="34" charset="-122"/>
                  <a:ea typeface="微软雅黑" panose="020B0503020204020204" pitchFamily="34" charset="-122"/>
                </a:endParaRPr>
              </a:p>
            </p:txBody>
          </p:sp>
          <p:sp>
            <p:nvSpPr>
              <p:cNvPr id="225" name="Freeform 17"/>
              <p:cNvSpPr/>
              <p:nvPr/>
            </p:nvSpPr>
            <p:spPr bwMode="auto">
              <a:xfrm>
                <a:off x="3578" y="270"/>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1"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1"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rgbClr val="FF0000"/>
                  </a:solidFill>
                  <a:latin typeface="微软雅黑" panose="020B0503020204020204" pitchFamily="34" charset="-122"/>
                  <a:ea typeface="微软雅黑" panose="020B0503020204020204" pitchFamily="34" charset="-122"/>
                </a:endParaRPr>
              </a:p>
            </p:txBody>
          </p:sp>
          <p:sp>
            <p:nvSpPr>
              <p:cNvPr id="226" name="Freeform 18"/>
              <p:cNvSpPr/>
              <p:nvPr/>
            </p:nvSpPr>
            <p:spPr bwMode="auto">
              <a:xfrm>
                <a:off x="3733" y="355"/>
                <a:ext cx="225" cy="351"/>
              </a:xfrm>
              <a:custGeom>
                <a:avLst/>
                <a:gdLst/>
                <a:ahLst/>
                <a:cxnLst>
                  <a:cxn ang="0">
                    <a:pos x="1320" y="0"/>
                  </a:cxn>
                  <a:cxn ang="0">
                    <a:pos x="1328" y="483"/>
                  </a:cxn>
                  <a:cxn ang="0">
                    <a:pos x="1336" y="967"/>
                  </a:cxn>
                  <a:cxn ang="0">
                    <a:pos x="1001" y="780"/>
                  </a:cxn>
                  <a:cxn ang="0">
                    <a:pos x="412" y="2063"/>
                  </a:cxn>
                  <a:cxn ang="0">
                    <a:pos x="0" y="1833"/>
                  </a:cxn>
                  <a:cxn ang="0">
                    <a:pos x="821" y="680"/>
                  </a:cxn>
                  <a:cxn ang="0">
                    <a:pos x="492" y="497"/>
                  </a:cxn>
                  <a:cxn ang="0">
                    <a:pos x="906" y="248"/>
                  </a:cxn>
                  <a:cxn ang="0">
                    <a:pos x="1320" y="0"/>
                  </a:cxn>
                </a:cxnLst>
                <a:rect l="0" t="0" r="r" b="b"/>
                <a:pathLst>
                  <a:path w="1336" h="2063">
                    <a:moveTo>
                      <a:pt x="1320" y="0"/>
                    </a:moveTo>
                    <a:lnTo>
                      <a:pt x="1328" y="483"/>
                    </a:lnTo>
                    <a:lnTo>
                      <a:pt x="1336" y="967"/>
                    </a:lnTo>
                    <a:lnTo>
                      <a:pt x="1001" y="780"/>
                    </a:lnTo>
                    <a:lnTo>
                      <a:pt x="412" y="2063"/>
                    </a:lnTo>
                    <a:lnTo>
                      <a:pt x="0" y="1833"/>
                    </a:lnTo>
                    <a:lnTo>
                      <a:pt x="821" y="680"/>
                    </a:lnTo>
                    <a:lnTo>
                      <a:pt x="492" y="497"/>
                    </a:lnTo>
                    <a:lnTo>
                      <a:pt x="906" y="248"/>
                    </a:lnTo>
                    <a:lnTo>
                      <a:pt x="1320" y="0"/>
                    </a:lnTo>
                    <a:close/>
                  </a:path>
                </a:pathLst>
              </a:custGeom>
              <a:solidFill>
                <a:srgbClr val="FFFFFF"/>
              </a:solidFill>
              <a:ln w="9525">
                <a:noFill/>
                <a:round/>
              </a:ln>
            </p:spPr>
            <p:txBody>
              <a:bodyPr/>
              <a:lstStyle/>
              <a:p>
                <a:pPr defTabSz="685165">
                  <a:defRPr/>
                </a:pPr>
                <a:endParaRPr lang="zh-CN" altLang="en-US" sz="1300" kern="0" dirty="0">
                  <a:solidFill>
                    <a:srgbClr val="FF0000"/>
                  </a:solidFill>
                  <a:latin typeface="微软雅黑" panose="020B0503020204020204" pitchFamily="34" charset="-122"/>
                  <a:ea typeface="微软雅黑" panose="020B0503020204020204" pitchFamily="34" charset="-122"/>
                </a:endParaRPr>
              </a:p>
            </p:txBody>
          </p:sp>
        </p:grpSp>
        <p:pic>
          <p:nvPicPr>
            <p:cNvPr id="114" name="Picture 7" descr="E:\1华赛设计夹\2010-8\朱冬晴\华赛新图标\华赛新图标 png\08 安全图标(三)\DDoS防御.png"/>
            <p:cNvPicPr>
              <a:picLocks noChangeAspect="1" noChangeArrowheads="1"/>
            </p:cNvPicPr>
            <p:nvPr/>
          </p:nvPicPr>
          <p:blipFill>
            <a:blip r:embed="rId4" cstate="print"/>
            <a:srcRect/>
            <a:stretch>
              <a:fillRect/>
            </a:stretch>
          </p:blipFill>
          <p:spPr bwMode="auto">
            <a:xfrm>
              <a:off x="5007482" y="1540867"/>
              <a:ext cx="207891" cy="149047"/>
            </a:xfrm>
            <a:prstGeom prst="rect">
              <a:avLst/>
            </a:prstGeom>
            <a:noFill/>
            <a:ln w="9525">
              <a:noFill/>
              <a:miter lim="800000"/>
              <a:headEnd/>
              <a:tailEnd/>
            </a:ln>
          </p:spPr>
        </p:pic>
        <p:cxnSp>
          <p:nvCxnSpPr>
            <p:cNvPr id="115" name="直接连接符 114"/>
            <p:cNvCxnSpPr/>
            <p:nvPr/>
          </p:nvCxnSpPr>
          <p:spPr bwMode="auto">
            <a:xfrm>
              <a:off x="4057208" y="1889735"/>
              <a:ext cx="383497" cy="0"/>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TextBox 637"/>
            <p:cNvSpPr txBox="1"/>
            <p:nvPr/>
          </p:nvSpPr>
          <p:spPr>
            <a:xfrm>
              <a:off x="5182065" y="1529874"/>
              <a:ext cx="882758" cy="135671"/>
            </a:xfrm>
            <a:prstGeom prst="rect">
              <a:avLst/>
            </a:prstGeom>
          </p:spPr>
          <p:txBody>
            <a:bodyPr lIns="91409" tIns="45705" rIns="91409" bIns="45705"/>
            <a:lstStyle/>
            <a:p>
              <a:pPr>
                <a:defRPr/>
              </a:pPr>
              <a:r>
                <a:rPr lang="en-US" altLang="zh-CN" sz="800" b="1" dirty="0">
                  <a:solidFill>
                    <a:srgbClr val="C00000"/>
                  </a:solidFill>
                  <a:latin typeface="微软雅黑" panose="020B0503020204020204" pitchFamily="34" charset="-122"/>
                  <a:ea typeface="微软雅黑" panose="020B0503020204020204" pitchFamily="34" charset="-122"/>
                </a:rPr>
                <a:t>DDoS</a:t>
              </a:r>
              <a:r>
                <a:rPr lang="zh-CN" altLang="en-US" sz="800" b="1" dirty="0">
                  <a:solidFill>
                    <a:srgbClr val="C00000"/>
                  </a:solidFill>
                  <a:latin typeface="微软雅黑" panose="020B0503020204020204" pitchFamily="34" charset="-122"/>
                  <a:ea typeface="微软雅黑" panose="020B0503020204020204" pitchFamily="34" charset="-122"/>
                </a:rPr>
                <a:t>防御</a:t>
              </a:r>
              <a:endParaRPr lang="en-US" altLang="zh-CN" sz="800" b="1" dirty="0">
                <a:solidFill>
                  <a:srgbClr val="C00000"/>
                </a:solidFill>
                <a:latin typeface="微软雅黑" panose="020B0503020204020204" pitchFamily="34" charset="-122"/>
                <a:ea typeface="微软雅黑" panose="020B0503020204020204" pitchFamily="34" charset="-122"/>
              </a:endParaRPr>
            </a:p>
          </p:txBody>
        </p:sp>
        <p:sp>
          <p:nvSpPr>
            <p:cNvPr id="117" name="TextBox 643"/>
            <p:cNvSpPr txBox="1"/>
            <p:nvPr/>
          </p:nvSpPr>
          <p:spPr>
            <a:xfrm>
              <a:off x="7959889" y="1348636"/>
              <a:ext cx="867271" cy="144855"/>
            </a:xfrm>
            <a:prstGeom prst="rect">
              <a:avLst/>
            </a:prstGeom>
          </p:spPr>
          <p:txBody>
            <a:bodyPr wrap="square" lIns="91409" tIns="45705" rIns="91409" bIns="45705">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运维审计系统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sp>
          <p:nvSpPr>
            <p:cNvPr id="118" name="圆角矩形 156"/>
            <p:cNvSpPr/>
            <p:nvPr/>
          </p:nvSpPr>
          <p:spPr>
            <a:xfrm>
              <a:off x="694368" y="1531622"/>
              <a:ext cx="783547" cy="608692"/>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9" name="TextBox 645"/>
            <p:cNvSpPr txBox="1"/>
            <p:nvPr/>
          </p:nvSpPr>
          <p:spPr>
            <a:xfrm>
              <a:off x="397459" y="1246194"/>
              <a:ext cx="1188539" cy="196895"/>
            </a:xfrm>
            <a:prstGeom prst="rect">
              <a:avLst/>
            </a:prstGeom>
            <a:noFill/>
          </p:spPr>
          <p:txBody>
            <a:bodyPr wrap="square" lIns="35988" tIns="45705" rIns="35988" bIns="45705" rtlCol="0" anchor="ctr" anchorCtr="0">
              <a:noAutofit/>
            </a:bodyPr>
            <a:lstStyle/>
            <a:p>
              <a:r>
                <a:rPr lang="en-US" altLang="zh-CN" sz="1200" b="1" dirty="0">
                  <a:solidFill>
                    <a:srgbClr val="000000"/>
                  </a:solidFill>
                  <a:latin typeface="微软雅黑" panose="020B0503020204020204" pitchFamily="34" charset="-122"/>
                  <a:ea typeface="微软雅黑" panose="020B0503020204020204" pitchFamily="34" charset="-122"/>
                </a:rPr>
                <a:t>Web</a:t>
              </a:r>
              <a:r>
                <a:rPr lang="zh-CN" altLang="en-US" sz="1200" b="1" dirty="0">
                  <a:solidFill>
                    <a:srgbClr val="000000"/>
                  </a:solidFill>
                  <a:latin typeface="微软雅黑" panose="020B0503020204020204" pitchFamily="34" charset="-122"/>
                  <a:ea typeface="微软雅黑" panose="020B0503020204020204" pitchFamily="34" charset="-122"/>
                </a:rPr>
                <a:t>服务区</a:t>
              </a:r>
              <a:endParaRPr lang="zh-CN" altLang="en-US" sz="1200" b="1" dirty="0">
                <a:solidFill>
                  <a:srgbClr val="000000"/>
                </a:solidFill>
                <a:latin typeface="微软雅黑" panose="020B0503020204020204" pitchFamily="34" charset="-122"/>
                <a:ea typeface="微软雅黑" panose="020B0503020204020204" pitchFamily="34" charset="-122"/>
              </a:endParaRPr>
            </a:p>
          </p:txBody>
        </p:sp>
        <p:sp>
          <p:nvSpPr>
            <p:cNvPr id="120" name="圆角矩形 158"/>
            <p:cNvSpPr/>
            <p:nvPr/>
          </p:nvSpPr>
          <p:spPr>
            <a:xfrm>
              <a:off x="332887" y="1222442"/>
              <a:ext cx="2399678" cy="1004137"/>
            </a:xfrm>
            <a:prstGeom prst="roundRect">
              <a:avLst>
                <a:gd name="adj" fmla="val 11258"/>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pic>
          <p:nvPicPr>
            <p:cNvPr id="121" name="Picture 461" descr="图片240"/>
            <p:cNvPicPr>
              <a:picLocks noChangeAspect="1" noChangeArrowheads="1"/>
            </p:cNvPicPr>
            <p:nvPr/>
          </p:nvPicPr>
          <p:blipFill>
            <a:blip r:embed="rId1" cstate="print"/>
            <a:srcRect/>
            <a:stretch>
              <a:fillRect/>
            </a:stretch>
          </p:blipFill>
          <p:spPr bwMode="auto">
            <a:xfrm>
              <a:off x="1585998" y="1897043"/>
              <a:ext cx="259750" cy="187626"/>
            </a:xfrm>
            <a:prstGeom prst="rect">
              <a:avLst/>
            </a:prstGeom>
            <a:noFill/>
            <a:effectLst/>
          </p:spPr>
        </p:pic>
        <p:cxnSp>
          <p:nvCxnSpPr>
            <p:cNvPr id="122" name="直接连接符 121"/>
            <p:cNvCxnSpPr>
              <a:stCxn id="129" idx="1"/>
              <a:endCxn id="121" idx="3"/>
            </p:cNvCxnSpPr>
            <p:nvPr/>
          </p:nvCxnSpPr>
          <p:spPr bwMode="auto">
            <a:xfrm flipH="1" flipV="1">
              <a:off x="1845748" y="1990857"/>
              <a:ext cx="185430" cy="6957"/>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23" name="直接连接符 122"/>
            <p:cNvCxnSpPr>
              <a:stCxn id="128" idx="1"/>
              <a:endCxn id="124" idx="3"/>
            </p:cNvCxnSpPr>
            <p:nvPr/>
          </p:nvCxnSpPr>
          <p:spPr bwMode="auto">
            <a:xfrm flipH="1" flipV="1">
              <a:off x="1845748" y="1711526"/>
              <a:ext cx="185430" cy="11367"/>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24" name="Picture 461" descr="图片240"/>
            <p:cNvPicPr>
              <a:picLocks noChangeAspect="1" noChangeArrowheads="1"/>
            </p:cNvPicPr>
            <p:nvPr/>
          </p:nvPicPr>
          <p:blipFill>
            <a:blip r:embed="rId1" cstate="print"/>
            <a:srcRect/>
            <a:stretch>
              <a:fillRect/>
            </a:stretch>
          </p:blipFill>
          <p:spPr bwMode="auto">
            <a:xfrm>
              <a:off x="1585998" y="1617712"/>
              <a:ext cx="259750" cy="187626"/>
            </a:xfrm>
            <a:prstGeom prst="rect">
              <a:avLst/>
            </a:prstGeom>
            <a:noFill/>
            <a:effectLst/>
          </p:spPr>
        </p:pic>
        <p:sp>
          <p:nvSpPr>
            <p:cNvPr id="125" name="圆角矩形 163"/>
            <p:cNvSpPr/>
            <p:nvPr/>
          </p:nvSpPr>
          <p:spPr bwMode="auto">
            <a:xfrm>
              <a:off x="664412" y="1677841"/>
              <a:ext cx="579753" cy="305023"/>
            </a:xfrm>
            <a:prstGeom prst="roundRect">
              <a:avLst/>
            </a:prstGeom>
            <a:noFill/>
          </p:spPr>
          <p:txBody>
            <a:bodyPr wrap="square" lIns="35988" tIns="45705" rIns="35988" bIns="45705" rtlCol="0" anchor="ctr" anchorCtr="0">
              <a:noAutofit/>
            </a:bodyPr>
            <a:lstStyle/>
            <a:p>
              <a:pPr algn="ctr"/>
              <a:r>
                <a:rPr lang="en-US" altLang="zh-CN" sz="900" dirty="0">
                  <a:solidFill>
                    <a:srgbClr val="000000"/>
                  </a:solidFill>
                  <a:latin typeface="微软雅黑" panose="020B0503020204020204" pitchFamily="34" charset="-122"/>
                  <a:ea typeface="微软雅黑" panose="020B0503020204020204" pitchFamily="34" charset="-122"/>
                </a:rPr>
                <a:t>Web</a:t>
              </a:r>
              <a:r>
                <a:rPr lang="zh-CN" altLang="en-US" sz="900" dirty="0">
                  <a:solidFill>
                    <a:srgbClr val="000000"/>
                  </a:solidFill>
                  <a:latin typeface="微软雅黑" panose="020B0503020204020204" pitchFamily="34" charset="-122"/>
                  <a:ea typeface="微软雅黑" panose="020B0503020204020204" pitchFamily="34" charset="-122"/>
                </a:rPr>
                <a:t>服务器</a:t>
              </a:r>
              <a:endParaRPr lang="en-US" altLang="en-US" sz="900" dirty="0" err="1">
                <a:solidFill>
                  <a:srgbClr val="000000"/>
                </a:solidFill>
                <a:latin typeface="微软雅黑" panose="020B0503020204020204" pitchFamily="34" charset="-122"/>
                <a:ea typeface="微软雅黑" panose="020B0503020204020204" pitchFamily="34" charset="-122"/>
              </a:endParaRPr>
            </a:p>
          </p:txBody>
        </p:sp>
        <p:pic>
          <p:nvPicPr>
            <p:cNvPr id="126" name="Picture 26" descr="E:\1华赛设计夹\2010-8\朱冬晴\华赛新图标\华赛新图标 png\01 公共图标(一)\Web服务器 3.png"/>
            <p:cNvPicPr>
              <a:picLocks noChangeAspect="1" noChangeArrowheads="1"/>
            </p:cNvPicPr>
            <p:nvPr/>
          </p:nvPicPr>
          <p:blipFill>
            <a:blip r:embed="rId5" cstate="print"/>
            <a:srcRect/>
            <a:stretch>
              <a:fillRect/>
            </a:stretch>
          </p:blipFill>
          <p:spPr bwMode="auto">
            <a:xfrm>
              <a:off x="1154884" y="1609982"/>
              <a:ext cx="237616" cy="192357"/>
            </a:xfrm>
            <a:prstGeom prst="rect">
              <a:avLst/>
            </a:prstGeom>
            <a:noFill/>
            <a:ln w="9525">
              <a:noFill/>
              <a:miter lim="800000"/>
              <a:headEnd/>
              <a:tailEnd/>
            </a:ln>
          </p:spPr>
        </p:pic>
        <p:pic>
          <p:nvPicPr>
            <p:cNvPr id="127" name="Picture 26" descr="E:\1华赛设计夹\2010-8\朱冬晴\华赛新图标\华赛新图标 png\01 公共图标(一)\Web服务器 3.png"/>
            <p:cNvPicPr>
              <a:picLocks noChangeAspect="1" noChangeArrowheads="1"/>
            </p:cNvPicPr>
            <p:nvPr/>
          </p:nvPicPr>
          <p:blipFill>
            <a:blip r:embed="rId5" cstate="print"/>
            <a:srcRect/>
            <a:stretch>
              <a:fillRect/>
            </a:stretch>
          </p:blipFill>
          <p:spPr bwMode="auto">
            <a:xfrm>
              <a:off x="1154884" y="1890306"/>
              <a:ext cx="237616" cy="192357"/>
            </a:xfrm>
            <a:prstGeom prst="rect">
              <a:avLst/>
            </a:prstGeom>
            <a:noFill/>
            <a:ln w="9525">
              <a:noFill/>
              <a:miter lim="800000"/>
              <a:headEnd/>
              <a:tailEnd/>
            </a:ln>
          </p:spPr>
        </p:pic>
        <p:pic>
          <p:nvPicPr>
            <p:cNvPr id="128" name="图片 1"/>
            <p:cNvPicPr>
              <a:picLocks noChangeAspect="1"/>
            </p:cNvPicPr>
            <p:nvPr/>
          </p:nvPicPr>
          <p:blipFill>
            <a:blip r:embed="rId6" cstate="print"/>
            <a:srcRect/>
            <a:stretch>
              <a:fillRect/>
            </a:stretch>
          </p:blipFill>
          <p:spPr bwMode="auto">
            <a:xfrm>
              <a:off x="2031178" y="1612924"/>
              <a:ext cx="294805" cy="219936"/>
            </a:xfrm>
            <a:prstGeom prst="rect">
              <a:avLst/>
            </a:prstGeom>
            <a:noFill/>
            <a:ln w="9525">
              <a:noFill/>
              <a:miter lim="800000"/>
              <a:headEnd/>
              <a:tailEnd/>
            </a:ln>
          </p:spPr>
        </p:pic>
        <p:pic>
          <p:nvPicPr>
            <p:cNvPr id="129" name="图片 1"/>
            <p:cNvPicPr>
              <a:picLocks noChangeAspect="1"/>
            </p:cNvPicPr>
            <p:nvPr/>
          </p:nvPicPr>
          <p:blipFill>
            <a:blip r:embed="rId6" cstate="print"/>
            <a:srcRect/>
            <a:stretch>
              <a:fillRect/>
            </a:stretch>
          </p:blipFill>
          <p:spPr bwMode="auto">
            <a:xfrm>
              <a:off x="2031178" y="1887845"/>
              <a:ext cx="294805" cy="219936"/>
            </a:xfrm>
            <a:prstGeom prst="rect">
              <a:avLst/>
            </a:prstGeom>
            <a:noFill/>
            <a:ln w="9525">
              <a:noFill/>
              <a:miter lim="800000"/>
              <a:headEnd/>
              <a:tailEnd/>
            </a:ln>
          </p:spPr>
        </p:pic>
        <p:sp>
          <p:nvSpPr>
            <p:cNvPr id="130" name="TextBox 656"/>
            <p:cNvSpPr txBox="1"/>
            <p:nvPr/>
          </p:nvSpPr>
          <p:spPr>
            <a:xfrm>
              <a:off x="2000303" y="1401145"/>
              <a:ext cx="387735" cy="188929"/>
            </a:xfrm>
            <a:prstGeom prst="rect">
              <a:avLst/>
            </a:prstGeom>
            <a:noFill/>
          </p:spPr>
          <p:txBody>
            <a:bodyPr wrap="square" lIns="35988" tIns="45705" rIns="35988" bIns="45705" rtlCol="0" anchor="ctr" anchorCtr="0">
              <a:noAutofit/>
            </a:bodyPr>
            <a:lstStyle/>
            <a:p>
              <a:r>
                <a:rPr lang="en-US" altLang="zh-CN" sz="800" b="1" dirty="0">
                  <a:solidFill>
                    <a:srgbClr val="C00000"/>
                  </a:solidFill>
                  <a:latin typeface="微软雅黑" panose="020B0503020204020204" pitchFamily="34" charset="-122"/>
                  <a:ea typeface="微软雅黑" panose="020B0503020204020204" pitchFamily="34" charset="-122"/>
                </a:rPr>
                <a:t>Web</a:t>
              </a:r>
              <a:endParaRPr lang="en-US" altLang="zh-CN" sz="800" b="1" dirty="0">
                <a:solidFill>
                  <a:srgbClr val="C00000"/>
                </a:solidFill>
                <a:latin typeface="微软雅黑" panose="020B0503020204020204" pitchFamily="34" charset="-122"/>
                <a:ea typeface="微软雅黑" panose="020B0503020204020204" pitchFamily="34" charset="-122"/>
              </a:endParaRPr>
            </a:p>
            <a:p>
              <a:r>
                <a:rPr lang="zh-CN" altLang="en-US" sz="800" b="1" dirty="0">
                  <a:solidFill>
                    <a:srgbClr val="C00000"/>
                  </a:solidFill>
                  <a:latin typeface="微软雅黑" panose="020B0503020204020204" pitchFamily="34" charset="-122"/>
                  <a:ea typeface="微软雅黑" panose="020B0503020204020204" pitchFamily="34" charset="-122"/>
                </a:rPr>
                <a:t>防火墙</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131" name="直接连接符 130"/>
            <p:cNvCxnSpPr>
              <a:stCxn id="100" idx="0"/>
              <a:endCxn id="129" idx="3"/>
            </p:cNvCxnSpPr>
            <p:nvPr/>
          </p:nvCxnSpPr>
          <p:spPr bwMode="auto">
            <a:xfrm flipH="1" flipV="1">
              <a:off x="2325983" y="1997814"/>
              <a:ext cx="1618923" cy="1074788"/>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36" name="Picture 456" descr="图片235"/>
            <p:cNvPicPr>
              <a:picLocks noChangeAspect="1" noChangeArrowheads="1"/>
            </p:cNvPicPr>
            <p:nvPr/>
          </p:nvPicPr>
          <p:blipFill>
            <a:blip r:embed="rId7" cstate="print"/>
            <a:stretch>
              <a:fillRect/>
            </a:stretch>
          </p:blipFill>
          <p:spPr bwMode="auto">
            <a:xfrm>
              <a:off x="3799687" y="1773453"/>
              <a:ext cx="264376" cy="240657"/>
            </a:xfrm>
            <a:prstGeom prst="rect">
              <a:avLst/>
            </a:prstGeom>
            <a:noFill/>
          </p:spPr>
        </p:pic>
        <p:pic>
          <p:nvPicPr>
            <p:cNvPr id="137" name="Picture 456" descr="图片235"/>
            <p:cNvPicPr>
              <a:picLocks noChangeAspect="1" noChangeArrowheads="1"/>
            </p:cNvPicPr>
            <p:nvPr/>
          </p:nvPicPr>
          <p:blipFill>
            <a:blip r:embed="rId7" cstate="print"/>
            <a:stretch>
              <a:fillRect/>
            </a:stretch>
          </p:blipFill>
          <p:spPr bwMode="auto">
            <a:xfrm>
              <a:off x="4443103" y="1782752"/>
              <a:ext cx="264376" cy="240657"/>
            </a:xfrm>
            <a:prstGeom prst="rect">
              <a:avLst/>
            </a:prstGeom>
            <a:noFill/>
          </p:spPr>
        </p:pic>
        <p:pic>
          <p:nvPicPr>
            <p:cNvPr id="138" name="Picture 1674" descr="图片46"/>
            <p:cNvPicPr>
              <a:picLocks noChangeAspect="1" noChangeArrowheads="1"/>
            </p:cNvPicPr>
            <p:nvPr/>
          </p:nvPicPr>
          <p:blipFill>
            <a:blip r:embed="rId8" cstate="print"/>
            <a:srcRect/>
            <a:stretch>
              <a:fillRect/>
            </a:stretch>
          </p:blipFill>
          <p:spPr bwMode="auto">
            <a:xfrm>
              <a:off x="2077060" y="3309429"/>
              <a:ext cx="248923" cy="248584"/>
            </a:xfrm>
            <a:prstGeom prst="rect">
              <a:avLst/>
            </a:prstGeom>
            <a:noFill/>
            <a:ln w="9525">
              <a:noFill/>
              <a:miter lim="800000"/>
              <a:headEnd/>
              <a:tailEnd/>
            </a:ln>
          </p:spPr>
        </p:pic>
        <p:pic>
          <p:nvPicPr>
            <p:cNvPr id="139" name="Picture 1674" descr="图片46"/>
            <p:cNvPicPr>
              <a:picLocks noChangeAspect="1" noChangeArrowheads="1"/>
            </p:cNvPicPr>
            <p:nvPr/>
          </p:nvPicPr>
          <p:blipFill>
            <a:blip r:embed="rId8" cstate="print"/>
            <a:srcRect/>
            <a:stretch>
              <a:fillRect/>
            </a:stretch>
          </p:blipFill>
          <p:spPr bwMode="auto">
            <a:xfrm>
              <a:off x="2122793" y="2355912"/>
              <a:ext cx="248923" cy="248584"/>
            </a:xfrm>
            <a:prstGeom prst="rect">
              <a:avLst/>
            </a:prstGeom>
            <a:noFill/>
            <a:ln w="9525">
              <a:noFill/>
              <a:miter lim="800000"/>
              <a:headEnd/>
              <a:tailEnd/>
            </a:ln>
          </p:spPr>
        </p:pic>
        <p:sp>
          <p:nvSpPr>
            <p:cNvPr id="140" name="圆角矩形 178"/>
            <p:cNvSpPr/>
            <p:nvPr/>
          </p:nvSpPr>
          <p:spPr>
            <a:xfrm>
              <a:off x="6610030" y="1224773"/>
              <a:ext cx="2172196" cy="2330531"/>
            </a:xfrm>
            <a:prstGeom prst="roundRect">
              <a:avLst>
                <a:gd name="adj" fmla="val 12159"/>
              </a:avLst>
            </a:prstGeom>
            <a:noFill/>
            <a:ln>
              <a:solidFill>
                <a:schemeClr val="tx1"/>
              </a:solidFill>
              <a:prstDash val="dash"/>
            </a:ln>
            <a:effectLst/>
          </p:spPr>
          <p:txBody>
            <a:bodyPr vert="horz" wrap="square" lIns="162569" tIns="81285" rIns="162569" bIns="81285" numCol="1" rtlCol="0" anchor="t" anchorCtr="0" compatLnSpc="1"/>
            <a:lstStyle/>
            <a:p>
              <a:pPr defTabSz="1219200">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pic>
          <p:nvPicPr>
            <p:cNvPr id="141" name="Picture 27" descr="E:\1华赛设计夹\2010-8\朱冬晴\华赛新图标\华赛新图标 png\05 公共图标(五)\网管 3.png"/>
            <p:cNvPicPr>
              <a:picLocks noChangeAspect="1" noChangeArrowheads="1"/>
            </p:cNvPicPr>
            <p:nvPr/>
          </p:nvPicPr>
          <p:blipFill>
            <a:blip r:embed="rId9" cstate="print"/>
            <a:srcRect/>
            <a:stretch>
              <a:fillRect/>
            </a:stretch>
          </p:blipFill>
          <p:spPr bwMode="auto">
            <a:xfrm>
              <a:off x="7539634" y="1708165"/>
              <a:ext cx="457700" cy="242828"/>
            </a:xfrm>
            <a:prstGeom prst="rect">
              <a:avLst/>
            </a:prstGeom>
            <a:noFill/>
            <a:ln w="9525">
              <a:noFill/>
              <a:miter lim="800000"/>
              <a:headEnd/>
              <a:tailEnd/>
            </a:ln>
          </p:spPr>
        </p:pic>
        <p:pic>
          <p:nvPicPr>
            <p:cNvPr id="142" name="Picture 254" descr="S2600-2 拷贝"/>
            <p:cNvPicPr>
              <a:picLocks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7555992" y="1344642"/>
              <a:ext cx="419559" cy="183197"/>
            </a:xfrm>
            <a:prstGeom prst="rect">
              <a:avLst/>
            </a:prstGeom>
            <a:noFill/>
            <a:ln w="9525">
              <a:noFill/>
              <a:miter lim="800000"/>
              <a:headEnd/>
              <a:tailEnd/>
            </a:ln>
          </p:spPr>
        </p:pic>
        <p:sp>
          <p:nvSpPr>
            <p:cNvPr id="143" name="TextBox 673"/>
            <p:cNvSpPr txBox="1"/>
            <p:nvPr/>
          </p:nvSpPr>
          <p:spPr>
            <a:xfrm>
              <a:off x="7934318" y="1749314"/>
              <a:ext cx="910923" cy="193139"/>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网络管理系统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144" name="Picture 796" descr="图片582"/>
            <p:cNvPicPr>
              <a:picLocks noChangeAspect="1" noChangeArrowheads="1"/>
            </p:cNvPicPr>
            <p:nvPr/>
          </p:nvPicPr>
          <p:blipFill>
            <a:blip r:embed="rId11" cstate="print"/>
            <a:srcRect/>
            <a:stretch>
              <a:fillRect/>
            </a:stretch>
          </p:blipFill>
          <p:spPr bwMode="auto">
            <a:xfrm>
              <a:off x="7524328" y="2804706"/>
              <a:ext cx="516561" cy="313773"/>
            </a:xfrm>
            <a:prstGeom prst="rect">
              <a:avLst/>
            </a:prstGeom>
            <a:noFill/>
          </p:spPr>
        </p:pic>
        <p:sp>
          <p:nvSpPr>
            <p:cNvPr id="145" name="TextBox 675"/>
            <p:cNvSpPr txBox="1"/>
            <p:nvPr/>
          </p:nvSpPr>
          <p:spPr>
            <a:xfrm>
              <a:off x="7986198" y="2765769"/>
              <a:ext cx="825984" cy="303007"/>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终端安全准入系统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146" name="Picture 535" descr="图片138"/>
            <p:cNvPicPr>
              <a:picLocks noChangeAspect="1" noChangeArrowheads="1"/>
            </p:cNvPicPr>
            <p:nvPr/>
          </p:nvPicPr>
          <p:blipFill>
            <a:blip r:embed="rId12" cstate="print"/>
            <a:srcRect/>
            <a:stretch>
              <a:fillRect/>
            </a:stretch>
          </p:blipFill>
          <p:spPr bwMode="auto">
            <a:xfrm>
              <a:off x="7668154" y="2113938"/>
              <a:ext cx="239313" cy="266309"/>
            </a:xfrm>
            <a:prstGeom prst="rect">
              <a:avLst/>
            </a:prstGeom>
            <a:noFill/>
            <a:ln w="9525">
              <a:noFill/>
              <a:miter lim="800000"/>
              <a:headEnd/>
              <a:tailEnd/>
            </a:ln>
          </p:spPr>
        </p:pic>
        <p:sp>
          <p:nvSpPr>
            <p:cNvPr id="147" name="TextBox 677"/>
            <p:cNvSpPr txBox="1"/>
            <p:nvPr/>
          </p:nvSpPr>
          <p:spPr>
            <a:xfrm>
              <a:off x="7922446" y="2141430"/>
              <a:ext cx="904714" cy="265634"/>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日志审计系统</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148" name="Picture 588" descr="图片174"/>
            <p:cNvPicPr>
              <a:picLocks noChangeAspect="1" noChangeArrowheads="1"/>
            </p:cNvPicPr>
            <p:nvPr/>
          </p:nvPicPr>
          <p:blipFill>
            <a:blip r:embed="rId13" cstate="print"/>
            <a:stretch>
              <a:fillRect/>
            </a:stretch>
          </p:blipFill>
          <p:spPr bwMode="auto">
            <a:xfrm>
              <a:off x="6781383" y="2446218"/>
              <a:ext cx="237260" cy="237093"/>
            </a:xfrm>
            <a:prstGeom prst="rect">
              <a:avLst/>
            </a:prstGeom>
            <a:noFill/>
            <a:ln>
              <a:noFill/>
            </a:ln>
          </p:spPr>
        </p:pic>
        <p:pic>
          <p:nvPicPr>
            <p:cNvPr id="149" name="Picture 588" descr="图片174"/>
            <p:cNvPicPr>
              <a:picLocks noChangeAspect="1" noChangeArrowheads="1"/>
            </p:cNvPicPr>
            <p:nvPr/>
          </p:nvPicPr>
          <p:blipFill>
            <a:blip r:embed="rId13" cstate="print"/>
            <a:stretch>
              <a:fillRect/>
            </a:stretch>
          </p:blipFill>
          <p:spPr bwMode="auto">
            <a:xfrm>
              <a:off x="6779396" y="2152914"/>
              <a:ext cx="237260" cy="237093"/>
            </a:xfrm>
            <a:prstGeom prst="rect">
              <a:avLst/>
            </a:prstGeom>
            <a:noFill/>
            <a:ln>
              <a:noFill/>
            </a:ln>
          </p:spPr>
        </p:pic>
        <p:cxnSp>
          <p:nvCxnSpPr>
            <p:cNvPr id="150" name="直接连接符 149"/>
            <p:cNvCxnSpPr/>
            <p:nvPr/>
          </p:nvCxnSpPr>
          <p:spPr bwMode="auto">
            <a:xfrm flipV="1">
              <a:off x="2356799" y="2882078"/>
              <a:ext cx="0" cy="23110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直接连接符 150"/>
            <p:cNvCxnSpPr/>
            <p:nvPr/>
          </p:nvCxnSpPr>
          <p:spPr bwMode="auto">
            <a:xfrm flipV="1">
              <a:off x="3942392" y="1997528"/>
              <a:ext cx="1904" cy="1096458"/>
            </a:xfrm>
            <a:prstGeom prst="line">
              <a:avLst/>
            </a:prstGeom>
            <a:noFill/>
            <a:ln w="9525" cap="flat" cmpd="sng" algn="ctr">
              <a:solidFill>
                <a:schemeClr val="bg1">
                  <a:lumMod val="50000"/>
                </a:schemeClr>
              </a:solidFill>
              <a:prstDash val="solid"/>
              <a:round/>
              <a:headEnd type="none" w="med" len="med"/>
              <a:tailEnd type="none" w="med" len="med"/>
            </a:ln>
            <a:effectLst/>
          </p:spPr>
        </p:cxnSp>
        <p:cxnSp>
          <p:nvCxnSpPr>
            <p:cNvPr id="152" name="直接连接符 151"/>
            <p:cNvCxnSpPr/>
            <p:nvPr/>
          </p:nvCxnSpPr>
          <p:spPr bwMode="auto">
            <a:xfrm flipV="1">
              <a:off x="4571819" y="2016724"/>
              <a:ext cx="1904" cy="1096458"/>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53" name="Picture 1674" descr="图片46"/>
            <p:cNvPicPr>
              <a:picLocks noChangeAspect="1" noChangeArrowheads="1"/>
            </p:cNvPicPr>
            <p:nvPr/>
          </p:nvPicPr>
          <p:blipFill>
            <a:blip r:embed="rId8" cstate="print"/>
            <a:srcRect/>
            <a:stretch>
              <a:fillRect/>
            </a:stretch>
          </p:blipFill>
          <p:spPr bwMode="auto">
            <a:xfrm>
              <a:off x="3815140" y="2227460"/>
              <a:ext cx="248923" cy="248584"/>
            </a:xfrm>
            <a:prstGeom prst="rect">
              <a:avLst/>
            </a:prstGeom>
            <a:noFill/>
            <a:ln w="9525">
              <a:noFill/>
              <a:miter lim="800000"/>
              <a:headEnd/>
              <a:tailEnd/>
            </a:ln>
          </p:spPr>
        </p:pic>
        <p:pic>
          <p:nvPicPr>
            <p:cNvPr id="154" name="Picture 2"/>
            <p:cNvPicPr>
              <a:picLocks noChangeAspect="1" noChangeArrowheads="1"/>
            </p:cNvPicPr>
            <p:nvPr/>
          </p:nvPicPr>
          <p:blipFill>
            <a:blip r:embed="rId14" cstate="print"/>
            <a:srcRect/>
            <a:stretch>
              <a:fillRect/>
            </a:stretch>
          </p:blipFill>
          <p:spPr bwMode="auto">
            <a:xfrm>
              <a:off x="3799476" y="2748865"/>
              <a:ext cx="264587" cy="228834"/>
            </a:xfrm>
            <a:prstGeom prst="rect">
              <a:avLst/>
            </a:prstGeom>
            <a:noFill/>
            <a:ln w="9525">
              <a:noFill/>
              <a:miter lim="800000"/>
              <a:headEnd/>
              <a:tailEnd/>
            </a:ln>
          </p:spPr>
        </p:pic>
        <p:pic>
          <p:nvPicPr>
            <p:cNvPr id="155" name="Picture 2"/>
            <p:cNvPicPr>
              <a:picLocks noChangeAspect="1" noChangeArrowheads="1"/>
            </p:cNvPicPr>
            <p:nvPr/>
          </p:nvPicPr>
          <p:blipFill>
            <a:blip r:embed="rId14" cstate="print"/>
            <a:srcRect/>
            <a:stretch>
              <a:fillRect/>
            </a:stretch>
          </p:blipFill>
          <p:spPr bwMode="auto">
            <a:xfrm>
              <a:off x="4442987" y="2748865"/>
              <a:ext cx="264587" cy="228834"/>
            </a:xfrm>
            <a:prstGeom prst="rect">
              <a:avLst/>
            </a:prstGeom>
            <a:noFill/>
            <a:ln w="9525">
              <a:noFill/>
              <a:miter lim="800000"/>
              <a:headEnd/>
              <a:tailEnd/>
            </a:ln>
          </p:spPr>
        </p:pic>
        <p:pic>
          <p:nvPicPr>
            <p:cNvPr id="156" name="Picture 1674" descr="图片46"/>
            <p:cNvPicPr>
              <a:picLocks noChangeAspect="1" noChangeArrowheads="1"/>
            </p:cNvPicPr>
            <p:nvPr/>
          </p:nvPicPr>
          <p:blipFill>
            <a:blip r:embed="rId8" cstate="print"/>
            <a:srcRect/>
            <a:stretch>
              <a:fillRect/>
            </a:stretch>
          </p:blipFill>
          <p:spPr bwMode="auto">
            <a:xfrm>
              <a:off x="4449261" y="2226579"/>
              <a:ext cx="248923" cy="248584"/>
            </a:xfrm>
            <a:prstGeom prst="rect">
              <a:avLst/>
            </a:prstGeom>
            <a:noFill/>
            <a:ln w="9525">
              <a:noFill/>
              <a:miter lim="800000"/>
              <a:headEnd/>
              <a:tailEnd/>
            </a:ln>
          </p:spPr>
        </p:pic>
        <p:cxnSp>
          <p:nvCxnSpPr>
            <p:cNvPr id="157" name="直接连接符 156"/>
            <p:cNvCxnSpPr/>
            <p:nvPr/>
          </p:nvCxnSpPr>
          <p:spPr bwMode="auto">
            <a:xfrm flipV="1">
              <a:off x="1699639" y="1788412"/>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接连接符 157"/>
            <p:cNvCxnSpPr/>
            <p:nvPr/>
          </p:nvCxnSpPr>
          <p:spPr bwMode="auto">
            <a:xfrm flipV="1">
              <a:off x="2174290" y="1796052"/>
              <a:ext cx="539" cy="114944"/>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直接连接符 158"/>
            <p:cNvCxnSpPr>
              <a:stCxn id="99" idx="0"/>
              <a:endCxn id="128" idx="3"/>
            </p:cNvCxnSpPr>
            <p:nvPr/>
          </p:nvCxnSpPr>
          <p:spPr bwMode="auto">
            <a:xfrm flipH="1" flipV="1">
              <a:off x="2325983" y="1722893"/>
              <a:ext cx="2235216" cy="1349709"/>
            </a:xfrm>
            <a:prstGeom prst="line">
              <a:avLst/>
            </a:prstGeom>
            <a:noFill/>
            <a:ln w="9525" cap="flat" cmpd="sng" algn="ctr">
              <a:solidFill>
                <a:schemeClr val="bg1">
                  <a:lumMod val="50000"/>
                </a:schemeClr>
              </a:solidFill>
              <a:prstDash val="solid"/>
              <a:round/>
              <a:headEnd type="none" w="med" len="med"/>
              <a:tailEnd type="none" w="med" len="med"/>
            </a:ln>
            <a:effectLst/>
          </p:spPr>
        </p:cxnSp>
        <p:pic>
          <p:nvPicPr>
            <p:cNvPr id="160" name="Picture 1674" descr="图片46"/>
            <p:cNvPicPr>
              <a:picLocks noChangeAspect="1" noChangeArrowheads="1"/>
            </p:cNvPicPr>
            <p:nvPr/>
          </p:nvPicPr>
          <p:blipFill>
            <a:blip r:embed="rId8" cstate="print"/>
            <a:srcRect/>
            <a:stretch>
              <a:fillRect/>
            </a:stretch>
          </p:blipFill>
          <p:spPr bwMode="auto">
            <a:xfrm>
              <a:off x="2379358" y="1645964"/>
              <a:ext cx="248923" cy="248584"/>
            </a:xfrm>
            <a:prstGeom prst="rect">
              <a:avLst/>
            </a:prstGeom>
            <a:noFill/>
            <a:ln w="9525">
              <a:noFill/>
              <a:miter lim="800000"/>
              <a:headEnd/>
              <a:tailEnd/>
            </a:ln>
          </p:spPr>
        </p:pic>
        <p:pic>
          <p:nvPicPr>
            <p:cNvPr id="161" name="Picture 1674" descr="图片46"/>
            <p:cNvPicPr>
              <a:picLocks noChangeAspect="1" noChangeArrowheads="1"/>
            </p:cNvPicPr>
            <p:nvPr/>
          </p:nvPicPr>
          <p:blipFill>
            <a:blip r:embed="rId8" cstate="print"/>
            <a:srcRect/>
            <a:stretch>
              <a:fillRect/>
            </a:stretch>
          </p:blipFill>
          <p:spPr bwMode="auto">
            <a:xfrm>
              <a:off x="2366672" y="1931806"/>
              <a:ext cx="248923" cy="248584"/>
            </a:xfrm>
            <a:prstGeom prst="rect">
              <a:avLst/>
            </a:prstGeom>
            <a:noFill/>
            <a:ln w="9525">
              <a:noFill/>
              <a:miter lim="800000"/>
              <a:headEnd/>
              <a:tailEnd/>
            </a:ln>
          </p:spPr>
        </p:pic>
        <p:sp>
          <p:nvSpPr>
            <p:cNvPr id="162" name="圆角矩形 200"/>
            <p:cNvSpPr/>
            <p:nvPr/>
          </p:nvSpPr>
          <p:spPr>
            <a:xfrm>
              <a:off x="1636075" y="3627419"/>
              <a:ext cx="5328390" cy="1368046"/>
            </a:xfrm>
            <a:prstGeom prst="roundRect">
              <a:avLst>
                <a:gd name="adj" fmla="val 12159"/>
              </a:avLst>
            </a:prstGeom>
            <a:noFill/>
            <a:ln>
              <a:solidFill>
                <a:schemeClr val="tx1"/>
              </a:solidFill>
              <a:prstDash val="dash"/>
            </a:ln>
            <a:effectLst/>
          </p:spPr>
          <p:txBody>
            <a:bodyPr vert="horz" wrap="square" lIns="121912" tIns="60956" rIns="121912" bIns="60956" numCol="1" rtlCol="0" anchor="t" anchorCtr="0" compatLnSpc="1"/>
            <a:lstStyle/>
            <a:p>
              <a:pPr defTabSz="913765">
                <a:buClr>
                  <a:srgbClr val="CC9900"/>
                </a:buClr>
                <a:buFont typeface="Wingdings" panose="05000000000000000000" pitchFamily="2" charset="2"/>
                <a:buChar char="n"/>
              </a:pPr>
              <a:endParaRPr lang="en-US" dirty="0">
                <a:solidFill>
                  <a:srgbClr val="000000"/>
                </a:solidFill>
                <a:latin typeface="微软雅黑" panose="020B0503020204020204" pitchFamily="34" charset="-122"/>
                <a:ea typeface="微软雅黑" panose="020B0503020204020204" pitchFamily="34" charset="-122"/>
              </a:endParaRPr>
            </a:p>
          </p:txBody>
        </p:sp>
        <p:sp>
          <p:nvSpPr>
            <p:cNvPr id="163" name="圆角矩形 201"/>
            <p:cNvSpPr/>
            <p:nvPr/>
          </p:nvSpPr>
          <p:spPr>
            <a:xfrm>
              <a:off x="3958234" y="4326945"/>
              <a:ext cx="874609" cy="348990"/>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4" name="圆角矩形 202"/>
            <p:cNvSpPr/>
            <p:nvPr/>
          </p:nvSpPr>
          <p:spPr>
            <a:xfrm>
              <a:off x="5647833" y="4326945"/>
              <a:ext cx="874609" cy="348990"/>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5" name="圆角矩形 203"/>
            <p:cNvSpPr/>
            <p:nvPr/>
          </p:nvSpPr>
          <p:spPr>
            <a:xfrm>
              <a:off x="2122793" y="4306103"/>
              <a:ext cx="874609" cy="348990"/>
            </a:xfrm>
            <a:prstGeom prst="roundRect">
              <a:avLst>
                <a:gd name="adj" fmla="val 12159"/>
              </a:avLst>
            </a:prstGeom>
            <a:solidFill>
              <a:srgbClr val="CCECFF">
                <a:alpha val="69804"/>
              </a:srgbClr>
            </a:solidFill>
            <a:ln w="9525" cap="flat" cmpd="sng" algn="ctr">
              <a:noFill/>
              <a:prstDash val="solid"/>
            </a:ln>
            <a:effectLst>
              <a:outerShdw blurRad="40000" dist="23000" dir="5400000" rotWithShape="0">
                <a:srgbClr val="B2B2B2">
                  <a:alpha val="35000"/>
                </a:srgbClr>
              </a:outerShdw>
            </a:effectLst>
          </p:spPr>
          <p:txBody>
            <a:bodyPr lIns="91409" tIns="45705" rIns="91409" bIns="45705" rtlCol="0" anchor="ctr">
              <a:noAutofit/>
            </a:bodyPr>
            <a:lstStyle/>
            <a:p>
              <a:pPr algn="ctr" defTabSz="685165">
                <a:defRPr/>
              </a:pPr>
              <a:endParaRPr lang="en-US" altLang="en-US" sz="600" kern="0"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66" name="TextBox 696"/>
            <p:cNvSpPr txBox="1"/>
            <p:nvPr/>
          </p:nvSpPr>
          <p:spPr>
            <a:xfrm>
              <a:off x="1715354" y="3705669"/>
              <a:ext cx="902027" cy="154069"/>
            </a:xfrm>
            <a:prstGeom prst="rect">
              <a:avLst/>
            </a:prstGeom>
            <a:noFill/>
          </p:spPr>
          <p:txBody>
            <a:bodyPr wrap="square" lIns="35988" tIns="45705" rIns="35988" bIns="45705" rtlCol="0" anchor="ctr" anchorCtr="0">
              <a:noAutofit/>
            </a:bodyPr>
            <a:lstStyle/>
            <a:p>
              <a:r>
                <a:rPr lang="zh-CN" altLang="en-US" sz="1300" b="1" dirty="0">
                  <a:solidFill>
                    <a:srgbClr val="000000"/>
                  </a:solidFill>
                  <a:latin typeface="微软雅黑" panose="020B0503020204020204" pitchFamily="34" charset="-122"/>
                  <a:ea typeface="微软雅黑" panose="020B0503020204020204" pitchFamily="34" charset="-122"/>
                </a:rPr>
                <a:t>接入区</a:t>
              </a:r>
              <a:endParaRPr lang="zh-CN" altLang="en-US" sz="1300" b="1" dirty="0">
                <a:solidFill>
                  <a:srgbClr val="000000"/>
                </a:solidFill>
                <a:latin typeface="微软雅黑" panose="020B0503020204020204" pitchFamily="34" charset="-122"/>
                <a:ea typeface="微软雅黑" panose="020B0503020204020204" pitchFamily="34" charset="-122"/>
              </a:endParaRPr>
            </a:p>
          </p:txBody>
        </p:sp>
        <p:cxnSp>
          <p:nvCxnSpPr>
            <p:cNvPr id="167" name="直接连接符 166"/>
            <p:cNvCxnSpPr>
              <a:endCxn id="169" idx="0"/>
            </p:cNvCxnSpPr>
            <p:nvPr/>
          </p:nvCxnSpPr>
          <p:spPr bwMode="auto">
            <a:xfrm flipH="1">
              <a:off x="2290662" y="3253712"/>
              <a:ext cx="1635572" cy="809642"/>
            </a:xfrm>
            <a:prstGeom prst="line">
              <a:avLst/>
            </a:prstGeom>
            <a:noFill/>
            <a:ln w="6350" cap="flat" cmpd="sng" algn="ctr">
              <a:solidFill>
                <a:schemeClr val="bg1">
                  <a:lumMod val="50000"/>
                </a:schemeClr>
              </a:solidFill>
              <a:prstDash val="solid"/>
              <a:round/>
              <a:headEnd type="none" w="med" len="med"/>
              <a:tailEnd type="none" w="med" len="med"/>
            </a:ln>
            <a:effectLst/>
          </p:spPr>
        </p:cxnSp>
        <p:pic>
          <p:nvPicPr>
            <p:cNvPr id="168" name="Picture 461" descr="图片240"/>
            <p:cNvPicPr>
              <a:picLocks noChangeAspect="1" noChangeArrowheads="1"/>
            </p:cNvPicPr>
            <p:nvPr/>
          </p:nvPicPr>
          <p:blipFill>
            <a:blip r:embed="rId1" cstate="print"/>
            <a:srcRect/>
            <a:stretch>
              <a:fillRect/>
            </a:stretch>
          </p:blipFill>
          <p:spPr bwMode="auto">
            <a:xfrm>
              <a:off x="2713892" y="4063354"/>
              <a:ext cx="259750" cy="187626"/>
            </a:xfrm>
            <a:prstGeom prst="rect">
              <a:avLst/>
            </a:prstGeom>
            <a:noFill/>
            <a:effectLst/>
          </p:spPr>
        </p:pic>
        <p:pic>
          <p:nvPicPr>
            <p:cNvPr id="169" name="Picture 461" descr="图片240"/>
            <p:cNvPicPr>
              <a:picLocks noChangeAspect="1" noChangeArrowheads="1"/>
            </p:cNvPicPr>
            <p:nvPr/>
          </p:nvPicPr>
          <p:blipFill>
            <a:blip r:embed="rId1" cstate="print"/>
            <a:srcRect/>
            <a:stretch>
              <a:fillRect/>
            </a:stretch>
          </p:blipFill>
          <p:spPr bwMode="auto">
            <a:xfrm>
              <a:off x="2160786" y="4063354"/>
              <a:ext cx="259750" cy="187626"/>
            </a:xfrm>
            <a:prstGeom prst="rect">
              <a:avLst/>
            </a:prstGeom>
            <a:noFill/>
            <a:effectLst/>
          </p:spPr>
        </p:pic>
        <p:pic>
          <p:nvPicPr>
            <p:cNvPr id="170" name="Picture 461" descr="图片240"/>
            <p:cNvPicPr>
              <a:picLocks noChangeAspect="1" noChangeArrowheads="1"/>
            </p:cNvPicPr>
            <p:nvPr/>
          </p:nvPicPr>
          <p:blipFill>
            <a:blip r:embed="rId1" cstate="print"/>
            <a:srcRect/>
            <a:stretch>
              <a:fillRect/>
            </a:stretch>
          </p:blipFill>
          <p:spPr bwMode="auto">
            <a:xfrm>
              <a:off x="4555050" y="4084197"/>
              <a:ext cx="259750" cy="187626"/>
            </a:xfrm>
            <a:prstGeom prst="rect">
              <a:avLst/>
            </a:prstGeom>
            <a:noFill/>
            <a:effectLst/>
          </p:spPr>
        </p:pic>
        <p:pic>
          <p:nvPicPr>
            <p:cNvPr id="171" name="Picture 461" descr="图片240"/>
            <p:cNvPicPr>
              <a:picLocks noChangeAspect="1" noChangeArrowheads="1"/>
            </p:cNvPicPr>
            <p:nvPr/>
          </p:nvPicPr>
          <p:blipFill>
            <a:blip r:embed="rId1" cstate="print"/>
            <a:srcRect/>
            <a:stretch>
              <a:fillRect/>
            </a:stretch>
          </p:blipFill>
          <p:spPr bwMode="auto">
            <a:xfrm>
              <a:off x="4001944" y="4084197"/>
              <a:ext cx="259750" cy="187626"/>
            </a:xfrm>
            <a:prstGeom prst="rect">
              <a:avLst/>
            </a:prstGeom>
            <a:noFill/>
            <a:effectLst/>
          </p:spPr>
        </p:pic>
        <p:pic>
          <p:nvPicPr>
            <p:cNvPr id="172" name="Picture 461" descr="图片240"/>
            <p:cNvPicPr>
              <a:picLocks noChangeAspect="1" noChangeArrowheads="1"/>
            </p:cNvPicPr>
            <p:nvPr/>
          </p:nvPicPr>
          <p:blipFill>
            <a:blip r:embed="rId1" cstate="print"/>
            <a:srcRect/>
            <a:stretch>
              <a:fillRect/>
            </a:stretch>
          </p:blipFill>
          <p:spPr bwMode="auto">
            <a:xfrm>
              <a:off x="6234055" y="4084197"/>
              <a:ext cx="259750" cy="187626"/>
            </a:xfrm>
            <a:prstGeom prst="rect">
              <a:avLst/>
            </a:prstGeom>
            <a:noFill/>
            <a:effectLst/>
          </p:spPr>
        </p:pic>
        <p:pic>
          <p:nvPicPr>
            <p:cNvPr id="173" name="Picture 461" descr="图片240"/>
            <p:cNvPicPr>
              <a:picLocks noChangeAspect="1" noChangeArrowheads="1"/>
            </p:cNvPicPr>
            <p:nvPr/>
          </p:nvPicPr>
          <p:blipFill>
            <a:blip r:embed="rId1" cstate="print"/>
            <a:srcRect/>
            <a:stretch>
              <a:fillRect/>
            </a:stretch>
          </p:blipFill>
          <p:spPr bwMode="auto">
            <a:xfrm>
              <a:off x="5680947" y="4084197"/>
              <a:ext cx="259750" cy="187626"/>
            </a:xfrm>
            <a:prstGeom prst="rect">
              <a:avLst/>
            </a:prstGeom>
            <a:noFill/>
            <a:effectLst/>
          </p:spPr>
        </p:pic>
        <p:cxnSp>
          <p:nvCxnSpPr>
            <p:cNvPr id="174" name="直接连接符 173"/>
            <p:cNvCxnSpPr>
              <a:endCxn id="168" idx="0"/>
            </p:cNvCxnSpPr>
            <p:nvPr/>
          </p:nvCxnSpPr>
          <p:spPr bwMode="auto">
            <a:xfrm flipH="1">
              <a:off x="2843767" y="3253712"/>
              <a:ext cx="1698759" cy="809642"/>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5" name="直接连接符 174"/>
            <p:cNvCxnSpPr>
              <a:endCxn id="172" idx="0"/>
            </p:cNvCxnSpPr>
            <p:nvPr/>
          </p:nvCxnSpPr>
          <p:spPr bwMode="auto">
            <a:xfrm>
              <a:off x="4542526" y="3253712"/>
              <a:ext cx="1821404"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6" name="直接连接符 175"/>
            <p:cNvCxnSpPr>
              <a:endCxn id="171" idx="0"/>
            </p:cNvCxnSpPr>
            <p:nvPr/>
          </p:nvCxnSpPr>
          <p:spPr bwMode="auto">
            <a:xfrm>
              <a:off x="3926233" y="3253712"/>
              <a:ext cx="205586"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7" name="直接连接符 176"/>
            <p:cNvCxnSpPr>
              <a:endCxn id="170" idx="0"/>
            </p:cNvCxnSpPr>
            <p:nvPr/>
          </p:nvCxnSpPr>
          <p:spPr bwMode="auto">
            <a:xfrm>
              <a:off x="4542526" y="3253712"/>
              <a:ext cx="142399"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8" name="直接连接符 177"/>
            <p:cNvCxnSpPr>
              <a:endCxn id="173" idx="0"/>
            </p:cNvCxnSpPr>
            <p:nvPr/>
          </p:nvCxnSpPr>
          <p:spPr bwMode="auto">
            <a:xfrm>
              <a:off x="3926233" y="3253712"/>
              <a:ext cx="1884589"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79" name="直接连接符 178"/>
            <p:cNvCxnSpPr>
              <a:endCxn id="169" idx="0"/>
            </p:cNvCxnSpPr>
            <p:nvPr/>
          </p:nvCxnSpPr>
          <p:spPr bwMode="auto">
            <a:xfrm flipH="1">
              <a:off x="2290662" y="3253712"/>
              <a:ext cx="2251865" cy="809642"/>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0" name="直接连接符 179"/>
            <p:cNvCxnSpPr>
              <a:endCxn id="168" idx="0"/>
            </p:cNvCxnSpPr>
            <p:nvPr/>
          </p:nvCxnSpPr>
          <p:spPr bwMode="auto">
            <a:xfrm flipH="1">
              <a:off x="2843767" y="3253712"/>
              <a:ext cx="1082466" cy="809642"/>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1" name="直接连接符 180"/>
            <p:cNvCxnSpPr>
              <a:endCxn id="171" idx="0"/>
            </p:cNvCxnSpPr>
            <p:nvPr/>
          </p:nvCxnSpPr>
          <p:spPr bwMode="auto">
            <a:xfrm flipH="1">
              <a:off x="4131819" y="3253712"/>
              <a:ext cx="410707"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2" name="直接连接符 181"/>
            <p:cNvCxnSpPr>
              <a:endCxn id="170" idx="0"/>
            </p:cNvCxnSpPr>
            <p:nvPr/>
          </p:nvCxnSpPr>
          <p:spPr bwMode="auto">
            <a:xfrm>
              <a:off x="3926233" y="3253712"/>
              <a:ext cx="758692"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3" name="直接连接符 182"/>
            <p:cNvCxnSpPr>
              <a:endCxn id="173" idx="0"/>
            </p:cNvCxnSpPr>
            <p:nvPr/>
          </p:nvCxnSpPr>
          <p:spPr bwMode="auto">
            <a:xfrm>
              <a:off x="4542526" y="3253712"/>
              <a:ext cx="1268296" cy="830486"/>
            </a:xfrm>
            <a:prstGeom prst="line">
              <a:avLst/>
            </a:prstGeom>
            <a:noFill/>
            <a:ln w="6350" cap="flat" cmpd="sng" algn="ctr">
              <a:solidFill>
                <a:schemeClr val="bg1">
                  <a:lumMod val="50000"/>
                </a:schemeClr>
              </a:solidFill>
              <a:prstDash val="solid"/>
              <a:round/>
              <a:headEnd type="none" w="med" len="med"/>
              <a:tailEnd type="none" w="med" len="med"/>
            </a:ln>
            <a:effectLst/>
          </p:spPr>
        </p:cxnSp>
        <p:cxnSp>
          <p:nvCxnSpPr>
            <p:cNvPr id="184" name="直接连接符 183"/>
            <p:cNvCxnSpPr>
              <a:endCxn id="172" idx="0"/>
            </p:cNvCxnSpPr>
            <p:nvPr/>
          </p:nvCxnSpPr>
          <p:spPr bwMode="auto">
            <a:xfrm>
              <a:off x="3926233" y="3253712"/>
              <a:ext cx="2437697" cy="830486"/>
            </a:xfrm>
            <a:prstGeom prst="line">
              <a:avLst/>
            </a:prstGeom>
            <a:noFill/>
            <a:ln w="6350" cap="flat" cmpd="sng" algn="ctr">
              <a:solidFill>
                <a:schemeClr val="bg1">
                  <a:lumMod val="50000"/>
                </a:schemeClr>
              </a:solidFill>
              <a:prstDash val="solid"/>
              <a:round/>
              <a:headEnd type="none" w="med" len="med"/>
              <a:tailEnd type="none" w="med" len="med"/>
            </a:ln>
            <a:effectLst/>
          </p:spPr>
        </p:cxnSp>
        <p:pic>
          <p:nvPicPr>
            <p:cNvPr id="185" name="Picture 22" descr="图片99"/>
            <p:cNvPicPr>
              <a:picLocks noChangeAspect="1" noChangeArrowheads="1"/>
            </p:cNvPicPr>
            <p:nvPr/>
          </p:nvPicPr>
          <p:blipFill>
            <a:blip r:embed="rId15" cstate="print"/>
            <a:srcRect/>
            <a:stretch>
              <a:fillRect/>
            </a:stretch>
          </p:blipFill>
          <p:spPr bwMode="auto">
            <a:xfrm>
              <a:off x="3925626" y="4359118"/>
              <a:ext cx="381801" cy="267801"/>
            </a:xfrm>
            <a:prstGeom prst="rect">
              <a:avLst/>
            </a:prstGeom>
            <a:noFill/>
            <a:ln w="9525">
              <a:noFill/>
              <a:miter lim="800000"/>
              <a:headEnd/>
              <a:tailEnd/>
            </a:ln>
          </p:spPr>
        </p:pic>
        <p:pic>
          <p:nvPicPr>
            <p:cNvPr id="186" name="Picture 22" descr="图片99"/>
            <p:cNvPicPr>
              <a:picLocks noChangeAspect="1" noChangeArrowheads="1"/>
            </p:cNvPicPr>
            <p:nvPr/>
          </p:nvPicPr>
          <p:blipFill>
            <a:blip r:embed="rId15" cstate="print"/>
            <a:srcRect/>
            <a:stretch>
              <a:fillRect/>
            </a:stretch>
          </p:blipFill>
          <p:spPr bwMode="auto">
            <a:xfrm>
              <a:off x="2093987" y="4304134"/>
              <a:ext cx="381801" cy="267801"/>
            </a:xfrm>
            <a:prstGeom prst="rect">
              <a:avLst/>
            </a:prstGeom>
            <a:noFill/>
            <a:ln w="9525">
              <a:noFill/>
              <a:miter lim="800000"/>
              <a:headEnd/>
              <a:tailEnd/>
            </a:ln>
          </p:spPr>
        </p:pic>
        <p:pic>
          <p:nvPicPr>
            <p:cNvPr id="187" name="Picture 22" descr="图片99"/>
            <p:cNvPicPr>
              <a:picLocks noChangeAspect="1" noChangeArrowheads="1"/>
            </p:cNvPicPr>
            <p:nvPr/>
          </p:nvPicPr>
          <p:blipFill>
            <a:blip r:embed="rId15" cstate="print"/>
            <a:srcRect/>
            <a:stretch>
              <a:fillRect/>
            </a:stretch>
          </p:blipFill>
          <p:spPr bwMode="auto">
            <a:xfrm>
              <a:off x="2704533" y="4304134"/>
              <a:ext cx="381801" cy="267801"/>
            </a:xfrm>
            <a:prstGeom prst="rect">
              <a:avLst/>
            </a:prstGeom>
            <a:noFill/>
            <a:ln w="9525">
              <a:noFill/>
              <a:miter lim="800000"/>
              <a:headEnd/>
              <a:tailEnd/>
            </a:ln>
          </p:spPr>
        </p:pic>
        <p:pic>
          <p:nvPicPr>
            <p:cNvPr id="188" name="Picture 22" descr="图片99"/>
            <p:cNvPicPr>
              <a:picLocks noChangeAspect="1" noChangeArrowheads="1"/>
            </p:cNvPicPr>
            <p:nvPr/>
          </p:nvPicPr>
          <p:blipFill>
            <a:blip r:embed="rId15" cstate="print"/>
            <a:srcRect/>
            <a:stretch>
              <a:fillRect/>
            </a:stretch>
          </p:blipFill>
          <p:spPr bwMode="auto">
            <a:xfrm>
              <a:off x="4536173" y="4359118"/>
              <a:ext cx="381801" cy="267801"/>
            </a:xfrm>
            <a:prstGeom prst="rect">
              <a:avLst/>
            </a:prstGeom>
            <a:noFill/>
            <a:ln w="9525">
              <a:noFill/>
              <a:miter lim="800000"/>
              <a:headEnd/>
              <a:tailEnd/>
            </a:ln>
          </p:spPr>
        </p:pic>
        <p:pic>
          <p:nvPicPr>
            <p:cNvPr id="189" name="Picture 22" descr="图片99"/>
            <p:cNvPicPr>
              <a:picLocks noChangeAspect="1" noChangeArrowheads="1"/>
            </p:cNvPicPr>
            <p:nvPr/>
          </p:nvPicPr>
          <p:blipFill>
            <a:blip r:embed="rId15" cstate="print"/>
            <a:srcRect/>
            <a:stretch>
              <a:fillRect/>
            </a:stretch>
          </p:blipFill>
          <p:spPr bwMode="auto">
            <a:xfrm>
              <a:off x="5577197" y="4379960"/>
              <a:ext cx="381801" cy="267801"/>
            </a:xfrm>
            <a:prstGeom prst="rect">
              <a:avLst/>
            </a:prstGeom>
            <a:noFill/>
            <a:ln w="9525">
              <a:noFill/>
              <a:miter lim="800000"/>
              <a:headEnd/>
              <a:tailEnd/>
            </a:ln>
          </p:spPr>
        </p:pic>
        <p:pic>
          <p:nvPicPr>
            <p:cNvPr id="190" name="Picture 22" descr="图片99"/>
            <p:cNvPicPr>
              <a:picLocks noChangeAspect="1" noChangeArrowheads="1"/>
            </p:cNvPicPr>
            <p:nvPr/>
          </p:nvPicPr>
          <p:blipFill>
            <a:blip r:embed="rId15" cstate="print"/>
            <a:srcRect/>
            <a:stretch>
              <a:fillRect/>
            </a:stretch>
          </p:blipFill>
          <p:spPr bwMode="auto">
            <a:xfrm>
              <a:off x="6187744" y="4379960"/>
              <a:ext cx="381801" cy="267801"/>
            </a:xfrm>
            <a:prstGeom prst="rect">
              <a:avLst/>
            </a:prstGeom>
            <a:noFill/>
            <a:ln w="9525">
              <a:noFill/>
              <a:miter lim="800000"/>
              <a:headEnd/>
              <a:tailEnd/>
            </a:ln>
          </p:spPr>
        </p:pic>
        <p:sp>
          <p:nvSpPr>
            <p:cNvPr id="191" name="圆角矩形 229"/>
            <p:cNvSpPr/>
            <p:nvPr/>
          </p:nvSpPr>
          <p:spPr bwMode="auto">
            <a:xfrm>
              <a:off x="2264705" y="4704473"/>
              <a:ext cx="657598" cy="219937"/>
            </a:xfrm>
            <a:prstGeom prst="roundRect">
              <a:avLst/>
            </a:prstGeom>
            <a:noFill/>
          </p:spPr>
          <p:txBody>
            <a:bodyPr wrap="square" lIns="35988" tIns="45705" rIns="35988" bIns="45705" rtlCol="0" anchor="ctr" anchorCtr="0">
              <a:noAutofit/>
            </a:bodyPr>
            <a:lstStyle/>
            <a:p>
              <a:pPr algn="ctr"/>
              <a:r>
                <a:rPr lang="zh-CN" altLang="en-US" sz="1100" b="1" dirty="0">
                  <a:solidFill>
                    <a:srgbClr val="000000"/>
                  </a:solidFill>
                  <a:latin typeface="微软雅黑" panose="020B0503020204020204" pitchFamily="34" charset="-122"/>
                  <a:ea typeface="微软雅黑" panose="020B0503020204020204" pitchFamily="34" charset="-122"/>
                </a:rPr>
                <a:t>接入用户</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192" name="圆角矩形 230"/>
            <p:cNvSpPr/>
            <p:nvPr/>
          </p:nvSpPr>
          <p:spPr bwMode="auto">
            <a:xfrm>
              <a:off x="4077859" y="4704473"/>
              <a:ext cx="657598" cy="219937"/>
            </a:xfrm>
            <a:prstGeom prst="roundRect">
              <a:avLst/>
            </a:prstGeom>
            <a:noFill/>
          </p:spPr>
          <p:txBody>
            <a:bodyPr wrap="square" lIns="35988" tIns="45705" rIns="35988" bIns="45705" rtlCol="0" anchor="ctr" anchorCtr="0">
              <a:noAutofit/>
            </a:bodyPr>
            <a:lstStyle/>
            <a:p>
              <a:pPr algn="ctr"/>
              <a:r>
                <a:rPr lang="zh-CN" altLang="en-US" sz="1100" b="1" dirty="0">
                  <a:solidFill>
                    <a:srgbClr val="000000"/>
                  </a:solidFill>
                  <a:latin typeface="微软雅黑" panose="020B0503020204020204" pitchFamily="34" charset="-122"/>
                  <a:ea typeface="微软雅黑" panose="020B0503020204020204" pitchFamily="34" charset="-122"/>
                </a:rPr>
                <a:t>接入用户</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sp>
          <p:nvSpPr>
            <p:cNvPr id="193" name="圆角矩形 231"/>
            <p:cNvSpPr/>
            <p:nvPr/>
          </p:nvSpPr>
          <p:spPr bwMode="auto">
            <a:xfrm>
              <a:off x="5779786" y="4686538"/>
              <a:ext cx="657598" cy="219937"/>
            </a:xfrm>
            <a:prstGeom prst="roundRect">
              <a:avLst/>
            </a:prstGeom>
            <a:noFill/>
          </p:spPr>
          <p:txBody>
            <a:bodyPr wrap="square" lIns="35988" tIns="45705" rIns="35988" bIns="45705" rtlCol="0" anchor="ctr" anchorCtr="0">
              <a:noAutofit/>
            </a:bodyPr>
            <a:lstStyle/>
            <a:p>
              <a:pPr algn="ctr"/>
              <a:r>
                <a:rPr lang="zh-CN" altLang="en-US" sz="1100" b="1" dirty="0">
                  <a:solidFill>
                    <a:srgbClr val="000000"/>
                  </a:solidFill>
                  <a:latin typeface="微软雅黑" panose="020B0503020204020204" pitchFamily="34" charset="-122"/>
                  <a:ea typeface="微软雅黑" panose="020B0503020204020204" pitchFamily="34" charset="-122"/>
                </a:rPr>
                <a:t>接入用户</a:t>
              </a:r>
              <a:endParaRPr lang="en-US" altLang="zh-CN" sz="1100" b="1" dirty="0">
                <a:solidFill>
                  <a:srgbClr val="000000"/>
                </a:solidFill>
                <a:latin typeface="微软雅黑" panose="020B0503020204020204" pitchFamily="34" charset="-122"/>
                <a:ea typeface="微软雅黑" panose="020B0503020204020204" pitchFamily="34" charset="-122"/>
              </a:endParaRPr>
            </a:p>
          </p:txBody>
        </p:sp>
        <p:pic>
          <p:nvPicPr>
            <p:cNvPr id="194" name="Picture 17" descr="E:\1华赛设计夹\2010-8\朱冬晴\华赛新图标\华赛新图标 png\06 安全图标(一)\IDS 2.png"/>
            <p:cNvPicPr>
              <a:picLocks noChangeAspect="1" noChangeArrowheads="1"/>
            </p:cNvPicPr>
            <p:nvPr/>
          </p:nvPicPr>
          <p:blipFill>
            <a:blip r:embed="rId16" cstate="print"/>
            <a:srcRect/>
            <a:stretch>
              <a:fillRect/>
            </a:stretch>
          </p:blipFill>
          <p:spPr bwMode="auto">
            <a:xfrm>
              <a:off x="3811795" y="2480204"/>
              <a:ext cx="245413" cy="235807"/>
            </a:xfrm>
            <a:prstGeom prst="rect">
              <a:avLst/>
            </a:prstGeom>
            <a:noFill/>
            <a:ln w="9525">
              <a:noFill/>
              <a:miter lim="800000"/>
              <a:headEnd/>
              <a:tailEnd/>
            </a:ln>
          </p:spPr>
        </p:pic>
        <p:pic>
          <p:nvPicPr>
            <p:cNvPr id="195" name="Picture 17" descr="E:\1华赛设计夹\2010-8\朱冬晴\华赛新图标\华赛新图标 png\06 安全图标(一)\IDS 2.png"/>
            <p:cNvPicPr>
              <a:picLocks noChangeAspect="1" noChangeArrowheads="1"/>
            </p:cNvPicPr>
            <p:nvPr/>
          </p:nvPicPr>
          <p:blipFill>
            <a:blip r:embed="rId16" cstate="print"/>
            <a:srcRect/>
            <a:stretch>
              <a:fillRect/>
            </a:stretch>
          </p:blipFill>
          <p:spPr bwMode="auto">
            <a:xfrm>
              <a:off x="4457034" y="2502805"/>
              <a:ext cx="245413" cy="235807"/>
            </a:xfrm>
            <a:prstGeom prst="rect">
              <a:avLst/>
            </a:prstGeom>
            <a:noFill/>
            <a:ln w="9525">
              <a:noFill/>
              <a:miter lim="800000"/>
              <a:headEnd/>
              <a:tailEnd/>
            </a:ln>
          </p:spPr>
        </p:pic>
        <p:sp>
          <p:nvSpPr>
            <p:cNvPr id="196" name="任意多边形 234"/>
            <p:cNvSpPr/>
            <p:nvPr/>
          </p:nvSpPr>
          <p:spPr>
            <a:xfrm>
              <a:off x="3506051" y="2402529"/>
              <a:ext cx="1430595" cy="147028"/>
            </a:xfrm>
            <a:custGeom>
              <a:avLst/>
              <a:gdLst>
                <a:gd name="connsiteX0" fmla="*/ 0 w 1454150"/>
                <a:gd name="connsiteY0" fmla="*/ 25400 h 192617"/>
                <a:gd name="connsiteX1" fmla="*/ 330200 w 1454150"/>
                <a:gd name="connsiteY1" fmla="*/ 165100 h 192617"/>
                <a:gd name="connsiteX2" fmla="*/ 1270000 w 1454150"/>
                <a:gd name="connsiteY2" fmla="*/ 165100 h 192617"/>
                <a:gd name="connsiteX3" fmla="*/ 1435100 w 1454150"/>
                <a:gd name="connsiteY3" fmla="*/ 0 h 192617"/>
              </a:gdLst>
              <a:ahLst/>
              <a:cxnLst>
                <a:cxn ang="0">
                  <a:pos x="connsiteX0" y="connsiteY0"/>
                </a:cxn>
                <a:cxn ang="0">
                  <a:pos x="connsiteX1" y="connsiteY1"/>
                </a:cxn>
                <a:cxn ang="0">
                  <a:pos x="connsiteX2" y="connsiteY2"/>
                </a:cxn>
                <a:cxn ang="0">
                  <a:pos x="connsiteX3" y="connsiteY3"/>
                </a:cxn>
              </a:cxnLst>
              <a:rect l="l" t="t" r="r" b="b"/>
              <a:pathLst>
                <a:path w="1454150" h="192617">
                  <a:moveTo>
                    <a:pt x="0" y="25400"/>
                  </a:moveTo>
                  <a:cubicBezTo>
                    <a:pt x="59266" y="83608"/>
                    <a:pt x="118533" y="141817"/>
                    <a:pt x="330200" y="165100"/>
                  </a:cubicBezTo>
                  <a:cubicBezTo>
                    <a:pt x="541867" y="188383"/>
                    <a:pt x="1085850" y="192617"/>
                    <a:pt x="1270000" y="165100"/>
                  </a:cubicBezTo>
                  <a:cubicBezTo>
                    <a:pt x="1454150" y="137583"/>
                    <a:pt x="1444625" y="68791"/>
                    <a:pt x="1435100" y="0"/>
                  </a:cubicBezTo>
                </a:path>
              </a:pathLst>
            </a:custGeom>
            <a:ln w="12700">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endParaRPr>
            </a:p>
          </p:txBody>
        </p:sp>
        <p:sp>
          <p:nvSpPr>
            <p:cNvPr id="197" name="TextBox 727"/>
            <p:cNvSpPr txBox="1"/>
            <p:nvPr/>
          </p:nvSpPr>
          <p:spPr>
            <a:xfrm>
              <a:off x="4010820" y="2577423"/>
              <a:ext cx="542656" cy="182128"/>
            </a:xfrm>
            <a:prstGeom prst="rect">
              <a:avLst/>
            </a:prstGeom>
            <a:noFill/>
          </p:spPr>
          <p:txBody>
            <a:bodyPr wrap="square" lIns="35988" tIns="45705" rIns="35988" bIns="45705" rtlCol="0" anchor="ctr" anchorCtr="0">
              <a:noAutofit/>
            </a:bodyPr>
            <a:lstStyle/>
            <a:p>
              <a:r>
                <a:rPr lang="en-US" altLang="zh-CN" sz="800" b="1" dirty="0">
                  <a:solidFill>
                    <a:srgbClr val="C00000"/>
                  </a:solidFill>
                  <a:latin typeface="微软雅黑" panose="020B0503020204020204" pitchFamily="34" charset="-122"/>
                  <a:ea typeface="微软雅黑" panose="020B0503020204020204" pitchFamily="34" charset="-122"/>
                </a:rPr>
                <a:t>IPS/AV</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198" name="直接连接符 197"/>
            <p:cNvCxnSpPr/>
            <p:nvPr/>
          </p:nvCxnSpPr>
          <p:spPr bwMode="auto">
            <a:xfrm>
              <a:off x="4051367" y="2582925"/>
              <a:ext cx="405667" cy="0"/>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99" name="Picture 455" descr="图片146"/>
            <p:cNvPicPr>
              <a:picLocks noChangeAspect="1" noChangeArrowheads="1"/>
            </p:cNvPicPr>
            <p:nvPr/>
          </p:nvPicPr>
          <p:blipFill>
            <a:blip r:embed="rId17" cstate="print"/>
            <a:srcRect/>
            <a:stretch>
              <a:fillRect/>
            </a:stretch>
          </p:blipFill>
          <p:spPr bwMode="auto">
            <a:xfrm>
              <a:off x="1306158" y="2631913"/>
              <a:ext cx="172684" cy="267712"/>
            </a:xfrm>
            <a:prstGeom prst="rect">
              <a:avLst/>
            </a:prstGeom>
            <a:noFill/>
          </p:spPr>
        </p:pic>
        <p:pic>
          <p:nvPicPr>
            <p:cNvPr id="200" name="Picture 455" descr="图片146"/>
            <p:cNvPicPr>
              <a:picLocks noChangeAspect="1" noChangeArrowheads="1"/>
            </p:cNvPicPr>
            <p:nvPr/>
          </p:nvPicPr>
          <p:blipFill>
            <a:blip r:embed="rId17" cstate="print"/>
            <a:srcRect/>
            <a:stretch>
              <a:fillRect/>
            </a:stretch>
          </p:blipFill>
          <p:spPr bwMode="auto">
            <a:xfrm>
              <a:off x="1306158" y="2914345"/>
              <a:ext cx="172684" cy="267712"/>
            </a:xfrm>
            <a:prstGeom prst="rect">
              <a:avLst/>
            </a:prstGeom>
            <a:noFill/>
          </p:spPr>
        </p:pic>
        <p:pic>
          <p:nvPicPr>
            <p:cNvPr id="201" name="Picture 455" descr="图片146"/>
            <p:cNvPicPr>
              <a:picLocks noChangeAspect="1" noChangeArrowheads="1"/>
            </p:cNvPicPr>
            <p:nvPr/>
          </p:nvPicPr>
          <p:blipFill>
            <a:blip r:embed="rId17" cstate="print"/>
            <a:srcRect/>
            <a:stretch>
              <a:fillRect/>
            </a:stretch>
          </p:blipFill>
          <p:spPr bwMode="auto">
            <a:xfrm>
              <a:off x="1305231" y="3192265"/>
              <a:ext cx="172684" cy="267712"/>
            </a:xfrm>
            <a:prstGeom prst="rect">
              <a:avLst/>
            </a:prstGeom>
            <a:noFill/>
          </p:spPr>
        </p:pic>
        <p:pic>
          <p:nvPicPr>
            <p:cNvPr id="202" name="Picture 464" descr="图片155"/>
            <p:cNvPicPr>
              <a:picLocks noChangeAspect="1" noChangeArrowheads="1"/>
            </p:cNvPicPr>
            <p:nvPr/>
          </p:nvPicPr>
          <p:blipFill>
            <a:blip r:embed="rId18" cstate="print"/>
            <a:srcRect/>
            <a:stretch>
              <a:fillRect/>
            </a:stretch>
          </p:blipFill>
          <p:spPr bwMode="auto">
            <a:xfrm>
              <a:off x="1011546" y="2762211"/>
              <a:ext cx="143338" cy="206593"/>
            </a:xfrm>
            <a:prstGeom prst="rect">
              <a:avLst/>
            </a:prstGeom>
            <a:noFill/>
          </p:spPr>
        </p:pic>
        <p:pic>
          <p:nvPicPr>
            <p:cNvPr id="203" name="Picture 464" descr="图片155"/>
            <p:cNvPicPr>
              <a:picLocks noChangeAspect="1" noChangeArrowheads="1"/>
            </p:cNvPicPr>
            <p:nvPr/>
          </p:nvPicPr>
          <p:blipFill>
            <a:blip r:embed="rId18" cstate="print"/>
            <a:srcRect/>
            <a:stretch>
              <a:fillRect/>
            </a:stretch>
          </p:blipFill>
          <p:spPr bwMode="auto">
            <a:xfrm>
              <a:off x="1011546" y="3099800"/>
              <a:ext cx="143338" cy="206593"/>
            </a:xfrm>
            <a:prstGeom prst="rect">
              <a:avLst/>
            </a:prstGeom>
            <a:noFill/>
          </p:spPr>
        </p:pic>
        <p:pic>
          <p:nvPicPr>
            <p:cNvPr id="204" name="Picture 464" descr="图片155"/>
            <p:cNvPicPr>
              <a:picLocks noChangeAspect="1" noChangeArrowheads="1"/>
            </p:cNvPicPr>
            <p:nvPr/>
          </p:nvPicPr>
          <p:blipFill>
            <a:blip r:embed="rId18" cstate="print"/>
            <a:srcRect/>
            <a:stretch>
              <a:fillRect/>
            </a:stretch>
          </p:blipFill>
          <p:spPr bwMode="auto">
            <a:xfrm>
              <a:off x="694368" y="2775245"/>
              <a:ext cx="143338" cy="206593"/>
            </a:xfrm>
            <a:prstGeom prst="rect">
              <a:avLst/>
            </a:prstGeom>
            <a:noFill/>
          </p:spPr>
        </p:pic>
        <p:pic>
          <p:nvPicPr>
            <p:cNvPr id="205" name="Picture 464" descr="图片155"/>
            <p:cNvPicPr>
              <a:picLocks noChangeAspect="1" noChangeArrowheads="1"/>
            </p:cNvPicPr>
            <p:nvPr/>
          </p:nvPicPr>
          <p:blipFill>
            <a:blip r:embed="rId18" cstate="print"/>
            <a:srcRect/>
            <a:stretch>
              <a:fillRect/>
            </a:stretch>
          </p:blipFill>
          <p:spPr bwMode="auto">
            <a:xfrm>
              <a:off x="694368" y="3098168"/>
              <a:ext cx="143338" cy="206593"/>
            </a:xfrm>
            <a:prstGeom prst="rect">
              <a:avLst/>
            </a:prstGeom>
            <a:noFill/>
          </p:spPr>
        </p:pic>
        <p:sp>
          <p:nvSpPr>
            <p:cNvPr id="206" name="TextBox 736"/>
            <p:cNvSpPr txBox="1"/>
            <p:nvPr/>
          </p:nvSpPr>
          <p:spPr>
            <a:xfrm>
              <a:off x="2370241" y="1485677"/>
              <a:ext cx="432102" cy="49591"/>
            </a:xfrm>
            <a:prstGeom prst="rect">
              <a:avLst/>
            </a:prstGeom>
            <a:noFill/>
          </p:spPr>
          <p:txBody>
            <a:bodyPr wrap="square" lIns="35988" tIns="45705" rIns="35988" bIns="45705" rtlCol="0" anchor="ctr" anchorCtr="0">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防火墙</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pic>
          <p:nvPicPr>
            <p:cNvPr id="207" name="Picture 62" descr="C:\Users\z00124665\Downloads\PPT图片素材库\商务办公PNG图标\secured.png"/>
            <p:cNvPicPr>
              <a:picLocks noChangeAspect="1" noChangeArrowheads="1"/>
            </p:cNvPicPr>
            <p:nvPr/>
          </p:nvPicPr>
          <p:blipFill>
            <a:blip r:embed="rId19" cstate="print"/>
            <a:srcRect/>
            <a:stretch>
              <a:fillRect/>
            </a:stretch>
          </p:blipFill>
          <p:spPr bwMode="auto">
            <a:xfrm>
              <a:off x="2031178" y="4448297"/>
              <a:ext cx="236910" cy="227638"/>
            </a:xfrm>
            <a:prstGeom prst="rect">
              <a:avLst/>
            </a:prstGeom>
            <a:noFill/>
          </p:spPr>
        </p:pic>
        <p:pic>
          <p:nvPicPr>
            <p:cNvPr id="208" name="Picture 62" descr="C:\Users\z00124665\Downloads\PPT图片素材库\商务办公PNG图标\secured.png"/>
            <p:cNvPicPr>
              <a:picLocks noChangeAspect="1" noChangeArrowheads="1"/>
            </p:cNvPicPr>
            <p:nvPr/>
          </p:nvPicPr>
          <p:blipFill>
            <a:blip r:embed="rId19" cstate="print"/>
            <a:srcRect/>
            <a:stretch>
              <a:fillRect/>
            </a:stretch>
          </p:blipFill>
          <p:spPr bwMode="auto">
            <a:xfrm>
              <a:off x="2713892" y="4448297"/>
              <a:ext cx="236910" cy="227638"/>
            </a:xfrm>
            <a:prstGeom prst="rect">
              <a:avLst/>
            </a:prstGeom>
            <a:noFill/>
          </p:spPr>
        </p:pic>
        <p:pic>
          <p:nvPicPr>
            <p:cNvPr id="209" name="Picture 62" descr="C:\Users\z00124665\Downloads\PPT图片素材库\商务办公PNG图标\secured.png"/>
            <p:cNvPicPr>
              <a:picLocks noChangeAspect="1" noChangeArrowheads="1"/>
            </p:cNvPicPr>
            <p:nvPr/>
          </p:nvPicPr>
          <p:blipFill>
            <a:blip r:embed="rId19" cstate="print"/>
            <a:srcRect/>
            <a:stretch>
              <a:fillRect/>
            </a:stretch>
          </p:blipFill>
          <p:spPr bwMode="auto">
            <a:xfrm>
              <a:off x="3912133" y="4476835"/>
              <a:ext cx="236910" cy="227638"/>
            </a:xfrm>
            <a:prstGeom prst="rect">
              <a:avLst/>
            </a:prstGeom>
            <a:noFill/>
          </p:spPr>
        </p:pic>
        <p:pic>
          <p:nvPicPr>
            <p:cNvPr id="210" name="Picture 62" descr="C:\Users\z00124665\Downloads\PPT图片素材库\商务办公PNG图标\secured.png"/>
            <p:cNvPicPr>
              <a:picLocks noChangeAspect="1" noChangeArrowheads="1"/>
            </p:cNvPicPr>
            <p:nvPr/>
          </p:nvPicPr>
          <p:blipFill>
            <a:blip r:embed="rId19" cstate="print"/>
            <a:srcRect/>
            <a:stretch>
              <a:fillRect/>
            </a:stretch>
          </p:blipFill>
          <p:spPr bwMode="auto">
            <a:xfrm>
              <a:off x="4517622" y="4476835"/>
              <a:ext cx="236910" cy="227638"/>
            </a:xfrm>
            <a:prstGeom prst="rect">
              <a:avLst/>
            </a:prstGeom>
            <a:noFill/>
          </p:spPr>
        </p:pic>
        <p:pic>
          <p:nvPicPr>
            <p:cNvPr id="211" name="Picture 62" descr="C:\Users\z00124665\Downloads\PPT图片素材库\商务办公PNG图标\secured.png"/>
            <p:cNvPicPr>
              <a:picLocks noChangeAspect="1" noChangeArrowheads="1"/>
            </p:cNvPicPr>
            <p:nvPr/>
          </p:nvPicPr>
          <p:blipFill>
            <a:blip r:embed="rId19" cstate="print"/>
            <a:srcRect/>
            <a:stretch>
              <a:fillRect/>
            </a:stretch>
          </p:blipFill>
          <p:spPr bwMode="auto">
            <a:xfrm>
              <a:off x="5542876" y="4513100"/>
              <a:ext cx="236910" cy="227638"/>
            </a:xfrm>
            <a:prstGeom prst="rect">
              <a:avLst/>
            </a:prstGeom>
            <a:noFill/>
          </p:spPr>
        </p:pic>
        <p:pic>
          <p:nvPicPr>
            <p:cNvPr id="212" name="Picture 62" descr="C:\Users\z00124665\Downloads\PPT图片素材库\商务办公PNG图标\secured.png"/>
            <p:cNvPicPr>
              <a:picLocks noChangeAspect="1" noChangeArrowheads="1"/>
            </p:cNvPicPr>
            <p:nvPr/>
          </p:nvPicPr>
          <p:blipFill>
            <a:blip r:embed="rId19" cstate="print"/>
            <a:srcRect/>
            <a:stretch>
              <a:fillRect/>
            </a:stretch>
          </p:blipFill>
          <p:spPr bwMode="auto">
            <a:xfrm>
              <a:off x="6187744" y="4513100"/>
              <a:ext cx="236910" cy="227638"/>
            </a:xfrm>
            <a:prstGeom prst="rect">
              <a:avLst/>
            </a:prstGeom>
            <a:noFill/>
          </p:spPr>
        </p:pic>
        <p:cxnSp>
          <p:nvCxnSpPr>
            <p:cNvPr id="213" name="直接连接符 212"/>
            <p:cNvCxnSpPr>
              <a:stCxn id="138" idx="0"/>
              <a:endCxn id="96" idx="2"/>
            </p:cNvCxnSpPr>
            <p:nvPr/>
          </p:nvCxnSpPr>
          <p:spPr bwMode="auto">
            <a:xfrm flipV="1">
              <a:off x="2201522" y="3237121"/>
              <a:ext cx="162039" cy="72308"/>
            </a:xfrm>
            <a:prstGeom prst="line">
              <a:avLst/>
            </a:prstGeom>
            <a:noFill/>
            <a:ln w="6350" cap="flat" cmpd="sng" algn="ctr">
              <a:solidFill>
                <a:srgbClr val="80808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4" name="TextBox 744"/>
            <p:cNvSpPr txBox="1"/>
            <p:nvPr/>
          </p:nvSpPr>
          <p:spPr>
            <a:xfrm>
              <a:off x="7959889" y="2478058"/>
              <a:ext cx="867271" cy="144855"/>
            </a:xfrm>
            <a:prstGeom prst="rect">
              <a:avLst/>
            </a:prstGeom>
          </p:spPr>
          <p:txBody>
            <a:bodyPr wrap="square" lIns="91409" tIns="45705" rIns="91409" bIns="45705">
              <a:noAutofit/>
            </a:bodyPr>
            <a:lstStyle/>
            <a:p>
              <a:r>
                <a:rPr lang="zh-CN" altLang="en-US" sz="800" dirty="0">
                  <a:solidFill>
                    <a:srgbClr val="C00000"/>
                  </a:solidFill>
                  <a:latin typeface="微软雅黑" panose="020B0503020204020204" pitchFamily="34" charset="-122"/>
                  <a:ea typeface="微软雅黑" panose="020B0503020204020204" pitchFamily="34" charset="-122"/>
                </a:rPr>
                <a:t>漏洞扫描系统</a:t>
              </a:r>
              <a:endParaRPr lang="zh-CN" altLang="en-US" sz="800" dirty="0">
                <a:solidFill>
                  <a:srgbClr val="C00000"/>
                </a:solidFill>
                <a:latin typeface="微软雅黑" panose="020B0503020204020204" pitchFamily="34" charset="-122"/>
                <a:ea typeface="微软雅黑" panose="020B0503020204020204" pitchFamily="34" charset="-122"/>
              </a:endParaRPr>
            </a:p>
          </p:txBody>
        </p:sp>
        <p:pic>
          <p:nvPicPr>
            <p:cNvPr id="215" name="Picture 254" descr="S2600-2 拷贝"/>
            <p:cNvPicPr>
              <a:picLocks noChangeArrowheads="1"/>
            </p:cNvPicPr>
            <p:nvPr/>
          </p:nvPicPr>
          <p:blipFill>
            <a:blip r:embed="rId10" cstate="print">
              <a:clrChange>
                <a:clrFrom>
                  <a:srgbClr val="FFFFFF"/>
                </a:clrFrom>
                <a:clrTo>
                  <a:srgbClr val="FFFFFF">
                    <a:alpha val="0"/>
                  </a:srgbClr>
                </a:clrTo>
              </a:clrChange>
            </a:blip>
            <a:srcRect/>
            <a:stretch>
              <a:fillRect/>
            </a:stretch>
          </p:blipFill>
          <p:spPr bwMode="auto">
            <a:xfrm>
              <a:off x="7552479" y="2475185"/>
              <a:ext cx="419559" cy="183197"/>
            </a:xfrm>
            <a:prstGeom prst="rect">
              <a:avLst/>
            </a:prstGeom>
            <a:noFill/>
            <a:ln w="9525">
              <a:noFill/>
              <a:miter lim="800000"/>
              <a:headEnd/>
              <a:tailEnd/>
            </a:ln>
          </p:spPr>
        </p:pic>
        <p:pic>
          <p:nvPicPr>
            <p:cNvPr id="216" name="Picture 27" descr="E:\1华赛设计夹\2010-8\朱冬晴\华赛新图标\华赛新图标 png\05 公共图标(五)\网管 3.png"/>
            <p:cNvPicPr>
              <a:picLocks noChangeAspect="1" noChangeArrowheads="1"/>
            </p:cNvPicPr>
            <p:nvPr/>
          </p:nvPicPr>
          <p:blipFill>
            <a:blip r:embed="rId9" cstate="print"/>
            <a:srcRect/>
            <a:stretch>
              <a:fillRect/>
            </a:stretch>
          </p:blipFill>
          <p:spPr bwMode="auto">
            <a:xfrm>
              <a:off x="7524328" y="3265919"/>
              <a:ext cx="457700" cy="242828"/>
            </a:xfrm>
            <a:prstGeom prst="rect">
              <a:avLst/>
            </a:prstGeom>
            <a:noFill/>
            <a:ln w="9525">
              <a:noFill/>
              <a:miter lim="800000"/>
              <a:headEnd/>
              <a:tailEnd/>
            </a:ln>
          </p:spPr>
        </p:pic>
        <p:sp>
          <p:nvSpPr>
            <p:cNvPr id="217" name="TextBox 747"/>
            <p:cNvSpPr txBox="1"/>
            <p:nvPr/>
          </p:nvSpPr>
          <p:spPr>
            <a:xfrm>
              <a:off x="8028384" y="3195265"/>
              <a:ext cx="753842" cy="303007"/>
            </a:xfrm>
            <a:prstGeom prst="rect">
              <a:avLst/>
            </a:prstGeom>
          </p:spPr>
          <p:txBody>
            <a:bodyPr wrap="square" lIns="121895" tIns="60948" rIns="121895" bIns="60948">
              <a:noAutofit/>
            </a:bodyPr>
            <a:lstStyle/>
            <a:p>
              <a:r>
                <a:rPr lang="zh-CN" altLang="en-US" sz="800" b="1" dirty="0">
                  <a:solidFill>
                    <a:srgbClr val="C00000"/>
                  </a:solidFill>
                  <a:latin typeface="微软雅黑" panose="020B0503020204020204" pitchFamily="34" charset="-122"/>
                  <a:ea typeface="微软雅黑" panose="020B0503020204020204" pitchFamily="34" charset="-122"/>
                </a:rPr>
                <a:t>态势感知</a:t>
              </a:r>
              <a:endParaRPr lang="en-US" altLang="zh-CN" sz="800" b="1" dirty="0">
                <a:solidFill>
                  <a:srgbClr val="C00000"/>
                </a:solidFill>
                <a:latin typeface="微软雅黑" panose="020B0503020204020204" pitchFamily="34" charset="-122"/>
                <a:ea typeface="微软雅黑" panose="020B0503020204020204" pitchFamily="34" charset="-122"/>
              </a:endParaRPr>
            </a:p>
            <a:p>
              <a:r>
                <a:rPr lang="en-US" altLang="zh-CN" sz="800" b="1" dirty="0">
                  <a:solidFill>
                    <a:srgbClr val="C00000"/>
                  </a:solidFill>
                  <a:latin typeface="微软雅黑" panose="020B0503020204020204" pitchFamily="34" charset="-122"/>
                  <a:ea typeface="微软雅黑" panose="020B0503020204020204" pitchFamily="34" charset="-122"/>
                </a:rPr>
                <a:t>CIS</a:t>
              </a:r>
              <a:endParaRPr lang="zh-CN" altLang="en-US" sz="800" b="1" dirty="0">
                <a:solidFill>
                  <a:srgbClr val="C00000"/>
                </a:solidFill>
                <a:latin typeface="微软雅黑" panose="020B0503020204020204" pitchFamily="34" charset="-122"/>
                <a:ea typeface="微软雅黑" panose="020B0503020204020204" pitchFamily="34" charset="-122"/>
              </a:endParaRPr>
            </a:p>
          </p:txBody>
        </p:sp>
        <p:cxnSp>
          <p:nvCxnSpPr>
            <p:cNvPr id="218" name="直接连接符 217"/>
            <p:cNvCxnSpPr>
              <a:stCxn id="114" idx="1"/>
              <a:endCxn id="136" idx="0"/>
            </p:cNvCxnSpPr>
            <p:nvPr/>
          </p:nvCxnSpPr>
          <p:spPr bwMode="auto">
            <a:xfrm flipH="1">
              <a:off x="3931875" y="1615391"/>
              <a:ext cx="1075607" cy="158062"/>
            </a:xfrm>
            <a:prstGeom prst="line">
              <a:avLst/>
            </a:prstGeom>
            <a:noFill/>
            <a:ln>
              <a:solidFill>
                <a:schemeClr val="bg1">
                  <a:lumMod val="65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连接符 218"/>
            <p:cNvCxnSpPr>
              <a:stCxn id="114" idx="1"/>
              <a:endCxn id="137" idx="3"/>
            </p:cNvCxnSpPr>
            <p:nvPr/>
          </p:nvCxnSpPr>
          <p:spPr bwMode="auto">
            <a:xfrm flipH="1">
              <a:off x="4707479" y="1615391"/>
              <a:ext cx="300003" cy="287690"/>
            </a:xfrm>
            <a:prstGeom prst="line">
              <a:avLst/>
            </a:prstGeom>
            <a:noFill/>
            <a:ln>
              <a:solidFill>
                <a:schemeClr val="bg1">
                  <a:lumMod val="65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ustDataLst>
      <p:tags r:id="rId20"/>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31" name="object 3"/>
          <p:cNvSpPr txBox="1"/>
          <p:nvPr/>
        </p:nvSpPr>
        <p:spPr>
          <a:xfrm>
            <a:off x="119336" y="57756"/>
            <a:ext cx="9988525" cy="810898"/>
          </a:xfrm>
          <a:prstGeom prst="rect">
            <a:avLst/>
          </a:prstGeom>
        </p:spPr>
        <p:txBody>
          <a:bodyPr vert="horz" wrap="square" lIns="0" tIns="147023" rIns="0" bIns="0" rtlCol="0">
            <a:noAutofit/>
            <a:scene3d>
              <a:camera prst="orthographicFront"/>
              <a:lightRig rig="threePt" dir="t"/>
            </a:scene3d>
          </a:bodyPr>
          <a:lstStyle>
            <a:lvl1pPr algn="l" defTabSz="914400" rtl="0" eaLnBrk="1" latinLnBrk="0" hangingPunct="1">
              <a:lnSpc>
                <a:spcPct val="90000"/>
              </a:lnSpc>
              <a:spcBef>
                <a:spcPct val="0"/>
              </a:spcBef>
              <a:buNone/>
              <a:defRPr sz="4400" kern="1200">
                <a:solidFill>
                  <a:schemeClr val="bg1"/>
                </a:solidFill>
                <a:latin typeface="黑体" panose="02010609060101010101" pitchFamily="49" charset="-122"/>
                <a:ea typeface="黑体" panose="02010609060101010101" pitchFamily="49" charset="-122"/>
                <a:cs typeface="+mj-cs"/>
              </a:defRPr>
            </a:lvl1pPr>
          </a:lstStyle>
          <a:p>
            <a:pPr marL="448945">
              <a:lnSpc>
                <a:spcPts val="3355"/>
              </a:lnSpc>
            </a:pPr>
            <a:r>
              <a:rPr lang="zh-CN" altLang="en-US" sz="2800" b="1">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rPr>
              <a:t>三级等保实施方案（通用）</a:t>
            </a:r>
            <a:endParaRPr lang="zh-CN" altLang="en-US" sz="2800" b="1" dirty="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32" name="表格 231"/>
          <p:cNvGraphicFramePr>
            <a:graphicFrameLocks noGrp="1"/>
          </p:cNvGraphicFramePr>
          <p:nvPr/>
        </p:nvGraphicFramePr>
        <p:xfrm>
          <a:off x="0" y="1052728"/>
          <a:ext cx="12191999" cy="5688988"/>
        </p:xfrm>
        <a:graphic>
          <a:graphicData uri="http://schemas.openxmlformats.org/drawingml/2006/table">
            <a:tbl>
              <a:tblPr>
                <a:tableStyleId>{35758FB7-9AC5-4552-8A53-C91805E547FA}</a:tableStyleId>
              </a:tblPr>
              <a:tblGrid>
                <a:gridCol w="1785133"/>
                <a:gridCol w="4068042"/>
                <a:gridCol w="6338824"/>
              </a:tblGrid>
              <a:tr h="491490">
                <a:tc gridSpan="3">
                  <a:txBody>
                    <a:bodyPr/>
                    <a:lstStyle/>
                    <a:p>
                      <a:pPr algn="ctr" fontAlgn="ctr"/>
                      <a:r>
                        <a:rPr lang="zh-CN" altLang="en-US" sz="2000" b="1" u="none" strike="noStrike" dirty="0">
                          <a:latin typeface="微软雅黑" panose="020B0503020204020204" pitchFamily="34" charset="-122"/>
                          <a:ea typeface="微软雅黑" panose="020B0503020204020204" pitchFamily="34" charset="-122"/>
                        </a:rPr>
                        <a:t>三级系统安全保护环境基本要求与对应产品</a:t>
                      </a:r>
                      <a:endParaRPr lang="zh-CN" altLang="en-US" sz="2000" b="1"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hMerge="1">
                  <a:tcPr/>
                </a:tc>
                <a:tc hMerge="1">
                  <a:tcPr/>
                </a:tc>
              </a:tr>
              <a:tr h="306630">
                <a:tc>
                  <a:txBody>
                    <a:bodyPr/>
                    <a:lstStyle/>
                    <a:p>
                      <a:pPr algn="ctr" fontAlgn="ctr"/>
                      <a:r>
                        <a:rPr lang="zh-CN" altLang="en-US" sz="1800" b="1" u="none" strike="noStrike" dirty="0">
                          <a:latin typeface="微软雅黑" panose="020B0503020204020204" pitchFamily="34" charset="-122"/>
                          <a:ea typeface="微软雅黑" panose="020B0503020204020204" pitchFamily="34" charset="-122"/>
                        </a:rPr>
                        <a:t>使用范围</a:t>
                      </a:r>
                      <a:endParaRPr lang="zh-CN" altLang="en-US" sz="1800" b="1"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800" b="1" u="none" strike="noStrike" dirty="0">
                          <a:latin typeface="微软雅黑" panose="020B0503020204020204" pitchFamily="34" charset="-122"/>
                          <a:ea typeface="微软雅黑" panose="020B0503020204020204" pitchFamily="34" charset="-122"/>
                        </a:rPr>
                        <a:t>基本要求</a:t>
                      </a:r>
                      <a:endParaRPr lang="zh-CN" altLang="en-US" sz="1800" b="1"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800" b="1" u="none" strike="noStrike" dirty="0">
                          <a:latin typeface="微软雅黑" panose="020B0503020204020204" pitchFamily="34" charset="-122"/>
                          <a:ea typeface="微软雅黑" panose="020B0503020204020204" pitchFamily="34" charset="-122"/>
                        </a:rPr>
                        <a:t>产品类型举例</a:t>
                      </a:r>
                      <a:endParaRPr lang="zh-CN" altLang="en-US" sz="1800" b="1"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85">
                <a:tc rowSpan="8">
                  <a:txBody>
                    <a:bodyPr/>
                    <a:lstStyle/>
                    <a:p>
                      <a:pPr algn="ctr" fontAlgn="ctr"/>
                      <a:r>
                        <a:rPr lang="zh-CN" altLang="en-US" sz="1600" u="none" strike="noStrike">
                          <a:latin typeface="微软雅黑" panose="020B0503020204020204" pitchFamily="34" charset="-122"/>
                          <a:ea typeface="微软雅黑" panose="020B0503020204020204" pitchFamily="34" charset="-122"/>
                        </a:rPr>
                        <a:t>安全通信网络</a:t>
                      </a:r>
                      <a:endParaRPr lang="en-US" altLang="zh-CN" sz="1600" b="0" i="0" u="none" strike="noStrike">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网络结构（</a:t>
                      </a:r>
                      <a:r>
                        <a:rPr lang="en-US" altLang="zh-CN" sz="1600" u="none" strike="noStrike" dirty="0">
                          <a:latin typeface="微软雅黑" panose="020B0503020204020204" pitchFamily="34" charset="-122"/>
                          <a:ea typeface="微软雅黑" panose="020B0503020204020204" pitchFamily="34" charset="-122"/>
                        </a:rPr>
                        <a:t>VLAN</a:t>
                      </a:r>
                      <a:r>
                        <a:rPr lang="zh-CN" altLang="en-US" sz="1600" u="none" strike="noStrike" dirty="0">
                          <a:latin typeface="微软雅黑" panose="020B0503020204020204" pitchFamily="34" charset="-122"/>
                          <a:ea typeface="微软雅黑" panose="020B0503020204020204" pitchFamily="34" charset="-122"/>
                        </a:rPr>
                        <a:t>划分）</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三</a:t>
                      </a:r>
                      <a:r>
                        <a:rPr lang="zh-CN" altLang="en-US" sz="1600" u="none" strike="noStrike">
                          <a:latin typeface="微软雅黑" panose="020B0503020204020204" pitchFamily="34" charset="-122"/>
                          <a:ea typeface="微软雅黑" panose="020B0503020204020204" pitchFamily="34" charset="-122"/>
                        </a:rPr>
                        <a:t>层交换机</a:t>
                      </a:r>
                      <a:r>
                        <a:rPr lang="en-US" altLang="zh-CN" sz="1600" u="none" strike="noStrike">
                          <a:latin typeface="微软雅黑" panose="020B0503020204020204" pitchFamily="34" charset="-122"/>
                          <a:ea typeface="微软雅黑" panose="020B0503020204020204" pitchFamily="34" charset="-122"/>
                        </a:rPr>
                        <a:t>MPLS </a:t>
                      </a:r>
                      <a:r>
                        <a:rPr lang="en-US" altLang="zh-CN" sz="1600" u="none" strike="noStrike" dirty="0">
                          <a:latin typeface="微软雅黑" panose="020B0503020204020204" pitchFamily="34" charset="-122"/>
                          <a:ea typeface="微软雅黑" panose="020B0503020204020204" pitchFamily="34" charset="-122"/>
                        </a:rPr>
                        <a:t>VPN</a:t>
                      </a:r>
                      <a:endParaRPr lang="en-US" altLang="zh-CN"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访问控制（权限分离）</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防火墙</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入侵防范（检测告警）</a:t>
                      </a:r>
                      <a:endParaRPr lang="zh-CN" altLang="en-US" sz="1600" b="0" i="0" u="none" strike="noStrike">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主机入侵检测产品（</a:t>
                      </a:r>
                      <a:r>
                        <a:rPr lang="en-US" altLang="zh-CN" sz="1600" u="none" strike="noStrike" dirty="0">
                          <a:latin typeface="微软雅黑" panose="020B0503020204020204" pitchFamily="34" charset="-122"/>
                          <a:ea typeface="微软雅黑" panose="020B0503020204020204" pitchFamily="34" charset="-122"/>
                        </a:rPr>
                        <a:t>HIDS</a:t>
                      </a:r>
                      <a:r>
                        <a:rPr lang="zh-CN" altLang="en-US" sz="1600" u="none" strike="noStrike" dirty="0">
                          <a:latin typeface="微软雅黑" panose="020B0503020204020204" pitchFamily="34" charset="-122"/>
                          <a:ea typeface="微软雅黑" panose="020B0503020204020204" pitchFamily="34" charset="-122"/>
                        </a:rPr>
                        <a:t>）</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备份恢复（数据备份）</a:t>
                      </a:r>
                      <a:endParaRPr lang="zh-CN" altLang="en-US" sz="1600" b="0" i="0" u="none" strike="noStrike">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设备冗余、本地备份（介质场外存储）</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数据完整性、保密性</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en-US" sz="1600" u="none" strike="noStrike" dirty="0">
                          <a:latin typeface="微软雅黑" panose="020B0503020204020204" pitchFamily="34" charset="-122"/>
                          <a:ea typeface="微软雅黑" panose="020B0503020204020204" pitchFamily="34" charset="-122"/>
                        </a:rPr>
                        <a:t>VPN</a:t>
                      </a:r>
                      <a:r>
                        <a:rPr lang="zh-CN" altLang="en-US" sz="1600" u="none" strike="noStrike" dirty="0">
                          <a:latin typeface="微软雅黑" panose="020B0503020204020204" pitchFamily="34" charset="-122"/>
                          <a:ea typeface="微软雅黑" panose="020B0503020204020204" pitchFamily="34" charset="-122"/>
                        </a:rPr>
                        <a:t>设备</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剩余信息管理</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终端综合管理系统</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身份认证（双因素）</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证书、令牌、密保卡</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恶意代码防范（统一管理）</a:t>
                      </a:r>
                      <a:endParaRPr lang="zh-CN" altLang="en-US" sz="1600" b="0" i="0" u="none" strike="noStrike">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网络版主机防病毒软件</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rowSpan="5">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安全区域边界</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区域边界访问控制（协议检测）</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防火墙（</a:t>
                      </a:r>
                      <a:r>
                        <a:rPr lang="en-US" sz="1600" u="none" strike="noStrike" dirty="0">
                          <a:latin typeface="微软雅黑" panose="020B0503020204020204" pitchFamily="34" charset="-122"/>
                          <a:ea typeface="微软雅黑" panose="020B0503020204020204" pitchFamily="34" charset="-122"/>
                        </a:rPr>
                        <a:t>IPS）</a:t>
                      </a:r>
                      <a:endParaRPr 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资源控制（优先级控制）</a:t>
                      </a:r>
                      <a:endParaRPr lang="zh-CN" altLang="en-US" sz="1600" b="0" i="0" u="none" strike="noStrike">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带宽管理、流量控制设备</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区域边界入侵检测</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en-US" sz="1600" u="none" strike="noStrike" dirty="0">
                          <a:latin typeface="微软雅黑" panose="020B0503020204020204" pitchFamily="34" charset="-122"/>
                          <a:ea typeface="微软雅黑" panose="020B0503020204020204" pitchFamily="34" charset="-122"/>
                        </a:rPr>
                        <a:t>IDS</a:t>
                      </a:r>
                      <a:endParaRPr 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区域边界恶意代码防范</a:t>
                      </a:r>
                      <a:endParaRPr lang="zh-CN" altLang="en-US" sz="1600" b="0" i="0" u="none" strike="noStrike">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防病毒网关</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513092">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区域边界完整性保护</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终端综合管理系统</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rowSpan="2">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安全通信网络</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通信网络安全审计</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上网行为管理</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数据传输完整性、保密性保护</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en-US" sz="1600" u="none" strike="noStrike" dirty="0">
                          <a:latin typeface="微软雅黑" panose="020B0503020204020204" pitchFamily="34" charset="-122"/>
                          <a:ea typeface="微软雅黑" panose="020B0503020204020204" pitchFamily="34" charset="-122"/>
                        </a:rPr>
                        <a:t>VPN</a:t>
                      </a:r>
                      <a:r>
                        <a:rPr lang="zh-CN" altLang="en-US" sz="1600" u="none" strike="noStrike" dirty="0">
                          <a:latin typeface="微软雅黑" panose="020B0503020204020204" pitchFamily="34" charset="-122"/>
                          <a:ea typeface="微软雅黑" panose="020B0503020204020204" pitchFamily="34" charset="-122"/>
                        </a:rPr>
                        <a:t>设备</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619">
                <a:tc rowSpan="2">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安全管理中心</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a:latin typeface="微软雅黑" panose="020B0503020204020204" pitchFamily="34" charset="-122"/>
                          <a:ea typeface="微软雅黑" panose="020B0503020204020204" pitchFamily="34" charset="-122"/>
                        </a:rPr>
                        <a:t>集中管控</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安全管理平台</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r h="273425">
                <a:tc vMerge="1">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审计管理（网络、主机、应用） </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c>
                  <a:txBody>
                    <a:bodyPr/>
                    <a:lstStyle/>
                    <a:p>
                      <a:pPr algn="ctr" fontAlgn="ctr"/>
                      <a:r>
                        <a:rPr lang="zh-CN" altLang="en-US" sz="1600" u="none" strike="noStrike" dirty="0">
                          <a:latin typeface="微软雅黑" panose="020B0503020204020204" pitchFamily="34" charset="-122"/>
                          <a:ea typeface="微软雅黑" panose="020B0503020204020204" pitchFamily="34" charset="-122"/>
                        </a:rPr>
                        <a:t>安全审计系统</a:t>
                      </a:r>
                      <a:endParaRPr lang="zh-CN" altLang="en-US" sz="1600" b="0" i="0" u="none" strike="noStrike" dirty="0">
                        <a:solidFill>
                          <a:srgbClr val="000000"/>
                        </a:solidFill>
                        <a:latin typeface="微软雅黑" panose="020B0503020204020204" pitchFamily="34" charset="-122"/>
                        <a:ea typeface="微软雅黑" panose="020B0503020204020204" pitchFamily="34" charset="-122"/>
                      </a:endParaRPr>
                    </a:p>
                  </a:txBody>
                  <a:tcPr marL="7142" marR="7142" marT="7144" marB="0" anchor="ctr">
                    <a:solidFill>
                      <a:schemeClr val="bg2"/>
                    </a:solidFill>
                  </a:tcPr>
                </a:tc>
              </a:tr>
            </a:tbl>
          </a:graphicData>
        </a:graphic>
      </p:graphicFrame>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3437255" y="1925955"/>
            <a:ext cx="6481445" cy="2170430"/>
          </a:xfrm>
        </p:spPr>
        <p:txBody>
          <a:bodyPr/>
          <a:lstStyle/>
          <a:p>
            <a:r>
              <a:rPr lang="zh-CN" altLang="zh-CN" sz="11500"/>
              <a:t>谢  谢！</a:t>
            </a:r>
            <a:endParaRPr lang="zh-CN" altLang="zh-CN" sz="115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500" fill="hold"/>
                                        <p:tgtEl>
                                          <p:spTgt spid="5"/>
                                        </p:tgtEl>
                                      </p:cBhvr>
                                      <p:by x="150000" y="150000"/>
                                      <p:from x="100000" y="100000"/>
                                      <p:to x="150000" y="150000"/>
                                    </p:animScale>
                                  </p:childTnLst>
                                </p:cTn>
                              </p:par>
                              <p:par>
                                <p:cTn id="7" presetID="6" presetClass="emph" presetSubtype="0" fill="hold" grpId="1" nodeType="withEffect">
                                  <p:stCondLst>
                                    <p:cond delay="0"/>
                                  </p:stCondLst>
                                  <p:childTnLst>
                                    <p:animScale>
                                      <p:cBhvr>
                                        <p:cTn id="8" dur="500" fill="hold"/>
                                        <p:tgtEl>
                                          <p:spTgt spid="5"/>
                                        </p:tgtEl>
                                      </p:cBhvr>
                                      <p:by x="150000" y="150000"/>
                                      <p:from x="150000" y="15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tags/tag1.xml><?xml version="1.0" encoding="utf-8"?>
<p:tagLst xmlns:p="http://schemas.openxmlformats.org/presentationml/2006/main">
  <p:tag name="KSO_WM_SLIDE_MODEL_TYPE" val="cover"/>
  <p:tag name="KSO_WM_TEMPLATE_CATEGORY" val="custom"/>
  <p:tag name="KSO_WM_TEMPLATE_INDEX" val="20160928"/>
</p:tagLst>
</file>

<file path=ppt/tags/tag2.xml><?xml version="1.0" encoding="utf-8"?>
<p:tagLst xmlns:p="http://schemas.openxmlformats.org/presentationml/2006/main">
  <p:tag name="KSO_WM_NO_TAGS_SHAPE_FLAG" val="1"/>
</p:tagLst>
</file>

<file path=ppt/tags/tag3.xml><?xml version="1.0" encoding="utf-8"?>
<p:tagLst xmlns:p="http://schemas.openxmlformats.org/presentationml/2006/main">
  <p:tag name="KSO_WM_TEMPLATE_CATEGORY" val="custom"/>
  <p:tag name="KSO_WM_TEMPLATE_INDEX" val="20160928"/>
</p:tagLst>
</file>

<file path=ppt/tags/tag4.xml><?xml version="1.0" encoding="utf-8"?>
<p:tagLst xmlns:p="http://schemas.openxmlformats.org/presentationml/2006/main">
  <p:tag name="KSO_WM_TEMPLATE_CATEGORY" val="custom"/>
  <p:tag name="KSO_WM_TEMPLATE_INDEX" val="20160928"/>
</p:tagLst>
</file>

<file path=ppt/tags/tag5.xml><?xml version="1.0" encoding="utf-8"?>
<p:tagLst xmlns:p="http://schemas.openxmlformats.org/presentationml/2006/main">
  <p:tag name="KSO_WM_TEMPLATE_CATEGORY" val="custom"/>
  <p:tag name="KSO_WM_TEMPLATE_INDEX" val="20160928"/>
</p:tagLst>
</file>

<file path=ppt/tags/tag6.xml><?xml version="1.0" encoding="utf-8"?>
<p:tagLst xmlns:p="http://schemas.openxmlformats.org/presentationml/2006/main">
  <p:tag name="KSO_WM_TEMPLATE_CATEGORY" val="custom"/>
  <p:tag name="KSO_WM_TEMPLATE_INDEX" val="20160928"/>
</p:tagLst>
</file>

<file path=ppt/tags/tag7.xml><?xml version="1.0" encoding="utf-8"?>
<p:tagLst xmlns:p="http://schemas.openxmlformats.org/presentationml/2006/main">
  <p:tag name="KSO_WM_BEAUTIFY_FLAG" val="#wm#"/>
  <p:tag name="KSO_WM_TEMPLATE_CATEGORY" val="custom"/>
  <p:tag name="KSO_WM_TEMPLATE_INDEX" val="20160928"/>
</p:tagLst>
</file>

<file path=ppt/tags/tag8.xml><?xml version="1.0" encoding="utf-8"?>
<p:tagLst xmlns:p="http://schemas.openxmlformats.org/presentationml/2006/main">
  <p:tag name="KSO_WM_TEMPLATE_CATEGORY" val="custom"/>
  <p:tag name="KSO_WM_TEMPLATE_INDEX" val="20160928"/>
</p:tagLst>
</file>

<file path=ppt/tags/tag9.xml><?xml version="1.0" encoding="utf-8"?>
<p:tagLst xmlns:p="http://schemas.openxmlformats.org/presentationml/2006/main">
  <p:tag name="KSO_WM_TEMPLATE_CATEGORY" val="custom"/>
  <p:tag name="KSO_WM_TEMPLATE_INDEX" val="20160928"/>
</p:tagLst>
</file>

<file path=ppt/tags/tag10.xml><?xml version="1.0" encoding="utf-8"?>
<p:tagLst xmlns:p="http://schemas.openxmlformats.org/presentationml/2006/main">
  <p:tag name="KSO_WM_TEMPLATE_CATEGORY" val="custom"/>
  <p:tag name="KSO_WM_TEMPLATE_INDEX" val="20160928"/>
</p:tagLst>
</file>

<file path=ppt/tags/tag11.xml><?xml version="1.0" encoding="utf-8"?>
<p:tagLst xmlns:p="http://schemas.openxmlformats.org/presentationml/2006/main">
  <p:tag name="KSO_WM_TEMPLATE_CATEGORY" val="custom"/>
  <p:tag name="KSO_WM_TEMPLATE_INDEX" val="20160928"/>
</p:tagLst>
</file>

<file path=ppt/tags/tag12.xml><?xml version="1.0" encoding="utf-8"?>
<p:tagLst xmlns:p="http://schemas.openxmlformats.org/presentationml/2006/main">
  <p:tag name="KSO_WM_TEMPLATE_CATEGORY" val="custom"/>
  <p:tag name="KSO_WM_TEMPLATE_INDEX" val="20160928"/>
</p:tagLst>
</file>

<file path=ppt/tags/tag13.xml><?xml version="1.0" encoding="utf-8"?>
<p:tagLst xmlns:p="http://schemas.openxmlformats.org/presentationml/2006/main">
  <p:tag name="KSO_WM_TEMPLATE_CATEGORY" val="custom"/>
  <p:tag name="KSO_WM_TEMPLATE_INDEX" val="20160928"/>
</p:tagLst>
</file>

<file path=ppt/tags/tag14.xml><?xml version="1.0" encoding="utf-8"?>
<p:tagLst xmlns:p="http://schemas.openxmlformats.org/presentationml/2006/main">
  <p:tag name="KSO_WM_TEMPLATE_CATEGORY" val="custom"/>
  <p:tag name="KSO_WM_TEMPLATE_INDEX" val="20160928"/>
</p:tagLst>
</file>

<file path=ppt/tags/tag15.xml><?xml version="1.0" encoding="utf-8"?>
<p:tagLst xmlns:p="http://schemas.openxmlformats.org/presentationml/2006/main">
  <p:tag name="KSO_WM_TEMPLATE_CATEGORY" val="custom"/>
  <p:tag name="KSO_WM_TEMPLATE_INDEX" val="20160928"/>
</p:tagLst>
</file>

<file path=ppt/tags/tag16.xml><?xml version="1.0" encoding="utf-8"?>
<p:tagLst xmlns:p="http://schemas.openxmlformats.org/presentationml/2006/main">
  <p:tag name="KSO_WM_TEMPLATE_CATEGORY" val="custom"/>
  <p:tag name="KSO_WM_TEMPLATE_INDEX" val="20160928"/>
</p:tagLst>
</file>

<file path=ppt/tags/tag17.xml><?xml version="1.0" encoding="utf-8"?>
<p:tagLst xmlns:p="http://schemas.openxmlformats.org/presentationml/2006/main">
  <p:tag name="KSO_WM_TEMPLATE_CATEGORY" val="custom"/>
  <p:tag name="KSO_WM_TEMPLATE_INDEX" val="20160928"/>
</p:tagLst>
</file>

<file path=ppt/tags/tag18.xml><?xml version="1.0" encoding="utf-8"?>
<p:tagLst xmlns:p="http://schemas.openxmlformats.org/presentationml/2006/main">
  <p:tag name="KSO_WM_TEMPLATE_CATEGORY" val="custom"/>
  <p:tag name="KSO_WM_TEMPLATE_INDEX" val="20160928"/>
</p:tagLst>
</file>

<file path=ppt/tags/tag19.xml><?xml version="1.0" encoding="utf-8"?>
<p:tagLst xmlns:p="http://schemas.openxmlformats.org/presentationml/2006/main">
  <p:tag name="KSO_WM_TEMPLATE_CATEGORY" val="custom"/>
  <p:tag name="KSO_WM_TEMPLATE_INDEX" val="20160928"/>
</p:tagLst>
</file>

<file path=ppt/tags/tag20.xml><?xml version="1.0" encoding="utf-8"?>
<p:tagLst xmlns:p="http://schemas.openxmlformats.org/presentationml/2006/main">
  <p:tag name="KSO_WM_TEMPLATE_CATEGORY" val="custom"/>
  <p:tag name="KSO_WM_TEMPLATE_INDEX" val="20160928"/>
</p:tagLst>
</file>

<file path=ppt/tags/tag21.xml><?xml version="1.0" encoding="utf-8"?>
<p:tagLst xmlns:p="http://schemas.openxmlformats.org/presentationml/2006/main">
  <p:tag name="KSO_WM_TEMPLATE_CATEGORY" val="custom"/>
  <p:tag name="KSO_WM_TEMPLATE_INDEX" val="20160928"/>
</p:tagLst>
</file>

<file path=ppt/tags/tag22.xml><?xml version="1.0" encoding="utf-8"?>
<p:tagLst xmlns:p="http://schemas.openxmlformats.org/presentationml/2006/main">
  <p:tag name="KSO_WM_TEMPLATE_CATEGORY" val="custom"/>
  <p:tag name="KSO_WM_TEMPLATE_INDEX" val="20160928"/>
</p:tagLst>
</file>

<file path=ppt/tags/tag23.xml><?xml version="1.0" encoding="utf-8"?>
<p:tagLst xmlns:p="http://schemas.openxmlformats.org/presentationml/2006/main">
  <p:tag name="KSO_WM_TEMPLATE_CATEGORY" val="custom"/>
  <p:tag name="KSO_WM_TEMPLATE_INDEX" val="20160928"/>
</p:tagLst>
</file>

<file path=ppt/tags/tag24.xml><?xml version="1.0" encoding="utf-8"?>
<p:tagLst xmlns:p="http://schemas.openxmlformats.org/presentationml/2006/main">
  <p:tag name="KSO_WM_TEMPLATE_CATEGORY" val="custom"/>
  <p:tag name="KSO_WM_TEMPLATE_INDEX" val="20160928"/>
</p:tagLst>
</file>

<file path=ppt/tags/tag25.xml><?xml version="1.0" encoding="utf-8"?>
<p:tagLst xmlns:p="http://schemas.openxmlformats.org/presentationml/2006/main">
  <p:tag name="KSO_WM_TEMPLATE_CATEGORY" val="custom"/>
  <p:tag name="KSO_WM_TEMPLATE_INDEX" val="20160928"/>
</p:tagLst>
</file>

<file path=ppt/tags/tag26.xml><?xml version="1.0" encoding="utf-8"?>
<p:tagLst xmlns:p="http://schemas.openxmlformats.org/presentationml/2006/main">
  <p:tag name="KSO_WM_TEMPLATE_CATEGORY" val="custom"/>
  <p:tag name="KSO_WM_TEMPLATE_INDEX" val="20160928"/>
</p:tagLst>
</file>

<file path=ppt/tags/tag27.xml><?xml version="1.0" encoding="utf-8"?>
<p:tagLst xmlns:p="http://schemas.openxmlformats.org/presentationml/2006/main">
  <p:tag name="KSO_WM_TEMPLATE_CATEGORY" val="custom"/>
  <p:tag name="KSO_WM_TEMPLATE_INDEX" val="20160928"/>
</p:tagLst>
</file>

<file path=ppt/tags/tag28.xml><?xml version="1.0" encoding="utf-8"?>
<p:tagLst xmlns:p="http://schemas.openxmlformats.org/presentationml/2006/main">
  <p:tag name="KSO_WM_TEMPLATE_CATEGORY" val="custom"/>
  <p:tag name="KSO_WM_TEMPLATE_INDEX" val="20160928"/>
</p:tagLst>
</file>

<file path=ppt/tags/tag29.xml><?xml version="1.0" encoding="utf-8"?>
<p:tagLst xmlns:p="http://schemas.openxmlformats.org/presentationml/2006/main">
  <p:tag name="KSO_WM_TEMPLATE_CATEGORY" val="custom"/>
  <p:tag name="KSO_WM_TEMPLATE_INDEX" val="20160928"/>
</p:tagLst>
</file>

<file path=ppt/tags/tag30.xml><?xml version="1.0" encoding="utf-8"?>
<p:tagLst xmlns:p="http://schemas.openxmlformats.org/presentationml/2006/main">
  <p:tag name="KSO_WM_TEMPLATE_CATEGORY" val="custom"/>
  <p:tag name="KSO_WM_TEMPLATE_INDEX" val="20160928"/>
</p:tagLst>
</file>

<file path=ppt/tags/tag31.xml><?xml version="1.0" encoding="utf-8"?>
<p:tagLst xmlns:p="http://schemas.openxmlformats.org/presentationml/2006/main">
  <p:tag name="KSO_WM_TEMPLATE_CATEGORY" val="custom"/>
  <p:tag name="KSO_WM_TEMPLATE_INDEX" val="20160928"/>
</p:tagLst>
</file>

<file path=ppt/tags/tag32.xml><?xml version="1.0" encoding="utf-8"?>
<p:tagLst xmlns:p="http://schemas.openxmlformats.org/presentationml/2006/main">
  <p:tag name="KSO_WM_TEMPLATE_CATEGORY" val="custom"/>
  <p:tag name="KSO_WM_TEMPLATE_INDEX" val="20160928"/>
</p:tagLst>
</file>

<file path=ppt/tags/tag33.xml><?xml version="1.0" encoding="utf-8"?>
<p:tagLst xmlns:p="http://schemas.openxmlformats.org/presentationml/2006/main">
  <p:tag name="KSO_WM_TEMPLATE_CATEGORY" val="custom"/>
  <p:tag name="KSO_WM_TEMPLATE_INDEX" val="20160928"/>
</p:tagLst>
</file>

<file path=ppt/tags/tag34.xml><?xml version="1.0" encoding="utf-8"?>
<p:tagLst xmlns:p="http://schemas.openxmlformats.org/presentationml/2006/main">
  <p:tag name="KSO_WM_TEMPLATE_CATEGORY" val="custom"/>
  <p:tag name="KSO_WM_TEMPLATE_INDEX" val="20160928"/>
</p:tagLst>
</file>

<file path=ppt/tags/tag35.xml><?xml version="1.0" encoding="utf-8"?>
<p:tagLst xmlns:p="http://schemas.openxmlformats.org/presentationml/2006/main">
  <p:tag name="KSO_WM_TEMPLATE_CATEGORY" val="custom"/>
  <p:tag name="KSO_WM_TEMPLATE_INDEX" val="20160928"/>
</p:tagLst>
</file>

<file path=ppt/tags/tag36.xml><?xml version="1.0" encoding="utf-8"?>
<p:tagLst xmlns:p="http://schemas.openxmlformats.org/presentationml/2006/main">
  <p:tag name="KSO_WM_TEMPLATE_CATEGORY" val="custom"/>
  <p:tag name="KSO_WM_TEMPLATE_INDEX" val="20160928"/>
</p:tagLst>
</file>

<file path=ppt/tags/tag37.xml><?xml version="1.0" encoding="utf-8"?>
<p:tagLst xmlns:p="http://schemas.openxmlformats.org/presentationml/2006/main">
  <p:tag name="KSO_WM_TEMPLATE_CATEGORY" val="custom"/>
  <p:tag name="KSO_WM_TEMPLATE_INDEX" val="20160928"/>
</p:tagLst>
</file>

<file path=ppt/tags/tag38.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39.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0.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1.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2.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3.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4.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5.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6.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7.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8.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49.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0.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1.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2.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3.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4.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5.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6.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7.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8.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59.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60.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61.xml><?xml version="1.0" encoding="utf-8"?>
<p:tagLst xmlns:p="http://schemas.openxmlformats.org/presentationml/2006/main">
  <p:tag name="KSO_WM_DIAGRAM_VIRTUALLY_FRAME" val="{&quot;height&quot;:294.0848031496063,&quot;left&quot;:7.2126771653543305,&quot;top&quot;:129.92338582677164,&quot;width&quot;:943.7548031496062}"/>
</p:tagLst>
</file>

<file path=ppt/tags/tag62.xml><?xml version="1.0" encoding="utf-8"?>
<p:tagLst xmlns:p="http://schemas.openxmlformats.org/presentationml/2006/main">
  <p:tag name="KSO_WM_TEMPLATE_CATEGORY" val="custom"/>
  <p:tag name="KSO_WM_TEMPLATE_INDEX" val="20160928"/>
</p:tagLst>
</file>

<file path=ppt/tags/tag63.xml><?xml version="1.0" encoding="utf-8"?>
<p:tagLst xmlns:p="http://schemas.openxmlformats.org/presentationml/2006/main">
  <p:tag name="KSO_WM_TEMPLATE_CATEGORY" val="custom"/>
  <p:tag name="KSO_WM_TEMPLATE_INDEX" val="20160928"/>
</p:tagLst>
</file>

<file path=ppt/tags/tag64.xml><?xml version="1.0" encoding="utf-8"?>
<p:tagLst xmlns:p="http://schemas.openxmlformats.org/presentationml/2006/main">
  <p:tag name="KSO_WM_TEMPLATE_CATEGORY" val="custom"/>
  <p:tag name="KSO_WM_TEMPLATE_INDEX" val="20160928"/>
</p:tagLst>
</file>

<file path=ppt/tags/tag65.xml><?xml version="1.0" encoding="utf-8"?>
<p:tagLst xmlns:p="http://schemas.openxmlformats.org/presentationml/2006/main">
  <p:tag name="KSO_WM_TEMPLATE_CATEGORY" val="custom"/>
  <p:tag name="KSO_WM_TEMPLATE_INDEX" val="20160928"/>
</p:tagLst>
</file>

<file path=ppt/tags/tag66.xml><?xml version="1.0" encoding="utf-8"?>
<p:tagLst xmlns:p="http://schemas.openxmlformats.org/presentationml/2006/main">
  <p:tag name="KSO_WM_TEMPLATE_CATEGORY" val="custom"/>
  <p:tag name="KSO_WM_TEMPLATE_INDEX" val="20160928"/>
</p:tagLst>
</file>

<file path=ppt/tags/tag67.xml><?xml version="1.0" encoding="utf-8"?>
<p:tagLst xmlns:p="http://schemas.openxmlformats.org/presentationml/2006/main">
  <p:tag name="KSO_WM_TEMPLATE_CATEGORY" val="custom"/>
  <p:tag name="KSO_WM_TEMPLATE_INDEX" val="20160928"/>
</p:tagLst>
</file>

<file path=ppt/tags/tag68.xml><?xml version="1.0" encoding="utf-8"?>
<p:tagLst xmlns:p="http://schemas.openxmlformats.org/presentationml/2006/main">
  <p:tag name="KSO_WM_TEMPLATE_CATEGORY" val="custom"/>
  <p:tag name="KSO_WM_TEMPLATE_INDEX" val="20160928"/>
</p:tagLst>
</file>

<file path=ppt/tags/tag69.xml><?xml version="1.0" encoding="utf-8"?>
<p:tagLst xmlns:p="http://schemas.openxmlformats.org/presentationml/2006/main">
  <p:tag name="KSO_WM_TEMPLATE_CATEGORY" val="custom"/>
  <p:tag name="KSO_WM_TEMPLATE_INDEX" val="20160928"/>
</p:tagLst>
</file>

<file path=ppt/tags/tag70.xml><?xml version="1.0" encoding="utf-8"?>
<p:tagLst xmlns:p="http://schemas.openxmlformats.org/presentationml/2006/main">
  <p:tag name="KSO_WM_TEMPLATE_CATEGORY" val="custom"/>
  <p:tag name="KSO_WM_TEMPLATE_INDEX" val="20160928"/>
</p:tagLst>
</file>

<file path=ppt/tags/tag71.xml><?xml version="1.0" encoding="utf-8"?>
<p:tagLst xmlns:p="http://schemas.openxmlformats.org/presentationml/2006/main">
  <p:tag name="KSO_WM_TEMPLATE_CATEGORY" val="custom"/>
  <p:tag name="KSO_WM_TEMPLATE_INDEX" val="20160928"/>
</p:tagLst>
</file>

<file path=ppt/tags/tag72.xml><?xml version="1.0" encoding="utf-8"?>
<p:tagLst xmlns:p="http://schemas.openxmlformats.org/presentationml/2006/main">
  <p:tag name="KSO_WM_TEMPLATE_CATEGORY" val="custom"/>
  <p:tag name="KSO_WM_TEMPLATE_INDEX" val="20160928"/>
</p:tagLst>
</file>

<file path=ppt/tags/tag73.xml><?xml version="1.0" encoding="utf-8"?>
<p:tagLst xmlns:p="http://schemas.openxmlformats.org/presentationml/2006/main">
  <p:tag name="KSO_WM_TEMPLATE_CATEGORY" val="custom"/>
  <p:tag name="KSO_WM_TEMPLATE_INDEX" val="20160928"/>
</p:tagLst>
</file>

<file path=ppt/tags/tag74.xml><?xml version="1.0" encoding="utf-8"?>
<p:tagLst xmlns:p="http://schemas.openxmlformats.org/presentationml/2006/main">
  <p:tag name="KSO_WM_TEMPLATE_CATEGORY" val="custom"/>
  <p:tag name="KSO_WM_TEMPLATE_INDEX" val="20160928"/>
</p:tagLst>
</file>

<file path=ppt/tags/tag75.xml><?xml version="1.0" encoding="utf-8"?>
<p:tagLst xmlns:p="http://schemas.openxmlformats.org/presentationml/2006/main">
  <p:tag name="KSO_WM_TEMPLATE_CATEGORY" val="custom"/>
  <p:tag name="KSO_WM_TEMPLATE_INDEX" val="20160928"/>
</p:tagLst>
</file>

<file path=ppt/tags/tag76.xml><?xml version="1.0" encoding="utf-8"?>
<p:tagLst xmlns:p="http://schemas.openxmlformats.org/presentationml/2006/main">
  <p:tag name="KSO_WM_TEMPLATE_CATEGORY" val="custom"/>
  <p:tag name="KSO_WM_TEMPLATE_INDEX" val="20160928"/>
</p:tagLst>
</file>

<file path=ppt/tags/tag77.xml><?xml version="1.0" encoding="utf-8"?>
<p:tagLst xmlns:p="http://schemas.openxmlformats.org/presentationml/2006/main">
  <p:tag name="KSO_WM_TEMPLATE_CATEGORY" val="custom"/>
  <p:tag name="KSO_WM_TEMPLATE_INDEX" val="20160928"/>
</p:tagLst>
</file>

<file path=ppt/tags/tag78.xml><?xml version="1.0" encoding="utf-8"?>
<p:tagLst xmlns:p="http://schemas.openxmlformats.org/presentationml/2006/main">
  <p:tag name="commondata" val="eyJoZGlkIjoiMzEwNTM5NzYwMDRjMzkwZTVkZjY2ODkwMGIxNGU0OTU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13131</Words>
  <Application>WPS 演示</Application>
  <PresentationFormat>宽屏</PresentationFormat>
  <Paragraphs>1329</Paragraphs>
  <Slides>52</Slides>
  <Notes>14</Notes>
  <HiddenSlides>0</HiddenSlides>
  <MMClips>0</MMClips>
  <ScaleCrop>false</ScaleCrop>
  <HeadingPairs>
    <vt:vector size="6" baseType="variant">
      <vt:variant>
        <vt:lpstr>已用的字体</vt:lpstr>
      </vt:variant>
      <vt:variant>
        <vt:i4>25</vt:i4>
      </vt:variant>
      <vt:variant>
        <vt:lpstr>主题</vt:lpstr>
      </vt:variant>
      <vt:variant>
        <vt:i4>3</vt:i4>
      </vt:variant>
      <vt:variant>
        <vt:lpstr>幻灯片标题</vt:lpstr>
      </vt:variant>
      <vt:variant>
        <vt:i4>52</vt:i4>
      </vt:variant>
    </vt:vector>
  </HeadingPairs>
  <TitlesOfParts>
    <vt:vector size="80" baseType="lpstr">
      <vt:lpstr>Arial</vt:lpstr>
      <vt:lpstr>宋体</vt:lpstr>
      <vt:lpstr>Wingdings</vt:lpstr>
      <vt:lpstr>黑体</vt:lpstr>
      <vt:lpstr>华文细黑</vt:lpstr>
      <vt:lpstr>微软雅黑</vt:lpstr>
      <vt:lpstr>DIN-BoldItalic</vt:lpstr>
      <vt:lpstr>Segoe Print</vt:lpstr>
      <vt:lpstr>Helvetica</vt:lpstr>
      <vt:lpstr>Calibri</vt:lpstr>
      <vt:lpstr>FrutigerNext LT Regular</vt:lpstr>
      <vt:lpstr>Calibri</vt:lpstr>
      <vt:lpstr>仿宋</vt:lpstr>
      <vt:lpstr>Arial Unicode MS</vt:lpstr>
      <vt:lpstr>等线 Light</vt:lpstr>
      <vt:lpstr>等线</vt:lpstr>
      <vt:lpstr>楷体</vt:lpstr>
      <vt:lpstr>Symbol</vt:lpstr>
      <vt:lpstr>Times New Roman</vt:lpstr>
      <vt:lpstr>楷体_GB2312</vt:lpstr>
      <vt:lpstr>新宋体</vt:lpstr>
      <vt:lpstr>Arial</vt:lpstr>
      <vt:lpstr>Gulim</vt:lpstr>
      <vt:lpstr>Malgun Gothic</vt:lpstr>
      <vt:lpstr>FrutigerNext LT Medium</vt:lpstr>
      <vt:lpstr>自定义设计方案</vt:lpstr>
      <vt:lpstr>1_自定义设计方案</vt:lpstr>
      <vt:lpstr>Office 主题​​</vt:lpstr>
      <vt:lpstr>PowerPoint 演示文稿</vt:lpstr>
      <vt:lpstr>PowerPoint 演示文稿</vt:lpstr>
      <vt:lpstr>PowerPoint 演示文稿</vt:lpstr>
      <vt:lpstr>等级保护发展历程   等保1.0</vt:lpstr>
      <vt:lpstr>等级保护发展历程   等保2.0</vt:lpstr>
      <vt:lpstr>PowerPoint 演示文稿</vt:lpstr>
      <vt:lpstr>等级保护依据的法律、法规</vt:lpstr>
      <vt:lpstr>等级保护2.0的法规、标准体系</vt:lpstr>
      <vt:lpstr>等级保护等级划分</vt:lpstr>
      <vt:lpstr>等级保护等级划分</vt:lpstr>
      <vt:lpstr>PowerPoint 演示文稿</vt:lpstr>
      <vt:lpstr>等级保护政策内容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等保测评流程</vt:lpstr>
      <vt:lpstr>重要行业关键信息系统划分及定级建议</vt:lpstr>
      <vt:lpstr>PowerPoint 演示文稿</vt:lpstr>
      <vt:lpstr>PowerPoint 演示文稿</vt:lpstr>
      <vt:lpstr>PowerPoint 演示文稿</vt:lpstr>
      <vt:lpstr>PowerPoint 演示文稿</vt:lpstr>
      <vt:lpstr>测评目标</vt:lpstr>
      <vt:lpstr>系统定级</vt:lpstr>
      <vt:lpstr>信息系统定级依据</vt:lpstr>
      <vt:lpstr>信息系统定级依据</vt:lpstr>
      <vt:lpstr>信息系统定级依据</vt:lpstr>
      <vt:lpstr>测评流程</vt:lpstr>
      <vt:lpstr>交付成果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  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湖南省水利厅网络安全服务</dc:title>
  <dc:creator>00114</dc:creator>
  <cp:lastModifiedBy>:-*:-*:-*:-*</cp:lastModifiedBy>
  <cp:revision>243</cp:revision>
  <dcterms:created xsi:type="dcterms:W3CDTF">2019-06-29T00:07:00Z</dcterms:created>
  <dcterms:modified xsi:type="dcterms:W3CDTF">2024-05-06T09:48:32Z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FDB49E523C0B4E5386639F8428D6DB19_12</vt:lpwstr>
  </property>
</Properties>
</file>